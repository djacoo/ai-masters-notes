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44"/>
  </p:notesMasterIdLst>
  <p:sldIdLst>
    <p:sldId id="270" r:id="rId2"/>
    <p:sldId id="317" r:id="rId3"/>
    <p:sldId id="264" r:id="rId4"/>
    <p:sldId id="265" r:id="rId5"/>
    <p:sldId id="267" r:id="rId6"/>
    <p:sldId id="268" r:id="rId7"/>
    <p:sldId id="269" r:id="rId8"/>
    <p:sldId id="272" r:id="rId9"/>
    <p:sldId id="273" r:id="rId10"/>
    <p:sldId id="274" r:id="rId11"/>
    <p:sldId id="275" r:id="rId12"/>
    <p:sldId id="277" r:id="rId13"/>
    <p:sldId id="278" r:id="rId14"/>
    <p:sldId id="276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310" r:id="rId24"/>
    <p:sldId id="287" r:id="rId25"/>
    <p:sldId id="288" r:id="rId26"/>
    <p:sldId id="289" r:id="rId27"/>
    <p:sldId id="290" r:id="rId28"/>
    <p:sldId id="291" r:id="rId29"/>
    <p:sldId id="292" r:id="rId30"/>
    <p:sldId id="294" r:id="rId31"/>
    <p:sldId id="295" r:id="rId32"/>
    <p:sldId id="301" r:id="rId33"/>
    <p:sldId id="298" r:id="rId34"/>
    <p:sldId id="302" r:id="rId35"/>
    <p:sldId id="303" r:id="rId36"/>
    <p:sldId id="307" r:id="rId37"/>
    <p:sldId id="308" r:id="rId38"/>
    <p:sldId id="312" r:id="rId39"/>
    <p:sldId id="313" r:id="rId40"/>
    <p:sldId id="315" r:id="rId41"/>
    <p:sldId id="311" r:id="rId42"/>
    <p:sldId id="314" r:id="rId4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9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49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512EA-4EBA-4E2C-9DAB-C5514957C4C3}" type="datetimeFigureOut">
              <a:t>15/08/25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8E9C9-96A7-4E79-86B1-7B0DE63C370C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15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19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1568620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25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2305024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267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60958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60958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LEZIONLECTURE 1.1E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60958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82033"/>
            <a:ext cx="105664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1270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155700"/>
            <a:ext cx="10972800" cy="496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 dirty="0"/>
              <a:t>LECTURE 1.1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14634" y="24938"/>
            <a:ext cx="1477367" cy="5227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hf sldNum="0" hd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837" y="5456469"/>
            <a:ext cx="4464051" cy="82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24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24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4288" y="1124744"/>
            <a:ext cx="10363200" cy="2784309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800" dirty="0">
                <a:ea typeface="+mj-ea"/>
                <a:cs typeface="+mj-cs"/>
              </a:rPr>
              <a:t>Unit 1: Logic review</a:t>
            </a: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188" y="5073352"/>
            <a:ext cx="146473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2285" y="2677585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2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9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CDFC462-06ED-DF60-5190-18A435C8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Propositional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, First-Order </a:t>
            </a:r>
            <a:r>
              <a:rPr lang="it-IT" dirty="0" err="1"/>
              <a:t>Logic</a:t>
            </a:r>
            <a:r>
              <a:rPr lang="it-IT" dirty="0"/>
              <a:t>, Davis-</a:t>
            </a:r>
            <a:r>
              <a:rPr lang="it-IT" dirty="0" err="1"/>
              <a:t>Putnam</a:t>
            </a:r>
            <a:r>
              <a:rPr lang="it-IT" dirty="0"/>
              <a:t> </a:t>
            </a:r>
            <a:r>
              <a:rPr lang="it-IT" dirty="0" err="1"/>
              <a:t>method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C081B81A-C255-BFB7-FD6F-465D2372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Unit 1 – </a:t>
            </a:r>
            <a:r>
              <a:rPr lang="it-IT" dirty="0" err="1"/>
              <a:t>Lecture</a:t>
            </a:r>
            <a:r>
              <a:rPr lang="it-IT" dirty="0"/>
              <a:t> 1.1  and 1.2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E0AE89-6CC4-C2D7-3FE0-F95B9537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3A16DA-CF2B-B592-926E-E8772A0D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DA911-FAC2-47CD-479F-AEA42CCD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8117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26AB5A-4345-3748-977D-8A35CF88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1AF575-9DCF-7147-A96C-49FA02400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200" dirty="0"/>
              <a:t>Classic </a:t>
            </a:r>
            <a:r>
              <a:rPr lang="it-IT" sz="3200" dirty="0" err="1"/>
              <a:t>propositional</a:t>
            </a:r>
            <a:r>
              <a:rPr lang="it-IT" sz="3200" dirty="0"/>
              <a:t> </a:t>
            </a:r>
            <a:r>
              <a:rPr lang="it-IT" sz="3200" dirty="0" err="1"/>
              <a:t>calculus</a:t>
            </a:r>
            <a:endParaRPr lang="it-IT" sz="3200" dirty="0"/>
          </a:p>
          <a:p>
            <a:pPr lvl="1"/>
            <a:r>
              <a:rPr lang="it-IT" sz="2667" dirty="0" err="1"/>
              <a:t>Syntax</a:t>
            </a:r>
            <a:r>
              <a:rPr lang="it-IT" sz="2667" dirty="0"/>
              <a:t> and </a:t>
            </a:r>
            <a:r>
              <a:rPr lang="it-IT" sz="2667" dirty="0" err="1"/>
              <a:t>semantics</a:t>
            </a:r>
            <a:endParaRPr lang="it-IT" sz="2667" dirty="0"/>
          </a:p>
          <a:p>
            <a:pPr lvl="1"/>
            <a:r>
              <a:rPr lang="it-IT" sz="2667" dirty="0"/>
              <a:t>The </a:t>
            </a:r>
            <a:r>
              <a:rPr lang="it-IT" sz="2667" dirty="0" err="1"/>
              <a:t>proof</a:t>
            </a:r>
            <a:r>
              <a:rPr lang="it-IT" sz="2667" dirty="0"/>
              <a:t> system</a:t>
            </a:r>
          </a:p>
          <a:p>
            <a:r>
              <a:rPr lang="it-IT" sz="3200" dirty="0"/>
              <a:t>First order </a:t>
            </a:r>
            <a:r>
              <a:rPr lang="it-IT" sz="3200" dirty="0" err="1"/>
              <a:t>calculus</a:t>
            </a:r>
            <a:endParaRPr lang="it-IT" sz="3200" dirty="0"/>
          </a:p>
          <a:p>
            <a:pPr lvl="1"/>
            <a:r>
              <a:rPr lang="it-IT" sz="2667" dirty="0" err="1"/>
              <a:t>Syntax</a:t>
            </a:r>
            <a:r>
              <a:rPr lang="it-IT" sz="2667" dirty="0"/>
              <a:t> and </a:t>
            </a:r>
            <a:r>
              <a:rPr lang="it-IT" sz="2667" dirty="0" err="1"/>
              <a:t>semantics</a:t>
            </a:r>
            <a:endParaRPr lang="it-IT" sz="2667" dirty="0"/>
          </a:p>
          <a:p>
            <a:pPr lvl="1"/>
            <a:r>
              <a:rPr lang="it-IT" sz="2667" dirty="0"/>
              <a:t>The </a:t>
            </a:r>
            <a:r>
              <a:rPr lang="it-IT" sz="2667" dirty="0" err="1"/>
              <a:t>proof</a:t>
            </a:r>
            <a:r>
              <a:rPr lang="it-IT" sz="2667" dirty="0"/>
              <a:t> system</a:t>
            </a:r>
          </a:p>
          <a:p>
            <a:r>
              <a:rPr lang="it-IT" sz="3200" dirty="0" err="1"/>
              <a:t>Reasoning</a:t>
            </a:r>
            <a:r>
              <a:rPr lang="it-IT" sz="3200" dirty="0"/>
              <a:t> tasks in FOL e CPC</a:t>
            </a:r>
          </a:p>
          <a:p>
            <a:r>
              <a:rPr lang="it-IT" sz="3200" dirty="0" err="1"/>
              <a:t>Soundness</a:t>
            </a:r>
            <a:r>
              <a:rPr lang="it-IT" sz="3200" dirty="0"/>
              <a:t>, </a:t>
            </a:r>
            <a:r>
              <a:rPr lang="it-IT" sz="3200" dirty="0" err="1"/>
              <a:t>completeness</a:t>
            </a:r>
            <a:r>
              <a:rPr lang="it-IT" sz="3200" dirty="0"/>
              <a:t> and </a:t>
            </a:r>
            <a:r>
              <a:rPr lang="it-IT" sz="3200" dirty="0" err="1"/>
              <a:t>computational</a:t>
            </a:r>
            <a:r>
              <a:rPr lang="it-IT" sz="3200" dirty="0"/>
              <a:t> </a:t>
            </a:r>
            <a:r>
              <a:rPr lang="it-IT" sz="3200" dirty="0" err="1"/>
              <a:t>complexity</a:t>
            </a:r>
            <a:endParaRPr lang="it-IT" sz="32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D348E3-C739-3F4F-A719-8B3B47BB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6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79BF42-D4CE-7D44-B45E-8A4705F1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CPC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27D70-45D1-7C4F-9D74-8885F6F7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200" dirty="0"/>
              <a:t>Language</a:t>
            </a:r>
          </a:p>
          <a:p>
            <a:pPr lvl="1"/>
            <a:r>
              <a:rPr lang="it-IT" sz="2667" dirty="0"/>
              <a:t>Signature </a:t>
            </a:r>
          </a:p>
          <a:p>
            <a:pPr lvl="2"/>
            <a:r>
              <a:rPr lang="it-IT" sz="2400" dirty="0" err="1"/>
              <a:t>Letters</a:t>
            </a:r>
            <a:endParaRPr lang="it-IT" sz="2400" dirty="0"/>
          </a:p>
          <a:p>
            <a:pPr lvl="2"/>
            <a:r>
              <a:rPr lang="it-IT" sz="2400" dirty="0" err="1"/>
              <a:t>Connectives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FF0000"/>
                </a:solidFill>
              </a:rPr>
              <a:t>∧</a:t>
            </a:r>
            <a:r>
              <a:rPr lang="it-IT" sz="2400" dirty="0"/>
              <a:t>, </a:t>
            </a:r>
            <a:r>
              <a:rPr lang="it-IT" sz="2400" dirty="0">
                <a:solidFill>
                  <a:srgbClr val="FF0000"/>
                </a:solidFill>
              </a:rPr>
              <a:t>∨</a:t>
            </a:r>
            <a:r>
              <a:rPr lang="it-IT" sz="2400" dirty="0"/>
              <a:t>, </a:t>
            </a:r>
            <a:r>
              <a:rPr lang="it-IT" sz="2400" dirty="0">
                <a:solidFill>
                  <a:srgbClr val="FF0000"/>
                </a:solidFill>
              </a:rPr>
              <a:t>¬</a:t>
            </a:r>
            <a:r>
              <a:rPr lang="it-IT" sz="2400" dirty="0"/>
              <a:t>, </a:t>
            </a:r>
            <a:r>
              <a:rPr lang="it-IT" sz="2400" dirty="0">
                <a:solidFill>
                  <a:srgbClr val="FF0000"/>
                </a:solidFill>
              </a:rPr>
              <a:t>→</a:t>
            </a:r>
            <a:r>
              <a:rPr lang="it-IT" sz="2400" dirty="0"/>
              <a:t> (AND OR NOT IMPLIES)</a:t>
            </a:r>
          </a:p>
          <a:p>
            <a:pPr lvl="2"/>
            <a:r>
              <a:rPr lang="it-IT" sz="2400" dirty="0" err="1"/>
              <a:t>Parentheses</a:t>
            </a:r>
            <a:r>
              <a:rPr lang="it-IT" sz="2400" dirty="0"/>
              <a:t> </a:t>
            </a:r>
            <a:r>
              <a:rPr lang="it-IT" sz="2400" dirty="0">
                <a:solidFill>
                  <a:srgbClr val="FF0000"/>
                </a:solidFill>
              </a:rPr>
              <a:t>(</a:t>
            </a:r>
            <a:r>
              <a:rPr lang="it-IT" sz="2400" dirty="0"/>
              <a:t>, </a:t>
            </a:r>
            <a:r>
              <a:rPr lang="it-IT" sz="2400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it-IT" sz="2667" dirty="0" err="1"/>
              <a:t>Syntax</a:t>
            </a:r>
            <a:endParaRPr lang="it-IT" sz="2667" dirty="0"/>
          </a:p>
          <a:p>
            <a:pPr lvl="2"/>
            <a:r>
              <a:rPr lang="it-IT" sz="2400" dirty="0"/>
              <a:t>𝝋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well-formed</a:t>
            </a:r>
            <a:r>
              <a:rPr lang="it-IT" sz="2400" dirty="0"/>
              <a:t> formula (</a:t>
            </a:r>
            <a:r>
              <a:rPr lang="it-IT" sz="2400" dirty="0" err="1"/>
              <a:t>wff</a:t>
            </a:r>
            <a:r>
              <a:rPr lang="it-IT" sz="2400" dirty="0"/>
              <a:t>)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endParaRPr lang="it-IT" sz="2400" dirty="0"/>
          </a:p>
          <a:p>
            <a:pPr lvl="3"/>
            <a:r>
              <a:rPr lang="it-IT" sz="2133" dirty="0"/>
              <a:t>A </a:t>
            </a:r>
            <a:r>
              <a:rPr lang="it-IT" sz="2133" dirty="0" err="1"/>
              <a:t>letter</a:t>
            </a:r>
            <a:endParaRPr lang="it-IT" sz="2133" dirty="0"/>
          </a:p>
          <a:p>
            <a:pPr lvl="3"/>
            <a:r>
              <a:rPr lang="it-IT" sz="2133" dirty="0" err="1"/>
              <a:t>Being</a:t>
            </a:r>
            <a:r>
              <a:rPr lang="it-IT" sz="2133" dirty="0"/>
              <a:t> 𝝋 </a:t>
            </a:r>
            <a:r>
              <a:rPr lang="it-IT" sz="2133" dirty="0" err="1"/>
              <a:t>wff</a:t>
            </a:r>
            <a:r>
              <a:rPr lang="it-IT" sz="2133" dirty="0"/>
              <a:t>, ¬𝝋, (𝝋)</a:t>
            </a:r>
          </a:p>
          <a:p>
            <a:pPr lvl="3"/>
            <a:r>
              <a:rPr lang="it-IT" sz="2133" dirty="0" err="1"/>
              <a:t>Being</a:t>
            </a:r>
            <a:r>
              <a:rPr lang="it-IT" sz="2133" dirty="0"/>
              <a:t> 𝝋 e 𝟁 </a:t>
            </a:r>
            <a:r>
              <a:rPr lang="it-IT" sz="2133" dirty="0" err="1"/>
              <a:t>wff</a:t>
            </a:r>
            <a:r>
              <a:rPr lang="it-IT" sz="2133" dirty="0"/>
              <a:t>, 𝝋 ∧ 𝟁, 𝝋 ∨ 𝟁, 𝝋 → 𝟁, (𝝋 ∧ 𝟁), (𝝋 ∨ 𝟁), (𝝋 → 𝟁)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3E8F5D-1E0C-6842-AD5F-CE088A01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6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328AD-CAC0-B54E-98FE-88E62E6D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Semantics</a:t>
            </a:r>
            <a:r>
              <a:rPr lang="it-IT" dirty="0"/>
              <a:t> of CPC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742CA1-0122-BF46-B1C2-B6C0C438B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Formula</a:t>
            </a:r>
          </a:p>
          <a:p>
            <a:pPr lvl="1"/>
            <a:r>
              <a:rPr lang="it-IT" dirty="0"/>
              <a:t>A formula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either</a:t>
            </a:r>
            <a:r>
              <a:rPr lang="it-IT" dirty="0"/>
              <a:t> TRUE or FALSE</a:t>
            </a:r>
          </a:p>
          <a:p>
            <a:r>
              <a:rPr lang="it-IT" dirty="0" err="1"/>
              <a:t>Compositionality</a:t>
            </a:r>
            <a:endParaRPr lang="it-IT" dirty="0"/>
          </a:p>
          <a:p>
            <a:pPr lvl="1"/>
            <a:r>
              <a:rPr lang="it-IT" dirty="0"/>
              <a:t>Given an </a:t>
            </a:r>
            <a:r>
              <a:rPr lang="it-IT" dirty="0" err="1"/>
              <a:t>interpretation</a:t>
            </a:r>
            <a:r>
              <a:rPr lang="it-IT" dirty="0"/>
              <a:t> of </a:t>
            </a:r>
            <a:r>
              <a:rPr lang="it-IT" dirty="0" err="1"/>
              <a:t>letters</a:t>
            </a:r>
            <a:r>
              <a:rPr lang="it-IT" dirty="0"/>
              <a:t>, </a:t>
            </a:r>
            <a:r>
              <a:rPr lang="it-IT" dirty="0" err="1"/>
              <a:t>formulae</a:t>
            </a:r>
            <a:r>
              <a:rPr lang="it-IT" dirty="0"/>
              <a:t> can be </a:t>
            </a:r>
            <a:r>
              <a:rPr lang="it-IT" dirty="0" err="1"/>
              <a:t>obtained</a:t>
            </a:r>
            <a:r>
              <a:rPr lang="it-IT" dirty="0"/>
              <a:t> in a </a:t>
            </a:r>
            <a:r>
              <a:rPr lang="it-IT" dirty="0" err="1"/>
              <a:t>deterministic</a:t>
            </a:r>
            <a:r>
              <a:rPr lang="it-IT" dirty="0"/>
              <a:t> fashion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99696B-D6A1-A44C-B1CB-3E95F077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37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B3C034-B6C0-0143-BCF7-FA46D9A6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Satisfiability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21DCE0-B65D-1241-927A-0BD4E2F49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formula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b="1" dirty="0"/>
              <a:t>SAT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interpretation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makes the formula </a:t>
            </a:r>
            <a:r>
              <a:rPr lang="it-IT" dirty="0" err="1"/>
              <a:t>true</a:t>
            </a:r>
            <a:endParaRPr lang="it-IT" dirty="0"/>
          </a:p>
          <a:p>
            <a:r>
              <a:rPr lang="it-IT" dirty="0"/>
              <a:t>A formula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true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interpretations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said</a:t>
            </a:r>
            <a:r>
              <a:rPr lang="it-IT" dirty="0"/>
              <a:t> to be </a:t>
            </a:r>
            <a:r>
              <a:rPr lang="it-IT" b="1" dirty="0" err="1"/>
              <a:t>tautologic</a:t>
            </a:r>
            <a:endParaRPr lang="it-IT" b="1" dirty="0"/>
          </a:p>
          <a:p>
            <a:r>
              <a:rPr lang="it-IT" dirty="0" err="1"/>
              <a:t>Unsat</a:t>
            </a:r>
            <a:r>
              <a:rPr lang="it-IT" dirty="0"/>
              <a:t> </a:t>
            </a:r>
            <a:r>
              <a:rPr lang="it-IT" dirty="0" err="1"/>
              <a:t>formulae</a:t>
            </a:r>
            <a:r>
              <a:rPr lang="it-IT" dirty="0"/>
              <a:t> are </a:t>
            </a:r>
            <a:r>
              <a:rPr lang="it-IT" b="1" dirty="0" err="1"/>
              <a:t>contradictions</a:t>
            </a:r>
            <a:endParaRPr lang="it-IT" b="1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F8F61C-3555-B641-B3B6-1929196DA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9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8506B5-7D1C-354C-8109-0CFCC29FA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Theories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291840-2425-6443-990D-A06F3C23F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set of </a:t>
            </a:r>
            <a:r>
              <a:rPr lang="it-IT" dirty="0" err="1"/>
              <a:t>formulae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said</a:t>
            </a:r>
            <a:r>
              <a:rPr lang="it-IT" dirty="0"/>
              <a:t> to be a </a:t>
            </a:r>
            <a:r>
              <a:rPr lang="it-IT" dirty="0" err="1">
                <a:solidFill>
                  <a:srgbClr val="FF0000"/>
                </a:solidFill>
              </a:rPr>
              <a:t>propositional</a:t>
            </a:r>
            <a:r>
              <a:rPr lang="it-IT" dirty="0">
                <a:solidFill>
                  <a:srgbClr val="FF0000"/>
                </a:solidFill>
              </a:rPr>
              <a:t> theory</a:t>
            </a:r>
          </a:p>
          <a:p>
            <a:r>
              <a:rPr lang="it-IT" dirty="0"/>
              <a:t>A theory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i="1" dirty="0" err="1"/>
              <a:t>consistent</a:t>
            </a:r>
            <a:r>
              <a:rPr lang="it-IT" dirty="0"/>
              <a:t> </a:t>
            </a:r>
            <a:r>
              <a:rPr lang="it-IT" dirty="0" err="1"/>
              <a:t>iff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interpretation</a:t>
            </a:r>
            <a:r>
              <a:rPr lang="it-IT" dirty="0"/>
              <a:t> of the </a:t>
            </a:r>
            <a:r>
              <a:rPr lang="it-IT" dirty="0" err="1"/>
              <a:t>letters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make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formulae</a:t>
            </a:r>
            <a:r>
              <a:rPr lang="it-IT" dirty="0"/>
              <a:t> in the theory </a:t>
            </a:r>
            <a:r>
              <a:rPr lang="it-IT" dirty="0" err="1"/>
              <a:t>true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A122F8-7F18-B840-91B7-53B0C959E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6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CC04D8-C7A9-4243-BD25-3E2064B1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Derivation</a:t>
            </a:r>
            <a:r>
              <a:rPr lang="it-IT" dirty="0"/>
              <a:t> and </a:t>
            </a:r>
            <a:r>
              <a:rPr lang="it-IT" dirty="0" err="1"/>
              <a:t>inferential</a:t>
            </a:r>
            <a:r>
              <a:rPr lang="it-IT" dirty="0"/>
              <a:t> </a:t>
            </a:r>
            <a:r>
              <a:rPr lang="it-IT" dirty="0" err="1"/>
              <a:t>appartuses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AF2170-2BEE-674B-8946-43D6CA3E6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Logical</a:t>
            </a:r>
            <a:r>
              <a:rPr lang="it-IT" dirty="0"/>
              <a:t> system are </a:t>
            </a:r>
            <a:r>
              <a:rPr lang="it-IT" b="1" dirty="0"/>
              <a:t>tools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generate new </a:t>
            </a:r>
            <a:r>
              <a:rPr lang="it-IT" dirty="0" err="1"/>
              <a:t>formulae</a:t>
            </a:r>
            <a:endParaRPr lang="it-IT" dirty="0"/>
          </a:p>
          <a:p>
            <a:r>
              <a:rPr lang="it-IT" dirty="0"/>
              <a:t>A formula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generated</a:t>
            </a:r>
            <a:r>
              <a:rPr lang="it-IT" dirty="0"/>
              <a:t> by a theory </a:t>
            </a:r>
            <a:r>
              <a:rPr lang="it-IT" dirty="0" err="1"/>
              <a:t>having</a:t>
            </a:r>
            <a:r>
              <a:rPr lang="it-IT" dirty="0"/>
              <a:t> </a:t>
            </a:r>
            <a:r>
              <a:rPr lang="it-IT" dirty="0" err="1"/>
              <a:t>associated</a:t>
            </a:r>
            <a:r>
              <a:rPr lang="it-IT" dirty="0"/>
              <a:t> to the </a:t>
            </a:r>
            <a:r>
              <a:rPr lang="it-IT" dirty="0" err="1"/>
              <a:t>calculus</a:t>
            </a:r>
            <a:r>
              <a:rPr lang="it-IT" dirty="0"/>
              <a:t> a set of </a:t>
            </a:r>
            <a:r>
              <a:rPr lang="it-IT" b="1" dirty="0" err="1"/>
              <a:t>axioms</a:t>
            </a:r>
            <a:r>
              <a:rPr lang="it-IT" b="1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b="1" dirty="0" err="1"/>
              <a:t>theorem</a:t>
            </a:r>
            <a:r>
              <a:rPr lang="it-IT" b="1" dirty="0"/>
              <a:t> </a:t>
            </a:r>
            <a:r>
              <a:rPr lang="it-IT" dirty="0"/>
              <a:t>(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afterwards</a:t>
            </a:r>
            <a:r>
              <a:rPr lang="it-IT" dirty="0"/>
              <a:t>)</a:t>
            </a:r>
          </a:p>
          <a:p>
            <a:r>
              <a:rPr lang="it-IT" dirty="0" err="1"/>
              <a:t>Calculi</a:t>
            </a:r>
            <a:r>
              <a:rPr lang="it-IT" dirty="0"/>
              <a:t> with </a:t>
            </a:r>
            <a:r>
              <a:rPr lang="it-IT" dirty="0" err="1"/>
              <a:t>associated</a:t>
            </a:r>
            <a:r>
              <a:rPr lang="it-IT" dirty="0"/>
              <a:t> sets of </a:t>
            </a:r>
            <a:r>
              <a:rPr lang="it-IT" dirty="0" err="1"/>
              <a:t>axioms</a:t>
            </a:r>
            <a:r>
              <a:rPr lang="it-IT" dirty="0"/>
              <a:t> are </a:t>
            </a:r>
            <a:r>
              <a:rPr lang="it-IT" dirty="0" err="1"/>
              <a:t>equivalent</a:t>
            </a:r>
            <a:r>
              <a:rPr lang="it-IT" dirty="0"/>
              <a:t> to theories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F8E4F9-C0D4-534E-B730-0CC5A736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117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F03540-5A4C-7D42-BD65-0E6E862A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Rules and </a:t>
            </a:r>
            <a:r>
              <a:rPr lang="it-IT" dirty="0" err="1"/>
              <a:t>inference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44103C-E937-274E-B8C1-3A130569E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000" dirty="0"/>
              <a:t>A </a:t>
            </a:r>
            <a:r>
              <a:rPr lang="it-IT" sz="4000" dirty="0" err="1"/>
              <a:t>pair</a:t>
            </a:r>
            <a:r>
              <a:rPr lang="it-IT" sz="4000" dirty="0"/>
              <a:t> </a:t>
            </a:r>
            <a:r>
              <a:rPr lang="it-IT" sz="4000" dirty="0" err="1"/>
              <a:t>r</a:t>
            </a:r>
            <a:r>
              <a:rPr lang="it-IT" sz="4000" dirty="0"/>
              <a:t>:&lt;</a:t>
            </a:r>
            <a:r>
              <a:rPr lang="it-IT" sz="4000" dirty="0" err="1"/>
              <a:t>Γ</a:t>
            </a:r>
            <a:r>
              <a:rPr lang="it-IT" sz="4000" dirty="0"/>
              <a:t>,𝜹&gt; </a:t>
            </a:r>
            <a:r>
              <a:rPr lang="it-IT" sz="4000" dirty="0" err="1"/>
              <a:t>is</a:t>
            </a:r>
            <a:r>
              <a:rPr lang="it-IT" sz="4000" dirty="0"/>
              <a:t> an </a:t>
            </a:r>
            <a:r>
              <a:rPr lang="it-IT" sz="4000" dirty="0" err="1">
                <a:solidFill>
                  <a:srgbClr val="FF0000"/>
                </a:solidFill>
              </a:rPr>
              <a:t>inferential</a:t>
            </a:r>
            <a:r>
              <a:rPr lang="it-IT" sz="4000" dirty="0">
                <a:solidFill>
                  <a:srgbClr val="FF0000"/>
                </a:solidFill>
              </a:rPr>
              <a:t> rule</a:t>
            </a:r>
            <a:r>
              <a:rPr lang="it-IT" sz="4000" dirty="0"/>
              <a:t> </a:t>
            </a:r>
            <a:r>
              <a:rPr lang="it-IT" sz="4000" dirty="0" err="1"/>
              <a:t>when</a:t>
            </a:r>
            <a:r>
              <a:rPr lang="it-IT" sz="4000" dirty="0"/>
              <a:t> the set </a:t>
            </a:r>
            <a:r>
              <a:rPr lang="it-IT" sz="4000" dirty="0" err="1"/>
              <a:t>Γ</a:t>
            </a:r>
            <a:r>
              <a:rPr lang="it-IT" sz="4000" dirty="0"/>
              <a:t> </a:t>
            </a:r>
            <a:r>
              <a:rPr lang="it-IT" sz="4000" dirty="0" err="1"/>
              <a:t>is</a:t>
            </a:r>
            <a:r>
              <a:rPr lang="it-IT" sz="4000" dirty="0"/>
              <a:t> </a:t>
            </a:r>
            <a:r>
              <a:rPr lang="it-IT" sz="4000" dirty="0" err="1"/>
              <a:t>formed</a:t>
            </a:r>
            <a:r>
              <a:rPr lang="it-IT" sz="4000" dirty="0"/>
              <a:t> by </a:t>
            </a:r>
            <a:r>
              <a:rPr lang="it-IT" sz="4000" dirty="0" err="1"/>
              <a:t>wffs</a:t>
            </a:r>
            <a:r>
              <a:rPr lang="it-IT" sz="4000" dirty="0"/>
              <a:t> and 𝜹 </a:t>
            </a:r>
            <a:r>
              <a:rPr lang="it-IT" sz="4000" dirty="0" err="1"/>
              <a:t>is</a:t>
            </a:r>
            <a:r>
              <a:rPr lang="it-IT" sz="4000" dirty="0"/>
              <a:t> a </a:t>
            </a:r>
            <a:r>
              <a:rPr lang="it-IT" sz="4000" dirty="0" err="1"/>
              <a:t>wff</a:t>
            </a:r>
            <a:endParaRPr lang="it-IT" sz="4000" dirty="0"/>
          </a:p>
          <a:p>
            <a:r>
              <a:rPr lang="it-IT" sz="4000" dirty="0" err="1"/>
              <a:t>We</a:t>
            </a:r>
            <a:r>
              <a:rPr lang="it-IT" sz="4000" dirty="0"/>
              <a:t> name </a:t>
            </a:r>
            <a:r>
              <a:rPr lang="it-IT" sz="4000" dirty="0" err="1">
                <a:solidFill>
                  <a:srgbClr val="FF0000"/>
                </a:solidFill>
              </a:rPr>
              <a:t>inferential</a:t>
            </a:r>
            <a:r>
              <a:rPr lang="it-IT" sz="4000" dirty="0">
                <a:solidFill>
                  <a:srgbClr val="FF0000"/>
                </a:solidFill>
              </a:rPr>
              <a:t> system </a:t>
            </a:r>
            <a:r>
              <a:rPr lang="it-IT" sz="4000" dirty="0"/>
              <a:t>a set of </a:t>
            </a:r>
            <a:r>
              <a:rPr lang="it-IT" sz="4000" dirty="0" err="1"/>
              <a:t>inferential</a:t>
            </a:r>
            <a:r>
              <a:rPr lang="it-IT" sz="4000" dirty="0"/>
              <a:t> rules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31F91E-3060-FD4A-940B-EEBF2183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675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0DA88F-0D68-E64F-93FF-26665622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Derivation</a:t>
            </a:r>
            <a:r>
              <a:rPr lang="it-IT" dirty="0"/>
              <a:t> in </a:t>
            </a:r>
            <a:r>
              <a:rPr lang="it-IT" dirty="0" err="1"/>
              <a:t>logical</a:t>
            </a:r>
            <a:r>
              <a:rPr lang="it-IT" dirty="0"/>
              <a:t>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BAEEBD-93A5-604D-90FF-E1B216643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200" dirty="0"/>
              <a:t>A formula 𝝋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>
                <a:solidFill>
                  <a:srgbClr val="FF0000"/>
                </a:solidFill>
              </a:rPr>
              <a:t>derived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/>
              <a:t>(</a:t>
            </a:r>
            <a:r>
              <a:rPr lang="it-IT" sz="3200" dirty="0" err="1"/>
              <a:t>directly</a:t>
            </a:r>
            <a:r>
              <a:rPr lang="it-IT" sz="3200" dirty="0"/>
              <a:t>) from a set A of </a:t>
            </a:r>
            <a:r>
              <a:rPr lang="it-IT" sz="3200" dirty="0" err="1"/>
              <a:t>wff</a:t>
            </a:r>
            <a:r>
              <a:rPr lang="it-IT" sz="3200" dirty="0"/>
              <a:t>, </a:t>
            </a:r>
            <a:r>
              <a:rPr lang="it-IT" sz="3200" dirty="0" err="1"/>
              <a:t>written</a:t>
            </a:r>
            <a:r>
              <a:rPr lang="it-IT" sz="3200" dirty="0"/>
              <a:t> A ⊢ 𝝋, in an </a:t>
            </a:r>
            <a:r>
              <a:rPr lang="it-IT" sz="3200" dirty="0" err="1"/>
              <a:t>inferential</a:t>
            </a:r>
            <a:r>
              <a:rPr lang="it-IT" sz="3200" dirty="0"/>
              <a:t> system </a:t>
            </a:r>
            <a:r>
              <a:rPr lang="it-IT" sz="3200" dirty="0" err="1"/>
              <a:t>S</a:t>
            </a:r>
            <a:r>
              <a:rPr lang="it-IT" sz="3200" dirty="0"/>
              <a:t>, </a:t>
            </a:r>
            <a:r>
              <a:rPr lang="it-IT" sz="3200" dirty="0" err="1"/>
              <a:t>when</a:t>
            </a:r>
            <a:r>
              <a:rPr lang="it-IT" sz="3200" dirty="0"/>
              <a:t> </a:t>
            </a:r>
            <a:r>
              <a:rPr lang="it-IT" sz="3200" dirty="0" err="1"/>
              <a:t>there</a:t>
            </a:r>
            <a:r>
              <a:rPr lang="it-IT" sz="3200" dirty="0"/>
              <a:t> </a:t>
            </a:r>
            <a:r>
              <a:rPr lang="it-IT" sz="3200" dirty="0" err="1"/>
              <a:t>is</a:t>
            </a:r>
            <a:r>
              <a:rPr lang="it-IT" sz="3200" dirty="0"/>
              <a:t> a rule </a:t>
            </a:r>
            <a:r>
              <a:rPr lang="it-IT" sz="3200" dirty="0" err="1"/>
              <a:t>r</a:t>
            </a:r>
            <a:r>
              <a:rPr lang="it-IT" sz="3200" dirty="0"/>
              <a:t>:&lt;</a:t>
            </a:r>
            <a:r>
              <a:rPr lang="it-IT" sz="3200" dirty="0" err="1"/>
              <a:t>Γ</a:t>
            </a:r>
            <a:r>
              <a:rPr lang="it-IT" sz="3200" dirty="0"/>
              <a:t>, 𝝋&gt; in </a:t>
            </a:r>
            <a:r>
              <a:rPr lang="it-IT" sz="3200" dirty="0" err="1"/>
              <a:t>S</a:t>
            </a:r>
            <a:r>
              <a:rPr lang="it-IT" sz="3200" dirty="0"/>
              <a:t> with </a:t>
            </a:r>
            <a:r>
              <a:rPr lang="it-IT" sz="3200" dirty="0" err="1"/>
              <a:t>Γ</a:t>
            </a:r>
            <a:r>
              <a:rPr lang="it-IT" sz="3200" dirty="0"/>
              <a:t> ⊆ A</a:t>
            </a:r>
          </a:p>
          <a:p>
            <a:r>
              <a:rPr lang="it-IT" sz="3200" dirty="0"/>
              <a:t>Given </a:t>
            </a:r>
            <a:r>
              <a:rPr lang="it-IT" sz="3200" dirty="0" err="1"/>
              <a:t>two</a:t>
            </a:r>
            <a:r>
              <a:rPr lang="it-IT" sz="3200" dirty="0"/>
              <a:t> sets of </a:t>
            </a:r>
            <a:r>
              <a:rPr lang="it-IT" sz="3200" dirty="0" err="1"/>
              <a:t>wffs</a:t>
            </a:r>
            <a:r>
              <a:rPr lang="it-IT" sz="3200" dirty="0"/>
              <a:t> A and B, </a:t>
            </a:r>
            <a:r>
              <a:rPr lang="it-IT" sz="3200" dirty="0" err="1"/>
              <a:t>such</a:t>
            </a:r>
            <a:r>
              <a:rPr lang="it-IT" sz="3200" dirty="0"/>
              <a:t> </a:t>
            </a:r>
            <a:r>
              <a:rPr lang="it-IT" sz="3200" dirty="0" err="1"/>
              <a:t>that</a:t>
            </a:r>
            <a:r>
              <a:rPr lang="it-IT" sz="3200" dirty="0"/>
              <a:t> </a:t>
            </a:r>
            <a:r>
              <a:rPr lang="it-IT" sz="3200" dirty="0" err="1"/>
              <a:t>every</a:t>
            </a:r>
            <a:r>
              <a:rPr lang="it-IT" sz="3200" dirty="0"/>
              <a:t> formula of B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derived</a:t>
            </a:r>
            <a:r>
              <a:rPr lang="it-IT" sz="3200" dirty="0"/>
              <a:t> from A </a:t>
            </a:r>
            <a:r>
              <a:rPr lang="it-IT" sz="3200" dirty="0" err="1"/>
              <a:t>we</a:t>
            </a:r>
            <a:r>
              <a:rPr lang="it-IT" sz="3200" dirty="0"/>
              <a:t> </a:t>
            </a:r>
            <a:r>
              <a:rPr lang="it-IT" sz="3200" dirty="0" err="1"/>
              <a:t>extensively</a:t>
            </a:r>
            <a:r>
              <a:rPr lang="it-IT" sz="3200" dirty="0"/>
              <a:t> </a:t>
            </a:r>
            <a:r>
              <a:rPr lang="it-IT" sz="3200" dirty="0" err="1"/>
              <a:t>say</a:t>
            </a:r>
            <a:r>
              <a:rPr lang="it-IT" sz="3200" dirty="0"/>
              <a:t> </a:t>
            </a:r>
            <a:r>
              <a:rPr lang="it-IT" sz="3200" dirty="0" err="1"/>
              <a:t>that</a:t>
            </a:r>
            <a:r>
              <a:rPr lang="it-IT" sz="3200" dirty="0"/>
              <a:t> A </a:t>
            </a:r>
            <a:r>
              <a:rPr lang="it-IT" sz="3200" dirty="0" err="1"/>
              <a:t>derives</a:t>
            </a:r>
            <a:r>
              <a:rPr lang="it-IT" sz="3200" dirty="0"/>
              <a:t> (</a:t>
            </a:r>
            <a:r>
              <a:rPr lang="it-IT" sz="3200" dirty="0" err="1"/>
              <a:t>directly</a:t>
            </a:r>
            <a:r>
              <a:rPr lang="it-IT" sz="3200" dirty="0"/>
              <a:t>) B</a:t>
            </a:r>
          </a:p>
          <a:p>
            <a:r>
              <a:rPr lang="it-IT" sz="3200" dirty="0" err="1"/>
              <a:t>We</a:t>
            </a:r>
            <a:r>
              <a:rPr lang="it-IT" sz="3200" dirty="0"/>
              <a:t> </a:t>
            </a:r>
            <a:r>
              <a:rPr lang="it-IT" sz="3200" dirty="0" err="1"/>
              <a:t>then</a:t>
            </a:r>
            <a:r>
              <a:rPr lang="it-IT" sz="3200" dirty="0"/>
              <a:t> </a:t>
            </a:r>
            <a:r>
              <a:rPr lang="it-IT" sz="3200" dirty="0" err="1"/>
              <a:t>say</a:t>
            </a:r>
            <a:r>
              <a:rPr lang="it-IT" sz="3200" dirty="0"/>
              <a:t> </a:t>
            </a:r>
            <a:r>
              <a:rPr lang="it-IT" sz="3200" dirty="0" err="1"/>
              <a:t>that</a:t>
            </a:r>
            <a:r>
              <a:rPr lang="it-IT" sz="3200" dirty="0"/>
              <a:t> A </a:t>
            </a:r>
            <a:r>
              <a:rPr lang="it-IT" sz="3200" dirty="0" err="1"/>
              <a:t>derives</a:t>
            </a:r>
            <a:r>
              <a:rPr lang="it-IT" sz="3200" dirty="0"/>
              <a:t> </a:t>
            </a:r>
            <a:r>
              <a:rPr lang="it-IT" sz="3200" dirty="0" err="1"/>
              <a:t>indirectly</a:t>
            </a:r>
            <a:r>
              <a:rPr lang="it-IT" sz="3200" dirty="0"/>
              <a:t> 𝝋 (and </a:t>
            </a:r>
            <a:r>
              <a:rPr lang="it-IT" sz="3200" dirty="0" err="1"/>
              <a:t>again</a:t>
            </a:r>
            <a:r>
              <a:rPr lang="it-IT" sz="3200" dirty="0"/>
              <a:t> </a:t>
            </a:r>
            <a:r>
              <a:rPr lang="it-IT" sz="3200" dirty="0" err="1"/>
              <a:t>extensively</a:t>
            </a:r>
            <a:r>
              <a:rPr lang="it-IT" sz="3200" dirty="0"/>
              <a:t>, </a:t>
            </a:r>
            <a:r>
              <a:rPr lang="it-IT" sz="3200" dirty="0" err="1"/>
              <a:t>we</a:t>
            </a:r>
            <a:r>
              <a:rPr lang="it-IT" sz="3200" dirty="0"/>
              <a:t> can </a:t>
            </a:r>
            <a:r>
              <a:rPr lang="it-IT" sz="3200" dirty="0" err="1"/>
              <a:t>apply</a:t>
            </a:r>
            <a:r>
              <a:rPr lang="it-IT" sz="3200" dirty="0"/>
              <a:t> </a:t>
            </a:r>
            <a:r>
              <a:rPr lang="it-IT" sz="3200" dirty="0" err="1"/>
              <a:t>this</a:t>
            </a:r>
            <a:r>
              <a:rPr lang="it-IT" sz="3200" dirty="0"/>
              <a:t> to a set) </a:t>
            </a:r>
            <a:r>
              <a:rPr lang="it-IT" sz="3200" dirty="0" err="1"/>
              <a:t>when</a:t>
            </a:r>
            <a:r>
              <a:rPr lang="it-IT" sz="3200" dirty="0"/>
              <a:t> </a:t>
            </a:r>
            <a:r>
              <a:rPr lang="it-IT" sz="3200" dirty="0" err="1"/>
              <a:t>there</a:t>
            </a:r>
            <a:r>
              <a:rPr lang="it-IT" sz="3200" dirty="0"/>
              <a:t>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sequence</a:t>
            </a:r>
            <a:r>
              <a:rPr lang="it-IT" sz="3200" dirty="0"/>
              <a:t> of sets A</a:t>
            </a:r>
            <a:r>
              <a:rPr lang="it-IT" sz="3200" baseline="-25000" dirty="0"/>
              <a:t>1</a:t>
            </a:r>
            <a:r>
              <a:rPr lang="it-IT" sz="3200" dirty="0"/>
              <a:t>, A</a:t>
            </a:r>
            <a:r>
              <a:rPr lang="it-IT" sz="3200" baseline="-25000" dirty="0"/>
              <a:t>2</a:t>
            </a:r>
            <a:r>
              <a:rPr lang="it-IT" sz="3200" dirty="0"/>
              <a:t>,…, A</a:t>
            </a:r>
            <a:r>
              <a:rPr lang="it-IT" sz="3200" baseline="-25000" dirty="0"/>
              <a:t>n</a:t>
            </a:r>
            <a:r>
              <a:rPr lang="it-IT" sz="3200" dirty="0"/>
              <a:t>,… </a:t>
            </a:r>
            <a:r>
              <a:rPr lang="it-IT" sz="3200" dirty="0" err="1"/>
              <a:t>such</a:t>
            </a:r>
            <a:r>
              <a:rPr lang="it-IT" sz="3200" dirty="0"/>
              <a:t> </a:t>
            </a:r>
            <a:r>
              <a:rPr lang="it-IT" sz="3200" dirty="0" err="1"/>
              <a:t>that</a:t>
            </a:r>
            <a:r>
              <a:rPr lang="it-IT" sz="3200" dirty="0"/>
              <a:t> for </a:t>
            </a:r>
            <a:r>
              <a:rPr lang="it-IT" sz="3200" dirty="0" err="1"/>
              <a:t>any</a:t>
            </a:r>
            <a:r>
              <a:rPr lang="it-IT" sz="3200" dirty="0"/>
              <a:t> i, A</a:t>
            </a:r>
            <a:r>
              <a:rPr lang="it-IT" sz="3200" baseline="-25000" dirty="0"/>
              <a:t>i</a:t>
            </a:r>
            <a:r>
              <a:rPr lang="it-IT" sz="3200" dirty="0"/>
              <a:t> </a:t>
            </a:r>
            <a:r>
              <a:rPr lang="it-IT" sz="3200" dirty="0" err="1"/>
              <a:t>derives</a:t>
            </a:r>
            <a:r>
              <a:rPr lang="it-IT" sz="3200" dirty="0"/>
              <a:t> A</a:t>
            </a:r>
            <a:r>
              <a:rPr lang="it-IT" sz="3200" baseline="-25000" dirty="0"/>
              <a:t>i+1</a:t>
            </a:r>
            <a:endParaRPr lang="it-IT" sz="32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33EFF4-82C3-CE42-A67C-E4C79FD2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2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EFDA8B-87DA-974F-A50B-2853B475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Theoretical</a:t>
            </a:r>
            <a:r>
              <a:rPr lang="it-IT" dirty="0"/>
              <a:t> </a:t>
            </a:r>
            <a:r>
              <a:rPr lang="it-IT" dirty="0" err="1"/>
              <a:t>derivation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969023-8DAA-5D49-AAFA-6F1A77243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200" dirty="0"/>
              <a:t>Given a theory T, </a:t>
            </a:r>
            <a:r>
              <a:rPr lang="it-IT" sz="3200" dirty="0" err="1"/>
              <a:t>we</a:t>
            </a:r>
            <a:r>
              <a:rPr lang="it-IT" sz="3200" dirty="0"/>
              <a:t> name </a:t>
            </a:r>
            <a:r>
              <a:rPr lang="it-IT" sz="3200" dirty="0" err="1">
                <a:solidFill>
                  <a:srgbClr val="FF0000"/>
                </a:solidFill>
              </a:rPr>
              <a:t>axioms</a:t>
            </a:r>
            <a:r>
              <a:rPr lang="it-IT" sz="3200" dirty="0"/>
              <a:t> of </a:t>
            </a:r>
            <a:r>
              <a:rPr lang="it-IT" sz="3200" dirty="0" err="1"/>
              <a:t>that</a:t>
            </a:r>
            <a:r>
              <a:rPr lang="it-IT" sz="3200" dirty="0"/>
              <a:t> theory a subset A of T, </a:t>
            </a:r>
            <a:r>
              <a:rPr lang="it-IT" sz="3200" dirty="0" err="1"/>
              <a:t>such</a:t>
            </a:r>
            <a:r>
              <a:rPr lang="it-IT" sz="3200" dirty="0"/>
              <a:t> </a:t>
            </a:r>
            <a:r>
              <a:rPr lang="it-IT" sz="3200" dirty="0" err="1"/>
              <a:t>that</a:t>
            </a:r>
            <a:r>
              <a:rPr lang="it-IT" sz="3200" dirty="0"/>
              <a:t> </a:t>
            </a:r>
            <a:r>
              <a:rPr lang="it-IT" sz="3200" dirty="0" err="1"/>
              <a:t>each</a:t>
            </a:r>
            <a:r>
              <a:rPr lang="it-IT" sz="3200" dirty="0"/>
              <a:t> </a:t>
            </a:r>
            <a:r>
              <a:rPr lang="it-IT" sz="3200" dirty="0" err="1"/>
              <a:t>element</a:t>
            </a:r>
            <a:r>
              <a:rPr lang="it-IT" sz="3200" dirty="0"/>
              <a:t> of T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derived</a:t>
            </a:r>
            <a:r>
              <a:rPr lang="it-IT" sz="3200" dirty="0"/>
              <a:t> from A</a:t>
            </a:r>
          </a:p>
          <a:p>
            <a:r>
              <a:rPr lang="it-IT" sz="3200" dirty="0"/>
              <a:t>A theory T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said</a:t>
            </a:r>
            <a:r>
              <a:rPr lang="it-IT" sz="3200" dirty="0"/>
              <a:t> to be </a:t>
            </a:r>
            <a:r>
              <a:rPr lang="it-IT" sz="3200" dirty="0" err="1">
                <a:solidFill>
                  <a:srgbClr val="FF0000"/>
                </a:solidFill>
              </a:rPr>
              <a:t>closed</a:t>
            </a:r>
            <a:r>
              <a:rPr lang="it-IT" sz="3200" dirty="0"/>
              <a:t> </a:t>
            </a:r>
            <a:r>
              <a:rPr lang="it-IT" sz="3200" dirty="0" err="1"/>
              <a:t>when</a:t>
            </a:r>
            <a:r>
              <a:rPr lang="it-IT" sz="3200" dirty="0"/>
              <a:t> </a:t>
            </a:r>
            <a:r>
              <a:rPr lang="it-IT" sz="3200" dirty="0" err="1"/>
              <a:t>every</a:t>
            </a:r>
            <a:r>
              <a:rPr lang="it-IT" sz="3200" dirty="0"/>
              <a:t> </a:t>
            </a:r>
            <a:r>
              <a:rPr lang="it-IT" sz="3200" dirty="0" err="1"/>
              <a:t>element</a:t>
            </a:r>
            <a:r>
              <a:rPr lang="it-IT" sz="3200" dirty="0"/>
              <a:t> 𝝋 </a:t>
            </a:r>
            <a:r>
              <a:rPr lang="it-IT" sz="3200" dirty="0" err="1"/>
              <a:t>derived</a:t>
            </a:r>
            <a:r>
              <a:rPr lang="it-IT" sz="3200" dirty="0"/>
              <a:t> from a set of </a:t>
            </a:r>
            <a:r>
              <a:rPr lang="it-IT" sz="3200" dirty="0" err="1"/>
              <a:t>axioms</a:t>
            </a:r>
            <a:r>
              <a:rPr lang="it-IT" sz="3200" dirty="0"/>
              <a:t> for </a:t>
            </a:r>
            <a:r>
              <a:rPr lang="it-IT" sz="3200" dirty="0" err="1"/>
              <a:t>is</a:t>
            </a:r>
            <a:r>
              <a:rPr lang="it-IT" sz="3200" dirty="0"/>
              <a:t> in T</a:t>
            </a:r>
          </a:p>
          <a:p>
            <a:r>
              <a:rPr lang="it-IT" sz="3200" dirty="0"/>
              <a:t>An </a:t>
            </a:r>
            <a:r>
              <a:rPr lang="it-IT" sz="3200" dirty="0" err="1"/>
              <a:t>element</a:t>
            </a:r>
            <a:r>
              <a:rPr lang="it-IT" sz="3200" dirty="0"/>
              <a:t> of a theory T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named</a:t>
            </a:r>
            <a:r>
              <a:rPr lang="it-IT" sz="3200" dirty="0"/>
              <a:t> </a:t>
            </a:r>
            <a:r>
              <a:rPr lang="it-IT" sz="3200" dirty="0" err="1">
                <a:solidFill>
                  <a:srgbClr val="FF0000"/>
                </a:solidFill>
              </a:rPr>
              <a:t>theorem</a:t>
            </a:r>
            <a:endParaRPr lang="it-IT" sz="3200" dirty="0">
              <a:solidFill>
                <a:srgbClr val="FF0000"/>
              </a:solidFill>
            </a:endParaRPr>
          </a:p>
          <a:p>
            <a:r>
              <a:rPr lang="it-IT" sz="3200" dirty="0"/>
              <a:t>The set of </a:t>
            </a:r>
            <a:r>
              <a:rPr lang="it-IT" sz="3200" dirty="0" err="1"/>
              <a:t>all</a:t>
            </a:r>
            <a:r>
              <a:rPr lang="it-IT" sz="3200" dirty="0"/>
              <a:t> </a:t>
            </a:r>
            <a:r>
              <a:rPr lang="it-IT" sz="3200" dirty="0" err="1"/>
              <a:t>theorems</a:t>
            </a:r>
            <a:r>
              <a:rPr lang="it-IT" sz="3200" dirty="0"/>
              <a:t> </a:t>
            </a:r>
            <a:r>
              <a:rPr lang="it-IT" sz="3200" dirty="0" err="1"/>
              <a:t>derived</a:t>
            </a:r>
            <a:r>
              <a:rPr lang="it-IT" sz="3200" dirty="0"/>
              <a:t>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called</a:t>
            </a:r>
            <a:r>
              <a:rPr lang="it-IT" sz="3200" dirty="0"/>
              <a:t> </a:t>
            </a:r>
            <a:r>
              <a:rPr lang="it-IT" sz="3200" dirty="0" err="1">
                <a:solidFill>
                  <a:srgbClr val="FF0000"/>
                </a:solidFill>
              </a:rPr>
              <a:t>deductive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closure</a:t>
            </a:r>
            <a:endParaRPr lang="it-IT" sz="32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6620FB-4C35-2D4B-A4E8-0E73D9F8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174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DD09C5-42D9-AA4F-8D41-F32CEA42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Theories, </a:t>
            </a:r>
            <a:r>
              <a:rPr lang="it-IT" dirty="0" err="1"/>
              <a:t>derivation</a:t>
            </a:r>
            <a:r>
              <a:rPr lang="it-IT" dirty="0"/>
              <a:t> and </a:t>
            </a:r>
            <a:r>
              <a:rPr lang="it-IT" dirty="0" err="1"/>
              <a:t>sat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F1807E-8046-884C-9EE4-8A967097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733" dirty="0" err="1"/>
              <a:t>Every</a:t>
            </a:r>
            <a:r>
              <a:rPr lang="it-IT" sz="3733" dirty="0"/>
              <a:t> </a:t>
            </a:r>
            <a:r>
              <a:rPr lang="it-IT" sz="3733" dirty="0" err="1"/>
              <a:t>tautology</a:t>
            </a:r>
            <a:r>
              <a:rPr lang="it-IT" sz="3733" dirty="0"/>
              <a:t> </a:t>
            </a:r>
            <a:r>
              <a:rPr lang="it-IT" sz="3733" dirty="0" err="1"/>
              <a:t>is</a:t>
            </a:r>
            <a:r>
              <a:rPr lang="it-IT" sz="3733" dirty="0"/>
              <a:t> a </a:t>
            </a:r>
            <a:r>
              <a:rPr lang="it-IT" sz="3733" dirty="0" err="1"/>
              <a:t>theorem</a:t>
            </a:r>
            <a:r>
              <a:rPr lang="it-IT" sz="3733" dirty="0"/>
              <a:t> in a </a:t>
            </a:r>
            <a:r>
              <a:rPr lang="it-IT" sz="3733" dirty="0" err="1"/>
              <a:t>consistent</a:t>
            </a:r>
            <a:r>
              <a:rPr lang="it-IT" sz="3733" dirty="0"/>
              <a:t> theory</a:t>
            </a:r>
          </a:p>
          <a:p>
            <a:r>
              <a:rPr lang="it-IT" sz="3733" dirty="0"/>
              <a:t>Given a </a:t>
            </a:r>
            <a:r>
              <a:rPr lang="it-IT" sz="3733" dirty="0" err="1"/>
              <a:t>consistent</a:t>
            </a:r>
            <a:r>
              <a:rPr lang="it-IT" sz="3733" dirty="0"/>
              <a:t> theory, </a:t>
            </a:r>
            <a:r>
              <a:rPr lang="it-IT" sz="3733" dirty="0" err="1"/>
              <a:t>every</a:t>
            </a:r>
            <a:r>
              <a:rPr lang="it-IT" sz="3733" dirty="0"/>
              <a:t> formula </a:t>
            </a:r>
            <a:r>
              <a:rPr lang="it-IT" sz="3733" dirty="0" err="1"/>
              <a:t>that</a:t>
            </a:r>
            <a:r>
              <a:rPr lang="it-IT" sz="3733" dirty="0"/>
              <a:t> </a:t>
            </a:r>
            <a:r>
              <a:rPr lang="it-IT" sz="3733" dirty="0" err="1"/>
              <a:t>is</a:t>
            </a:r>
            <a:r>
              <a:rPr lang="it-IT" sz="3733" dirty="0"/>
              <a:t> </a:t>
            </a:r>
            <a:r>
              <a:rPr lang="it-IT" sz="3733" dirty="0" err="1"/>
              <a:t>sat</a:t>
            </a:r>
            <a:r>
              <a:rPr lang="it-IT" sz="3733" dirty="0"/>
              <a:t> </a:t>
            </a:r>
            <a:r>
              <a:rPr lang="it-IT" sz="3733" dirty="0" err="1"/>
              <a:t>when</a:t>
            </a:r>
            <a:r>
              <a:rPr lang="it-IT" sz="3733" dirty="0"/>
              <a:t> the </a:t>
            </a:r>
            <a:r>
              <a:rPr lang="it-IT" sz="3733" dirty="0" err="1"/>
              <a:t>axioms</a:t>
            </a:r>
            <a:r>
              <a:rPr lang="it-IT" sz="3733" dirty="0"/>
              <a:t> are so, </a:t>
            </a:r>
            <a:r>
              <a:rPr lang="it-IT" sz="3733" dirty="0" err="1"/>
              <a:t>is</a:t>
            </a:r>
            <a:r>
              <a:rPr lang="it-IT" sz="3733" dirty="0"/>
              <a:t> </a:t>
            </a:r>
            <a:r>
              <a:rPr lang="it-IT" sz="3733" dirty="0" err="1"/>
              <a:t>sat</a:t>
            </a:r>
            <a:r>
              <a:rPr lang="it-IT" sz="3733" dirty="0"/>
              <a:t> </a:t>
            </a:r>
            <a:r>
              <a:rPr lang="it-IT" sz="3733" dirty="0" err="1"/>
              <a:t>as</a:t>
            </a:r>
            <a:r>
              <a:rPr lang="it-IT" sz="3733" dirty="0"/>
              <a:t> </a:t>
            </a:r>
            <a:r>
              <a:rPr lang="it-IT" sz="3733" dirty="0" err="1"/>
              <a:t>well</a:t>
            </a:r>
            <a:endParaRPr lang="it-IT" sz="3733" dirty="0"/>
          </a:p>
          <a:p>
            <a:r>
              <a:rPr lang="it-IT" sz="3733" dirty="0" err="1"/>
              <a:t>If</a:t>
            </a:r>
            <a:r>
              <a:rPr lang="it-IT" sz="3733" dirty="0"/>
              <a:t> </a:t>
            </a:r>
            <a:r>
              <a:rPr lang="it-IT" sz="3733" dirty="0" err="1"/>
              <a:t>you</a:t>
            </a:r>
            <a:r>
              <a:rPr lang="it-IT" sz="3733" dirty="0"/>
              <a:t> derive 𝝋 in a </a:t>
            </a:r>
            <a:r>
              <a:rPr lang="it-IT" sz="3733" dirty="0" err="1"/>
              <a:t>consistent</a:t>
            </a:r>
            <a:r>
              <a:rPr lang="it-IT" sz="3733" dirty="0"/>
              <a:t> theory T </a:t>
            </a:r>
            <a:r>
              <a:rPr lang="it-IT" sz="3733" dirty="0" err="1"/>
              <a:t>than</a:t>
            </a:r>
            <a:r>
              <a:rPr lang="it-IT" sz="3733" dirty="0"/>
              <a:t> the theory T’ </a:t>
            </a:r>
            <a:r>
              <a:rPr lang="it-IT" sz="3733" dirty="0" err="1"/>
              <a:t>obtained</a:t>
            </a:r>
            <a:r>
              <a:rPr lang="it-IT" sz="3733" dirty="0"/>
              <a:t> by </a:t>
            </a:r>
            <a:r>
              <a:rPr lang="it-IT" sz="3733" dirty="0" err="1"/>
              <a:t>adding</a:t>
            </a:r>
            <a:r>
              <a:rPr lang="it-IT" sz="3733" dirty="0"/>
              <a:t> 𝝋 to T </a:t>
            </a:r>
            <a:r>
              <a:rPr lang="it-IT" sz="3733" dirty="0" err="1"/>
              <a:t>is</a:t>
            </a:r>
            <a:r>
              <a:rPr lang="it-IT" sz="3733" dirty="0"/>
              <a:t> </a:t>
            </a:r>
            <a:r>
              <a:rPr lang="it-IT" sz="3733" dirty="0" err="1"/>
              <a:t>consistent</a:t>
            </a:r>
            <a:endParaRPr lang="it-IT" sz="3733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40FA2C-6FF2-8143-AA18-D04641AD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13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185ECE-4691-E742-9B65-5266CDC8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T-</a:t>
            </a:r>
            <a:r>
              <a:rPr lang="it-IT" dirty="0" err="1"/>
              <a:t>sat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409864-7E85-4349-B0F4-C26AB7D2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Given a theory T, a formula 𝝋 </a:t>
            </a:r>
            <a:r>
              <a:rPr lang="it-IT" dirty="0" err="1"/>
              <a:t>is</a:t>
            </a:r>
            <a:r>
              <a:rPr lang="it-IT" dirty="0"/>
              <a:t> T-</a:t>
            </a:r>
            <a:r>
              <a:rPr lang="it-IT" dirty="0" err="1"/>
              <a:t>sat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one of the </a:t>
            </a:r>
            <a:r>
              <a:rPr lang="it-IT" dirty="0" err="1"/>
              <a:t>interpretations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satisfies</a:t>
            </a:r>
            <a:r>
              <a:rPr lang="it-IT" dirty="0"/>
              <a:t> T,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so with 𝝋 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92F432-D3D3-2241-B171-9DF32953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29CE82-1E12-9943-BAC8-45114A64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Properties</a:t>
            </a:r>
            <a:r>
              <a:rPr lang="it-IT" dirty="0"/>
              <a:t> of </a:t>
            </a:r>
            <a:r>
              <a:rPr lang="it-IT" dirty="0" err="1"/>
              <a:t>inferential</a:t>
            </a:r>
            <a:r>
              <a:rPr lang="it-IT" dirty="0"/>
              <a:t>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B911AA-9A51-8A4F-987E-C88C441C6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000" dirty="0"/>
              <a:t>An </a:t>
            </a:r>
            <a:r>
              <a:rPr lang="it-IT" sz="4000" dirty="0" err="1"/>
              <a:t>inferential</a:t>
            </a:r>
            <a:r>
              <a:rPr lang="it-IT" sz="4000" dirty="0"/>
              <a:t> system </a:t>
            </a:r>
            <a:r>
              <a:rPr lang="it-IT" sz="4000" dirty="0" err="1"/>
              <a:t>is</a:t>
            </a:r>
            <a:r>
              <a:rPr lang="it-IT" sz="4000" dirty="0"/>
              <a:t> </a:t>
            </a:r>
            <a:r>
              <a:rPr lang="it-IT" sz="4000" dirty="0">
                <a:solidFill>
                  <a:srgbClr val="FF0000"/>
                </a:solidFill>
              </a:rPr>
              <a:t>sound </a:t>
            </a:r>
            <a:r>
              <a:rPr lang="it-IT" sz="4000" dirty="0" err="1"/>
              <a:t>when</a:t>
            </a:r>
            <a:r>
              <a:rPr lang="it-IT" sz="4000" dirty="0"/>
              <a:t> </a:t>
            </a:r>
            <a:r>
              <a:rPr lang="it-IT" sz="4000" dirty="0" err="1"/>
              <a:t>it</a:t>
            </a:r>
            <a:r>
              <a:rPr lang="it-IT" sz="4000" dirty="0"/>
              <a:t> </a:t>
            </a:r>
            <a:r>
              <a:rPr lang="it-IT" sz="4000" dirty="0" err="1"/>
              <a:t>only</a:t>
            </a:r>
            <a:r>
              <a:rPr lang="it-IT" sz="4000" dirty="0"/>
              <a:t> </a:t>
            </a:r>
            <a:r>
              <a:rPr lang="it-IT" sz="4000" dirty="0" err="1"/>
              <a:t>derives</a:t>
            </a:r>
            <a:r>
              <a:rPr lang="it-IT" sz="4000" dirty="0"/>
              <a:t> </a:t>
            </a:r>
            <a:r>
              <a:rPr lang="it-IT" sz="4000" dirty="0" err="1"/>
              <a:t>tautologies</a:t>
            </a:r>
            <a:r>
              <a:rPr lang="it-IT" sz="4000" dirty="0"/>
              <a:t> </a:t>
            </a:r>
            <a:r>
              <a:rPr lang="it-IT" sz="4000" dirty="0" err="1"/>
              <a:t>when</a:t>
            </a:r>
            <a:r>
              <a:rPr lang="it-IT" sz="4000" dirty="0"/>
              <a:t> </a:t>
            </a:r>
            <a:r>
              <a:rPr lang="it-IT" sz="4000" dirty="0" err="1"/>
              <a:t>starting</a:t>
            </a:r>
            <a:r>
              <a:rPr lang="it-IT" sz="4000" dirty="0"/>
              <a:t> with the </a:t>
            </a:r>
            <a:r>
              <a:rPr lang="it-IT" sz="4000" dirty="0" err="1"/>
              <a:t>empty</a:t>
            </a:r>
            <a:r>
              <a:rPr lang="it-IT" sz="4000" dirty="0"/>
              <a:t> set, and T-</a:t>
            </a:r>
            <a:r>
              <a:rPr lang="it-IT" sz="4000" dirty="0" err="1"/>
              <a:t>sat</a:t>
            </a:r>
            <a:r>
              <a:rPr lang="it-IT" sz="4000" dirty="0"/>
              <a:t> </a:t>
            </a:r>
            <a:r>
              <a:rPr lang="it-IT" sz="4000" dirty="0" err="1"/>
              <a:t>formulae</a:t>
            </a:r>
            <a:r>
              <a:rPr lang="it-IT" sz="4000" dirty="0"/>
              <a:t> </a:t>
            </a:r>
            <a:r>
              <a:rPr lang="it-IT" sz="4000" dirty="0" err="1"/>
              <a:t>when</a:t>
            </a:r>
            <a:r>
              <a:rPr lang="it-IT" sz="4000" dirty="0"/>
              <a:t> </a:t>
            </a:r>
            <a:r>
              <a:rPr lang="it-IT" sz="4000" dirty="0" err="1"/>
              <a:t>starting</a:t>
            </a:r>
            <a:r>
              <a:rPr lang="it-IT" sz="4000" dirty="0"/>
              <a:t> with the </a:t>
            </a:r>
            <a:r>
              <a:rPr lang="it-IT" sz="4000" dirty="0" err="1"/>
              <a:t>axioms</a:t>
            </a:r>
            <a:r>
              <a:rPr lang="it-IT" sz="4000" dirty="0"/>
              <a:t> of T</a:t>
            </a:r>
          </a:p>
          <a:p>
            <a:r>
              <a:rPr lang="it-IT" sz="4000" dirty="0"/>
              <a:t>An </a:t>
            </a:r>
            <a:r>
              <a:rPr lang="it-IT" sz="4000" dirty="0" err="1"/>
              <a:t>inferential</a:t>
            </a:r>
            <a:r>
              <a:rPr lang="it-IT" sz="4000" dirty="0"/>
              <a:t> system </a:t>
            </a:r>
            <a:r>
              <a:rPr lang="it-IT" sz="4000" dirty="0" err="1"/>
              <a:t>is</a:t>
            </a:r>
            <a:r>
              <a:rPr lang="it-IT" sz="4000" dirty="0"/>
              <a:t> </a:t>
            </a:r>
            <a:r>
              <a:rPr lang="it-IT" sz="4000" dirty="0">
                <a:solidFill>
                  <a:srgbClr val="FF0000"/>
                </a:solidFill>
              </a:rPr>
              <a:t>complete </a:t>
            </a:r>
            <a:r>
              <a:rPr lang="it-IT" sz="4000" dirty="0" err="1"/>
              <a:t>when</a:t>
            </a:r>
            <a:r>
              <a:rPr lang="it-IT" sz="4000" dirty="0"/>
              <a:t> </a:t>
            </a:r>
            <a:r>
              <a:rPr lang="it-IT" sz="4000" dirty="0" err="1"/>
              <a:t>it</a:t>
            </a:r>
            <a:r>
              <a:rPr lang="it-IT" sz="4000" dirty="0"/>
              <a:t> </a:t>
            </a:r>
            <a:r>
              <a:rPr lang="it-IT" sz="4000" dirty="0" err="1"/>
              <a:t>derives</a:t>
            </a:r>
            <a:r>
              <a:rPr lang="it-IT" sz="4000" dirty="0"/>
              <a:t> </a:t>
            </a:r>
            <a:r>
              <a:rPr lang="it-IT" sz="4000" dirty="0" err="1"/>
              <a:t>all</a:t>
            </a:r>
            <a:r>
              <a:rPr lang="it-IT" sz="4000" dirty="0"/>
              <a:t> </a:t>
            </a:r>
            <a:r>
              <a:rPr lang="it-IT" sz="4000" dirty="0" err="1"/>
              <a:t>tautologies</a:t>
            </a:r>
            <a:r>
              <a:rPr lang="it-IT" sz="4000" dirty="0"/>
              <a:t> </a:t>
            </a:r>
            <a:r>
              <a:rPr lang="it-IT" sz="4000" dirty="0" err="1"/>
              <a:t>when</a:t>
            </a:r>
            <a:r>
              <a:rPr lang="it-IT" sz="4000" dirty="0"/>
              <a:t> </a:t>
            </a:r>
            <a:r>
              <a:rPr lang="it-IT" sz="4000" dirty="0" err="1"/>
              <a:t>starting</a:t>
            </a:r>
            <a:r>
              <a:rPr lang="it-IT" sz="4000" dirty="0"/>
              <a:t> with the </a:t>
            </a:r>
            <a:r>
              <a:rPr lang="it-IT" sz="4000" dirty="0" err="1"/>
              <a:t>empty</a:t>
            </a:r>
            <a:r>
              <a:rPr lang="it-IT" sz="4000" dirty="0"/>
              <a:t> set, and </a:t>
            </a:r>
            <a:r>
              <a:rPr lang="it-IT" sz="4000" dirty="0" err="1"/>
              <a:t>all</a:t>
            </a:r>
            <a:r>
              <a:rPr lang="it-IT" sz="4000" dirty="0"/>
              <a:t> T-</a:t>
            </a:r>
            <a:r>
              <a:rPr lang="it-IT" sz="4000" dirty="0" err="1"/>
              <a:t>sat</a:t>
            </a:r>
            <a:r>
              <a:rPr lang="it-IT" sz="4000" dirty="0"/>
              <a:t> </a:t>
            </a:r>
            <a:r>
              <a:rPr lang="it-IT" sz="4000" dirty="0" err="1"/>
              <a:t>formulae</a:t>
            </a:r>
            <a:r>
              <a:rPr lang="it-IT" sz="4000" dirty="0"/>
              <a:t> </a:t>
            </a:r>
            <a:r>
              <a:rPr lang="it-IT" sz="4000" dirty="0" err="1"/>
              <a:t>when</a:t>
            </a:r>
            <a:r>
              <a:rPr lang="it-IT" sz="4000" dirty="0"/>
              <a:t> </a:t>
            </a:r>
            <a:r>
              <a:rPr lang="it-IT" sz="4000" dirty="0" err="1"/>
              <a:t>starting</a:t>
            </a:r>
            <a:r>
              <a:rPr lang="it-IT" sz="4000" dirty="0"/>
              <a:t> with the </a:t>
            </a:r>
            <a:r>
              <a:rPr lang="it-IT" sz="4000" dirty="0" err="1"/>
              <a:t>axioms</a:t>
            </a:r>
            <a:r>
              <a:rPr lang="it-IT" sz="4000" dirty="0"/>
              <a:t> of T</a:t>
            </a:r>
          </a:p>
          <a:p>
            <a:endParaRPr lang="it-IT" sz="40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962021-0247-DF4F-B5C5-55CD7631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531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98865-12A5-5249-BE16-649FAC57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Prawitz’s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06C50D-5A4B-8B44-8500-823E9290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733" dirty="0"/>
              <a:t>A system of rules sound and complete for CPC</a:t>
            </a:r>
          </a:p>
          <a:p>
            <a:r>
              <a:rPr lang="it-IT" sz="3733" dirty="0" err="1"/>
              <a:t>Essentially</a:t>
            </a:r>
            <a:r>
              <a:rPr lang="it-IT" sz="3733" dirty="0"/>
              <a:t> </a:t>
            </a:r>
            <a:r>
              <a:rPr lang="it-IT" sz="3733" dirty="0" err="1"/>
              <a:t>based</a:t>
            </a:r>
            <a:r>
              <a:rPr lang="it-IT" sz="3733" dirty="0"/>
              <a:t> on </a:t>
            </a:r>
            <a:r>
              <a:rPr lang="it-IT" sz="3733" dirty="0" err="1"/>
              <a:t>Aristotle’s</a:t>
            </a:r>
            <a:r>
              <a:rPr lang="it-IT" sz="3733" dirty="0"/>
              <a:t> </a:t>
            </a:r>
            <a:r>
              <a:rPr lang="it-IT" sz="3733" dirty="0" err="1"/>
              <a:t>foundational</a:t>
            </a:r>
            <a:r>
              <a:rPr lang="it-IT" sz="3733" dirty="0"/>
              <a:t> </a:t>
            </a:r>
            <a:r>
              <a:rPr lang="it-IT" sz="3733" b="1" dirty="0" err="1"/>
              <a:t>logic</a:t>
            </a:r>
            <a:r>
              <a:rPr lang="it-IT" sz="3733" b="1" dirty="0"/>
              <a:t> </a:t>
            </a:r>
            <a:r>
              <a:rPr lang="it-IT" sz="3733" b="1" dirty="0" err="1"/>
              <a:t>postulates</a:t>
            </a:r>
            <a:endParaRPr lang="it-IT" sz="3733" dirty="0"/>
          </a:p>
          <a:p>
            <a:pPr lvl="1"/>
            <a:r>
              <a:rPr lang="it-IT" sz="3200" dirty="0">
                <a:solidFill>
                  <a:srgbClr val="FF0000"/>
                </a:solidFill>
              </a:rPr>
              <a:t>Non-</a:t>
            </a:r>
            <a:r>
              <a:rPr lang="it-IT" sz="3200" dirty="0" err="1">
                <a:solidFill>
                  <a:srgbClr val="FF0000"/>
                </a:solidFill>
              </a:rPr>
              <a:t>contradiction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principle</a:t>
            </a:r>
            <a:br>
              <a:rPr lang="it-IT" sz="3200" dirty="0">
                <a:solidFill>
                  <a:srgbClr val="FF0000"/>
                </a:solidFill>
              </a:rPr>
            </a:br>
            <a:r>
              <a:rPr lang="it-IT" sz="3200" dirty="0"/>
              <a:t>(</a:t>
            </a:r>
            <a:r>
              <a:rPr lang="it-IT" sz="3200" dirty="0" err="1"/>
              <a:t>you</a:t>
            </a:r>
            <a:r>
              <a:rPr lang="it-IT" sz="3200" dirty="0"/>
              <a:t> </a:t>
            </a:r>
            <a:r>
              <a:rPr lang="it-IT" sz="3200" dirty="0" err="1"/>
              <a:t>cannot</a:t>
            </a:r>
            <a:r>
              <a:rPr lang="it-IT" sz="3200" dirty="0"/>
              <a:t> derive </a:t>
            </a:r>
            <a:r>
              <a:rPr lang="it-IT" sz="3200" dirty="0" err="1"/>
              <a:t>both</a:t>
            </a:r>
            <a:r>
              <a:rPr lang="it-IT" sz="3200" dirty="0"/>
              <a:t> a formula and </a:t>
            </a:r>
            <a:r>
              <a:rPr lang="it-IT" sz="3200" dirty="0" err="1"/>
              <a:t>its</a:t>
            </a:r>
            <a:r>
              <a:rPr lang="it-IT" sz="3200" dirty="0"/>
              <a:t> </a:t>
            </a:r>
            <a:r>
              <a:rPr lang="it-IT" sz="3200" dirty="0" err="1"/>
              <a:t>contrary</a:t>
            </a:r>
            <a:r>
              <a:rPr lang="it-IT" sz="3200" dirty="0"/>
              <a:t>)</a:t>
            </a:r>
          </a:p>
          <a:p>
            <a:pPr lvl="1"/>
            <a:r>
              <a:rPr lang="it-IT" sz="3200" dirty="0" err="1">
                <a:solidFill>
                  <a:srgbClr val="FF0000"/>
                </a:solidFill>
              </a:rPr>
              <a:t>Tertium</a:t>
            </a:r>
            <a:r>
              <a:rPr lang="it-IT" sz="3200" dirty="0">
                <a:solidFill>
                  <a:srgbClr val="FF0000"/>
                </a:solidFill>
              </a:rPr>
              <a:t> non </a:t>
            </a:r>
            <a:r>
              <a:rPr lang="it-IT" sz="3200" dirty="0" err="1">
                <a:solidFill>
                  <a:srgbClr val="FF0000"/>
                </a:solidFill>
              </a:rPr>
              <a:t>datur</a:t>
            </a:r>
            <a:r>
              <a:rPr lang="it-IT" sz="3200" dirty="0"/>
              <a:t> </a:t>
            </a:r>
            <a:br>
              <a:rPr lang="it-IT" sz="3200" dirty="0"/>
            </a:br>
            <a:r>
              <a:rPr lang="it-IT" sz="3200" dirty="0"/>
              <a:t>(</a:t>
            </a:r>
            <a:r>
              <a:rPr lang="it-IT" sz="3200" dirty="0" err="1"/>
              <a:t>when</a:t>
            </a:r>
            <a:r>
              <a:rPr lang="it-IT" sz="3200" dirty="0"/>
              <a:t> </a:t>
            </a:r>
            <a:r>
              <a:rPr lang="it-IT" sz="3200" dirty="0" err="1"/>
              <a:t>you</a:t>
            </a:r>
            <a:r>
              <a:rPr lang="it-IT" sz="3200" dirty="0"/>
              <a:t> do </a:t>
            </a:r>
            <a:r>
              <a:rPr lang="it-IT" sz="3200" dirty="0" err="1"/>
              <a:t>not</a:t>
            </a:r>
            <a:r>
              <a:rPr lang="it-IT" sz="3200" dirty="0"/>
              <a:t> derive a formula, </a:t>
            </a:r>
            <a:r>
              <a:rPr lang="it-IT" sz="3200" dirty="0" err="1"/>
              <a:t>you</a:t>
            </a:r>
            <a:r>
              <a:rPr lang="it-IT" sz="3200" dirty="0"/>
              <a:t> derive </a:t>
            </a:r>
            <a:r>
              <a:rPr lang="it-IT" sz="3200" dirty="0" err="1"/>
              <a:t>its</a:t>
            </a:r>
            <a:r>
              <a:rPr lang="it-IT" sz="3200" dirty="0"/>
              <a:t> </a:t>
            </a:r>
            <a:r>
              <a:rPr lang="it-IT" sz="3200" dirty="0" err="1"/>
              <a:t>contrary</a:t>
            </a:r>
            <a:r>
              <a:rPr lang="it-IT" sz="3200" dirty="0"/>
              <a:t>)</a:t>
            </a:r>
            <a:endParaRPr lang="it-IT" sz="3200" dirty="0">
              <a:solidFill>
                <a:srgbClr val="FF0000"/>
              </a:solidFill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FE5C8D-FD88-F14C-95AD-490A4F8D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65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470B24-E32B-414A-AF59-BE7A3DE3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Conjunction</a:t>
            </a:r>
            <a:r>
              <a:rPr lang="it-IT" dirty="0"/>
              <a:t>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2697F6C-2C65-F249-AC21-6C8BB38CE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0549" y="1158702"/>
                <a:ext cx="5910903" cy="4969933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sz="3733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-LE</a:t>
                </a:r>
                <a:r>
                  <a:rPr lang="it-IT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sz="3733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-RE</a:t>
                </a:r>
                <a:br>
                  <a:rPr lang="it-IT" dirty="0"/>
                </a:br>
                <a:endParaRPr lang="it-IT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sz="3733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-I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2697F6C-2C65-F249-AC21-6C8BB38CE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0549" y="1158702"/>
                <a:ext cx="5910903" cy="496993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B48CCE-D3F2-1B4E-A6E2-DF4D4C9E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205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313B08-5B28-5A44-94A7-AE8F58F8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Disjunction</a:t>
            </a:r>
            <a:r>
              <a:rPr lang="it-IT" dirty="0"/>
              <a:t> rules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D7DDE7-7C9A-0B40-8D3F-4EE68191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D9B9A7FD-2784-7043-9694-36230F7A70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0549" y="1293976"/>
                <a:ext cx="5910903" cy="427004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mr>
                        </m:m>
                      </m:num>
                      <m:den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den>
                    </m:f>
                    <m:r>
                      <a:rPr lang="it-IT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-E</a:t>
                </a:r>
              </a:p>
              <a:p>
                <a:pPr marL="0" indent="0" algn="ctr">
                  <a:buNone/>
                </a:pPr>
                <a:endParaRPr lang="it-IT" sz="3733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it-IT" sz="3733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-LI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⋁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it-IT" sz="3733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⋁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-RI</a:t>
                </a:r>
                <a:endParaRPr lang="it-IT" dirty="0"/>
              </a:p>
              <a:p>
                <a:pPr marL="0" indent="0" algn="ctr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D9B9A7FD-2784-7043-9694-36230F7A7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0549" y="1293976"/>
                <a:ext cx="5910903" cy="42700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826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D5CF3E-8C25-4945-A909-DA65252A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Implication</a:t>
            </a:r>
            <a:r>
              <a:rPr lang="it-IT" dirty="0"/>
              <a:t> rules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EE7874-4AC3-4448-9B56-991316E1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059DD4ED-5A6A-E04E-A9C2-89A3576433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0549" y="1293976"/>
                <a:ext cx="5910903" cy="427004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t-IT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it-IT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m:rPr>
                        <m:nor/>
                      </m:rPr>
                      <a:rPr lang="it-IT" sz="3200" dirty="0">
                        <a:solidFill>
                          <a:srgbClr val="C00000"/>
                        </a:solidFill>
                      </a:rPr>
                      <m:t>→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-E</a:t>
                </a:r>
              </a:p>
              <a:p>
                <a:pPr marL="0" indent="0" algn="ctr">
                  <a:buNone/>
                </a:pPr>
                <a:endParaRPr lang="it-IT" sz="3733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mr>
                        </m:m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m:rPr>
                            <m:nor/>
                          </m:rPr>
                          <a:rPr lang="it-IT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it-IT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it-IT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it-IT" sz="3733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667" dirty="0">
                        <a:solidFill>
                          <a:srgbClr val="C00000"/>
                        </a:solidFill>
                      </a:rPr>
                      <m:t>→</m:t>
                    </m:r>
                  </m:oMath>
                </a14:m>
                <a:r>
                  <a:rPr lang="it-IT" sz="3200" dirty="0">
                    <a:solidFill>
                      <a:srgbClr val="C00000"/>
                    </a:solidFill>
                  </a:rPr>
                  <a:t>-I</a:t>
                </a:r>
                <a:endParaRPr lang="it-IT" dirty="0"/>
              </a:p>
            </p:txBody>
          </p:sp>
        </mc:Choice>
        <mc:Fallback xmlns="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059DD4ED-5A6A-E04E-A9C2-89A357643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0549" y="1293976"/>
                <a:ext cx="5910903" cy="4270048"/>
              </a:xfrm>
              <a:blipFill>
                <a:blip r:embed="rId2"/>
                <a:stretch>
                  <a:fillRect t="-3550" b="-29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930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7CD316-2F23-744B-B8A8-1187FE58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Rules for "⊥"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57FA87-A2BA-4045-B740-59DE7E61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EEECCEE3-F9BD-9D4D-8E15-41FB0563A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40549" y="1598794"/>
                <a:ext cx="5910903" cy="4297701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it-IT" dirty="0"/>
                            <m:t>⊥</m:t>
                          </m:r>
                        </m:num>
                        <m:den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m:rPr>
                          <m:nor/>
                        </m:rPr>
                        <a:rPr lang="it-I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it-IT" sz="3200" dirty="0">
                          <a:solidFill>
                            <a:srgbClr val="C00000"/>
                          </a:solidFill>
                        </a:rPr>
                        <m:t>⊥−</m:t>
                      </m:r>
                      <m:r>
                        <m:rPr>
                          <m:nor/>
                        </m:rPr>
                        <a:rPr lang="it-IT" sz="3200" dirty="0">
                          <a:solidFill>
                            <a:srgbClr val="C00000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it-IT" sz="3200" dirty="0"/>
                        <m:t> (</m:t>
                      </m:r>
                      <m:r>
                        <m:rPr>
                          <m:nor/>
                        </m:rPr>
                        <a:rPr lang="it-IT" sz="3200" dirty="0"/>
                        <m:t>EFSQ</m:t>
                      </m:r>
                      <m:r>
                        <m:rPr>
                          <m:nor/>
                        </m:rPr>
                        <a:rPr lang="it-IT" sz="3200" dirty="0"/>
                        <m:t>)</m:t>
                      </m:r>
                    </m:oMath>
                  </m:oMathPara>
                </a14:m>
                <a:endParaRPr lang="it-IT" sz="3733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it-IT" sz="3733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it-IT" dirty="0"/>
                                <m:t>⊥</m:t>
                              </m:r>
                            </m:e>
                          </m:mr>
                        </m:m>
                      </m:num>
                      <m:den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sz="3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it-IT" sz="2667" dirty="0">
                    <a:solidFill>
                      <a:srgbClr val="C00000"/>
                    </a:solidFill>
                  </a:rPr>
                  <a:t>-I </a:t>
                </a:r>
                <a:r>
                  <a:rPr lang="it-IT" sz="3200" dirty="0"/>
                  <a:t>(TND)</a:t>
                </a:r>
                <a:endParaRPr lang="it-IT" sz="3733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Segnaposto contenuto 2">
                <a:extLst>
                  <a:ext uri="{FF2B5EF4-FFF2-40B4-BE49-F238E27FC236}">
                    <a16:creationId xmlns:a16="http://schemas.microsoft.com/office/drawing/2014/main" id="{EEECCEE3-F9BD-9D4D-8E15-41FB0563A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0549" y="1598794"/>
                <a:ext cx="5910903" cy="42977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64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2C6AF3-B2D8-0F49-ACDB-32F3EBDC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First Order </a:t>
            </a:r>
            <a:r>
              <a:rPr lang="it-IT" dirty="0" err="1"/>
              <a:t>Calculus</a:t>
            </a:r>
            <a:r>
              <a:rPr lang="it-IT" dirty="0"/>
              <a:t> (FOL)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1BACC0-197D-1848-9020-97D2DAFD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200" dirty="0"/>
              <a:t>FOL </a:t>
            </a:r>
            <a:r>
              <a:rPr lang="it-IT" sz="3200" dirty="0" err="1"/>
              <a:t>is</a:t>
            </a:r>
            <a:r>
              <a:rPr lang="it-IT" sz="3200" dirty="0"/>
              <a:t> an extension of CPC</a:t>
            </a:r>
          </a:p>
          <a:p>
            <a:r>
              <a:rPr lang="it-IT" sz="3200" dirty="0"/>
              <a:t>Signature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extended</a:t>
            </a:r>
            <a:r>
              <a:rPr lang="it-IT" sz="3200" dirty="0"/>
              <a:t> by</a:t>
            </a:r>
          </a:p>
          <a:p>
            <a:pPr lvl="1"/>
            <a:r>
              <a:rPr lang="it-IT" sz="2667" dirty="0" err="1">
                <a:solidFill>
                  <a:srgbClr val="FF0000"/>
                </a:solidFill>
              </a:rPr>
              <a:t>Variables</a:t>
            </a:r>
            <a:endParaRPr lang="it-IT" sz="2667" dirty="0">
              <a:solidFill>
                <a:srgbClr val="FF0000"/>
              </a:solidFill>
            </a:endParaRPr>
          </a:p>
          <a:p>
            <a:pPr lvl="1"/>
            <a:r>
              <a:rPr lang="it-IT" sz="2667" dirty="0" err="1">
                <a:solidFill>
                  <a:srgbClr val="FF0000"/>
                </a:solidFill>
              </a:rPr>
              <a:t>Quantifiers</a:t>
            </a:r>
            <a:r>
              <a:rPr lang="it-IT" sz="2667" dirty="0"/>
              <a:t> ∀ and ∃</a:t>
            </a:r>
          </a:p>
          <a:p>
            <a:pPr lvl="1"/>
            <a:r>
              <a:rPr lang="it-IT" sz="2667" dirty="0"/>
              <a:t>[, ]</a:t>
            </a:r>
          </a:p>
          <a:p>
            <a:pPr lvl="1"/>
            <a:r>
              <a:rPr lang="it-IT" sz="2667" dirty="0" err="1">
                <a:solidFill>
                  <a:srgbClr val="FF0000"/>
                </a:solidFill>
              </a:rPr>
              <a:t>Function</a:t>
            </a:r>
            <a:r>
              <a:rPr lang="it-IT" sz="2667" dirty="0">
                <a:solidFill>
                  <a:srgbClr val="FF0000"/>
                </a:solidFill>
              </a:rPr>
              <a:t> symbols</a:t>
            </a:r>
            <a:r>
              <a:rPr lang="it-IT" sz="2667" dirty="0"/>
              <a:t> </a:t>
            </a:r>
            <a:r>
              <a:rPr lang="it-IT" sz="2667" dirty="0" err="1"/>
              <a:t>each</a:t>
            </a:r>
            <a:r>
              <a:rPr lang="it-IT" sz="2667" dirty="0"/>
              <a:t> associate to </a:t>
            </a:r>
            <a:r>
              <a:rPr lang="it-IT" sz="2667" dirty="0" err="1"/>
              <a:t>its</a:t>
            </a:r>
            <a:r>
              <a:rPr lang="it-IT" sz="2667" dirty="0"/>
              <a:t> </a:t>
            </a:r>
            <a:r>
              <a:rPr lang="it-IT" sz="2667" b="1" dirty="0" err="1"/>
              <a:t>arity</a:t>
            </a:r>
            <a:r>
              <a:rPr lang="it-IT" sz="2667" dirty="0"/>
              <a:t>, a </a:t>
            </a:r>
            <a:r>
              <a:rPr lang="it-IT" sz="2667" dirty="0" err="1"/>
              <a:t>natural</a:t>
            </a:r>
            <a:r>
              <a:rPr lang="it-IT" sz="2667" dirty="0"/>
              <a:t> </a:t>
            </a:r>
            <a:r>
              <a:rPr lang="it-IT" sz="2667" dirty="0" err="1"/>
              <a:t>number</a:t>
            </a:r>
            <a:r>
              <a:rPr lang="it-IT" sz="2667" dirty="0"/>
              <a:t> </a:t>
            </a:r>
            <a:r>
              <a:rPr lang="it-IT" sz="2667" dirty="0" err="1"/>
              <a:t>including</a:t>
            </a:r>
            <a:r>
              <a:rPr lang="it-IT" sz="2667" dirty="0"/>
              <a:t> 0. </a:t>
            </a:r>
            <a:r>
              <a:rPr lang="it-IT" sz="2667" dirty="0" err="1"/>
              <a:t>When</a:t>
            </a:r>
            <a:r>
              <a:rPr lang="it-IT" sz="2667" dirty="0"/>
              <a:t> the </a:t>
            </a:r>
            <a:r>
              <a:rPr lang="it-IT" sz="2667" dirty="0" err="1"/>
              <a:t>arity</a:t>
            </a:r>
            <a:r>
              <a:rPr lang="it-IT" sz="2667" dirty="0"/>
              <a:t> </a:t>
            </a:r>
            <a:r>
              <a:rPr lang="it-IT" sz="2667" dirty="0" err="1"/>
              <a:t>is</a:t>
            </a:r>
            <a:r>
              <a:rPr lang="it-IT" sz="2667" dirty="0"/>
              <a:t> 0 the </a:t>
            </a:r>
            <a:r>
              <a:rPr lang="it-IT" sz="2667" dirty="0" err="1"/>
              <a:t>functions</a:t>
            </a:r>
            <a:r>
              <a:rPr lang="it-IT" sz="2667" dirty="0"/>
              <a:t> are </a:t>
            </a:r>
            <a:r>
              <a:rPr lang="it-IT" sz="2667" dirty="0" err="1">
                <a:solidFill>
                  <a:srgbClr val="FF0000"/>
                </a:solidFill>
              </a:rPr>
              <a:t>individual</a:t>
            </a:r>
            <a:r>
              <a:rPr lang="it-IT" sz="2667" dirty="0">
                <a:solidFill>
                  <a:srgbClr val="FF0000"/>
                </a:solidFill>
              </a:rPr>
              <a:t> </a:t>
            </a:r>
            <a:r>
              <a:rPr lang="it-IT" sz="2667" dirty="0" err="1">
                <a:solidFill>
                  <a:srgbClr val="FF0000"/>
                </a:solidFill>
              </a:rPr>
              <a:t>constants</a:t>
            </a:r>
            <a:endParaRPr lang="it-IT" sz="2667" dirty="0"/>
          </a:p>
          <a:p>
            <a:pPr lvl="1"/>
            <a:r>
              <a:rPr lang="it-IT" sz="2667" dirty="0">
                <a:solidFill>
                  <a:srgbClr val="FF0000"/>
                </a:solidFill>
              </a:rPr>
              <a:t>Predicate symbols</a:t>
            </a:r>
            <a:r>
              <a:rPr lang="it-IT" sz="2667" dirty="0"/>
              <a:t> </a:t>
            </a:r>
            <a:r>
              <a:rPr lang="it-IT" sz="2667" dirty="0" err="1"/>
              <a:t>each</a:t>
            </a:r>
            <a:r>
              <a:rPr lang="it-IT" sz="2667" dirty="0"/>
              <a:t> associate to </a:t>
            </a:r>
            <a:r>
              <a:rPr lang="it-IT" sz="2667" dirty="0" err="1"/>
              <a:t>its</a:t>
            </a:r>
            <a:r>
              <a:rPr lang="it-IT" sz="2667" dirty="0"/>
              <a:t> </a:t>
            </a:r>
            <a:r>
              <a:rPr lang="it-IT" sz="2667" b="1" dirty="0" err="1"/>
              <a:t>arity</a:t>
            </a:r>
            <a:r>
              <a:rPr lang="it-IT" sz="2667" dirty="0"/>
              <a:t>, a </a:t>
            </a:r>
            <a:r>
              <a:rPr lang="it-IT" sz="2667" dirty="0" err="1"/>
              <a:t>natural</a:t>
            </a:r>
            <a:r>
              <a:rPr lang="it-IT" sz="2667" dirty="0"/>
              <a:t> </a:t>
            </a:r>
            <a:r>
              <a:rPr lang="it-IT" sz="2667" dirty="0" err="1"/>
              <a:t>number</a:t>
            </a:r>
            <a:r>
              <a:rPr lang="it-IT" sz="2667" dirty="0"/>
              <a:t> </a:t>
            </a:r>
            <a:r>
              <a:rPr lang="it-IT" sz="2667" dirty="0" err="1"/>
              <a:t>including</a:t>
            </a:r>
            <a:r>
              <a:rPr lang="it-IT" sz="2667" dirty="0"/>
              <a:t> 0. </a:t>
            </a:r>
            <a:r>
              <a:rPr lang="it-IT" sz="2667" dirty="0" err="1"/>
              <a:t>When</a:t>
            </a:r>
            <a:r>
              <a:rPr lang="it-IT" sz="2667" dirty="0"/>
              <a:t> the </a:t>
            </a:r>
            <a:r>
              <a:rPr lang="it-IT" sz="2667" dirty="0" err="1"/>
              <a:t>arity</a:t>
            </a:r>
            <a:r>
              <a:rPr lang="it-IT" sz="2667" dirty="0"/>
              <a:t> </a:t>
            </a:r>
            <a:r>
              <a:rPr lang="it-IT" sz="2667" dirty="0" err="1"/>
              <a:t>is</a:t>
            </a:r>
            <a:r>
              <a:rPr lang="it-IT" sz="2667" dirty="0"/>
              <a:t> 0 the </a:t>
            </a:r>
            <a:r>
              <a:rPr lang="it-IT" sz="2667" dirty="0" err="1"/>
              <a:t>predicates</a:t>
            </a:r>
            <a:r>
              <a:rPr lang="it-IT" sz="2667" dirty="0"/>
              <a:t> are </a:t>
            </a:r>
            <a:r>
              <a:rPr lang="it-IT" sz="2667" dirty="0" err="1">
                <a:solidFill>
                  <a:srgbClr val="FF0000"/>
                </a:solidFill>
              </a:rPr>
              <a:t>propositional</a:t>
            </a:r>
            <a:r>
              <a:rPr lang="it-IT" sz="2667" dirty="0">
                <a:solidFill>
                  <a:srgbClr val="FF0000"/>
                </a:solidFill>
              </a:rPr>
              <a:t> </a:t>
            </a:r>
            <a:r>
              <a:rPr lang="it-IT" sz="2667" dirty="0" err="1">
                <a:solidFill>
                  <a:srgbClr val="FF0000"/>
                </a:solidFill>
              </a:rPr>
              <a:t>letters</a:t>
            </a:r>
            <a:endParaRPr lang="it-IT" sz="2667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4AA88D-2C2B-5242-A79B-6E3FEC33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421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58C5D4-92CC-D24B-ABFC-E51AC1BE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Terms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51F86B-D095-B14A-AA05-BB6651BB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934" dirty="0" err="1"/>
              <a:t>Variables</a:t>
            </a:r>
            <a:endParaRPr lang="it-IT" sz="4934" dirty="0"/>
          </a:p>
          <a:p>
            <a:r>
              <a:rPr lang="it-IT" sz="4934" dirty="0"/>
              <a:t>For </a:t>
            </a:r>
            <a:r>
              <a:rPr lang="it-IT" sz="4934" dirty="0" err="1"/>
              <a:t>any</a:t>
            </a:r>
            <a:r>
              <a:rPr lang="it-IT" sz="4934" dirty="0"/>
              <a:t> </a:t>
            </a:r>
            <a:r>
              <a:rPr lang="it-IT" sz="4934" dirty="0" err="1"/>
              <a:t>function</a:t>
            </a:r>
            <a:r>
              <a:rPr lang="it-IT" sz="4934" dirty="0"/>
              <a:t> </a:t>
            </a:r>
            <a:r>
              <a:rPr lang="it-IT" sz="4934" dirty="0" err="1"/>
              <a:t>f</a:t>
            </a:r>
            <a:r>
              <a:rPr lang="it-IT" sz="4934" dirty="0"/>
              <a:t>, of </a:t>
            </a:r>
            <a:r>
              <a:rPr lang="it-IT" sz="4934" dirty="0" err="1"/>
              <a:t>arity</a:t>
            </a:r>
            <a:r>
              <a:rPr lang="it-IT" sz="4934" dirty="0"/>
              <a:t> </a:t>
            </a:r>
            <a:r>
              <a:rPr lang="it-IT" sz="4934" dirty="0" err="1"/>
              <a:t>n</a:t>
            </a:r>
            <a:r>
              <a:rPr lang="it-IT" sz="4934" dirty="0"/>
              <a:t>, the </a:t>
            </a:r>
            <a:r>
              <a:rPr lang="it-IT" sz="4934" dirty="0" err="1"/>
              <a:t>expression</a:t>
            </a:r>
            <a:r>
              <a:rPr lang="it-IT" sz="4934" dirty="0"/>
              <a:t> </a:t>
            </a:r>
            <a:r>
              <a:rPr lang="it-IT" sz="4934" dirty="0" err="1"/>
              <a:t>f</a:t>
            </a:r>
            <a:r>
              <a:rPr lang="it-IT" sz="4934" dirty="0"/>
              <a:t>(t</a:t>
            </a:r>
            <a:r>
              <a:rPr lang="it-IT" sz="4934" baseline="-25000" dirty="0"/>
              <a:t>1</a:t>
            </a:r>
            <a:r>
              <a:rPr lang="it-IT" sz="4934" dirty="0"/>
              <a:t> , t</a:t>
            </a:r>
            <a:r>
              <a:rPr lang="it-IT" sz="4934" baseline="-25000" dirty="0"/>
              <a:t>2</a:t>
            </a:r>
            <a:r>
              <a:rPr lang="it-IT" sz="4934" dirty="0"/>
              <a:t> … t</a:t>
            </a:r>
            <a:r>
              <a:rPr lang="it-IT" sz="4934" baseline="-25000" dirty="0"/>
              <a:t>n</a:t>
            </a:r>
            <a:r>
              <a:rPr lang="it-IT" sz="4934" dirty="0"/>
              <a:t>) (with t</a:t>
            </a:r>
            <a:r>
              <a:rPr lang="it-IT" sz="4934" baseline="-25000" dirty="0"/>
              <a:t>i</a:t>
            </a:r>
            <a:r>
              <a:rPr lang="it-IT" sz="4934" dirty="0"/>
              <a:t> </a:t>
            </a:r>
            <a:r>
              <a:rPr lang="it-IT" sz="4934" dirty="0" err="1"/>
              <a:t>terms</a:t>
            </a:r>
            <a:r>
              <a:rPr lang="it-IT" sz="4934" dirty="0"/>
              <a:t>)</a:t>
            </a:r>
            <a:endParaRPr lang="it-IT" sz="4934" baseline="-250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74F904-0AB7-A04C-9B8B-233C9D160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50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5D5744-F59A-BC47-BF39-98BFB81B8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WFF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64DCA1-5E10-CB49-B440-E41E322C4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400" dirty="0"/>
              <a:t>Given a predicate </a:t>
            </a:r>
            <a:r>
              <a:rPr lang="it-IT" sz="4400" dirty="0" err="1"/>
              <a:t>p</a:t>
            </a:r>
            <a:r>
              <a:rPr lang="it-IT" sz="4400" dirty="0"/>
              <a:t> of </a:t>
            </a:r>
            <a:r>
              <a:rPr lang="it-IT" sz="4400" dirty="0" err="1"/>
              <a:t>arity</a:t>
            </a:r>
            <a:r>
              <a:rPr lang="it-IT" sz="4400" dirty="0"/>
              <a:t> </a:t>
            </a:r>
            <a:r>
              <a:rPr lang="it-IT" sz="4400" dirty="0" err="1"/>
              <a:t>n</a:t>
            </a:r>
            <a:r>
              <a:rPr lang="it-IT" sz="4400" dirty="0"/>
              <a:t>, and </a:t>
            </a:r>
            <a:r>
              <a:rPr lang="it-IT" sz="4400" dirty="0" err="1"/>
              <a:t>n</a:t>
            </a:r>
            <a:r>
              <a:rPr lang="it-IT" sz="4400" dirty="0"/>
              <a:t> </a:t>
            </a:r>
            <a:r>
              <a:rPr lang="it-IT" sz="4400" dirty="0" err="1"/>
              <a:t>terms</a:t>
            </a:r>
            <a:r>
              <a:rPr lang="it-IT" sz="4400" dirty="0"/>
              <a:t> t</a:t>
            </a:r>
            <a:r>
              <a:rPr lang="it-IT" sz="4400" baseline="-25000" dirty="0"/>
              <a:t>1</a:t>
            </a:r>
            <a:r>
              <a:rPr lang="it-IT" sz="4400" dirty="0"/>
              <a:t> , t</a:t>
            </a:r>
            <a:r>
              <a:rPr lang="it-IT" sz="4400" baseline="-25000" dirty="0"/>
              <a:t>2</a:t>
            </a:r>
            <a:r>
              <a:rPr lang="it-IT" sz="4400" dirty="0"/>
              <a:t> … t</a:t>
            </a:r>
            <a:r>
              <a:rPr lang="it-IT" sz="4400" baseline="-25000" dirty="0"/>
              <a:t>n   </a:t>
            </a:r>
            <a:r>
              <a:rPr lang="it-IT" sz="4400" dirty="0"/>
              <a:t>an </a:t>
            </a:r>
            <a:r>
              <a:rPr lang="it-IT" sz="4400" dirty="0" err="1"/>
              <a:t>unquantified</a:t>
            </a:r>
            <a:r>
              <a:rPr lang="it-IT" sz="4400" dirty="0"/>
              <a:t> </a:t>
            </a:r>
            <a:r>
              <a:rPr lang="it-IT" sz="4400" dirty="0" err="1"/>
              <a:t>wff</a:t>
            </a:r>
            <a:r>
              <a:rPr lang="it-IT" sz="4400" dirty="0"/>
              <a:t> </a:t>
            </a:r>
            <a:r>
              <a:rPr lang="it-IT" sz="4400" dirty="0" err="1"/>
              <a:t>is</a:t>
            </a:r>
            <a:endParaRPr lang="it-IT" sz="4400" dirty="0"/>
          </a:p>
          <a:p>
            <a:pPr lvl="1"/>
            <a:r>
              <a:rPr lang="it-IT" sz="3600" dirty="0" err="1"/>
              <a:t>p</a:t>
            </a:r>
            <a:r>
              <a:rPr lang="it-IT" sz="3600" dirty="0"/>
              <a:t>(t</a:t>
            </a:r>
            <a:r>
              <a:rPr lang="it-IT" sz="3600" baseline="-25000" dirty="0"/>
              <a:t>1</a:t>
            </a:r>
            <a:r>
              <a:rPr lang="it-IT" sz="3600" dirty="0"/>
              <a:t> , t</a:t>
            </a:r>
            <a:r>
              <a:rPr lang="it-IT" sz="3600" baseline="-25000" dirty="0"/>
              <a:t>2</a:t>
            </a:r>
            <a:r>
              <a:rPr lang="it-IT" sz="3600" dirty="0"/>
              <a:t> … t</a:t>
            </a:r>
            <a:r>
              <a:rPr lang="it-IT" sz="3600" baseline="-25000" dirty="0"/>
              <a:t>n</a:t>
            </a:r>
            <a:r>
              <a:rPr lang="it-IT" sz="3600" dirty="0"/>
              <a:t>)</a:t>
            </a:r>
          </a:p>
          <a:p>
            <a:r>
              <a:rPr lang="it-IT" sz="4400" dirty="0"/>
              <a:t>Given a </a:t>
            </a:r>
            <a:r>
              <a:rPr lang="it-IT" sz="4400" dirty="0" err="1"/>
              <a:t>wff</a:t>
            </a:r>
            <a:r>
              <a:rPr lang="it-IT" sz="4400" dirty="0"/>
              <a:t> 𝝋 and a </a:t>
            </a:r>
            <a:r>
              <a:rPr lang="it-IT" sz="4400" dirty="0" err="1"/>
              <a:t>variable</a:t>
            </a:r>
            <a:r>
              <a:rPr lang="it-IT" sz="4400" dirty="0"/>
              <a:t> x, </a:t>
            </a:r>
          </a:p>
          <a:p>
            <a:pPr lvl="1"/>
            <a:r>
              <a:rPr lang="it-IT" sz="3600" dirty="0"/>
              <a:t>∀x [𝝋] e ∃x [𝝋] are </a:t>
            </a:r>
            <a:r>
              <a:rPr lang="it-IT" sz="3600" dirty="0" err="1"/>
              <a:t>wff</a:t>
            </a:r>
            <a:r>
              <a:rPr lang="it-IT" sz="3600" dirty="0"/>
              <a:t>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5EB607-C85D-2549-9E61-3F79247C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51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17FA7D-53DF-7B31-7469-FA5C731C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Closed</a:t>
            </a:r>
            <a:r>
              <a:rPr lang="it-IT" dirty="0"/>
              <a:t> vs open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BFDC48-9888-DC3E-E5DC-F08B9853A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400" dirty="0"/>
              <a:t>Given a </a:t>
            </a:r>
            <a:r>
              <a:rPr lang="it-IT" sz="4400" dirty="0" err="1"/>
              <a:t>wff</a:t>
            </a:r>
            <a:r>
              <a:rPr lang="it-IT" sz="4400" dirty="0"/>
              <a:t> 𝝋, a </a:t>
            </a:r>
            <a:r>
              <a:rPr lang="it-IT" sz="4400" dirty="0" err="1"/>
              <a:t>variable</a:t>
            </a:r>
            <a:r>
              <a:rPr lang="it-IT" sz="4400" dirty="0"/>
              <a:t> x </a:t>
            </a:r>
            <a:r>
              <a:rPr lang="it-IT" sz="4400" dirty="0" err="1"/>
              <a:t>not</a:t>
            </a:r>
            <a:r>
              <a:rPr lang="it-IT" sz="4400" dirty="0"/>
              <a:t> in the scope of a </a:t>
            </a:r>
            <a:r>
              <a:rPr lang="it-IT" sz="4400" dirty="0" err="1"/>
              <a:t>quantifies</a:t>
            </a:r>
            <a:r>
              <a:rPr lang="it-IT" sz="4400" dirty="0"/>
              <a:t> ∀x or ∃x </a:t>
            </a:r>
            <a:r>
              <a:rPr lang="it-IT" sz="4000" dirty="0"/>
              <a:t>in </a:t>
            </a:r>
            <a:r>
              <a:rPr lang="it-IT" sz="4400" dirty="0"/>
              <a:t>𝝋, </a:t>
            </a:r>
            <a:r>
              <a:rPr lang="it-IT" sz="4400" dirty="0" err="1"/>
              <a:t>is</a:t>
            </a:r>
            <a:r>
              <a:rPr lang="it-IT" sz="4400" dirty="0"/>
              <a:t> </a:t>
            </a:r>
            <a:r>
              <a:rPr lang="it-IT" sz="4400" dirty="0" err="1"/>
              <a:t>said</a:t>
            </a:r>
            <a:r>
              <a:rPr lang="it-IT" sz="4400" dirty="0"/>
              <a:t> to be </a:t>
            </a:r>
            <a:r>
              <a:rPr lang="it-IT" sz="4400" dirty="0">
                <a:solidFill>
                  <a:srgbClr val="FF0000"/>
                </a:solidFill>
              </a:rPr>
              <a:t>free</a:t>
            </a:r>
            <a:r>
              <a:rPr lang="it-IT" sz="4400" dirty="0"/>
              <a:t>. On the opposite side, the </a:t>
            </a:r>
            <a:r>
              <a:rPr lang="it-IT" sz="4400" dirty="0" err="1"/>
              <a:t>variable</a:t>
            </a:r>
            <a:r>
              <a:rPr lang="it-IT" sz="4400" dirty="0"/>
              <a:t> </a:t>
            </a:r>
            <a:r>
              <a:rPr lang="it-IT" sz="4400" dirty="0" err="1"/>
              <a:t>is</a:t>
            </a:r>
            <a:r>
              <a:rPr lang="it-IT" sz="4400" dirty="0"/>
              <a:t> </a:t>
            </a:r>
            <a:r>
              <a:rPr lang="it-IT" sz="4400" dirty="0" err="1">
                <a:solidFill>
                  <a:srgbClr val="FF0000"/>
                </a:solidFill>
              </a:rPr>
              <a:t>bound</a:t>
            </a:r>
            <a:r>
              <a:rPr lang="it-IT" sz="4400" dirty="0"/>
              <a:t>.</a:t>
            </a:r>
            <a:endParaRPr lang="it-IT" sz="4400" dirty="0">
              <a:solidFill>
                <a:srgbClr val="FF0000"/>
              </a:solidFill>
            </a:endParaRPr>
          </a:p>
          <a:p>
            <a:r>
              <a:rPr lang="it-IT" sz="4400" dirty="0"/>
              <a:t>A </a:t>
            </a:r>
            <a:r>
              <a:rPr lang="it-IT" sz="4400" dirty="0" err="1"/>
              <a:t>wff</a:t>
            </a:r>
            <a:r>
              <a:rPr lang="it-IT" sz="4400" dirty="0"/>
              <a:t> 𝝋 </a:t>
            </a:r>
            <a:r>
              <a:rPr lang="it-IT" sz="4400" dirty="0" err="1"/>
              <a:t>is</a:t>
            </a:r>
            <a:r>
              <a:rPr lang="it-IT" sz="4400" dirty="0"/>
              <a:t> </a:t>
            </a:r>
            <a:r>
              <a:rPr lang="it-IT" sz="4400" dirty="0">
                <a:solidFill>
                  <a:srgbClr val="FF0000"/>
                </a:solidFill>
              </a:rPr>
              <a:t>open</a:t>
            </a:r>
            <a:r>
              <a:rPr lang="it-IT" sz="4400" dirty="0"/>
              <a:t> </a:t>
            </a:r>
            <a:r>
              <a:rPr lang="it-IT" sz="4400" dirty="0" err="1"/>
              <a:t>when</a:t>
            </a:r>
            <a:r>
              <a:rPr lang="it-IT" sz="4400" dirty="0"/>
              <a:t> a </a:t>
            </a:r>
            <a:r>
              <a:rPr lang="it-IT" sz="4400" dirty="0" err="1"/>
              <a:t>variable</a:t>
            </a:r>
            <a:r>
              <a:rPr lang="it-IT" sz="4400" dirty="0"/>
              <a:t> in 𝝋 </a:t>
            </a:r>
            <a:r>
              <a:rPr lang="it-IT" sz="4400" dirty="0" err="1"/>
              <a:t>is</a:t>
            </a:r>
            <a:r>
              <a:rPr lang="it-IT" sz="4400" dirty="0"/>
              <a:t> free.</a:t>
            </a:r>
          </a:p>
          <a:p>
            <a:r>
              <a:rPr lang="it-IT" sz="4400" dirty="0" err="1"/>
              <a:t>Closed</a:t>
            </a:r>
            <a:r>
              <a:rPr lang="it-IT" sz="4400" dirty="0"/>
              <a:t> </a:t>
            </a:r>
            <a:r>
              <a:rPr lang="it-IT" sz="4400" dirty="0" err="1"/>
              <a:t>wffs</a:t>
            </a:r>
            <a:r>
              <a:rPr lang="it-IT" sz="4400" dirty="0"/>
              <a:t> are </a:t>
            </a:r>
            <a:r>
              <a:rPr lang="it-IT" sz="4400" b="1" dirty="0" err="1"/>
              <a:t>propositions</a:t>
            </a:r>
            <a:endParaRPr lang="it-IT" sz="4400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1A5BE47-7698-4E31-73DF-F9F2FA89F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904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2AD66B-48FA-B64A-A7A1-FF6484BE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Identity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29FADE-41D7-CC4A-86CA-81C1C994E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FOL</a:t>
            </a:r>
            <a:r>
              <a:rPr lang="it-IT" baseline="30000" dirty="0"/>
              <a:t>=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equipped</a:t>
            </a:r>
            <a:r>
              <a:rPr lang="it-IT" dirty="0"/>
              <a:t> with a </a:t>
            </a:r>
            <a:r>
              <a:rPr lang="it-IT" dirty="0" err="1"/>
              <a:t>binary</a:t>
            </a:r>
            <a:r>
              <a:rPr lang="it-IT" dirty="0"/>
              <a:t> predicate, </a:t>
            </a:r>
            <a:r>
              <a:rPr lang="it-IT" b="1" dirty="0" err="1"/>
              <a:t>identity</a:t>
            </a:r>
            <a:endParaRPr lang="it-IT" b="1" dirty="0"/>
          </a:p>
          <a:p>
            <a:endParaRPr lang="it-IT" b="1" dirty="0"/>
          </a:p>
          <a:p>
            <a:r>
              <a:rPr lang="it-IT" dirty="0"/>
              <a:t>The relation </a:t>
            </a:r>
            <a:r>
              <a:rPr lang="it-IT" dirty="0" err="1"/>
              <a:t>has</a:t>
            </a:r>
            <a:r>
              <a:rPr lang="it-IT" dirty="0"/>
              <a:t> the </a:t>
            </a:r>
            <a:r>
              <a:rPr lang="it-IT" dirty="0" err="1"/>
              <a:t>exact</a:t>
            </a:r>
            <a:r>
              <a:rPr lang="it-IT" dirty="0"/>
              <a:t> </a:t>
            </a:r>
            <a:r>
              <a:rPr lang="it-IT" dirty="0" err="1"/>
              <a:t>semantics</a:t>
            </a:r>
            <a:r>
              <a:rPr lang="it-IT" dirty="0"/>
              <a:t> of </a:t>
            </a:r>
            <a:r>
              <a:rPr lang="it-IT" dirty="0" err="1"/>
              <a:t>identiy</a:t>
            </a:r>
            <a:r>
              <a:rPr lang="it-IT" dirty="0"/>
              <a:t> in a domain</a:t>
            </a:r>
            <a:endParaRPr lang="it-IT" b="1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06E2FE-780B-E14E-A9AC-F5FA2FF2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24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99206-6C7F-F248-B5F0-D57229FD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Interpretation</a:t>
            </a:r>
            <a:r>
              <a:rPr lang="it-IT" dirty="0"/>
              <a:t> of FOL: </a:t>
            </a:r>
            <a:r>
              <a:rPr lang="it-IT" dirty="0" err="1"/>
              <a:t>structures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21F3D8-BA23-BC4A-9CFC-74AB3C9AC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800" dirty="0" err="1"/>
              <a:t>Variables</a:t>
            </a:r>
            <a:r>
              <a:rPr lang="it-IT" sz="4800" dirty="0"/>
              <a:t> and </a:t>
            </a:r>
            <a:r>
              <a:rPr lang="it-IT" sz="4800" dirty="0" err="1"/>
              <a:t>constants</a:t>
            </a:r>
            <a:r>
              <a:rPr lang="it-IT" sz="4800" dirty="0"/>
              <a:t> are </a:t>
            </a:r>
            <a:r>
              <a:rPr lang="it-IT" sz="4800" dirty="0" err="1"/>
              <a:t>interpreted</a:t>
            </a:r>
            <a:r>
              <a:rPr lang="it-IT" sz="4800" dirty="0"/>
              <a:t> in a domain ∆</a:t>
            </a:r>
          </a:p>
          <a:p>
            <a:r>
              <a:rPr lang="it-IT" sz="4800" dirty="0" err="1"/>
              <a:t>Functions</a:t>
            </a:r>
            <a:r>
              <a:rPr lang="it-IT" sz="4800" dirty="0"/>
              <a:t> of </a:t>
            </a:r>
            <a:r>
              <a:rPr lang="it-IT" sz="4800" dirty="0" err="1"/>
              <a:t>arity</a:t>
            </a:r>
            <a:r>
              <a:rPr lang="it-IT" sz="4800" dirty="0"/>
              <a:t> </a:t>
            </a:r>
            <a:r>
              <a:rPr lang="it-IT" sz="4800" dirty="0" err="1"/>
              <a:t>n</a:t>
            </a:r>
            <a:r>
              <a:rPr lang="it-IT" sz="4800" dirty="0"/>
              <a:t> are </a:t>
            </a:r>
            <a:r>
              <a:rPr lang="it-IT" sz="4800" dirty="0" err="1"/>
              <a:t>functions</a:t>
            </a:r>
            <a:r>
              <a:rPr lang="it-IT" sz="4800" dirty="0"/>
              <a:t> from ∆</a:t>
            </a:r>
            <a:r>
              <a:rPr lang="it-IT" sz="4800" baseline="30000" dirty="0" err="1"/>
              <a:t>n</a:t>
            </a:r>
            <a:r>
              <a:rPr lang="it-IT" sz="4800" dirty="0"/>
              <a:t> to ∆</a:t>
            </a:r>
          </a:p>
          <a:p>
            <a:r>
              <a:rPr lang="it-IT" sz="4800" dirty="0" err="1"/>
              <a:t>Predicates</a:t>
            </a:r>
            <a:r>
              <a:rPr lang="it-IT" sz="4800" dirty="0"/>
              <a:t> of </a:t>
            </a:r>
            <a:r>
              <a:rPr lang="it-IT" sz="4800" dirty="0" err="1"/>
              <a:t>arity</a:t>
            </a:r>
            <a:r>
              <a:rPr lang="it-IT" sz="4800" dirty="0"/>
              <a:t> </a:t>
            </a:r>
            <a:r>
              <a:rPr lang="it-IT" sz="4800" dirty="0" err="1"/>
              <a:t>n</a:t>
            </a:r>
            <a:r>
              <a:rPr lang="it-IT" sz="4800" dirty="0"/>
              <a:t> are relations ∆</a:t>
            </a:r>
            <a:r>
              <a:rPr lang="it-IT" sz="4800" baseline="30000" dirty="0" err="1"/>
              <a:t>n</a:t>
            </a:r>
            <a:endParaRPr lang="it-IT" sz="48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00CFE4-1B65-C04B-B2C5-2415187B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810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91E56-8441-6941-B09E-15B4C713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FOL </a:t>
            </a:r>
            <a:r>
              <a:rPr lang="it-IT" dirty="0" err="1"/>
              <a:t>semantics</a:t>
            </a:r>
            <a:r>
              <a:rPr lang="it-IT" dirty="0"/>
              <a:t>: </a:t>
            </a:r>
            <a:r>
              <a:rPr lang="it-IT" dirty="0" err="1"/>
              <a:t>formulae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544B96-37C0-824F-B670-2F4E4E8B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 open formula </a:t>
            </a:r>
            <a:r>
              <a:rPr lang="it-IT" dirty="0" err="1"/>
              <a:t>behaves</a:t>
            </a:r>
            <a:r>
              <a:rPr lang="it-IT" dirty="0"/>
              <a:t> </a:t>
            </a:r>
            <a:r>
              <a:rPr lang="it-IT" dirty="0" err="1"/>
              <a:t>exactly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predicate of </a:t>
            </a:r>
            <a:r>
              <a:rPr lang="it-IT" dirty="0" err="1"/>
              <a:t>arity</a:t>
            </a:r>
            <a:r>
              <a:rPr lang="it-IT" dirty="0"/>
              <a:t> </a:t>
            </a:r>
            <a:r>
              <a:rPr lang="it-IT" dirty="0" err="1"/>
              <a:t>equal</a:t>
            </a:r>
            <a:r>
              <a:rPr lang="it-IT" dirty="0"/>
              <a:t> to the </a:t>
            </a:r>
            <a:r>
              <a:rPr lang="it-IT" dirty="0" err="1"/>
              <a:t>number</a:t>
            </a:r>
            <a:r>
              <a:rPr lang="it-IT" dirty="0"/>
              <a:t> of free </a:t>
            </a:r>
            <a:r>
              <a:rPr lang="it-IT" dirty="0" err="1"/>
              <a:t>variables</a:t>
            </a:r>
            <a:r>
              <a:rPr lang="it-IT" dirty="0"/>
              <a:t> (</a:t>
            </a:r>
            <a:r>
              <a:rPr lang="it-IT" dirty="0" err="1"/>
              <a:t>arity</a:t>
            </a:r>
            <a:r>
              <a:rPr lang="it-IT" dirty="0"/>
              <a:t> of the formula)</a:t>
            </a:r>
          </a:p>
          <a:p>
            <a:r>
              <a:rPr lang="it-IT" dirty="0"/>
              <a:t>An open formula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boolean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</a:t>
            </a:r>
            <a:r>
              <a:rPr lang="it-IT" dirty="0" err="1"/>
              <a:t>f</a:t>
            </a:r>
            <a:r>
              <a:rPr lang="it-IT" dirty="0"/>
              <a:t>, </a:t>
            </a:r>
            <a:r>
              <a:rPr lang="it-IT" dirty="0" err="1"/>
              <a:t>f</a:t>
            </a:r>
            <a:r>
              <a:rPr lang="it-IT" dirty="0"/>
              <a:t>: ∆</a:t>
            </a:r>
            <a:r>
              <a:rPr lang="it-IT" baseline="30000" dirty="0" err="1"/>
              <a:t>n</a:t>
            </a:r>
            <a:r>
              <a:rPr lang="it-IT" dirty="0"/>
              <a:t>→{T,F}</a:t>
            </a:r>
          </a:p>
          <a:p>
            <a:r>
              <a:rPr lang="it-IT" dirty="0" err="1"/>
              <a:t>Unquantified</a:t>
            </a:r>
            <a:r>
              <a:rPr lang="it-IT" dirty="0"/>
              <a:t> </a:t>
            </a:r>
            <a:r>
              <a:rPr lang="it-IT" dirty="0" err="1"/>
              <a:t>closed</a:t>
            </a:r>
            <a:r>
              <a:rPr lang="it-IT" dirty="0"/>
              <a:t> </a:t>
            </a:r>
            <a:r>
              <a:rPr lang="it-IT" dirty="0" err="1"/>
              <a:t>formulae</a:t>
            </a:r>
            <a:r>
              <a:rPr lang="it-IT" dirty="0"/>
              <a:t> are </a:t>
            </a:r>
            <a:r>
              <a:rPr lang="it-IT" dirty="0" err="1"/>
              <a:t>interpreted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true</a:t>
            </a:r>
            <a:r>
              <a:rPr lang="it-IT" dirty="0"/>
              <a:t> or false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BC562-E22A-DF48-A018-ED76BBAD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73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8AD53B-FBCB-6E40-AD2D-A486DD4A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Interpretation</a:t>
            </a:r>
            <a:r>
              <a:rPr lang="it-IT" dirty="0"/>
              <a:t> and </a:t>
            </a:r>
            <a:r>
              <a:rPr lang="it-IT" dirty="0" err="1"/>
              <a:t>assignement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7E37C6-321C-F44C-AD40-E06EFBF09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name </a:t>
            </a:r>
            <a:r>
              <a:rPr lang="it-IT" dirty="0" err="1">
                <a:solidFill>
                  <a:srgbClr val="FF0000"/>
                </a:solidFill>
              </a:rPr>
              <a:t>interpretation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a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associates</a:t>
            </a:r>
            <a:r>
              <a:rPr lang="it-IT" dirty="0"/>
              <a:t> to a FOLT a semantic </a:t>
            </a:r>
            <a:r>
              <a:rPr lang="it-IT" dirty="0" err="1"/>
              <a:t>value</a:t>
            </a:r>
            <a:r>
              <a:rPr lang="it-IT" dirty="0"/>
              <a:t> for </a:t>
            </a:r>
            <a:r>
              <a:rPr lang="it-IT" dirty="0" err="1"/>
              <a:t>predicates</a:t>
            </a:r>
            <a:r>
              <a:rPr lang="it-IT" dirty="0"/>
              <a:t> and </a:t>
            </a:r>
            <a:r>
              <a:rPr lang="it-IT" dirty="0" err="1"/>
              <a:t>functions</a:t>
            </a:r>
            <a:r>
              <a:rPr lang="it-IT" dirty="0"/>
              <a:t> in a domain ∆</a:t>
            </a:r>
          </a:p>
          <a:p>
            <a:r>
              <a:rPr lang="it-IT" dirty="0" err="1"/>
              <a:t>We</a:t>
            </a:r>
            <a:r>
              <a:rPr lang="it-IT" dirty="0"/>
              <a:t> name </a:t>
            </a:r>
            <a:r>
              <a:rPr lang="it-IT" dirty="0" err="1">
                <a:solidFill>
                  <a:srgbClr val="FF0000"/>
                </a:solidFill>
              </a:rPr>
              <a:t>assignement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a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associates</a:t>
            </a:r>
            <a:r>
              <a:rPr lang="it-IT" dirty="0"/>
              <a:t> a </a:t>
            </a:r>
            <a:r>
              <a:rPr lang="it-IT" dirty="0" err="1"/>
              <a:t>value</a:t>
            </a:r>
            <a:r>
              <a:rPr lang="it-IT" dirty="0"/>
              <a:t> to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variable</a:t>
            </a:r>
            <a:r>
              <a:rPr lang="it-IT" dirty="0"/>
              <a:t> </a:t>
            </a:r>
            <a:r>
              <a:rPr lang="it-IT" dirty="0" err="1"/>
              <a:t>appearing</a:t>
            </a:r>
            <a:r>
              <a:rPr lang="it-IT" dirty="0"/>
              <a:t> a in a FOLT to an </a:t>
            </a:r>
            <a:r>
              <a:rPr lang="it-IT" dirty="0" err="1"/>
              <a:t>element</a:t>
            </a:r>
            <a:r>
              <a:rPr lang="it-IT" dirty="0"/>
              <a:t> in ∆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1D8FCC-D378-0243-8400-00A1DBE5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6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BAAC4A-562D-614C-8800-34BCD101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Ground </a:t>
            </a:r>
            <a:r>
              <a:rPr lang="it-IT" dirty="0" err="1"/>
              <a:t>sat</a:t>
            </a:r>
            <a:r>
              <a:rPr lang="it-IT" dirty="0"/>
              <a:t> </a:t>
            </a:r>
            <a:r>
              <a:rPr lang="it-IT" dirty="0" err="1"/>
              <a:t>closed</a:t>
            </a:r>
            <a:r>
              <a:rPr lang="it-IT" dirty="0"/>
              <a:t> and ∆-</a:t>
            </a:r>
            <a:r>
              <a:rPr lang="it-IT" dirty="0" err="1"/>
              <a:t>sat</a:t>
            </a:r>
            <a:r>
              <a:rPr lang="it-IT" dirty="0"/>
              <a:t> </a:t>
            </a:r>
            <a:r>
              <a:rPr lang="it-IT" dirty="0" err="1"/>
              <a:t>formulae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D0943A-5C1F-D341-BF8E-C0E062E93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4000" dirty="0"/>
              <a:t>Given a </a:t>
            </a:r>
            <a:r>
              <a:rPr lang="it-IT" sz="4000" dirty="0" err="1"/>
              <a:t>closed</a:t>
            </a:r>
            <a:r>
              <a:rPr lang="it-IT" sz="4000" dirty="0"/>
              <a:t> </a:t>
            </a:r>
            <a:r>
              <a:rPr lang="it-IT" sz="4000" dirty="0" err="1"/>
              <a:t>unquantified</a:t>
            </a:r>
            <a:r>
              <a:rPr lang="it-IT" sz="4000" dirty="0"/>
              <a:t> formula 𝝋, 𝝋 </a:t>
            </a:r>
            <a:r>
              <a:rPr lang="it-IT" sz="4000" dirty="0" err="1"/>
              <a:t>is</a:t>
            </a:r>
            <a:r>
              <a:rPr lang="it-IT" sz="4000" dirty="0"/>
              <a:t> SAT </a:t>
            </a:r>
            <a:r>
              <a:rPr lang="it-IT" sz="4000" dirty="0" err="1"/>
              <a:t>iff</a:t>
            </a:r>
            <a:r>
              <a:rPr lang="it-IT" sz="4000" dirty="0"/>
              <a:t> </a:t>
            </a:r>
            <a:r>
              <a:rPr lang="it-IT" sz="4000" dirty="0" err="1"/>
              <a:t>it</a:t>
            </a:r>
            <a:r>
              <a:rPr lang="it-IT" sz="4000" dirty="0"/>
              <a:t> </a:t>
            </a:r>
            <a:r>
              <a:rPr lang="it-IT" sz="4000" dirty="0" err="1"/>
              <a:t>exists</a:t>
            </a:r>
            <a:r>
              <a:rPr lang="it-IT" sz="4000" dirty="0"/>
              <a:t> </a:t>
            </a:r>
            <a:r>
              <a:rPr lang="it-IT" sz="4000" dirty="0" err="1"/>
              <a:t>at</a:t>
            </a:r>
            <a:r>
              <a:rPr lang="it-IT" sz="4000" dirty="0"/>
              <a:t> </a:t>
            </a:r>
            <a:r>
              <a:rPr lang="it-IT" sz="4000" dirty="0" err="1"/>
              <a:t>least</a:t>
            </a:r>
            <a:r>
              <a:rPr lang="it-IT" sz="4000" dirty="0"/>
              <a:t> an </a:t>
            </a:r>
            <a:r>
              <a:rPr lang="it-IT" sz="4000" dirty="0" err="1"/>
              <a:t>interpretation</a:t>
            </a:r>
            <a:r>
              <a:rPr lang="it-IT" sz="4000" dirty="0"/>
              <a:t> of </a:t>
            </a:r>
            <a:r>
              <a:rPr lang="it-IT" sz="4000" dirty="0" err="1"/>
              <a:t>predicates</a:t>
            </a:r>
            <a:r>
              <a:rPr lang="it-IT" sz="4000" dirty="0"/>
              <a:t> and </a:t>
            </a:r>
            <a:r>
              <a:rPr lang="it-IT" sz="4000" dirty="0" err="1"/>
              <a:t>functions</a:t>
            </a:r>
            <a:r>
              <a:rPr lang="it-IT" sz="4000" dirty="0"/>
              <a:t> </a:t>
            </a:r>
            <a:r>
              <a:rPr lang="it-IT" sz="4000" dirty="0" err="1"/>
              <a:t>such</a:t>
            </a:r>
            <a:r>
              <a:rPr lang="it-IT" sz="4000" dirty="0"/>
              <a:t> </a:t>
            </a:r>
            <a:r>
              <a:rPr lang="it-IT" sz="4000" dirty="0" err="1"/>
              <a:t>that</a:t>
            </a:r>
            <a:r>
              <a:rPr lang="it-IT" sz="4000" dirty="0"/>
              <a:t> </a:t>
            </a:r>
            <a:r>
              <a:rPr lang="it-IT" sz="4000" dirty="0" err="1"/>
              <a:t>there</a:t>
            </a:r>
            <a:r>
              <a:rPr lang="it-IT" sz="4000" dirty="0"/>
              <a:t> </a:t>
            </a:r>
            <a:r>
              <a:rPr lang="it-IT" sz="4000" dirty="0" err="1"/>
              <a:t>exists</a:t>
            </a:r>
            <a:r>
              <a:rPr lang="it-IT" sz="4000" dirty="0"/>
              <a:t>  an </a:t>
            </a:r>
            <a:r>
              <a:rPr lang="it-IT" sz="4000" dirty="0" err="1"/>
              <a:t>assignement</a:t>
            </a:r>
            <a:r>
              <a:rPr lang="it-IT" sz="4000" dirty="0"/>
              <a:t> for 𝝋 </a:t>
            </a:r>
            <a:r>
              <a:rPr lang="it-IT" sz="4000" dirty="0" err="1"/>
              <a:t>that</a:t>
            </a:r>
            <a:r>
              <a:rPr lang="it-IT" sz="4000" dirty="0"/>
              <a:t> makes 𝝋 </a:t>
            </a:r>
            <a:r>
              <a:rPr lang="it-IT" sz="4000" dirty="0" err="1"/>
              <a:t>true</a:t>
            </a:r>
            <a:r>
              <a:rPr lang="it-IT" sz="4000" dirty="0"/>
              <a:t>.</a:t>
            </a:r>
          </a:p>
          <a:p>
            <a:r>
              <a:rPr lang="it-IT" sz="4000" dirty="0"/>
              <a:t>Given a domain ∆, a </a:t>
            </a:r>
            <a:r>
              <a:rPr lang="it-IT" sz="4000" dirty="0" err="1"/>
              <a:t>closed</a:t>
            </a:r>
            <a:r>
              <a:rPr lang="it-IT" sz="4000" dirty="0"/>
              <a:t> </a:t>
            </a:r>
            <a:r>
              <a:rPr lang="it-IT" sz="4000" dirty="0" err="1"/>
              <a:t>unquantified</a:t>
            </a:r>
            <a:r>
              <a:rPr lang="it-IT" sz="4000" dirty="0"/>
              <a:t> formula 𝝋 </a:t>
            </a:r>
            <a:r>
              <a:rPr lang="it-IT" sz="4000" dirty="0" err="1"/>
              <a:t>is</a:t>
            </a:r>
            <a:r>
              <a:rPr lang="it-IT" sz="4000" dirty="0"/>
              <a:t> ∆-SAT </a:t>
            </a:r>
            <a:r>
              <a:rPr lang="it-IT" sz="4000" dirty="0" err="1"/>
              <a:t>if</a:t>
            </a:r>
            <a:r>
              <a:rPr lang="it-IT" sz="4000" dirty="0"/>
              <a:t> SAT in a </a:t>
            </a:r>
            <a:r>
              <a:rPr lang="it-IT" sz="4000" dirty="0" err="1"/>
              <a:t>fixed</a:t>
            </a:r>
            <a:r>
              <a:rPr lang="it-IT" sz="4000" dirty="0"/>
              <a:t> domain ∆.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D4E8BF-BEB5-2C42-A1B1-F8ECFD72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9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8307BA-D389-3740-A53B-1F6C3D49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Closed</a:t>
            </a:r>
            <a:r>
              <a:rPr lang="it-IT" dirty="0"/>
              <a:t> </a:t>
            </a:r>
            <a:r>
              <a:rPr lang="it-IT" dirty="0" err="1"/>
              <a:t>quantified</a:t>
            </a:r>
            <a:r>
              <a:rPr lang="it-IT" dirty="0"/>
              <a:t> </a:t>
            </a:r>
            <a:r>
              <a:rPr lang="it-IT" dirty="0" err="1"/>
              <a:t>formulae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9336A5-50AE-C04F-9E9C-DBD75063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733" dirty="0"/>
              <a:t>Given an open formula 𝝋  </a:t>
            </a:r>
            <a:r>
              <a:rPr lang="it-IT" sz="3733" dirty="0" err="1"/>
              <a:t>only</a:t>
            </a:r>
            <a:r>
              <a:rPr lang="it-IT" sz="3733" dirty="0"/>
              <a:t>  open in x, </a:t>
            </a:r>
            <a:r>
              <a:rPr lang="it-IT" sz="3733" dirty="0" err="1"/>
              <a:t>we</a:t>
            </a:r>
            <a:r>
              <a:rPr lang="it-IT" sz="3733" dirty="0"/>
              <a:t> </a:t>
            </a:r>
            <a:r>
              <a:rPr lang="it-IT" sz="3733" dirty="0" err="1"/>
              <a:t>say</a:t>
            </a:r>
            <a:r>
              <a:rPr lang="it-IT" sz="3733" dirty="0"/>
              <a:t> </a:t>
            </a:r>
            <a:r>
              <a:rPr lang="it-IT" sz="3733" dirty="0" err="1"/>
              <a:t>that</a:t>
            </a:r>
            <a:endParaRPr lang="it-IT" sz="3733" dirty="0"/>
          </a:p>
          <a:p>
            <a:pPr lvl="1"/>
            <a:r>
              <a:rPr lang="it-IT" sz="3200" dirty="0"/>
              <a:t>∀x[𝝋(x)] </a:t>
            </a:r>
            <a:r>
              <a:rPr lang="it-IT" sz="3200" dirty="0" err="1"/>
              <a:t>is</a:t>
            </a:r>
            <a:r>
              <a:rPr lang="it-IT" sz="3200" dirty="0"/>
              <a:t> SAT </a:t>
            </a:r>
            <a:r>
              <a:rPr lang="it-IT" sz="3200" dirty="0" err="1"/>
              <a:t>iff</a:t>
            </a:r>
            <a:r>
              <a:rPr lang="it-IT" sz="3200" dirty="0"/>
              <a:t> </a:t>
            </a:r>
            <a:r>
              <a:rPr lang="it-IT" sz="3200" dirty="0" err="1"/>
              <a:t>there</a:t>
            </a:r>
            <a:r>
              <a:rPr lang="it-IT" sz="3200" dirty="0"/>
              <a:t> </a:t>
            </a:r>
            <a:r>
              <a:rPr lang="it-IT" sz="3200" dirty="0" err="1"/>
              <a:t>is</a:t>
            </a:r>
            <a:r>
              <a:rPr lang="it-IT" sz="3200" dirty="0"/>
              <a:t> an </a:t>
            </a:r>
            <a:r>
              <a:rPr lang="it-IT" sz="3200" dirty="0" err="1"/>
              <a:t>interpretation</a:t>
            </a:r>
            <a:r>
              <a:rPr lang="it-IT" sz="3200" dirty="0"/>
              <a:t> of 𝝋 </a:t>
            </a:r>
            <a:r>
              <a:rPr lang="it-IT" sz="3200" dirty="0" err="1"/>
              <a:t>that</a:t>
            </a:r>
            <a:r>
              <a:rPr lang="it-IT" sz="3200" dirty="0"/>
              <a:t> makes 𝝋 </a:t>
            </a:r>
            <a:r>
              <a:rPr lang="it-IT" sz="3200" dirty="0" err="1"/>
              <a:t>true</a:t>
            </a:r>
            <a:r>
              <a:rPr lang="it-IT" sz="3200" dirty="0"/>
              <a:t> for </a:t>
            </a:r>
            <a:r>
              <a:rPr lang="it-IT" sz="3200" dirty="0" err="1"/>
              <a:t>any</a:t>
            </a:r>
            <a:r>
              <a:rPr lang="it-IT" sz="3200" dirty="0"/>
              <a:t> </a:t>
            </a:r>
            <a:r>
              <a:rPr lang="it-IT" sz="3200" dirty="0" err="1"/>
              <a:t>assignement</a:t>
            </a:r>
            <a:r>
              <a:rPr lang="it-IT" sz="3200" dirty="0"/>
              <a:t> of x</a:t>
            </a:r>
          </a:p>
          <a:p>
            <a:pPr lvl="1"/>
            <a:r>
              <a:rPr lang="it-IT" sz="3200" dirty="0"/>
              <a:t>∃x[𝝋(x)] </a:t>
            </a:r>
            <a:r>
              <a:rPr lang="it-IT" sz="3200" dirty="0" err="1"/>
              <a:t>is</a:t>
            </a:r>
            <a:r>
              <a:rPr lang="it-IT" sz="3200" dirty="0"/>
              <a:t> SAT </a:t>
            </a:r>
            <a:r>
              <a:rPr lang="it-IT" sz="3200" dirty="0" err="1"/>
              <a:t>iff</a:t>
            </a:r>
            <a:r>
              <a:rPr lang="it-IT" sz="3200" dirty="0"/>
              <a:t> </a:t>
            </a:r>
            <a:r>
              <a:rPr lang="it-IT" sz="3200" dirty="0" err="1"/>
              <a:t>there</a:t>
            </a:r>
            <a:r>
              <a:rPr lang="it-IT" sz="3200" dirty="0"/>
              <a:t> </a:t>
            </a:r>
            <a:r>
              <a:rPr lang="it-IT" sz="3200" dirty="0" err="1"/>
              <a:t>is</a:t>
            </a:r>
            <a:r>
              <a:rPr lang="it-IT" sz="3200" dirty="0"/>
              <a:t> an </a:t>
            </a:r>
            <a:r>
              <a:rPr lang="it-IT" sz="3200" dirty="0" err="1"/>
              <a:t>interpretation</a:t>
            </a:r>
            <a:r>
              <a:rPr lang="it-IT" sz="3200" dirty="0"/>
              <a:t> of 𝝋 </a:t>
            </a:r>
            <a:r>
              <a:rPr lang="it-IT" sz="3200" dirty="0" err="1"/>
              <a:t>that</a:t>
            </a:r>
            <a:r>
              <a:rPr lang="it-IT" sz="3200" dirty="0"/>
              <a:t> makes 𝝋 </a:t>
            </a:r>
            <a:r>
              <a:rPr lang="it-IT" sz="3200" dirty="0" err="1"/>
              <a:t>true</a:t>
            </a:r>
            <a:r>
              <a:rPr lang="it-IT" sz="3200" dirty="0"/>
              <a:t> for </a:t>
            </a:r>
            <a:r>
              <a:rPr lang="it-IT" sz="3200" dirty="0" err="1"/>
              <a:t>at</a:t>
            </a:r>
            <a:r>
              <a:rPr lang="it-IT" sz="3200" dirty="0"/>
              <a:t> </a:t>
            </a:r>
            <a:r>
              <a:rPr lang="it-IT" sz="3200" dirty="0" err="1"/>
              <a:t>least</a:t>
            </a:r>
            <a:r>
              <a:rPr lang="it-IT" sz="3200" dirty="0"/>
              <a:t> for one </a:t>
            </a:r>
            <a:r>
              <a:rPr lang="it-IT" sz="3200" dirty="0" err="1"/>
              <a:t>assignement</a:t>
            </a:r>
            <a:r>
              <a:rPr lang="it-IT" sz="3200" dirty="0"/>
              <a:t> of x</a:t>
            </a:r>
          </a:p>
          <a:p>
            <a:pPr lvl="1"/>
            <a:endParaRPr lang="it-IT" sz="32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95B891-5D49-384E-868F-69E698CD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626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21365E-F9F0-8B49-8CFF-F52E95B9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Rules for </a:t>
            </a:r>
            <a:r>
              <a:rPr lang="it-IT" dirty="0" err="1"/>
              <a:t>universal</a:t>
            </a:r>
            <a:r>
              <a:rPr lang="it-IT" dirty="0"/>
              <a:t> </a:t>
            </a:r>
            <a:r>
              <a:rPr lang="it-IT" dirty="0" err="1"/>
              <a:t>quantifier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781BDB-EDCE-B745-8B16-B6E683D7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1D03EF0A-4978-3348-B661-345A1A84EA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5403" y="1293976"/>
                <a:ext cx="5910903" cy="427004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den>
                    </m:f>
                    <m:r>
                      <m:rPr>
                        <m:nor/>
                      </m:rPr>
                      <a:rPr lang="it-IT" sz="3200" dirty="0">
                        <a:solidFill>
                          <a:srgbClr val="C00000"/>
                        </a:solidFill>
                      </a:rPr>
                      <m:t>∀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-E</a:t>
                </a:r>
              </a:p>
              <a:p>
                <a:pPr marL="0" indent="0" algn="ctr">
                  <a:buNone/>
                </a:pPr>
                <a:endParaRPr lang="it-IT" sz="3733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it-I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mr>
                        </m:m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it-IT" sz="3733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3200" dirty="0">
                        <a:solidFill>
                          <a:srgbClr val="C00000"/>
                        </a:solidFill>
                      </a:rPr>
                      <m:t>∀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-I</a:t>
                </a:r>
                <a:endParaRPr lang="it-IT" dirty="0"/>
              </a:p>
            </p:txBody>
          </p:sp>
        </mc:Choice>
        <mc:Fallback xmlns="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1D03EF0A-4978-3348-B661-345A1A84EA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5403" y="1293976"/>
                <a:ext cx="5910903" cy="4270048"/>
              </a:xfrm>
              <a:blipFill>
                <a:blip r:embed="rId2"/>
                <a:stretch>
                  <a:fillRect b="-5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EE958C6-15E3-BC44-BC75-7A23DF4F6F11}"/>
                  </a:ext>
                </a:extLst>
              </p:cNvPr>
              <p:cNvSpPr txBox="1"/>
              <p:nvPr/>
            </p:nvSpPr>
            <p:spPr>
              <a:xfrm>
                <a:off x="6874360" y="2567226"/>
                <a:ext cx="32856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dirty="0" err="1"/>
                  <a:t>When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means</a:t>
                </a:r>
                <a:r>
                  <a:rPr lang="it-IT" sz="2400" dirty="0"/>
                  <a:t> c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arbitrary</a:t>
                </a:r>
                <a:endParaRPr lang="it-IT" sz="2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EE958C6-15E3-BC44-BC75-7A23DF4F6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360" y="2567226"/>
                <a:ext cx="3285640" cy="830997"/>
              </a:xfrm>
              <a:prstGeom prst="rect">
                <a:avLst/>
              </a:prstGeom>
              <a:blipFill>
                <a:blip r:embed="rId3"/>
                <a:stretch>
                  <a:fillRect l="-3077" t="-4545" b="-151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2785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21365E-F9F0-8B49-8CFF-F52E95B9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Rules for </a:t>
            </a:r>
            <a:r>
              <a:rPr lang="it-IT" dirty="0" err="1"/>
              <a:t>existential</a:t>
            </a:r>
            <a:r>
              <a:rPr lang="it-IT" dirty="0"/>
              <a:t> </a:t>
            </a:r>
            <a:r>
              <a:rPr lang="it-IT" dirty="0" err="1"/>
              <a:t>quantifier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781BDB-EDCE-B745-8B16-B6E683D75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1D03EF0A-4978-3348-B661-345A1A84EA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1581" y="1397297"/>
                <a:ext cx="5910903" cy="427004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nor/>
                      </m:rPr>
                      <a:rPr lang="it-IT" sz="3200" dirty="0">
                        <a:solidFill>
                          <a:srgbClr val="C00000"/>
                        </a:solidFill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it-IT" sz="3733" dirty="0">
                    <a:solidFill>
                      <a:srgbClr val="C00000"/>
                    </a:solidFill>
                  </a:rPr>
                  <a:t>-I</a:t>
                </a:r>
              </a:p>
              <a:p>
                <a:pPr marL="0" indent="0" algn="ctr">
                  <a:buNone/>
                </a:pPr>
                <a:endParaRPr lang="it-IT" sz="3733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it-IT" sz="3733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373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∃</m:t>
                        </m:r>
                        <m:r>
                          <a:rPr lang="it-IT" sz="373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sz="373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it-IT" sz="373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it-IT" sz="3733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3733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it-IT" sz="3733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num>
                      <m:den>
                        <m:f>
                          <m:fPr>
                            <m:ctrlPr>
                              <a:rPr lang="it-IT" sz="3733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3733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it-IT" sz="3733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3733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it-IT" sz="3733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it-IT" sz="3733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  <m:d>
                                    <m:dPr>
                                      <m:ctrlPr>
                                        <a:rPr lang="it-IT" sz="3733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3733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mr>
                              <m:mr>
                                <m:e>
                                  <m:r>
                                    <a:rPr lang="it-IT" sz="3733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it-IT" sz="3733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mr>
                            </m:m>
                          </m:num>
                          <m:den>
                            <m:r>
                              <a:rPr lang="it-IT" sz="3733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</m:den>
                    </m:f>
                    <m:r>
                      <m:rPr>
                        <m:nor/>
                      </m:rPr>
                      <a:rPr lang="it-IT" sz="3733" dirty="0">
                        <a:solidFill>
                          <a:srgbClr val="C00000"/>
                        </a:solidFill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it-IT" sz="3200" dirty="0">
                    <a:solidFill>
                      <a:srgbClr val="C00000"/>
                    </a:solidFill>
                  </a:rPr>
                  <a:t>-E</a:t>
                </a:r>
                <a:endParaRPr lang="it-IT" dirty="0"/>
              </a:p>
            </p:txBody>
          </p:sp>
        </mc:Choice>
        <mc:Fallback xmlns="">
          <p:sp>
            <p:nvSpPr>
              <p:cNvPr id="8" name="Segnaposto contenuto 2">
                <a:extLst>
                  <a:ext uri="{FF2B5EF4-FFF2-40B4-BE49-F238E27FC236}">
                    <a16:creationId xmlns:a16="http://schemas.microsoft.com/office/drawing/2014/main" id="{1D03EF0A-4978-3348-B661-345A1A84EA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1581" y="1397297"/>
                <a:ext cx="5910903" cy="42700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755856E-577E-6440-8221-24A3194547C0}"/>
                  </a:ext>
                </a:extLst>
              </p:cNvPr>
              <p:cNvSpPr txBox="1"/>
              <p:nvPr/>
            </p:nvSpPr>
            <p:spPr>
              <a:xfrm>
                <a:off x="7094779" y="2670547"/>
                <a:ext cx="35585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400" dirty="0"/>
                  <a:t>When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it-IT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means</m:t>
                    </m:r>
                    <m:r>
                      <a:rPr lang="it-IT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it-IT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it-IT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new</m:t>
                    </m:r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755856E-577E-6440-8221-24A319454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779" y="2670547"/>
                <a:ext cx="3558531" cy="461665"/>
              </a:xfrm>
              <a:prstGeom prst="rect">
                <a:avLst/>
              </a:prstGeom>
              <a:blipFill>
                <a:blip r:embed="rId3"/>
                <a:stretch>
                  <a:fillRect l="-2482" t="-8108" b="-297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>
            <a:extLst>
              <a:ext uri="{FF2B5EF4-FFF2-40B4-BE49-F238E27FC236}">
                <a16:creationId xmlns:a16="http://schemas.microsoft.com/office/drawing/2014/main" id="{A07BCDB9-B0DA-AEED-E867-4198A8811889}"/>
              </a:ext>
            </a:extLst>
          </p:cNvPr>
          <p:cNvSpPr txBox="1"/>
          <p:nvPr/>
        </p:nvSpPr>
        <p:spPr>
          <a:xfrm>
            <a:off x="1811581" y="5756141"/>
            <a:ext cx="61198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 err="1"/>
              <a:t>Prawitz</a:t>
            </a:r>
            <a:r>
              <a:rPr lang="it-IT" sz="2400" dirty="0"/>
              <a:t> system </a:t>
            </a:r>
            <a:r>
              <a:rPr lang="it-IT" sz="2400" dirty="0" err="1"/>
              <a:t>is</a:t>
            </a:r>
            <a:r>
              <a:rPr lang="it-IT" sz="2400" dirty="0"/>
              <a:t> sound and complete for FOL</a:t>
            </a:r>
          </a:p>
        </p:txBody>
      </p:sp>
    </p:spTree>
    <p:extLst>
      <p:ext uri="{BB962C8B-B14F-4D97-AF65-F5344CB8AC3E}">
        <p14:creationId xmlns:p14="http://schemas.microsoft.com/office/powerpoint/2010/main" val="42213434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AF7447-AA33-8E4D-A348-7B1D261D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problems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0B678C-82D4-C641-B9F5-FE8B44F45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Syntactic</a:t>
            </a:r>
            <a:r>
              <a:rPr lang="it-IT" dirty="0"/>
              <a:t> tasks</a:t>
            </a:r>
          </a:p>
          <a:p>
            <a:pPr lvl="1"/>
            <a:r>
              <a:rPr lang="it-IT" dirty="0" err="1"/>
              <a:t>Is</a:t>
            </a:r>
            <a:r>
              <a:rPr lang="it-IT" dirty="0"/>
              <a:t> a formula SAT?</a:t>
            </a:r>
          </a:p>
          <a:p>
            <a:pPr lvl="1"/>
            <a:r>
              <a:rPr lang="it-IT" dirty="0" err="1"/>
              <a:t>Is</a:t>
            </a:r>
            <a:r>
              <a:rPr lang="it-IT" dirty="0"/>
              <a:t> a theory </a:t>
            </a:r>
            <a:r>
              <a:rPr lang="it-IT" dirty="0" err="1"/>
              <a:t>consistent</a:t>
            </a:r>
            <a:r>
              <a:rPr lang="it-IT" dirty="0"/>
              <a:t>?</a:t>
            </a:r>
          </a:p>
          <a:p>
            <a:pPr lvl="1"/>
            <a:r>
              <a:rPr lang="it-IT" dirty="0" err="1"/>
              <a:t>Is</a:t>
            </a:r>
            <a:r>
              <a:rPr lang="it-IT" dirty="0"/>
              <a:t> a formula T-SAT?</a:t>
            </a:r>
          </a:p>
          <a:p>
            <a:pPr lvl="1"/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EE6DEE-8C13-D042-9F3D-6896ABA6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97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AF7447-AA33-8E4D-A348-7B1D261D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problems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0B678C-82D4-C641-B9F5-FE8B44F45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Semantic tasks</a:t>
            </a:r>
          </a:p>
          <a:p>
            <a:pPr lvl="1"/>
            <a:r>
              <a:rPr lang="it-IT" dirty="0" err="1"/>
              <a:t>Give</a:t>
            </a:r>
            <a:r>
              <a:rPr lang="it-IT" dirty="0"/>
              <a:t> a model for a formula</a:t>
            </a:r>
          </a:p>
          <a:p>
            <a:pPr lvl="1"/>
            <a:r>
              <a:rPr lang="it-IT" dirty="0" err="1"/>
              <a:t>Give</a:t>
            </a:r>
            <a:r>
              <a:rPr lang="it-IT" dirty="0"/>
              <a:t> a model for a theory</a:t>
            </a:r>
          </a:p>
          <a:p>
            <a:pPr lvl="1"/>
            <a:r>
              <a:rPr lang="it-IT" dirty="0"/>
              <a:t>Decide </a:t>
            </a:r>
            <a:r>
              <a:rPr lang="it-IT" dirty="0" err="1"/>
              <a:t>if</a:t>
            </a:r>
            <a:r>
              <a:rPr lang="it-IT" dirty="0"/>
              <a:t> a </a:t>
            </a:r>
            <a:r>
              <a:rPr lang="it-IT" dirty="0" err="1"/>
              <a:t>given</a:t>
            </a:r>
            <a:r>
              <a:rPr lang="it-IT" dirty="0"/>
              <a:t> model </a:t>
            </a:r>
            <a:r>
              <a:rPr lang="it-IT" dirty="0" err="1"/>
              <a:t>satisfies</a:t>
            </a:r>
            <a:r>
              <a:rPr lang="it-IT" dirty="0"/>
              <a:t> a theory</a:t>
            </a:r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EE6DEE-8C13-D042-9F3D-6896ABA6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9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174841-979C-7F43-BDC7-C01E19E1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Resolution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24F5BD5-005D-CB44-A239-412BBE6A2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155700"/>
                <a:ext cx="10972800" cy="4620001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e>
                                <m:r>
                                  <a:rPr lang="it-IT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it-IT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24F5BD5-005D-CB44-A239-412BBE6A2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155700"/>
                <a:ext cx="10972800" cy="462000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2467E1-ED5F-5E43-A0B1-066065A0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968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B1D334-0F3A-774D-A3B7-82FE63E9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Prenex</a:t>
            </a:r>
            <a:r>
              <a:rPr lang="it-IT" dirty="0"/>
              <a:t> (</a:t>
            </a:r>
            <a:r>
              <a:rPr lang="it-IT" dirty="0" err="1"/>
              <a:t>clausal</a:t>
            </a:r>
            <a:r>
              <a:rPr lang="it-IT" dirty="0"/>
              <a:t>) </a:t>
            </a:r>
            <a:r>
              <a:rPr lang="it-IT" dirty="0" err="1"/>
              <a:t>normal</a:t>
            </a:r>
            <a:r>
              <a:rPr lang="it-IT" dirty="0"/>
              <a:t> </a:t>
            </a:r>
            <a:r>
              <a:rPr lang="it-IT" dirty="0" err="1"/>
              <a:t>form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0A6F7C4-A420-4945-B93E-44D11EC625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sz="3200" dirty="0"/>
                  <a:t>Prenex (</a:t>
                </a:r>
                <a:r>
                  <a:rPr lang="it-IT" sz="3200" dirty="0" err="1"/>
                  <a:t>clausal</a:t>
                </a:r>
                <a:r>
                  <a:rPr lang="it-IT" sz="3200" dirty="0"/>
                  <a:t>) </a:t>
                </a:r>
                <a:r>
                  <a:rPr lang="it-IT" sz="3200" dirty="0" err="1"/>
                  <a:t>normal</a:t>
                </a:r>
                <a:r>
                  <a:rPr lang="it-IT" sz="3200" dirty="0"/>
                  <a:t> </a:t>
                </a:r>
                <a:r>
                  <a:rPr lang="it-IT" sz="3200" dirty="0" err="1"/>
                  <a:t>form</a:t>
                </a:r>
                <a:endParaRPr lang="it-IT" sz="3200" dirty="0"/>
              </a:p>
              <a:p>
                <a:pPr lvl="1"/>
                <a:r>
                  <a:rPr lang="it-IT" sz="2667" dirty="0"/>
                  <a:t>A </a:t>
                </a:r>
                <a:r>
                  <a:rPr lang="it-IT" sz="2667" dirty="0" err="1"/>
                  <a:t>clause</a:t>
                </a:r>
                <a:r>
                  <a:rPr lang="it-IT" sz="2667" dirty="0"/>
                  <a:t> </a:t>
                </a:r>
                <a:r>
                  <a:rPr lang="it-IT" sz="2667" dirty="0" err="1"/>
                  <a:t>is</a:t>
                </a:r>
                <a:endParaRPr lang="it-IT" sz="2667" dirty="0"/>
              </a:p>
              <a:p>
                <a:pPr marL="1676358" lvl="2" indent="-457189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400" dirty="0" smtClean="0"/>
                      <m:t>⊥</m:t>
                    </m:r>
                  </m:oMath>
                </a14:m>
                <a:endParaRPr lang="it-IT" sz="2400" dirty="0"/>
              </a:p>
              <a:p>
                <a:pPr marL="1676358" lvl="2" indent="-457189">
                  <a:buFont typeface="+mj-lt"/>
                  <a:buAutoNum type="arabicPeriod"/>
                </a:pPr>
                <a:r>
                  <a:rPr lang="it-IT" sz="2400" dirty="0"/>
                  <a:t>A </a:t>
                </a:r>
                <a:r>
                  <a:rPr lang="it-IT" sz="2400" dirty="0" err="1"/>
                  <a:t>literal</a:t>
                </a:r>
                <a:r>
                  <a:rPr lang="it-IT" sz="2400" dirty="0"/>
                  <a:t> (a </a:t>
                </a:r>
                <a:r>
                  <a:rPr lang="it-IT" sz="2400" dirty="0" err="1"/>
                  <a:t>letter</a:t>
                </a:r>
                <a:r>
                  <a:rPr lang="it-IT" sz="2400" dirty="0"/>
                  <a:t> or the </a:t>
                </a:r>
                <a:r>
                  <a:rPr lang="it-IT" sz="2400" dirty="0" err="1"/>
                  <a:t>negation</a:t>
                </a:r>
                <a:r>
                  <a:rPr lang="it-IT" sz="2400" dirty="0"/>
                  <a:t> of a </a:t>
                </a:r>
                <a:r>
                  <a:rPr lang="it-IT" sz="2400" dirty="0" err="1"/>
                  <a:t>letter</a:t>
                </a:r>
                <a:r>
                  <a:rPr lang="it-IT" sz="2400" dirty="0"/>
                  <a:t>)</a:t>
                </a:r>
              </a:p>
              <a:p>
                <a:pPr marL="1676358" lvl="2" indent="-457189">
                  <a:buFont typeface="+mj-lt"/>
                  <a:buAutoNum type="arabicPeriod"/>
                </a:pPr>
                <a:r>
                  <a:rPr lang="it-IT" sz="2400" dirty="0"/>
                  <a:t>A </a:t>
                </a:r>
                <a:r>
                  <a:rPr lang="it-IT" sz="2400" dirty="0" err="1"/>
                  <a:t>disjunction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literals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named</a:t>
                </a:r>
                <a:r>
                  <a:rPr lang="it-IT" sz="2400" dirty="0"/>
                  <a:t> an </a:t>
                </a:r>
                <a:r>
                  <a:rPr lang="it-IT" sz="2400" dirty="0" err="1"/>
                  <a:t>elementary</a:t>
                </a:r>
                <a:r>
                  <a:rPr lang="it-IT" sz="2400" dirty="0"/>
                  <a:t> </a:t>
                </a:r>
                <a:r>
                  <a:rPr lang="it-IT" sz="2400" dirty="0" err="1"/>
                  <a:t>clause</a:t>
                </a:r>
                <a:r>
                  <a:rPr lang="it-IT" sz="2400" dirty="0"/>
                  <a:t>)</a:t>
                </a:r>
              </a:p>
              <a:p>
                <a:pPr marL="1676358" lvl="2" indent="-457189">
                  <a:buFont typeface="+mj-lt"/>
                  <a:buAutoNum type="arabicPeriod"/>
                </a:pPr>
                <a:r>
                  <a:rPr lang="it-IT" sz="2400" dirty="0"/>
                  <a:t>A </a:t>
                </a:r>
                <a:r>
                  <a:rPr lang="it-IT" sz="2400" dirty="0" err="1"/>
                  <a:t>conjunction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elementary</a:t>
                </a:r>
                <a:r>
                  <a:rPr lang="it-IT" sz="2400" dirty="0"/>
                  <a:t> </a:t>
                </a:r>
                <a:r>
                  <a:rPr lang="it-IT" sz="2400" dirty="0" err="1"/>
                  <a:t>clauses</a:t>
                </a:r>
                <a:endParaRPr lang="it-IT" sz="2400" dirty="0"/>
              </a:p>
              <a:p>
                <a:pPr marL="1676358" lvl="2" indent="-457189">
                  <a:buFont typeface="+mj-lt"/>
                  <a:buAutoNum type="arabicPeriod"/>
                </a:pPr>
                <a:endParaRPr lang="it-IT" sz="2400" dirty="0"/>
              </a:p>
              <a:p>
                <a:pPr marL="0" indent="0">
                  <a:buNone/>
                </a:pPr>
                <a:r>
                  <a:rPr lang="it-IT" sz="3200" dirty="0"/>
                  <a:t>IT’S A CANONICAL FORM</a:t>
                </a:r>
              </a:p>
              <a:p>
                <a:endParaRPr lang="it-IT" sz="32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0A6F7C4-A420-4945-B93E-44D11EC625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178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80CD6A-FD14-A646-AF67-A62AB321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60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701DA0-F167-2641-A2E2-15B49276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Davis-</a:t>
            </a:r>
            <a:r>
              <a:rPr lang="it-IT" dirty="0" err="1"/>
              <a:t>Putnam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25A339-5F2B-3940-83EA-99B93141A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To decide SAT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the </a:t>
            </a:r>
            <a:r>
              <a:rPr lang="it-IT" dirty="0" err="1"/>
              <a:t>resolution</a:t>
            </a:r>
            <a:r>
              <a:rPr lang="it-IT" dirty="0"/>
              <a:t> </a:t>
            </a:r>
            <a:r>
              <a:rPr lang="it-IT" dirty="0" err="1"/>
              <a:t>principle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271579-492D-8E45-B2E6-5A04D242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07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E70B6-36E0-5943-AFD1-38A31BF3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Concept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1690F4-59F7-CC46-A8B6-B3BA5146F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733" dirty="0" err="1"/>
              <a:t>We</a:t>
            </a:r>
            <a:r>
              <a:rPr lang="it-IT" sz="3733" dirty="0"/>
              <a:t> </a:t>
            </a:r>
            <a:r>
              <a:rPr lang="it-IT" sz="3733" dirty="0" err="1"/>
              <a:t>devise</a:t>
            </a:r>
            <a:r>
              <a:rPr lang="it-IT" sz="3733" dirty="0"/>
              <a:t> a set of </a:t>
            </a:r>
            <a:r>
              <a:rPr lang="it-IT" sz="3733" i="1" dirty="0" err="1"/>
              <a:t>rewriting</a:t>
            </a:r>
            <a:r>
              <a:rPr lang="it-IT" sz="3733" i="1" dirty="0"/>
              <a:t> </a:t>
            </a:r>
            <a:r>
              <a:rPr lang="it-IT" sz="3733" dirty="0"/>
              <a:t>rules to determine </a:t>
            </a:r>
            <a:r>
              <a:rPr lang="it-IT" sz="3733" dirty="0" err="1"/>
              <a:t>wether</a:t>
            </a:r>
            <a:r>
              <a:rPr lang="it-IT" sz="3733" dirty="0"/>
              <a:t> a </a:t>
            </a:r>
            <a:r>
              <a:rPr lang="it-IT" sz="3733" dirty="0" err="1"/>
              <a:t>given</a:t>
            </a:r>
            <a:r>
              <a:rPr lang="it-IT" sz="3733" dirty="0"/>
              <a:t> formula </a:t>
            </a:r>
            <a:r>
              <a:rPr lang="it-IT" sz="3733" dirty="0" err="1"/>
              <a:t>is</a:t>
            </a:r>
            <a:r>
              <a:rPr lang="it-IT" sz="3733" dirty="0"/>
              <a:t> </a:t>
            </a:r>
            <a:r>
              <a:rPr lang="it-IT" sz="3733" dirty="0" err="1"/>
              <a:t>actually</a:t>
            </a:r>
            <a:r>
              <a:rPr lang="it-IT" sz="3733" dirty="0"/>
              <a:t> </a:t>
            </a:r>
          </a:p>
          <a:p>
            <a:r>
              <a:rPr lang="it-IT" sz="3733" dirty="0" err="1"/>
              <a:t>We</a:t>
            </a:r>
            <a:r>
              <a:rPr lang="it-IT" sz="3733" dirty="0"/>
              <a:t> </a:t>
            </a:r>
            <a:r>
              <a:rPr lang="it-IT" sz="3733" dirty="0" err="1"/>
              <a:t>represent</a:t>
            </a:r>
            <a:r>
              <a:rPr lang="it-IT" sz="3733" dirty="0"/>
              <a:t> a formula </a:t>
            </a:r>
            <a:r>
              <a:rPr lang="it-IT" sz="3733" dirty="0" err="1"/>
              <a:t>as</a:t>
            </a:r>
            <a:r>
              <a:rPr lang="it-IT" sz="3733" dirty="0"/>
              <a:t> a set of </a:t>
            </a:r>
            <a:r>
              <a:rPr lang="it-IT" sz="3733" dirty="0" err="1"/>
              <a:t>elementary</a:t>
            </a:r>
            <a:r>
              <a:rPr lang="it-IT" sz="3733" dirty="0"/>
              <a:t> </a:t>
            </a:r>
            <a:r>
              <a:rPr lang="it-IT" sz="3733" dirty="0" err="1"/>
              <a:t>clauses</a:t>
            </a:r>
            <a:endParaRPr lang="it-IT" sz="3733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A4D33B-21A7-594E-AA0D-BA9B268A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375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332139-5BFF-1142-D337-5E571EF6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Rewriting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(1)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52225E-496B-B768-7DA7-FD6619C5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600" b="1" dirty="0"/>
              <a:t>PROPAGATION PHASE</a:t>
            </a:r>
          </a:p>
          <a:p>
            <a:r>
              <a:rPr lang="it-IT" sz="3600" dirty="0"/>
              <a:t>For </a:t>
            </a:r>
            <a:r>
              <a:rPr lang="it-IT" sz="3600" dirty="0" err="1"/>
              <a:t>every</a:t>
            </a:r>
            <a:r>
              <a:rPr lang="it-IT" sz="3600" dirty="0"/>
              <a:t> </a:t>
            </a:r>
            <a:r>
              <a:rPr lang="it-IT" sz="3600" dirty="0" err="1"/>
              <a:t>element</a:t>
            </a:r>
            <a:r>
              <a:rPr lang="it-IT" sz="3600" dirty="0"/>
              <a:t> </a:t>
            </a:r>
            <a:r>
              <a:rPr lang="it-IT" sz="3600" dirty="0" err="1"/>
              <a:t>marked</a:t>
            </a:r>
            <a:r>
              <a:rPr lang="it-IT" sz="3600" dirty="0"/>
              <a:t> </a:t>
            </a:r>
            <a:r>
              <a:rPr lang="it-IT" sz="3600" dirty="0" err="1"/>
              <a:t>as</a:t>
            </a:r>
            <a:r>
              <a:rPr lang="it-IT" sz="3600" dirty="0"/>
              <a:t> new in the </a:t>
            </a:r>
            <a:r>
              <a:rPr lang="it-IT" sz="3600" dirty="0" err="1"/>
              <a:t>solution</a:t>
            </a:r>
            <a:r>
              <a:rPr lang="it-IT" sz="3600" dirty="0"/>
              <a:t> set, propagate </a:t>
            </a:r>
            <a:r>
              <a:rPr lang="it-IT" sz="3600" dirty="0" err="1"/>
              <a:t>it</a:t>
            </a:r>
            <a:r>
              <a:rPr lang="it-IT" sz="3600" dirty="0"/>
              <a:t> </a:t>
            </a:r>
            <a:r>
              <a:rPr lang="it-IT" sz="3600" dirty="0" err="1"/>
              <a:t>directly</a:t>
            </a:r>
            <a:r>
              <a:rPr lang="it-IT" sz="3600" dirty="0"/>
              <a:t> </a:t>
            </a:r>
            <a:r>
              <a:rPr lang="it-IT" sz="3600" dirty="0" err="1"/>
              <a:t>into</a:t>
            </a:r>
            <a:r>
              <a:rPr lang="it-IT" sz="3600" dirty="0"/>
              <a:t> the </a:t>
            </a:r>
            <a:r>
              <a:rPr lang="it-IT" sz="3600" dirty="0" err="1"/>
              <a:t>elementary</a:t>
            </a:r>
            <a:r>
              <a:rPr lang="it-IT" sz="3600" dirty="0"/>
              <a:t> </a:t>
            </a:r>
            <a:r>
              <a:rPr lang="it-IT" sz="3600" dirty="0" err="1"/>
              <a:t>clauses</a:t>
            </a:r>
            <a:r>
              <a:rPr lang="it-IT" sz="3600" dirty="0"/>
              <a:t>:</a:t>
            </a:r>
          </a:p>
          <a:p>
            <a:pPr lvl="1"/>
            <a:r>
              <a:rPr lang="it-IT" sz="3200" dirty="0" err="1"/>
              <a:t>When</a:t>
            </a:r>
            <a:r>
              <a:rPr lang="it-IT" sz="3200" dirty="0"/>
              <a:t> </a:t>
            </a:r>
            <a:r>
              <a:rPr lang="it-IT" sz="3200" dirty="0" err="1"/>
              <a:t>it</a:t>
            </a:r>
            <a:r>
              <a:rPr lang="it-IT" sz="3200" dirty="0"/>
              <a:t> </a:t>
            </a:r>
            <a:r>
              <a:rPr lang="it-IT" sz="3200" dirty="0" err="1"/>
              <a:t>appears</a:t>
            </a:r>
            <a:r>
              <a:rPr lang="it-IT" sz="3200" dirty="0"/>
              <a:t> </a:t>
            </a:r>
            <a:r>
              <a:rPr lang="it-IT" sz="3200" dirty="0" err="1"/>
              <a:t>natural</a:t>
            </a:r>
            <a:r>
              <a:rPr lang="it-IT" sz="3200" dirty="0"/>
              <a:t> (</a:t>
            </a:r>
            <a:r>
              <a:rPr lang="it-IT" sz="3200" dirty="0" err="1"/>
              <a:t>namely</a:t>
            </a:r>
            <a:r>
              <a:rPr lang="it-IT" sz="3200" dirty="0"/>
              <a:t> in the </a:t>
            </a:r>
            <a:r>
              <a:rPr lang="it-IT" sz="3200" dirty="0" err="1"/>
              <a:t>same</a:t>
            </a:r>
            <a:r>
              <a:rPr lang="it-IT" sz="3200" dirty="0"/>
              <a:t> </a:t>
            </a:r>
            <a:r>
              <a:rPr lang="it-IT" sz="3200" dirty="0" err="1"/>
              <a:t>form</a:t>
            </a:r>
            <a:r>
              <a:rPr lang="it-IT" sz="3200" dirty="0"/>
              <a:t> of the </a:t>
            </a:r>
            <a:r>
              <a:rPr lang="it-IT" sz="3200" dirty="0" err="1"/>
              <a:t>solution</a:t>
            </a:r>
            <a:r>
              <a:rPr lang="it-IT" sz="3200" dirty="0"/>
              <a:t> set) </a:t>
            </a:r>
            <a:r>
              <a:rPr lang="it-IT" sz="3200" dirty="0" err="1"/>
              <a:t>remove</a:t>
            </a:r>
            <a:r>
              <a:rPr lang="it-IT" sz="3200" dirty="0"/>
              <a:t> the </a:t>
            </a:r>
            <a:r>
              <a:rPr lang="it-IT" sz="3200" dirty="0" err="1"/>
              <a:t>clause</a:t>
            </a:r>
            <a:endParaRPr lang="it-IT" sz="3200" dirty="0"/>
          </a:p>
          <a:p>
            <a:pPr lvl="1"/>
            <a:r>
              <a:rPr lang="it-IT" sz="3200" dirty="0" err="1"/>
              <a:t>When</a:t>
            </a:r>
            <a:r>
              <a:rPr lang="it-IT" sz="3200" dirty="0"/>
              <a:t> </a:t>
            </a:r>
            <a:r>
              <a:rPr lang="it-IT" sz="3200" dirty="0" err="1"/>
              <a:t>it</a:t>
            </a:r>
            <a:r>
              <a:rPr lang="it-IT" sz="3200" dirty="0"/>
              <a:t> </a:t>
            </a:r>
            <a:r>
              <a:rPr lang="it-IT" sz="3200" dirty="0" err="1"/>
              <a:t>appear</a:t>
            </a:r>
            <a:r>
              <a:rPr lang="it-IT" sz="3200" dirty="0"/>
              <a:t> </a:t>
            </a:r>
            <a:r>
              <a:rPr lang="it-IT" sz="3200" dirty="0" err="1"/>
              <a:t>negated</a:t>
            </a:r>
            <a:r>
              <a:rPr lang="it-IT" sz="3200" dirty="0"/>
              <a:t>, delete </a:t>
            </a:r>
            <a:r>
              <a:rPr lang="it-IT" sz="3200" dirty="0" err="1"/>
              <a:t>it</a:t>
            </a:r>
            <a:r>
              <a:rPr lang="it-IT" sz="3200" dirty="0"/>
              <a:t> from the </a:t>
            </a:r>
            <a:r>
              <a:rPr lang="it-IT" sz="3200" dirty="0" err="1"/>
              <a:t>clause</a:t>
            </a:r>
            <a:endParaRPr lang="it-IT" sz="3200" dirty="0"/>
          </a:p>
          <a:p>
            <a:r>
              <a:rPr lang="it-IT" sz="3600" dirty="0"/>
              <a:t>Once </a:t>
            </a:r>
            <a:r>
              <a:rPr lang="it-IT" sz="3600" dirty="0" err="1"/>
              <a:t>operated</a:t>
            </a:r>
            <a:r>
              <a:rPr lang="it-IT" sz="3600" dirty="0"/>
              <a:t> the steps </a:t>
            </a:r>
            <a:r>
              <a:rPr lang="it-IT" sz="3600" dirty="0" err="1"/>
              <a:t>above</a:t>
            </a:r>
            <a:r>
              <a:rPr lang="it-IT" sz="3600" dirty="0"/>
              <a:t>, </a:t>
            </a:r>
            <a:r>
              <a:rPr lang="it-IT" sz="3600" dirty="0" err="1"/>
              <a:t>remove</a:t>
            </a:r>
            <a:r>
              <a:rPr lang="it-IT" sz="3600" dirty="0"/>
              <a:t> the </a:t>
            </a:r>
            <a:r>
              <a:rPr lang="it-IT" sz="3600" dirty="0" err="1"/>
              <a:t>mark</a:t>
            </a:r>
            <a:r>
              <a:rPr lang="it-IT" sz="3600" dirty="0"/>
              <a:t> of new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8A1B9B6-03A1-BB22-213A-EC1D5855D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16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829184-8960-CCB9-CAAF-6A989265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Rewriting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DC4240-BB01-0317-36DD-975F1C54B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600" b="1" dirty="0"/>
              <a:t>DECISION STEP</a:t>
            </a:r>
          </a:p>
          <a:p>
            <a:r>
              <a:rPr lang="it-IT" sz="3600" dirty="0" err="1"/>
              <a:t>During</a:t>
            </a:r>
            <a:r>
              <a:rPr lang="it-IT" sz="3600" dirty="0"/>
              <a:t> the </a:t>
            </a:r>
            <a:r>
              <a:rPr lang="it-IT" sz="3600" dirty="0" err="1"/>
              <a:t>propagation</a:t>
            </a:r>
            <a:r>
              <a:rPr lang="it-IT" sz="3600" dirty="0"/>
              <a:t> </a:t>
            </a:r>
            <a:r>
              <a:rPr lang="it-IT" sz="3600" dirty="0" err="1"/>
              <a:t>process</a:t>
            </a:r>
            <a:r>
              <a:rPr lang="it-IT" sz="3600" dirty="0"/>
              <a:t>, check </a:t>
            </a:r>
            <a:r>
              <a:rPr lang="it-IT" sz="3600" dirty="0" err="1"/>
              <a:t>when</a:t>
            </a:r>
            <a:r>
              <a:rPr lang="it-IT" sz="3600" dirty="0"/>
              <a:t> a </a:t>
            </a:r>
            <a:r>
              <a:rPr lang="it-IT" sz="3600" dirty="0" err="1"/>
              <a:t>clause</a:t>
            </a:r>
            <a:r>
              <a:rPr lang="it-IT" sz="3600" dirty="0"/>
              <a:t> </a:t>
            </a:r>
            <a:r>
              <a:rPr lang="it-IT" sz="3600" dirty="0" err="1"/>
              <a:t>becomes</a:t>
            </a:r>
            <a:r>
              <a:rPr lang="it-IT" sz="3600" dirty="0"/>
              <a:t> </a:t>
            </a:r>
            <a:r>
              <a:rPr lang="it-IT" sz="3600" dirty="0" err="1"/>
              <a:t>empty</a:t>
            </a:r>
            <a:r>
              <a:rPr lang="it-IT" sz="3600" dirty="0"/>
              <a:t>. </a:t>
            </a:r>
            <a:r>
              <a:rPr lang="it-IT" sz="3600" dirty="0" err="1"/>
              <a:t>When</a:t>
            </a:r>
            <a:r>
              <a:rPr lang="it-IT" sz="3600" dirty="0"/>
              <a:t> </a:t>
            </a:r>
            <a:r>
              <a:rPr lang="it-IT" sz="3600" dirty="0" err="1"/>
              <a:t>this</a:t>
            </a:r>
            <a:r>
              <a:rPr lang="it-IT" sz="3600" dirty="0"/>
              <a:t> </a:t>
            </a:r>
            <a:r>
              <a:rPr lang="it-IT" sz="3600" dirty="0" err="1"/>
              <a:t>happens</a:t>
            </a:r>
            <a:r>
              <a:rPr lang="it-IT" sz="3600" dirty="0"/>
              <a:t>, terminate the </a:t>
            </a:r>
            <a:r>
              <a:rPr lang="it-IT" sz="3600" dirty="0" err="1"/>
              <a:t>process</a:t>
            </a:r>
            <a:r>
              <a:rPr lang="it-IT" sz="3600" dirty="0"/>
              <a:t> with UNSAT</a:t>
            </a:r>
          </a:p>
          <a:p>
            <a:r>
              <a:rPr lang="it-IT" sz="3600" dirty="0"/>
              <a:t>At the end of the </a:t>
            </a:r>
            <a:r>
              <a:rPr lang="it-IT" sz="3600" dirty="0" err="1"/>
              <a:t>propagation</a:t>
            </a:r>
            <a:r>
              <a:rPr lang="it-IT" sz="3600" dirty="0"/>
              <a:t> </a:t>
            </a:r>
            <a:r>
              <a:rPr lang="it-IT" sz="3600" dirty="0" err="1"/>
              <a:t>phase</a:t>
            </a:r>
            <a:r>
              <a:rPr lang="it-IT" sz="3600" dirty="0"/>
              <a:t>, control </a:t>
            </a:r>
            <a:r>
              <a:rPr lang="it-IT" sz="3600" dirty="0" err="1"/>
              <a:t>if</a:t>
            </a:r>
            <a:r>
              <a:rPr lang="it-IT" sz="3600" dirty="0"/>
              <a:t> the set of </a:t>
            </a:r>
            <a:r>
              <a:rPr lang="it-IT" sz="3600" dirty="0" err="1"/>
              <a:t>clauses</a:t>
            </a:r>
            <a:r>
              <a:rPr lang="it-IT" sz="3600" dirty="0"/>
              <a:t> </a:t>
            </a:r>
            <a:r>
              <a:rPr lang="it-IT" sz="3600" dirty="0" err="1"/>
              <a:t>is</a:t>
            </a:r>
            <a:r>
              <a:rPr lang="it-IT" sz="3600" dirty="0"/>
              <a:t> </a:t>
            </a:r>
            <a:r>
              <a:rPr lang="it-IT" sz="3600" dirty="0" err="1"/>
              <a:t>empty</a:t>
            </a:r>
            <a:r>
              <a:rPr lang="it-IT" sz="3600" dirty="0"/>
              <a:t>. </a:t>
            </a:r>
            <a:r>
              <a:rPr lang="it-IT" sz="3600" dirty="0" err="1"/>
              <a:t>If</a:t>
            </a:r>
            <a:r>
              <a:rPr lang="it-IT" sz="3600" dirty="0"/>
              <a:t> </a:t>
            </a:r>
            <a:r>
              <a:rPr lang="it-IT" sz="3600" dirty="0" err="1"/>
              <a:t>this</a:t>
            </a:r>
            <a:r>
              <a:rPr lang="it-IT" sz="3600" dirty="0"/>
              <a:t> </a:t>
            </a:r>
            <a:r>
              <a:rPr lang="it-IT" sz="3600" dirty="0" err="1"/>
              <a:t>is</a:t>
            </a:r>
            <a:r>
              <a:rPr lang="it-IT" sz="3600" dirty="0"/>
              <a:t> the case, terminate the </a:t>
            </a:r>
            <a:r>
              <a:rPr lang="it-IT" sz="3600" dirty="0" err="1"/>
              <a:t>process</a:t>
            </a:r>
            <a:r>
              <a:rPr lang="it-IT" sz="3600" dirty="0"/>
              <a:t> and </a:t>
            </a:r>
            <a:r>
              <a:rPr lang="it-IT" sz="3600" dirty="0" err="1"/>
              <a:t>return</a:t>
            </a:r>
            <a:r>
              <a:rPr lang="it-IT" sz="3600" dirty="0"/>
              <a:t> the </a:t>
            </a:r>
            <a:r>
              <a:rPr lang="it-IT" sz="3600" dirty="0" err="1"/>
              <a:t>solution</a:t>
            </a:r>
            <a:r>
              <a:rPr lang="it-IT" sz="3600" dirty="0"/>
              <a:t> set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85AFE18-DD3B-A74B-3E18-B47EF485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959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AA9509-6686-273D-6735-B9EDD0CAD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Rewriting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(3)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9C0EA0-8282-118D-B175-96264DE2E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3200" b="1" dirty="0"/>
              <a:t>OPERATION PHASE</a:t>
            </a:r>
          </a:p>
          <a:p>
            <a:r>
              <a:rPr lang="it-IT" sz="3200" dirty="0" err="1"/>
              <a:t>As</a:t>
            </a:r>
            <a:r>
              <a:rPr lang="it-IT" sz="3200" dirty="0"/>
              <a:t> </a:t>
            </a:r>
            <a:r>
              <a:rPr lang="it-IT" sz="3200" dirty="0" err="1"/>
              <a:t>we</a:t>
            </a:r>
            <a:r>
              <a:rPr lang="it-IT" sz="3200" dirty="0"/>
              <a:t> </a:t>
            </a:r>
            <a:r>
              <a:rPr lang="it-IT" sz="3200" dirty="0" err="1"/>
              <a:t>shall</a:t>
            </a:r>
            <a:r>
              <a:rPr lang="it-IT" sz="3200" dirty="0"/>
              <a:t> </a:t>
            </a:r>
            <a:r>
              <a:rPr lang="it-IT" sz="3200" dirty="0" err="1"/>
              <a:t>see</a:t>
            </a:r>
            <a:r>
              <a:rPr lang="it-IT" sz="3200" dirty="0"/>
              <a:t> </a:t>
            </a:r>
            <a:r>
              <a:rPr lang="it-IT" sz="3200" dirty="0" err="1"/>
              <a:t>below</a:t>
            </a:r>
            <a:r>
              <a:rPr lang="it-IT" sz="3200" dirty="0"/>
              <a:t>, </a:t>
            </a:r>
            <a:r>
              <a:rPr lang="it-IT" sz="3200" dirty="0" err="1"/>
              <a:t>we</a:t>
            </a:r>
            <a:r>
              <a:rPr lang="it-IT" sz="3200" dirty="0"/>
              <a:t> </a:t>
            </a:r>
            <a:r>
              <a:rPr lang="it-IT" sz="3200" dirty="0" err="1"/>
              <a:t>have</a:t>
            </a:r>
            <a:r>
              <a:rPr lang="it-IT" sz="3200" dirty="0"/>
              <a:t> </a:t>
            </a:r>
            <a:r>
              <a:rPr lang="it-IT" sz="3200" dirty="0" err="1"/>
              <a:t>three</a:t>
            </a:r>
            <a:r>
              <a:rPr lang="it-IT" sz="3200" dirty="0"/>
              <a:t> rules </a:t>
            </a:r>
            <a:r>
              <a:rPr lang="it-IT" sz="3200" dirty="0" err="1"/>
              <a:t>involved</a:t>
            </a:r>
            <a:endParaRPr lang="it-IT" sz="3200" dirty="0"/>
          </a:p>
          <a:p>
            <a:pPr lvl="1"/>
            <a:r>
              <a:rPr lang="it-IT" sz="2800" dirty="0"/>
              <a:t>Unit </a:t>
            </a:r>
            <a:r>
              <a:rPr lang="it-IT" sz="2800" dirty="0" err="1"/>
              <a:t>propagation</a:t>
            </a:r>
            <a:endParaRPr lang="it-IT" sz="2800" dirty="0"/>
          </a:p>
          <a:p>
            <a:pPr lvl="1"/>
            <a:r>
              <a:rPr lang="it-IT" sz="2800" dirty="0"/>
              <a:t>Pure </a:t>
            </a:r>
            <a:r>
              <a:rPr lang="it-IT" sz="2800" dirty="0" err="1"/>
              <a:t>literal</a:t>
            </a:r>
            <a:r>
              <a:rPr lang="it-IT" sz="2800" dirty="0"/>
              <a:t> </a:t>
            </a:r>
            <a:r>
              <a:rPr lang="it-IT" sz="2800" dirty="0" err="1"/>
              <a:t>propagation</a:t>
            </a:r>
            <a:endParaRPr lang="it-IT" sz="2800" dirty="0"/>
          </a:p>
          <a:p>
            <a:pPr lvl="1"/>
            <a:r>
              <a:rPr lang="it-IT" sz="2800" dirty="0" err="1"/>
              <a:t>Resolution</a:t>
            </a:r>
            <a:endParaRPr lang="it-IT" sz="2800" dirty="0"/>
          </a:p>
          <a:p>
            <a:r>
              <a:rPr lang="it-IT" sz="3200" dirty="0"/>
              <a:t>The </a:t>
            </a:r>
            <a:r>
              <a:rPr lang="it-IT" sz="3200" dirty="0" err="1"/>
              <a:t>operation</a:t>
            </a:r>
            <a:r>
              <a:rPr lang="it-IT" sz="3200" dirty="0"/>
              <a:t> </a:t>
            </a:r>
            <a:r>
              <a:rPr lang="it-IT" sz="3200" dirty="0" err="1"/>
              <a:t>phase</a:t>
            </a:r>
            <a:r>
              <a:rPr lang="it-IT" sz="3200" dirty="0"/>
              <a:t> </a:t>
            </a:r>
            <a:r>
              <a:rPr lang="it-IT" sz="3200" dirty="0" err="1"/>
              <a:t>consists</a:t>
            </a:r>
            <a:r>
              <a:rPr lang="it-IT" sz="3200" dirty="0"/>
              <a:t> in </a:t>
            </a:r>
          </a:p>
          <a:p>
            <a:pPr lvl="1"/>
            <a:r>
              <a:rPr lang="it-IT" sz="2800" dirty="0"/>
              <a:t>Checking the </a:t>
            </a:r>
            <a:r>
              <a:rPr lang="it-IT" sz="2800" dirty="0" err="1"/>
              <a:t>applicability</a:t>
            </a:r>
            <a:r>
              <a:rPr lang="it-IT" sz="2800" dirty="0"/>
              <a:t> of </a:t>
            </a:r>
            <a:r>
              <a:rPr lang="it-IT" sz="2800" dirty="0" err="1"/>
              <a:t>unit</a:t>
            </a:r>
            <a:r>
              <a:rPr lang="it-IT" sz="2800" dirty="0"/>
              <a:t> </a:t>
            </a:r>
            <a:r>
              <a:rPr lang="it-IT" sz="2800" dirty="0" err="1"/>
              <a:t>propagation</a:t>
            </a:r>
            <a:r>
              <a:rPr lang="it-IT" sz="2800" dirty="0"/>
              <a:t> or pure </a:t>
            </a:r>
            <a:r>
              <a:rPr lang="it-IT" sz="2800" dirty="0" err="1"/>
              <a:t>literal</a:t>
            </a:r>
            <a:r>
              <a:rPr lang="it-IT" sz="2800" dirty="0"/>
              <a:t> </a:t>
            </a:r>
            <a:r>
              <a:rPr lang="it-IT" sz="2800" dirty="0" err="1"/>
              <a:t>propagation</a:t>
            </a:r>
            <a:endParaRPr lang="it-IT" sz="2800" dirty="0"/>
          </a:p>
          <a:p>
            <a:pPr lvl="1"/>
            <a:r>
              <a:rPr lang="it-IT" sz="2800" dirty="0" err="1"/>
              <a:t>If</a:t>
            </a:r>
            <a:r>
              <a:rPr lang="it-IT" sz="2800" dirty="0"/>
              <a:t> </a:t>
            </a:r>
            <a:r>
              <a:rPr lang="it-IT" sz="2800" dirty="0" err="1"/>
              <a:t>they</a:t>
            </a:r>
            <a:r>
              <a:rPr lang="it-IT" sz="2800" dirty="0"/>
              <a:t> do </a:t>
            </a:r>
            <a:r>
              <a:rPr lang="it-IT" sz="2800" dirty="0" err="1"/>
              <a:t>not</a:t>
            </a:r>
            <a:r>
              <a:rPr lang="it-IT" sz="2800" dirty="0"/>
              <a:t> </a:t>
            </a:r>
            <a:r>
              <a:rPr lang="it-IT" sz="2800" dirty="0" err="1"/>
              <a:t>apply</a:t>
            </a:r>
            <a:r>
              <a:rPr lang="it-IT" sz="2800" dirty="0"/>
              <a:t>, </a:t>
            </a:r>
            <a:r>
              <a:rPr lang="it-IT" sz="2800" dirty="0" err="1"/>
              <a:t>apply</a:t>
            </a:r>
            <a:r>
              <a:rPr lang="it-IT" sz="2800" dirty="0"/>
              <a:t> </a:t>
            </a:r>
            <a:r>
              <a:rPr lang="it-IT" sz="2800" dirty="0" err="1"/>
              <a:t>resolution</a:t>
            </a:r>
            <a:endParaRPr lang="it-IT" sz="28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D8ACEA-167E-5C7A-881B-C8B49F139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27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ABBF96-7431-7291-9310-E3235173F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F445F7-766D-6CB7-C376-07F2CD2B5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Unit </a:t>
            </a:r>
            <a:r>
              <a:rPr lang="it-IT" b="1" dirty="0" err="1"/>
              <a:t>clause</a:t>
            </a:r>
            <a:r>
              <a:rPr lang="it-IT" b="1" dirty="0"/>
              <a:t> </a:t>
            </a:r>
            <a:r>
              <a:rPr lang="it-IT" b="1" dirty="0" err="1"/>
              <a:t>propagation</a:t>
            </a:r>
            <a:r>
              <a:rPr lang="it-IT" dirty="0"/>
              <a:t>: </a:t>
            </a:r>
            <a:r>
              <a:rPr lang="it-IT" dirty="0" err="1"/>
              <a:t>when</a:t>
            </a:r>
            <a:r>
              <a:rPr lang="it-IT" dirty="0"/>
              <a:t> a </a:t>
            </a:r>
            <a:r>
              <a:rPr lang="it-IT" dirty="0" err="1"/>
              <a:t>clause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unitary</a:t>
            </a:r>
            <a:r>
              <a:rPr lang="it-IT" dirty="0"/>
              <a:t> </a:t>
            </a:r>
            <a:r>
              <a:rPr lang="it-IT" dirty="0" err="1"/>
              <a:t>move</a:t>
            </a:r>
            <a:r>
              <a:rPr lang="it-IT" dirty="0"/>
              <a:t> the </a:t>
            </a:r>
            <a:r>
              <a:rPr lang="it-IT" dirty="0" err="1"/>
              <a:t>literal</a:t>
            </a:r>
            <a:r>
              <a:rPr lang="it-IT" dirty="0"/>
              <a:t> of the </a:t>
            </a:r>
            <a:r>
              <a:rPr lang="it-IT" dirty="0" err="1"/>
              <a:t>clause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the </a:t>
            </a:r>
            <a:r>
              <a:rPr lang="it-IT" dirty="0" err="1"/>
              <a:t>solution</a:t>
            </a:r>
            <a:r>
              <a:rPr lang="it-IT" dirty="0"/>
              <a:t> set, </a:t>
            </a:r>
            <a:r>
              <a:rPr lang="it-IT" dirty="0" err="1"/>
              <a:t>marked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new.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AD4C992-4860-5955-8CE4-14249E08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68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2C8DAD-32BA-DE72-364E-4643CA10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F0C9A0-BD82-46B0-C8E4-9EEC3D2B6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Pure </a:t>
            </a:r>
            <a:r>
              <a:rPr lang="it-IT" b="1" dirty="0" err="1"/>
              <a:t>literal</a:t>
            </a:r>
            <a:r>
              <a:rPr lang="it-IT" b="1" dirty="0"/>
              <a:t> </a:t>
            </a:r>
            <a:r>
              <a:rPr lang="it-IT" b="1" dirty="0" err="1"/>
              <a:t>propagation</a:t>
            </a:r>
            <a:r>
              <a:rPr lang="it-IT" dirty="0"/>
              <a:t>: </a:t>
            </a:r>
            <a:r>
              <a:rPr lang="it-IT" dirty="0" err="1"/>
              <a:t>when</a:t>
            </a:r>
            <a:r>
              <a:rPr lang="it-IT" dirty="0"/>
              <a:t> a </a:t>
            </a:r>
            <a:r>
              <a:rPr lang="it-IT" dirty="0" err="1"/>
              <a:t>literal</a:t>
            </a:r>
            <a:r>
              <a:rPr lang="it-IT" dirty="0"/>
              <a:t> </a:t>
            </a:r>
            <a:r>
              <a:rPr lang="it-IT" dirty="0" err="1"/>
              <a:t>appears</a:t>
            </a:r>
            <a:r>
              <a:rPr lang="it-IT" dirty="0"/>
              <a:t> in the </a:t>
            </a:r>
            <a:r>
              <a:rPr lang="it-IT" dirty="0" err="1"/>
              <a:t>clause</a:t>
            </a:r>
            <a:r>
              <a:rPr lang="it-IT" dirty="0"/>
              <a:t> set </a:t>
            </a:r>
            <a:r>
              <a:rPr lang="it-IT" dirty="0" err="1"/>
              <a:t>always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form</a:t>
            </a:r>
            <a:r>
              <a:rPr lang="it-IT" dirty="0"/>
              <a:t>, </a:t>
            </a:r>
            <a:r>
              <a:rPr lang="it-IT" dirty="0" err="1"/>
              <a:t>namely</a:t>
            </a:r>
            <a:r>
              <a:rPr lang="it-IT" dirty="0"/>
              <a:t> </a:t>
            </a:r>
            <a:r>
              <a:rPr lang="it-IT" dirty="0" err="1"/>
              <a:t>natural</a:t>
            </a:r>
            <a:r>
              <a:rPr lang="it-IT" dirty="0"/>
              <a:t> or </a:t>
            </a:r>
            <a:r>
              <a:rPr lang="it-IT" dirty="0" err="1"/>
              <a:t>negated</a:t>
            </a:r>
            <a:r>
              <a:rPr lang="it-IT" dirty="0"/>
              <a:t>, put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literal</a:t>
            </a:r>
            <a:r>
              <a:rPr lang="it-IT" dirty="0"/>
              <a:t> in the </a:t>
            </a:r>
            <a:r>
              <a:rPr lang="it-IT" dirty="0" err="1"/>
              <a:t>solution</a:t>
            </a:r>
            <a:r>
              <a:rPr lang="it-IT" dirty="0"/>
              <a:t> set.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4D00986-C55A-2124-19FC-9BB3D0B8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947175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9909</TotalTime>
  <Words>1697</Words>
  <Application>Microsoft Macintosh PowerPoint</Application>
  <PresentationFormat>Widescreen</PresentationFormat>
  <Paragraphs>233</Paragraphs>
  <Slides>42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 Math</vt:lpstr>
      <vt:lpstr>Tahoma</vt:lpstr>
      <vt:lpstr>ESD_new_GP</vt:lpstr>
      <vt:lpstr>Unit 1: Logic review</vt:lpstr>
      <vt:lpstr>Propositional logic, First-Order Logic, Davis-Putnam method</vt:lpstr>
      <vt:lpstr>Agenda</vt:lpstr>
      <vt:lpstr>CPC</vt:lpstr>
      <vt:lpstr>Semantics of CPC</vt:lpstr>
      <vt:lpstr>Satisfiability</vt:lpstr>
      <vt:lpstr>Theories</vt:lpstr>
      <vt:lpstr>Derivation and inferential appartuses</vt:lpstr>
      <vt:lpstr>Rules and inference</vt:lpstr>
      <vt:lpstr>Derivation in logical systems</vt:lpstr>
      <vt:lpstr>Theoretical derivation</vt:lpstr>
      <vt:lpstr>Theories, derivation and sat</vt:lpstr>
      <vt:lpstr>T-sat</vt:lpstr>
      <vt:lpstr>Properties of inferential systems</vt:lpstr>
      <vt:lpstr>Prawitz’s presentation</vt:lpstr>
      <vt:lpstr>Conjunction rules</vt:lpstr>
      <vt:lpstr>Disjunction rules</vt:lpstr>
      <vt:lpstr>Implication rules</vt:lpstr>
      <vt:lpstr>Rules for "⊥"</vt:lpstr>
      <vt:lpstr>First Order Calculus (FOL)</vt:lpstr>
      <vt:lpstr>Terms</vt:lpstr>
      <vt:lpstr>WFF</vt:lpstr>
      <vt:lpstr>Closed vs open</vt:lpstr>
      <vt:lpstr>Identity</vt:lpstr>
      <vt:lpstr>Interpretation of FOL: structures</vt:lpstr>
      <vt:lpstr>FOL semantics: formulae</vt:lpstr>
      <vt:lpstr>Interpretation and assignement</vt:lpstr>
      <vt:lpstr>Ground sat closed and ∆-sat formulae</vt:lpstr>
      <vt:lpstr>Closed quantified formulae</vt:lpstr>
      <vt:lpstr>Rules for universal quantifier</vt:lpstr>
      <vt:lpstr>Rules for existential quantifier</vt:lpstr>
      <vt:lpstr>Computational problems</vt:lpstr>
      <vt:lpstr>Computational problems</vt:lpstr>
      <vt:lpstr>Resolution</vt:lpstr>
      <vt:lpstr>Prenex (clausal) normal form</vt:lpstr>
      <vt:lpstr>Davis-Putnam</vt:lpstr>
      <vt:lpstr>Concept</vt:lpstr>
      <vt:lpstr>Rewriting method (1)</vt:lpstr>
      <vt:lpstr>Rewriting method (2)</vt:lpstr>
      <vt:lpstr>Rewriting method (3)</vt:lpstr>
      <vt:lpstr>RULES</vt:lpstr>
      <vt:lpstr>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Matteo Cristani</cp:lastModifiedBy>
  <cp:revision>121</cp:revision>
  <cp:lastPrinted>2023-02-23T15:19:08Z</cp:lastPrinted>
  <dcterms:created xsi:type="dcterms:W3CDTF">2023-01-30T09:37:49Z</dcterms:created>
  <dcterms:modified xsi:type="dcterms:W3CDTF">2025-08-15T08:25:22Z</dcterms:modified>
</cp:coreProperties>
</file>