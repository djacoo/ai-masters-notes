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9" r:id="rId1"/>
  </p:sldMasterIdLst>
  <p:notesMasterIdLst>
    <p:notesMasterId r:id="rId33"/>
  </p:notesMasterIdLst>
  <p:handoutMasterIdLst>
    <p:handoutMasterId r:id="rId34"/>
  </p:handoutMasterIdLst>
  <p:sldIdLst>
    <p:sldId id="257" r:id="rId2"/>
    <p:sldId id="259" r:id="rId3"/>
    <p:sldId id="260" r:id="rId4"/>
    <p:sldId id="286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4" r:id="rId15"/>
    <p:sldId id="275" r:id="rId16"/>
    <p:sldId id="276" r:id="rId17"/>
    <p:sldId id="287" r:id="rId18"/>
    <p:sldId id="270" r:id="rId19"/>
    <p:sldId id="271" r:id="rId20"/>
    <p:sldId id="272" r:id="rId21"/>
    <p:sldId id="273" r:id="rId22"/>
    <p:sldId id="288" r:id="rId23"/>
    <p:sldId id="278" r:id="rId24"/>
    <p:sldId id="277" r:id="rId25"/>
    <p:sldId id="289" r:id="rId26"/>
    <p:sldId id="279" r:id="rId27"/>
    <p:sldId id="280" r:id="rId28"/>
    <p:sldId id="282" r:id="rId29"/>
    <p:sldId id="281" r:id="rId30"/>
    <p:sldId id="283" r:id="rId31"/>
    <p:sldId id="284" r:id="rId32"/>
  </p:sldIdLst>
  <p:sldSz cx="9144000" cy="5143500" type="screen16x9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C78E2-DF3B-4DCE-83BB-1269F2F94E16}">
          <p14:sldIdLst>
            <p14:sldId id="257"/>
            <p14:sldId id="259"/>
            <p14:sldId id="260"/>
            <p14:sldId id="286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4"/>
            <p14:sldId id="275"/>
            <p14:sldId id="276"/>
            <p14:sldId id="287"/>
            <p14:sldId id="270"/>
            <p14:sldId id="271"/>
            <p14:sldId id="272"/>
            <p14:sldId id="273"/>
            <p14:sldId id="288"/>
            <p14:sldId id="278"/>
            <p14:sldId id="277"/>
            <p14:sldId id="289"/>
            <p14:sldId id="279"/>
            <p14:sldId id="280"/>
            <p14:sldId id="282"/>
            <p14:sldId id="281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efano" initials="s" lastIdx="2" clrIdx="0"/>
  <p:cmAuthor id="1" name="Matteo Cristani" initials="M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BDD6"/>
    <a:srgbClr val="800000"/>
    <a:srgbClr val="640000"/>
    <a:srgbClr val="8C3836"/>
    <a:srgbClr val="FFFF99"/>
    <a:srgbClr val="AA00AA"/>
    <a:srgbClr val="287ECB"/>
    <a:srgbClr val="F0BC51"/>
    <a:srgbClr val="D16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Stile con tema 2 - Color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ile con tema 2 - Color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Stile con tema 2 - Color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Stile con tema 2 - Color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ile con tema 2 - Color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Stile con tema 2 - Color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9" autoAdjust="0"/>
    <p:restoredTop sz="86531"/>
  </p:normalViewPr>
  <p:slideViewPr>
    <p:cSldViewPr snapToGrid="0">
      <p:cViewPr varScale="1">
        <p:scale>
          <a:sx n="141" d="100"/>
          <a:sy n="141" d="100"/>
        </p:scale>
        <p:origin x="1040" y="176"/>
      </p:cViewPr>
      <p:guideLst>
        <p:guide orient="horz" pos="1620"/>
        <p:guide pos="2880"/>
        <p:guide orient="horz" pos="16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92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84E245-B5A0-47D5-87CC-147578DADA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E7327-C872-472C-88D2-681BC8B0B8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790A485-6416-43AD-8EA8-9AB4021210E8}" type="datetimeFigureOut">
              <a:rPr lang="en-US" altLang="it-IT"/>
              <a:pPr>
                <a:defRPr/>
              </a:pPr>
              <a:t>8/15/25</a:t>
            </a:fld>
            <a:endParaRPr lang="en-US" alt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62B19-2075-46D4-90D4-88B66BAEC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0A42C-D4BA-4B57-8810-2714EF7E80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04743EB-F053-4EB0-B667-D66F0FE415E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244690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1CFC63-76EE-4C9F-A897-82314CDCE8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9A7D3CE-DD5A-4884-90F5-F968DA0A72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4804E0D8-8B5E-4615-B9C4-D99DA5FC31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926CD4B-EA52-4A35-ACD1-53E31ED8E8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34C6D3B-D2DB-4D5F-B47B-BAC5A6830E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A0687926-11A6-4219-AC1F-0E059A65D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5E51E3-9A27-4F9D-92A0-CC2B6D7DC9D8}" type="slidenum">
              <a:rPr lang="nl-NL" altLang="it-IT"/>
              <a:pPr>
                <a:defRPr/>
              </a:pPr>
              <a:t>‹N›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3938765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8F5CD9-6EAF-4B8B-9A4D-446D9D8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5EC06-D9EF-421D-B636-55F4AACA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ED50A0-78C5-42A3-8B38-E1A9DBE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E87F2A-AB2C-4D87-BCA6-9B3A24192F3A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103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F3F9C-540B-468D-B525-7A1FFFBD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495550" cy="274637"/>
          </a:xfrm>
        </p:spPr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C2101-7C3D-43D9-B409-B7ABFD75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1E8D0-7250-4243-89B8-07E48DFA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858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small" baseline="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FC1CC5-72B4-4175-96AC-0AAB76C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2EC85-D444-4CAE-8A7C-2318EEC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C0FDD-1C9E-4F9B-802B-D0D0B25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A0980B-2DE9-40AD-8A4E-40673DB95E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898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DFE60E-FCA5-4468-A238-A20DBCFC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C1C83E-6933-48CB-81DB-2D6C24A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80F37-86A5-4A66-88A3-29B44267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396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22FEF5-9EB2-453F-A5FE-EAB3C53E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A33CE7-8F18-4DB0-B6A3-7B697BF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4923DE-6083-4153-995D-8F0374F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30E12C-3274-4FAB-BA9C-E68E77B0C14D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85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01FED8-2700-48C7-87EB-F70A6817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9426F0B-8BC6-4ADE-A8A8-5385F517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582239-C1BB-485A-9FEE-F41A21A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DF7909B-0F24-4DCB-B54E-6ED0CFB1C01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182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FE9452-6A85-432A-9499-56CE62A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0F88F0-4AAD-4067-8504-06A96A4C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A01D4-5A85-4F93-84CF-2B84CC80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D64222-F0E5-4BFA-B141-DC6F71D6256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666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507EE9-0CDC-4148-8A28-DB77BBCD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22D2B5-089D-434E-80AE-5C832BCC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2FBC73-D206-45C1-96E4-53614CD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6B2D-B94D-4307-9644-89F667858B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996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E7B81-0415-45FD-AB81-D333AF2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77243-2F71-42BE-B622-2FC4DE67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6188A-68ED-4AC6-B692-6ABAE89F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B338B3-9BD9-4219-AABA-FCF7A675F8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81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6C99A-F6EA-44E5-B86D-8086FD21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3AB2F-0E00-4C92-A508-186E6FD6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268B54-0662-4EE2-B3E9-264D1DF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91C6E6-09D2-40BD-91F2-E474F31023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572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144EC7-064D-4629-A13E-BC17C0C7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BA2179-2FC3-4FAD-8BB0-1E9D316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A0186A-B7F0-4F3A-A07F-0F1394D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7B9D4D-E2B4-4C02-A143-BFB5949180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9109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4D53D9-0413-4E98-B30A-0911779B1C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36525"/>
            <a:ext cx="7924800" cy="0"/>
          </a:xfrm>
          <a:prstGeom prst="line">
            <a:avLst/>
          </a:prstGeom>
          <a:noFill/>
          <a:ln w="25400">
            <a:solidFill>
              <a:srgbClr val="953735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" name="Segnaposto titolo 1">
            <a:extLst>
              <a:ext uri="{FF2B5EF4-FFF2-40B4-BE49-F238E27FC236}">
                <a16:creationId xmlns:a16="http://schemas.microsoft.com/office/drawing/2014/main" id="{AA9ADE31-466F-4A6E-B2C5-67CEBCE01D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952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  <a:endParaRPr lang="en-US" altLang="it-IT"/>
          </a:p>
        </p:txBody>
      </p:sp>
      <p:sp>
        <p:nvSpPr>
          <p:cNvPr id="2052" name="Segnaposto testo 2">
            <a:extLst>
              <a:ext uri="{FF2B5EF4-FFF2-40B4-BE49-F238E27FC236}">
                <a16:creationId xmlns:a16="http://schemas.microsoft.com/office/drawing/2014/main" id="{11430D93-9A39-4E38-B62A-1CFA666B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866775"/>
            <a:ext cx="8229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  <a:endParaRPr lang="en-US" alt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9039C1-3D31-4618-812B-62486E9A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ALCQIREG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C481AF-DC48-4A15-B780-A6FE13CE1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5BA29-28F1-45BD-95D4-7D70F8E1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703C53-5324-49A8-8F9E-1D23D9472D20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43039F-1152-7640-A8B6-3592FA14B4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035975" y="18703"/>
            <a:ext cx="1108025" cy="3920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128" y="4092351"/>
            <a:ext cx="334803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3216" y="843558"/>
            <a:ext cx="7772400" cy="2088232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  <a:cs typeface="+mj-cs"/>
              </a:rPr>
              <a:t>KNOWLEDGE REPRESENTATION</a:t>
            </a:r>
            <a:endParaRPr lang="en-US" sz="3600" dirty="0">
              <a:ea typeface="+mj-ea"/>
              <a:cs typeface="+mj-cs"/>
            </a:endParaRP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41" y="3805014"/>
            <a:ext cx="10985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200818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A695A689-5F5C-804A-9943-AD4ABE49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UNIT 3.3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BC5CACE8-2E8A-0C4B-A565-46435E77B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COMPLEX DESCRIPTION LOGICS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40FDB8-1932-FA4F-B6CC-C1256E6C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73FFDE-035C-CD4A-8BA7-E5AF64FFD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DD3695-C241-8941-BE6C-216E9002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2565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9EE32871-5E2E-5945-B718-8761B502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51756108-43C8-444A-A4B2-CF597526E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Augmenting</a:t>
            </a:r>
            <a:r>
              <a:rPr lang="it-IT" dirty="0"/>
              <a:t> ALCN</a:t>
            </a:r>
          </a:p>
          <a:p>
            <a:r>
              <a:rPr lang="it-IT" dirty="0" err="1"/>
              <a:t>Extending</a:t>
            </a:r>
            <a:r>
              <a:rPr lang="it-IT" dirty="0"/>
              <a:t> concepts</a:t>
            </a:r>
          </a:p>
          <a:p>
            <a:r>
              <a:rPr lang="it-IT" dirty="0" err="1"/>
              <a:t>Extending</a:t>
            </a:r>
            <a:r>
              <a:rPr lang="it-IT" dirty="0"/>
              <a:t> </a:t>
            </a:r>
            <a:r>
              <a:rPr lang="it-IT" dirty="0" err="1"/>
              <a:t>roles</a:t>
            </a:r>
            <a:endParaRPr lang="it-IT" dirty="0"/>
          </a:p>
          <a:p>
            <a:r>
              <a:rPr lang="it-IT" dirty="0"/>
              <a:t>Concrete domains</a:t>
            </a:r>
          </a:p>
          <a:p>
            <a:r>
              <a:rPr lang="it-IT" dirty="0" err="1"/>
              <a:t>Temporal</a:t>
            </a:r>
            <a:r>
              <a:rPr lang="it-IT" dirty="0"/>
              <a:t> and </a:t>
            </a:r>
            <a:r>
              <a:rPr lang="it-IT" dirty="0" err="1"/>
              <a:t>spatial</a:t>
            </a:r>
            <a:r>
              <a:rPr lang="it-IT" dirty="0"/>
              <a:t> </a:t>
            </a:r>
            <a:r>
              <a:rPr lang="it-IT" dirty="0" err="1"/>
              <a:t>logics</a:t>
            </a:r>
            <a:endParaRPr lang="it-IT" dirty="0"/>
          </a:p>
          <a:p>
            <a:r>
              <a:rPr lang="it-IT" dirty="0" err="1"/>
              <a:t>Role</a:t>
            </a:r>
            <a:r>
              <a:rPr lang="it-IT" dirty="0"/>
              <a:t> Box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8B5D5F-C439-464C-86D4-C06B3EF5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C7A03B-A363-0F4A-86B0-9D014E19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1C84454-63E0-2F43-A911-596ACBD3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A0980B-2DE9-40AD-8A4E-40673DB95E95}" type="slidenum">
              <a:rPr lang="it-IT" altLang="it-IT" smtClean="0"/>
              <a:pPr>
                <a:defRPr/>
              </a:pPr>
              <a:t>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91273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4DF06945-E4A6-DD86-875B-64FC9EFF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Augmenting</a:t>
            </a:r>
            <a:r>
              <a:rPr lang="it-IT" dirty="0"/>
              <a:t> ALCN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C5F1BEF6-0533-2094-53B6-D9F3A4462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7B31E7-18DB-ADDB-3B03-F48790D4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7CCF89-529F-FE09-1837-A7D2586AC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5B1E93-8A1C-F412-D8DB-D09603D4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2785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FAD954-5D1E-4040-B0CA-7239A095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CONCEPT EXTENSIONS FOR ALCN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925383-7541-9F4A-B003-E9AD3771A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Qualified</a:t>
            </a:r>
            <a:r>
              <a:rPr lang="it-IT" dirty="0"/>
              <a:t> </a:t>
            </a:r>
            <a:r>
              <a:rPr lang="it-IT" dirty="0" err="1"/>
              <a:t>numerals</a:t>
            </a:r>
            <a:r>
              <a:rPr lang="it-IT" dirty="0"/>
              <a:t> (</a:t>
            </a:r>
            <a:r>
              <a:rPr lang="it-IT" dirty="0" err="1"/>
              <a:t>Q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≥</a:t>
            </a:r>
            <a:r>
              <a:rPr lang="it-IT" dirty="0" err="1"/>
              <a:t>nQ.C</a:t>
            </a:r>
            <a:endParaRPr lang="it-IT" dirty="0"/>
          </a:p>
          <a:p>
            <a:pPr lvl="1"/>
            <a:r>
              <a:rPr lang="it-IT" dirty="0"/>
              <a:t>≤</a:t>
            </a:r>
            <a:r>
              <a:rPr lang="it-IT" dirty="0" err="1"/>
              <a:t>nQ.C</a:t>
            </a:r>
            <a:endParaRPr lang="it-IT" dirty="0"/>
          </a:p>
          <a:p>
            <a:r>
              <a:rPr lang="it-IT" dirty="0" err="1"/>
              <a:t>Nominals</a:t>
            </a:r>
            <a:r>
              <a:rPr lang="it-IT" dirty="0"/>
              <a:t> (O)</a:t>
            </a:r>
          </a:p>
          <a:p>
            <a:pPr lvl="1"/>
            <a:r>
              <a:rPr lang="it-IT" dirty="0"/>
              <a:t>{a</a:t>
            </a:r>
            <a:r>
              <a:rPr lang="it-IT" baseline="-25000" dirty="0"/>
              <a:t>1</a:t>
            </a:r>
            <a:r>
              <a:rPr lang="it-IT" dirty="0"/>
              <a:t>,a</a:t>
            </a:r>
            <a:r>
              <a:rPr lang="it-IT" baseline="-25000" dirty="0"/>
              <a:t>2</a:t>
            </a:r>
            <a:r>
              <a:rPr lang="it-IT" dirty="0"/>
              <a:t>…a</a:t>
            </a:r>
            <a:r>
              <a:rPr lang="it-IT" baseline="-25000" dirty="0"/>
              <a:t>n</a:t>
            </a:r>
            <a:r>
              <a:rPr lang="it-IT" dirty="0"/>
              <a:t>}</a:t>
            </a:r>
          </a:p>
          <a:p>
            <a:pPr lvl="1"/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25D79D-C683-9945-ABB2-A0084464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E1527F-D4F1-2946-A65D-177371C4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535731-60C7-3C45-A5E6-59123BDE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98235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AB49A6-D905-2344-BD0D-98198278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QUALIFIED NUMBER RESTRICTIONS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4F2D55-BFBB-474F-962C-56170CBB8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QNR and </a:t>
            </a:r>
            <a:r>
              <a:rPr lang="it-IT" dirty="0" err="1"/>
              <a:t>Nominals</a:t>
            </a:r>
            <a:r>
              <a:rPr lang="it-IT" dirty="0"/>
              <a:t> </a:t>
            </a:r>
            <a:r>
              <a:rPr lang="it-IT" dirty="0" err="1"/>
              <a:t>preserve</a:t>
            </a:r>
            <a:r>
              <a:rPr lang="it-IT" dirty="0"/>
              <a:t> </a:t>
            </a:r>
            <a:r>
              <a:rPr lang="it-IT" dirty="0" err="1"/>
              <a:t>beyond</a:t>
            </a:r>
            <a:r>
              <a:rPr lang="it-IT" dirty="0"/>
              <a:t> ALC the Finite Model </a:t>
            </a:r>
            <a:r>
              <a:rPr lang="it-IT" dirty="0" err="1"/>
              <a:t>Property</a:t>
            </a:r>
            <a:r>
              <a:rPr lang="it-IT" dirty="0"/>
              <a:t> and can </a:t>
            </a:r>
            <a:r>
              <a:rPr lang="it-IT" dirty="0" err="1"/>
              <a:t>therefore</a:t>
            </a:r>
            <a:r>
              <a:rPr lang="it-IT" dirty="0"/>
              <a:t> be </a:t>
            </a:r>
            <a:r>
              <a:rPr lang="it-IT" dirty="0" err="1"/>
              <a:t>used</a:t>
            </a:r>
            <a:r>
              <a:rPr lang="it-IT" dirty="0"/>
              <a:t> in an </a:t>
            </a:r>
            <a:r>
              <a:rPr lang="it-IT" dirty="0" err="1"/>
              <a:t>extended</a:t>
            </a:r>
            <a:r>
              <a:rPr lang="it-IT" dirty="0"/>
              <a:t> Tableau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2363F2-5CD6-7549-8E54-8DAD6F83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C9A151-A987-4E4A-8C3A-D908F6EA7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7F05DB-911C-244F-A0EE-36569F20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05152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3BA210-BE56-E94C-B6A8-0D7B84510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TABLEAU FOR </a:t>
            </a:r>
            <a:r>
              <a:rPr lang="it-IT" dirty="0" err="1"/>
              <a:t>Q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2CB30F-3219-B049-A22F-B4A5273C2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Same</a:t>
            </a:r>
            <a:r>
              <a:rPr lang="it-IT" dirty="0"/>
              <a:t> set of rules plus </a:t>
            </a:r>
            <a:r>
              <a:rPr lang="it-IT" dirty="0" err="1"/>
              <a:t>nondeterminism</a:t>
            </a:r>
            <a:endParaRPr lang="it-IT" dirty="0"/>
          </a:p>
          <a:p>
            <a:r>
              <a:rPr lang="it-IT" dirty="0" err="1"/>
              <a:t>Trivial</a:t>
            </a:r>
            <a:r>
              <a:rPr lang="it-IT" dirty="0"/>
              <a:t> extensions do </a:t>
            </a:r>
            <a:r>
              <a:rPr lang="it-IT" dirty="0" err="1"/>
              <a:t>not</a:t>
            </a:r>
            <a:r>
              <a:rPr lang="it-IT" dirty="0"/>
              <a:t> work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996C84-37AE-E94D-BA85-99EFCAA33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F8EA3C-7237-6245-AB86-BEA93861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21FDA8-5A21-5C4E-8B71-E17A42679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65976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07C6BD-7839-6944-94DD-74D6B0CB9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TRIVIAL EXTENSION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092F73-01E8-394E-9240-C4C8C6A5C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If</a:t>
            </a:r>
            <a:r>
              <a:rPr lang="it-IT" sz="2400" dirty="0"/>
              <a:t> ≥</a:t>
            </a:r>
            <a:r>
              <a:rPr lang="it-IT" sz="2400" dirty="0" err="1"/>
              <a:t>nQ.C</a:t>
            </a:r>
            <a:r>
              <a:rPr lang="it-IT" sz="2400" dirty="0"/>
              <a:t>(x) in A, </a:t>
            </a:r>
            <a:r>
              <a:rPr lang="it-IT" sz="2400" dirty="0" err="1"/>
              <a:t>then</a:t>
            </a:r>
            <a:r>
              <a:rPr lang="it-IT" sz="2400" dirty="0"/>
              <a:t> compute A’ with </a:t>
            </a:r>
            <a:r>
              <a:rPr lang="it-IT" sz="2400" dirty="0" err="1"/>
              <a:t>n</a:t>
            </a:r>
            <a:r>
              <a:rPr lang="it-IT" sz="2400" dirty="0"/>
              <a:t> (</a:t>
            </a:r>
            <a:r>
              <a:rPr lang="it-IT" sz="2400" dirty="0" err="1"/>
              <a:t>possibly</a:t>
            </a:r>
            <a:r>
              <a:rPr lang="it-IT" sz="2400" dirty="0"/>
              <a:t>) new </a:t>
            </a:r>
            <a:r>
              <a:rPr lang="it-IT" sz="2400" dirty="0" err="1"/>
              <a:t>elements</a:t>
            </a:r>
            <a:r>
              <a:rPr lang="it-IT" sz="2400" dirty="0"/>
              <a:t> y</a:t>
            </a:r>
            <a:r>
              <a:rPr lang="it-IT" sz="2400" baseline="-25000" dirty="0"/>
              <a:t>1</a:t>
            </a:r>
            <a:r>
              <a:rPr lang="it-IT" sz="2400" dirty="0"/>
              <a:t>,y</a:t>
            </a:r>
            <a:r>
              <a:rPr lang="it-IT" sz="2400" baseline="-25000" dirty="0"/>
              <a:t>2</a:t>
            </a:r>
            <a:r>
              <a:rPr lang="it-IT" sz="2400" dirty="0"/>
              <a:t>…</a:t>
            </a:r>
            <a:r>
              <a:rPr lang="it-IT" sz="2400" dirty="0" err="1"/>
              <a:t>y</a:t>
            </a:r>
            <a:r>
              <a:rPr lang="it-IT" sz="2400" baseline="-25000" dirty="0" err="1"/>
              <a:t>n</a:t>
            </a:r>
            <a:r>
              <a:rPr lang="it-IT" sz="2400" dirty="0"/>
              <a:t> so </a:t>
            </a:r>
            <a:r>
              <a:rPr lang="it-IT" sz="2400" dirty="0" err="1"/>
              <a:t>Q</a:t>
            </a:r>
            <a:r>
              <a:rPr lang="it-IT" sz="2400" dirty="0"/>
              <a:t>(</a:t>
            </a:r>
            <a:r>
              <a:rPr lang="it-IT" sz="2400" dirty="0" err="1"/>
              <a:t>x,y</a:t>
            </a:r>
            <a:r>
              <a:rPr lang="it-IT" sz="2400" baseline="-25000" dirty="0" err="1"/>
              <a:t>i</a:t>
            </a:r>
            <a:r>
              <a:rPr lang="it-IT" sz="2400" dirty="0"/>
              <a:t>) and C(</a:t>
            </a:r>
            <a:r>
              <a:rPr lang="it-IT" sz="2400" dirty="0" err="1"/>
              <a:t>y</a:t>
            </a:r>
            <a:r>
              <a:rPr lang="it-IT" sz="2400" baseline="-25000" dirty="0" err="1"/>
              <a:t>i</a:t>
            </a:r>
            <a:r>
              <a:rPr lang="it-IT" sz="2400" dirty="0"/>
              <a:t>) for 1≤i≤n and </a:t>
            </a:r>
            <a:r>
              <a:rPr lang="it-IT" sz="2400" dirty="0" err="1"/>
              <a:t>add</a:t>
            </a:r>
            <a:r>
              <a:rPr lang="it-IT" sz="2400" dirty="0"/>
              <a:t> </a:t>
            </a:r>
            <a:r>
              <a:rPr lang="it-IT" sz="2400" dirty="0" err="1"/>
              <a:t>needed</a:t>
            </a:r>
            <a:r>
              <a:rPr lang="it-IT" sz="2400" dirty="0"/>
              <a:t> </a:t>
            </a:r>
            <a:r>
              <a:rPr lang="it-IT" sz="2400" dirty="0" err="1"/>
              <a:t>inequations</a:t>
            </a:r>
            <a:r>
              <a:rPr lang="it-IT" sz="2400" dirty="0"/>
              <a:t> for </a:t>
            </a:r>
            <a:r>
              <a:rPr lang="it-IT" sz="2400" dirty="0" err="1"/>
              <a:t>n</a:t>
            </a:r>
            <a:r>
              <a:rPr lang="it-IT" sz="2400" dirty="0"/>
              <a:t> to be </a:t>
            </a:r>
            <a:r>
              <a:rPr lang="it-IT" sz="2400" dirty="0" err="1"/>
              <a:t>effective</a:t>
            </a:r>
            <a:r>
              <a:rPr lang="it-IT" sz="2400" dirty="0"/>
              <a:t> on A’</a:t>
            </a:r>
          </a:p>
          <a:p>
            <a:endParaRPr lang="it-IT" sz="2400" baseline="-25000" dirty="0"/>
          </a:p>
          <a:p>
            <a:r>
              <a:rPr lang="it-IT" sz="2400" dirty="0" err="1"/>
              <a:t>If</a:t>
            </a:r>
            <a:r>
              <a:rPr lang="it-IT" sz="2400" dirty="0"/>
              <a:t> ≤</a:t>
            </a:r>
            <a:r>
              <a:rPr lang="it-IT" sz="2400" dirty="0" err="1"/>
              <a:t>nQ.C</a:t>
            </a:r>
            <a:r>
              <a:rPr lang="it-IT" sz="2400" dirty="0"/>
              <a:t>(x) in A, </a:t>
            </a:r>
            <a:r>
              <a:rPr lang="it-IT" sz="2400" dirty="0" err="1"/>
              <a:t>then</a:t>
            </a:r>
            <a:r>
              <a:rPr lang="it-IT" sz="2400" dirty="0"/>
              <a:t> compute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many</a:t>
            </a:r>
            <a:r>
              <a:rPr lang="it-IT" sz="2400" dirty="0"/>
              <a:t> new A-boxes with </a:t>
            </a:r>
            <a:r>
              <a:rPr lang="it-IT" sz="2400" dirty="0" err="1"/>
              <a:t>n</a:t>
            </a:r>
            <a:r>
              <a:rPr lang="it-IT" sz="2400" dirty="0"/>
              <a:t> new </a:t>
            </a:r>
            <a:r>
              <a:rPr lang="it-IT" sz="2400" dirty="0" err="1"/>
              <a:t>elements</a:t>
            </a:r>
            <a:r>
              <a:rPr lang="it-IT" sz="2400" dirty="0"/>
              <a:t> y</a:t>
            </a:r>
            <a:r>
              <a:rPr lang="it-IT" sz="2400" baseline="-25000" dirty="0"/>
              <a:t>1</a:t>
            </a:r>
            <a:r>
              <a:rPr lang="it-IT" sz="2400" dirty="0"/>
              <a:t>,y</a:t>
            </a:r>
            <a:r>
              <a:rPr lang="it-IT" sz="2400" baseline="-25000" dirty="0"/>
              <a:t>2</a:t>
            </a:r>
            <a:r>
              <a:rPr lang="it-IT" sz="2400" dirty="0"/>
              <a:t>…</a:t>
            </a:r>
            <a:r>
              <a:rPr lang="it-IT" sz="2400" dirty="0" err="1"/>
              <a:t>y</a:t>
            </a:r>
            <a:r>
              <a:rPr lang="it-IT" sz="2400" baseline="-25000" dirty="0" err="1"/>
              <a:t>n</a:t>
            </a:r>
            <a:r>
              <a:rPr lang="it-IT" sz="2400" dirty="0"/>
              <a:t> with </a:t>
            </a:r>
            <a:r>
              <a:rPr lang="it-IT" sz="2400" dirty="0" err="1"/>
              <a:t>Q</a:t>
            </a:r>
            <a:r>
              <a:rPr lang="it-IT" sz="2400" dirty="0"/>
              <a:t>(</a:t>
            </a:r>
            <a:r>
              <a:rPr lang="it-IT" sz="2400" dirty="0" err="1"/>
              <a:t>x,y</a:t>
            </a:r>
            <a:r>
              <a:rPr lang="it-IT" sz="2400" baseline="-25000" dirty="0" err="1"/>
              <a:t>i</a:t>
            </a:r>
            <a:r>
              <a:rPr lang="it-IT" sz="2400" dirty="0"/>
              <a:t>) and C(</a:t>
            </a:r>
            <a:r>
              <a:rPr lang="it-IT" sz="2400" dirty="0" err="1"/>
              <a:t>y</a:t>
            </a:r>
            <a:r>
              <a:rPr lang="it-IT" sz="2400" baseline="-25000" dirty="0" err="1"/>
              <a:t>i</a:t>
            </a:r>
            <a:r>
              <a:rPr lang="it-IT" sz="2400" dirty="0"/>
              <a:t>) for 1≤i≤n </a:t>
            </a:r>
            <a:r>
              <a:rPr lang="it-IT" sz="2400" dirty="0" err="1"/>
              <a:t>each</a:t>
            </a:r>
            <a:r>
              <a:rPr lang="it-IT" sz="2400" dirty="0"/>
              <a:t> </a:t>
            </a:r>
            <a:r>
              <a:rPr lang="it-IT" sz="2400" dirty="0" err="1"/>
              <a:t>add</a:t>
            </a:r>
            <a:r>
              <a:rPr lang="it-IT" sz="2400" dirty="0"/>
              <a:t> </a:t>
            </a:r>
            <a:r>
              <a:rPr lang="it-IT" sz="2400" dirty="0" err="1"/>
              <a:t>needed</a:t>
            </a:r>
            <a:r>
              <a:rPr lang="it-IT" sz="2400" dirty="0"/>
              <a:t> </a:t>
            </a:r>
            <a:r>
              <a:rPr lang="it-IT" sz="2400" dirty="0" err="1"/>
              <a:t>inequations</a:t>
            </a:r>
            <a:r>
              <a:rPr lang="it-IT" sz="2400" dirty="0"/>
              <a:t> for </a:t>
            </a:r>
            <a:r>
              <a:rPr lang="it-IT" sz="2400" dirty="0" err="1"/>
              <a:t>n</a:t>
            </a:r>
            <a:r>
              <a:rPr lang="it-IT" sz="2400" dirty="0"/>
              <a:t> to be </a:t>
            </a:r>
            <a:r>
              <a:rPr lang="it-IT" sz="2400" dirty="0" err="1"/>
              <a:t>effective</a:t>
            </a:r>
            <a:r>
              <a:rPr lang="it-IT" sz="2400" dirty="0"/>
              <a:t> on </a:t>
            </a:r>
            <a:r>
              <a:rPr lang="it-IT" sz="2400" dirty="0" err="1"/>
              <a:t>any</a:t>
            </a:r>
            <a:r>
              <a:rPr lang="it-IT" sz="2400" dirty="0"/>
              <a:t> new a-box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CE8F9E-A6EE-8240-B3E5-AB4D672F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38EC5C-4637-3D4C-8DB3-A33EA8127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1B3F22-DAA7-0449-AF9B-140EF03D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9615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14AB47-16DC-DE4E-AF68-6C025D17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EXTENSION PROBLEMS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9D5803-18D9-1C40-B531-5C936A81A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9035"/>
            <a:ext cx="8229600" cy="504825"/>
          </a:xfrm>
        </p:spPr>
        <p:txBody>
          <a:bodyPr/>
          <a:lstStyle/>
          <a:p>
            <a:r>
              <a:rPr lang="it-IT" sz="2000" dirty="0"/>
              <a:t>(≥3has-child.Human) ⊓ (≤1has-child.Female) ⊓ (≤1has-child.¬Female) </a:t>
            </a:r>
          </a:p>
          <a:p>
            <a:endParaRPr lang="it-IT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358D9C-6D2F-E948-9697-C065EE0D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CDD461-1DD0-9D40-A77A-00B14E85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FA2968-F04D-EB49-B271-57ECD9F99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9</a:t>
            </a:fld>
            <a:endParaRPr lang="it-IT" alt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B663B9A-6E0B-244E-9F70-74C1128B3517}"/>
              </a:ext>
            </a:extLst>
          </p:cNvPr>
          <p:cNvSpPr/>
          <p:nvPr/>
        </p:nvSpPr>
        <p:spPr>
          <a:xfrm>
            <a:off x="395737" y="2350519"/>
            <a:ext cx="2435165" cy="10932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(≥3has-child.Human)(x)</a:t>
            </a:r>
          </a:p>
          <a:p>
            <a:pPr algn="ctr"/>
            <a:r>
              <a:rPr lang="it-IT" sz="1600" dirty="0"/>
              <a:t>(≤1has-child.Female)(x)</a:t>
            </a:r>
          </a:p>
          <a:p>
            <a:pPr algn="ctr"/>
            <a:r>
              <a:rPr lang="it-IT" sz="1600" dirty="0"/>
              <a:t>(≤1has-child. ¬</a:t>
            </a:r>
            <a:r>
              <a:rPr lang="it-IT" sz="1600" dirty="0" err="1"/>
              <a:t>Female</a:t>
            </a:r>
            <a:r>
              <a:rPr lang="it-IT" sz="1600" dirty="0"/>
              <a:t>)(x)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39A93CF-EB6D-0348-98CC-299FD8FE9FE8}"/>
              </a:ext>
            </a:extLst>
          </p:cNvPr>
          <p:cNvSpPr/>
          <p:nvPr/>
        </p:nvSpPr>
        <p:spPr>
          <a:xfrm>
            <a:off x="3286665" y="1320920"/>
            <a:ext cx="5381448" cy="9079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dirty="0" err="1"/>
              <a:t>has-child</a:t>
            </a:r>
            <a:r>
              <a:rPr lang="it-IT" sz="1400" dirty="0"/>
              <a:t>(x,y1)	Human(y1)	y1≠y2	</a:t>
            </a:r>
            <a:r>
              <a:rPr lang="it-IT" sz="1400" dirty="0" err="1"/>
              <a:t>Female</a:t>
            </a:r>
            <a:r>
              <a:rPr lang="it-IT" sz="1400" dirty="0"/>
              <a:t>(y1)</a:t>
            </a:r>
          </a:p>
          <a:p>
            <a:r>
              <a:rPr lang="it-IT" sz="1400" dirty="0" err="1"/>
              <a:t>has-child</a:t>
            </a:r>
            <a:r>
              <a:rPr lang="it-IT" sz="1400" dirty="0"/>
              <a:t>(x,y2)	Human(y2)	y1≠y3	¬</a:t>
            </a:r>
            <a:r>
              <a:rPr lang="it-IT" sz="1400" dirty="0" err="1"/>
              <a:t>Female</a:t>
            </a:r>
            <a:r>
              <a:rPr lang="it-IT" sz="1400" dirty="0"/>
              <a:t>(y2)</a:t>
            </a:r>
          </a:p>
          <a:p>
            <a:r>
              <a:rPr lang="it-IT" sz="1400" dirty="0" err="1"/>
              <a:t>has-child</a:t>
            </a:r>
            <a:r>
              <a:rPr lang="it-IT" sz="1400" dirty="0"/>
              <a:t>(x,y3)	Human(y3) 	y2≠y3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604A06A-DAA2-9F40-8EFF-8DA664FBDDEE}"/>
              </a:ext>
            </a:extLst>
          </p:cNvPr>
          <p:cNvSpPr/>
          <p:nvPr/>
        </p:nvSpPr>
        <p:spPr>
          <a:xfrm>
            <a:off x="3286664" y="2443163"/>
            <a:ext cx="5381448" cy="9079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dirty="0" err="1"/>
              <a:t>has-child</a:t>
            </a:r>
            <a:r>
              <a:rPr lang="it-IT" sz="1400" dirty="0"/>
              <a:t>(x,y1)	Human(y1)	y1≠y2	</a:t>
            </a:r>
            <a:r>
              <a:rPr lang="it-IT" sz="1400" dirty="0" err="1"/>
              <a:t>Female</a:t>
            </a:r>
            <a:r>
              <a:rPr lang="it-IT" sz="1400" dirty="0"/>
              <a:t>(y1)</a:t>
            </a:r>
          </a:p>
          <a:p>
            <a:r>
              <a:rPr lang="it-IT" sz="1400" dirty="0" err="1"/>
              <a:t>has-child</a:t>
            </a:r>
            <a:r>
              <a:rPr lang="it-IT" sz="1400" dirty="0"/>
              <a:t>(x,y2)	Human(y2)	y1≠y3	¬</a:t>
            </a:r>
            <a:r>
              <a:rPr lang="it-IT" sz="1400" dirty="0" err="1"/>
              <a:t>Female</a:t>
            </a:r>
            <a:r>
              <a:rPr lang="it-IT" sz="1400" dirty="0"/>
              <a:t>(y3)</a:t>
            </a:r>
          </a:p>
          <a:p>
            <a:r>
              <a:rPr lang="it-IT" sz="1400" dirty="0" err="1"/>
              <a:t>has-child</a:t>
            </a:r>
            <a:r>
              <a:rPr lang="it-IT" sz="1400" dirty="0"/>
              <a:t>(x,y3)	Human(y3) 	y2≠y3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86D14EB-94C3-B34C-AC15-71BE3F992E53}"/>
              </a:ext>
            </a:extLst>
          </p:cNvPr>
          <p:cNvSpPr/>
          <p:nvPr/>
        </p:nvSpPr>
        <p:spPr>
          <a:xfrm>
            <a:off x="3286664" y="3605213"/>
            <a:ext cx="5381448" cy="9079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dirty="0" err="1"/>
              <a:t>has-child</a:t>
            </a:r>
            <a:r>
              <a:rPr lang="it-IT" sz="1400" dirty="0"/>
              <a:t>(x,y1)	Human(y1)	y1≠y2	</a:t>
            </a:r>
            <a:r>
              <a:rPr lang="it-IT" sz="1400" dirty="0" err="1"/>
              <a:t>Female</a:t>
            </a:r>
            <a:r>
              <a:rPr lang="it-IT" sz="1400" dirty="0"/>
              <a:t>(y2)</a:t>
            </a:r>
          </a:p>
          <a:p>
            <a:r>
              <a:rPr lang="it-IT" sz="1400" dirty="0" err="1"/>
              <a:t>has-child</a:t>
            </a:r>
            <a:r>
              <a:rPr lang="it-IT" sz="1400" dirty="0"/>
              <a:t>(x,y2)	Human(y2)	y1≠y3	¬</a:t>
            </a:r>
            <a:r>
              <a:rPr lang="it-IT" sz="1400" dirty="0" err="1"/>
              <a:t>Female</a:t>
            </a:r>
            <a:r>
              <a:rPr lang="it-IT" sz="1400" dirty="0"/>
              <a:t>(y3)</a:t>
            </a:r>
          </a:p>
          <a:p>
            <a:r>
              <a:rPr lang="it-IT" sz="1400" dirty="0" err="1"/>
              <a:t>has-child</a:t>
            </a:r>
            <a:r>
              <a:rPr lang="it-IT" sz="1400" dirty="0"/>
              <a:t>(x,y3)	Human(y3) 	y2≠y3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0AADECD9-A6F1-4144-B9B3-F230075D424D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2830902" y="1774885"/>
            <a:ext cx="455763" cy="1122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CD05E09-E3C4-1A49-AD94-1CF9C76B8EDE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2830902" y="2897128"/>
            <a:ext cx="4557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072E244-49CE-9F49-A733-04679C528E17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2830902" y="2897128"/>
            <a:ext cx="455762" cy="1162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156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6F64E5-61AF-D845-AC00-08AECF9D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NON DETERMINISM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9F5FFE-424B-8D45-A9F3-376077C17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For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clause</a:t>
            </a:r>
            <a:r>
              <a:rPr lang="it-IT" dirty="0"/>
              <a:t> ≤</a:t>
            </a:r>
            <a:r>
              <a:rPr lang="it-IT" dirty="0" err="1"/>
              <a:t>nQ.C</a:t>
            </a:r>
            <a:r>
              <a:rPr lang="it-IT" dirty="0"/>
              <a:t> </a:t>
            </a:r>
            <a:r>
              <a:rPr lang="it-IT" dirty="0" err="1"/>
              <a:t>choose</a:t>
            </a:r>
            <a:r>
              <a:rPr lang="it-IT" dirty="0"/>
              <a:t> C(y) or ¬C(y) for </a:t>
            </a:r>
            <a:r>
              <a:rPr lang="it-IT" dirty="0" err="1"/>
              <a:t>any</a:t>
            </a:r>
            <a:r>
              <a:rPr lang="it-IT" dirty="0"/>
              <a:t> y </a:t>
            </a:r>
            <a:r>
              <a:rPr lang="it-IT" dirty="0" err="1"/>
              <a:t>Q</a:t>
            </a:r>
            <a:r>
              <a:rPr lang="it-IT" dirty="0"/>
              <a:t>-successor of x in </a:t>
            </a:r>
            <a:r>
              <a:rPr lang="it-IT" dirty="0" err="1"/>
              <a:t>any</a:t>
            </a:r>
            <a:r>
              <a:rPr lang="it-IT" dirty="0"/>
              <a:t> A-box </a:t>
            </a:r>
            <a:r>
              <a:rPr lang="it-IT" dirty="0" err="1"/>
              <a:t>built</a:t>
            </a:r>
            <a:r>
              <a:rPr lang="it-IT" dirty="0"/>
              <a:t> from the box</a:t>
            </a:r>
          </a:p>
          <a:p>
            <a:r>
              <a:rPr lang="it-IT" dirty="0"/>
              <a:t>With </a:t>
            </a:r>
            <a:r>
              <a:rPr lang="it-IT" dirty="0" err="1"/>
              <a:t>nondeterminism</a:t>
            </a:r>
            <a:r>
              <a:rPr lang="it-IT" dirty="0"/>
              <a:t> rule,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keep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internalization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00010B-3C0C-C048-960F-03D14621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9308F6-713D-A549-8C3E-086A74CE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741F9F-FE10-0643-8AEB-1242351A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2756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B64F86-36D5-E843-A5C0-B0ED681F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NOMINALS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C45154-5707-4148-A029-57BEED3AA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 err="1"/>
              <a:t>Nominals</a:t>
            </a:r>
            <a:r>
              <a:rPr lang="it-IT" sz="2800" dirty="0"/>
              <a:t> </a:t>
            </a:r>
            <a:r>
              <a:rPr lang="it-IT" sz="2800" dirty="0" err="1"/>
              <a:t>give</a:t>
            </a:r>
            <a:r>
              <a:rPr lang="it-IT" sz="2800" dirty="0"/>
              <a:t> out a </a:t>
            </a:r>
            <a:r>
              <a:rPr lang="it-IT" sz="2800" dirty="0" err="1"/>
              <a:t>different</a:t>
            </a:r>
            <a:r>
              <a:rPr lang="it-IT" sz="2800" dirty="0"/>
              <a:t> </a:t>
            </a:r>
            <a:r>
              <a:rPr lang="it-IT" sz="2800" dirty="0" err="1"/>
              <a:t>problem</a:t>
            </a:r>
            <a:r>
              <a:rPr lang="it-IT" sz="2800" dirty="0"/>
              <a:t> to Tableau</a:t>
            </a:r>
          </a:p>
          <a:p>
            <a:r>
              <a:rPr lang="it-IT" sz="2800" dirty="0"/>
              <a:t>Format of a </a:t>
            </a:r>
            <a:r>
              <a:rPr lang="it-IT" sz="2800" dirty="0" err="1"/>
              <a:t>nominal</a:t>
            </a:r>
            <a:endParaRPr lang="it-IT" sz="2800" dirty="0"/>
          </a:p>
          <a:p>
            <a:pPr lvl="1"/>
            <a:r>
              <a:rPr lang="it-IT" sz="2400" dirty="0"/>
              <a:t>{a}</a:t>
            </a:r>
          </a:p>
          <a:p>
            <a:pPr lvl="1"/>
            <a:r>
              <a:rPr lang="it-IT" sz="2400" dirty="0"/>
              <a:t>{a</a:t>
            </a:r>
            <a:r>
              <a:rPr lang="it-IT" sz="2400" baseline="-25000" dirty="0"/>
              <a:t>1</a:t>
            </a:r>
            <a:r>
              <a:rPr lang="it-IT" sz="2400" dirty="0"/>
              <a:t>,a</a:t>
            </a:r>
            <a:r>
              <a:rPr lang="it-IT" sz="2400" baseline="-25000" dirty="0"/>
              <a:t>2</a:t>
            </a:r>
            <a:r>
              <a:rPr lang="it-IT" sz="2400" dirty="0"/>
              <a:t>,…a</a:t>
            </a:r>
            <a:r>
              <a:rPr lang="it-IT" sz="2400" baseline="-25000" dirty="0"/>
              <a:t>n</a:t>
            </a:r>
            <a:r>
              <a:rPr lang="it-IT" sz="2400" dirty="0"/>
              <a:t>}</a:t>
            </a:r>
          </a:p>
          <a:p>
            <a:r>
              <a:rPr lang="it-IT" sz="2800" dirty="0" err="1"/>
              <a:t>Treating</a:t>
            </a:r>
            <a:r>
              <a:rPr lang="it-IT" sz="2800" dirty="0"/>
              <a:t>: for </a:t>
            </a:r>
            <a:r>
              <a:rPr lang="it-IT" sz="2800" dirty="0" err="1"/>
              <a:t>each</a:t>
            </a:r>
            <a:r>
              <a:rPr lang="it-IT" sz="2800" dirty="0"/>
              <a:t> </a:t>
            </a:r>
            <a:r>
              <a:rPr lang="it-IT" sz="2800" dirty="0" err="1"/>
              <a:t>element</a:t>
            </a:r>
            <a:r>
              <a:rPr lang="it-IT" sz="2800" dirty="0"/>
              <a:t> of the list </a:t>
            </a:r>
            <a:r>
              <a:rPr lang="it-IT" sz="2800" dirty="0" err="1"/>
              <a:t>we</a:t>
            </a:r>
            <a:r>
              <a:rPr lang="it-IT" sz="2800" dirty="0"/>
              <a:t> </a:t>
            </a:r>
            <a:r>
              <a:rPr lang="it-IT" sz="2800" dirty="0" err="1"/>
              <a:t>need</a:t>
            </a:r>
            <a:r>
              <a:rPr lang="it-IT" sz="2800" dirty="0"/>
              <a:t> to generate a </a:t>
            </a:r>
            <a:r>
              <a:rPr lang="it-IT" sz="2800" dirty="0" err="1"/>
              <a:t>disjunctive</a:t>
            </a:r>
            <a:r>
              <a:rPr lang="it-IT" sz="2800" dirty="0"/>
              <a:t> </a:t>
            </a:r>
            <a:r>
              <a:rPr lang="it-IT" sz="2800" dirty="0" err="1"/>
              <a:t>logic</a:t>
            </a:r>
            <a:r>
              <a:rPr lang="it-IT" sz="2800" dirty="0"/>
              <a:t> </a:t>
            </a:r>
            <a:r>
              <a:rPr lang="it-IT" sz="2800" dirty="0" err="1"/>
              <a:t>condition</a:t>
            </a:r>
            <a:r>
              <a:rPr lang="it-IT" sz="2800" dirty="0"/>
              <a:t> with a </a:t>
            </a:r>
            <a:r>
              <a:rPr lang="it-IT" sz="2800" dirty="0" err="1"/>
              <a:t>disjunct</a:t>
            </a:r>
            <a:r>
              <a:rPr lang="it-IT" sz="2800" dirty="0"/>
              <a:t> for </a:t>
            </a:r>
            <a:r>
              <a:rPr lang="it-IT" sz="2800" dirty="0" err="1"/>
              <a:t>each</a:t>
            </a:r>
            <a:r>
              <a:rPr lang="it-IT" sz="2800" dirty="0"/>
              <a:t> </a:t>
            </a:r>
            <a:r>
              <a:rPr lang="it-IT" sz="2800" dirty="0" err="1"/>
              <a:t>element</a:t>
            </a:r>
            <a:r>
              <a:rPr lang="it-IT" sz="2800" dirty="0"/>
              <a:t> of the </a:t>
            </a:r>
            <a:r>
              <a:rPr lang="it-IT" sz="2800" dirty="0" err="1"/>
              <a:t>nominal</a:t>
            </a:r>
            <a:endParaRPr lang="it-IT" sz="28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004160-4094-6D4A-BD43-FEECFD2C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32A06D-2670-F941-949B-D6FD9C76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E3355C-1998-E348-9B31-32465335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62132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7CF6B7-EE95-0A48-838C-7BC5B4F1C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NOMINAL REDUCTION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C7C960-FCAA-B343-817C-6F5B94F31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{a} </a:t>
            </a:r>
          </a:p>
          <a:p>
            <a:r>
              <a:rPr lang="it-IT" dirty="0"/>
              <a:t>The </a:t>
            </a:r>
            <a:r>
              <a:rPr lang="it-IT" dirty="0" err="1"/>
              <a:t>other</a:t>
            </a:r>
            <a:r>
              <a:rPr lang="it-IT" dirty="0"/>
              <a:t> can be </a:t>
            </a:r>
            <a:r>
              <a:rPr lang="it-IT" dirty="0" err="1"/>
              <a:t>generated</a:t>
            </a:r>
            <a:r>
              <a:rPr lang="it-IT" dirty="0"/>
              <a:t> by </a:t>
            </a:r>
            <a:r>
              <a:rPr lang="it-IT" dirty="0" err="1"/>
              <a:t>disjunction</a:t>
            </a:r>
            <a:endParaRPr lang="it-IT" dirty="0"/>
          </a:p>
          <a:p>
            <a:r>
              <a:rPr lang="it-IT" dirty="0"/>
              <a:t>To </a:t>
            </a:r>
            <a:r>
              <a:rPr lang="it-IT" dirty="0" err="1"/>
              <a:t>treat</a:t>
            </a:r>
            <a:r>
              <a:rPr lang="it-IT" dirty="0"/>
              <a:t> single </a:t>
            </a:r>
            <a:r>
              <a:rPr lang="it-IT" dirty="0" err="1"/>
              <a:t>nominal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jjust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</a:t>
            </a:r>
            <a:r>
              <a:rPr lang="it-IT" dirty="0" err="1"/>
              <a:t>equations</a:t>
            </a:r>
            <a:r>
              <a:rPr lang="it-IT" dirty="0"/>
              <a:t> x=a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1C8FFB-9CE2-FA45-BF12-D2F13B71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7CB458-4610-0B43-B917-F705E0F4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E48FE3-B7B3-9340-8892-6FAA3AE2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28203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54D805-0A0A-3C48-9A7C-840E2239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DL-SAFETY AND NOMINAL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9731FC-093C-BA4E-86A9-E28939A94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/>
              <a:t>An A-box </a:t>
            </a:r>
            <a:r>
              <a:rPr lang="it-IT" sz="2800" dirty="0" err="1"/>
              <a:t>is</a:t>
            </a:r>
            <a:r>
              <a:rPr lang="it-IT" sz="2800" dirty="0"/>
              <a:t> DL-safe </a:t>
            </a:r>
            <a:r>
              <a:rPr lang="it-IT" sz="2800" dirty="0" err="1"/>
              <a:t>wrt</a:t>
            </a:r>
            <a:r>
              <a:rPr lang="it-IT" sz="2800" dirty="0"/>
              <a:t> a finite set A of </a:t>
            </a:r>
            <a:r>
              <a:rPr lang="it-IT" sz="2800" dirty="0" err="1"/>
              <a:t>values</a:t>
            </a:r>
            <a:r>
              <a:rPr lang="it-IT" sz="2800" dirty="0"/>
              <a:t> </a:t>
            </a:r>
            <a:r>
              <a:rPr lang="it-IT" sz="2800" dirty="0" err="1"/>
              <a:t>iff</a:t>
            </a:r>
            <a:r>
              <a:rPr lang="it-IT" sz="2800" dirty="0"/>
              <a:t>  </a:t>
            </a:r>
            <a:r>
              <a:rPr lang="it-IT" sz="2800" dirty="0" err="1"/>
              <a:t>all</a:t>
            </a:r>
            <a:r>
              <a:rPr lang="it-IT" sz="2800" dirty="0"/>
              <a:t> </a:t>
            </a:r>
            <a:r>
              <a:rPr lang="it-IT" sz="2800" dirty="0" err="1"/>
              <a:t>variables</a:t>
            </a:r>
            <a:r>
              <a:rPr lang="it-IT" sz="2800" dirty="0"/>
              <a:t> can be </a:t>
            </a:r>
            <a:r>
              <a:rPr lang="it-IT" sz="2800" dirty="0" err="1"/>
              <a:t>valued</a:t>
            </a:r>
            <a:r>
              <a:rPr lang="it-IT" sz="2800" dirty="0"/>
              <a:t> in A</a:t>
            </a:r>
          </a:p>
          <a:p>
            <a:r>
              <a:rPr lang="it-IT" sz="2800" dirty="0" err="1"/>
              <a:t>We</a:t>
            </a:r>
            <a:r>
              <a:rPr lang="it-IT" sz="2800" dirty="0"/>
              <a:t> can </a:t>
            </a:r>
            <a:r>
              <a:rPr lang="it-IT" sz="2800" dirty="0" err="1"/>
              <a:t>simply</a:t>
            </a:r>
            <a:r>
              <a:rPr lang="it-IT" sz="2800" dirty="0"/>
              <a:t> operate the </a:t>
            </a:r>
            <a:r>
              <a:rPr lang="it-IT" sz="2800" dirty="0" err="1"/>
              <a:t>approach</a:t>
            </a:r>
            <a:r>
              <a:rPr lang="it-IT" sz="2800" dirty="0"/>
              <a:t> of </a:t>
            </a:r>
            <a:r>
              <a:rPr lang="it-IT" sz="2800" dirty="0" err="1"/>
              <a:t>rewriting</a:t>
            </a:r>
            <a:r>
              <a:rPr lang="it-IT" sz="2800" dirty="0"/>
              <a:t> </a:t>
            </a:r>
            <a:r>
              <a:rPr lang="it-IT" sz="2800" dirty="0" err="1"/>
              <a:t>each</a:t>
            </a:r>
            <a:r>
              <a:rPr lang="it-IT" sz="2800" dirty="0"/>
              <a:t> A-box by </a:t>
            </a:r>
            <a:r>
              <a:rPr lang="it-IT" sz="2800" dirty="0" err="1"/>
              <a:t>means</a:t>
            </a:r>
            <a:r>
              <a:rPr lang="it-IT" sz="2800" dirty="0"/>
              <a:t> of the set of </a:t>
            </a:r>
            <a:r>
              <a:rPr lang="it-IT" sz="2800" dirty="0" err="1"/>
              <a:t>values</a:t>
            </a:r>
            <a:r>
              <a:rPr lang="it-IT" sz="2800" dirty="0"/>
              <a:t> </a:t>
            </a:r>
            <a:r>
              <a:rPr lang="it-IT" sz="2800" dirty="0" err="1"/>
              <a:t>appearing</a:t>
            </a:r>
            <a:r>
              <a:rPr lang="it-IT" sz="2800" dirty="0"/>
              <a:t> in the </a:t>
            </a:r>
            <a:r>
              <a:rPr lang="it-IT" sz="2800" dirty="0" err="1"/>
              <a:t>Herbrand</a:t>
            </a:r>
            <a:r>
              <a:rPr lang="it-IT" sz="2800" dirty="0"/>
              <a:t> </a:t>
            </a:r>
            <a:r>
              <a:rPr lang="it-IT" sz="2800" dirty="0" err="1"/>
              <a:t>universe</a:t>
            </a:r>
            <a:endParaRPr lang="it-IT" sz="2800" dirty="0"/>
          </a:p>
          <a:p>
            <a:pPr lvl="1"/>
            <a:r>
              <a:rPr lang="it-IT" sz="2400" dirty="0"/>
              <a:t>ALCO </a:t>
            </a:r>
            <a:r>
              <a:rPr lang="it-IT" sz="2400" dirty="0">
                <a:sym typeface="Wingdings" pitchFamily="2" charset="2"/>
              </a:rPr>
              <a:t> ALCOV</a:t>
            </a:r>
            <a:endParaRPr lang="it-IT" sz="24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40D889-4FDD-2C4A-8869-FCBB7773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105E85-097E-6E45-86FD-920542BE7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C637B4-7908-984E-A16E-0A48E22F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33509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85ACEC-460B-A94D-953C-183764C5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INTERNALIZING NOMINAL SCHEMATA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B48282-C6C9-B24A-8940-1B665C66B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Usually</a:t>
            </a:r>
            <a:r>
              <a:rPr lang="it-IT" dirty="0"/>
              <a:t> </a:t>
            </a:r>
            <a:r>
              <a:rPr lang="it-IT" dirty="0" err="1"/>
              <a:t>nominals</a:t>
            </a:r>
            <a:r>
              <a:rPr lang="it-IT" dirty="0"/>
              <a:t> (</a:t>
            </a:r>
            <a:r>
              <a:rPr lang="it-IT" dirty="0" err="1"/>
              <a:t>including</a:t>
            </a:r>
            <a:r>
              <a:rPr lang="it-IT" dirty="0"/>
              <a:t> the fillers, to be </a:t>
            </a:r>
            <a:r>
              <a:rPr lang="it-IT" dirty="0" err="1"/>
              <a:t>introduced</a:t>
            </a:r>
            <a:r>
              <a:rPr lang="it-IT" dirty="0"/>
              <a:t>)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require</a:t>
            </a:r>
            <a:r>
              <a:rPr lang="it-IT" dirty="0"/>
              <a:t> </a:t>
            </a:r>
            <a:r>
              <a:rPr lang="it-IT" dirty="0" err="1"/>
              <a:t>blocking</a:t>
            </a:r>
            <a:r>
              <a:rPr lang="it-IT" dirty="0"/>
              <a:t> rules</a:t>
            </a:r>
          </a:p>
          <a:p>
            <a:r>
              <a:rPr lang="it-IT" dirty="0" err="1"/>
              <a:t>However</a:t>
            </a:r>
            <a:r>
              <a:rPr lang="it-IT" dirty="0"/>
              <a:t>, </a:t>
            </a:r>
            <a:r>
              <a:rPr lang="it-IT" dirty="0" err="1"/>
              <a:t>nominals</a:t>
            </a:r>
            <a:r>
              <a:rPr lang="it-IT" dirty="0"/>
              <a:t> (and fillers) </a:t>
            </a:r>
            <a:r>
              <a:rPr lang="it-IT" dirty="0" err="1"/>
              <a:t>combinatorically</a:t>
            </a:r>
            <a:r>
              <a:rPr lang="it-IT" dirty="0"/>
              <a:t> </a:t>
            </a:r>
            <a:r>
              <a:rPr lang="it-IT" dirty="0" err="1"/>
              <a:t>interfer</a:t>
            </a:r>
            <a:r>
              <a:rPr lang="it-IT" dirty="0"/>
              <a:t> with </a:t>
            </a:r>
            <a:r>
              <a:rPr lang="it-IT" dirty="0" err="1"/>
              <a:t>qualified</a:t>
            </a:r>
            <a:r>
              <a:rPr lang="it-IT" dirty="0"/>
              <a:t> </a:t>
            </a:r>
            <a:r>
              <a:rPr lang="it-IT" dirty="0" err="1"/>
              <a:t>numeric</a:t>
            </a:r>
            <a:r>
              <a:rPr lang="it-IT" dirty="0"/>
              <a:t> </a:t>
            </a:r>
            <a:r>
              <a:rPr lang="it-IT" dirty="0" err="1"/>
              <a:t>restrictions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92D488-89E8-6A4A-B9A2-74825217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8FC78B-9843-9143-BFE0-A7BFF1F4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9FF8BD-306F-574B-AD84-F1058CE5C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42968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273315-5185-FD45-9A5E-971729713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NOM-QNR AND BLOCK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EA06A9-141B-DF4A-8E08-843F848B9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QNR generate </a:t>
            </a:r>
            <a:r>
              <a:rPr lang="it-IT" dirty="0" err="1"/>
              <a:t>cyclic</a:t>
            </a:r>
            <a:r>
              <a:rPr lang="it-IT" dirty="0"/>
              <a:t> </a:t>
            </a:r>
            <a:r>
              <a:rPr lang="it-IT" dirty="0" err="1"/>
              <a:t>combinatorics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require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 for </a:t>
            </a:r>
            <a:r>
              <a:rPr lang="it-IT" dirty="0" err="1"/>
              <a:t>internalisation</a:t>
            </a:r>
            <a:endParaRPr lang="it-IT" dirty="0"/>
          </a:p>
          <a:p>
            <a:r>
              <a:rPr lang="it-IT" dirty="0" err="1"/>
              <a:t>Though</a:t>
            </a:r>
            <a:r>
              <a:rPr lang="it-IT" dirty="0"/>
              <a:t> </a:t>
            </a:r>
            <a:r>
              <a:rPr lang="it-IT" dirty="0" err="1"/>
              <a:t>functional</a:t>
            </a:r>
            <a:r>
              <a:rPr lang="it-IT" dirty="0"/>
              <a:t> to the </a:t>
            </a:r>
            <a:r>
              <a:rPr lang="it-IT" dirty="0" err="1"/>
              <a:t>purpose</a:t>
            </a:r>
            <a:r>
              <a:rPr lang="it-IT" dirty="0"/>
              <a:t>, </a:t>
            </a:r>
            <a:r>
              <a:rPr lang="it-IT" dirty="0" err="1"/>
              <a:t>internalisation</a:t>
            </a:r>
            <a:r>
              <a:rPr lang="it-IT" dirty="0"/>
              <a:t> by </a:t>
            </a:r>
            <a:r>
              <a:rPr lang="it-IT" dirty="0" err="1"/>
              <a:t>itself</a:t>
            </a:r>
            <a:r>
              <a:rPr lang="it-IT" dirty="0"/>
              <a:t> </a:t>
            </a:r>
            <a:r>
              <a:rPr lang="it-IT" dirty="0" err="1"/>
              <a:t>adds</a:t>
            </a:r>
            <a:r>
              <a:rPr lang="it-IT" dirty="0"/>
              <a:t> </a:t>
            </a:r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complexity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835DFE-49A6-5943-A602-C1159B20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BA2682A-2FE4-604B-B59A-78CAB4BB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4D2902-A1CD-494D-B804-BDA09846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43532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C5AA26-FBB4-8444-AC40-7DC98334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COMBINATORICS AND RESTRICTIONS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B85533-67C6-9A45-9086-005893854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If</a:t>
            </a:r>
            <a:r>
              <a:rPr lang="it-IT" sz="2400" dirty="0"/>
              <a:t> a </a:t>
            </a:r>
            <a:r>
              <a:rPr lang="it-IT" sz="2400" dirty="0" err="1"/>
              <a:t>nominal</a:t>
            </a:r>
            <a:r>
              <a:rPr lang="it-IT" sz="2400" dirty="0"/>
              <a:t> </a:t>
            </a:r>
            <a:r>
              <a:rPr lang="it-IT" sz="2400" dirty="0" err="1"/>
              <a:t>restricts</a:t>
            </a:r>
            <a:r>
              <a:rPr lang="it-IT" sz="2400" dirty="0"/>
              <a:t> a </a:t>
            </a:r>
            <a:r>
              <a:rPr lang="it-IT" sz="2400" dirty="0" err="1"/>
              <a:t>variable</a:t>
            </a:r>
            <a:r>
              <a:rPr lang="it-IT" sz="2400" dirty="0"/>
              <a:t> on k </a:t>
            </a:r>
            <a:r>
              <a:rPr lang="it-IT" sz="2400" dirty="0" err="1"/>
              <a:t>elements</a:t>
            </a:r>
            <a:r>
              <a:rPr lang="it-IT" sz="2400" dirty="0"/>
              <a:t> and the domain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formed</a:t>
            </a:r>
            <a:r>
              <a:rPr lang="it-IT" sz="2400" dirty="0"/>
              <a:t> by </a:t>
            </a:r>
            <a:r>
              <a:rPr lang="it-IT" sz="2400" dirty="0" err="1"/>
              <a:t>n</a:t>
            </a:r>
            <a:r>
              <a:rPr lang="it-IT" sz="2400" dirty="0"/>
              <a:t> </a:t>
            </a:r>
            <a:r>
              <a:rPr lang="it-IT" sz="2400" dirty="0" err="1"/>
              <a:t>elements</a:t>
            </a:r>
            <a:r>
              <a:rPr lang="it-IT" sz="2400" dirty="0"/>
              <a:t>, a </a:t>
            </a:r>
            <a:r>
              <a:rPr lang="it-IT" sz="2400" dirty="0" err="1"/>
              <a:t>restriction</a:t>
            </a:r>
            <a:r>
              <a:rPr lang="it-IT" sz="2400" dirty="0"/>
              <a:t> of size </a:t>
            </a:r>
            <a:r>
              <a:rPr lang="it-IT" sz="2400" b="1" dirty="0"/>
              <a:t>m </a:t>
            </a:r>
            <a:r>
              <a:rPr lang="it-IT" sz="2400" dirty="0"/>
              <a:t>can </a:t>
            </a:r>
            <a:r>
              <a:rPr lang="it-IT" sz="2400" dirty="0" err="1"/>
              <a:t>have</a:t>
            </a:r>
            <a:r>
              <a:rPr lang="it-IT" sz="2400" dirty="0"/>
              <a:t> </a:t>
            </a:r>
            <a:r>
              <a:rPr lang="it-IT" sz="2400" dirty="0" err="1"/>
              <a:t>three</a:t>
            </a:r>
            <a:r>
              <a:rPr lang="it-IT" sz="2400" dirty="0"/>
              <a:t> </a:t>
            </a:r>
            <a:r>
              <a:rPr lang="it-IT" sz="2400" dirty="0" err="1"/>
              <a:t>states</a:t>
            </a:r>
            <a:endParaRPr lang="it-IT" sz="2400" dirty="0"/>
          </a:p>
          <a:p>
            <a:pPr lvl="1"/>
            <a:r>
              <a:rPr lang="it-IT" sz="2000" dirty="0"/>
              <a:t>m &lt; k &lt; </a:t>
            </a:r>
            <a:r>
              <a:rPr lang="it-IT" sz="2000" dirty="0" err="1"/>
              <a:t>n</a:t>
            </a:r>
            <a:r>
              <a:rPr lang="it-IT" sz="2000" dirty="0"/>
              <a:t> (generate k-</a:t>
            </a:r>
            <a:r>
              <a:rPr lang="it-IT" sz="2000" dirty="0" err="1"/>
              <a:t>combinations</a:t>
            </a:r>
            <a:r>
              <a:rPr lang="it-IT" sz="2000" dirty="0"/>
              <a:t> of </a:t>
            </a:r>
            <a:r>
              <a:rPr lang="it-IT" sz="2000" dirty="0" err="1"/>
              <a:t>n</a:t>
            </a:r>
            <a:r>
              <a:rPr lang="it-IT" sz="2000" dirty="0"/>
              <a:t> </a:t>
            </a:r>
            <a:r>
              <a:rPr lang="it-IT" sz="2000" dirty="0" err="1"/>
              <a:t>elements</a:t>
            </a:r>
            <a:r>
              <a:rPr lang="it-IT" sz="2000" dirty="0"/>
              <a:t> and for </a:t>
            </a:r>
            <a:r>
              <a:rPr lang="it-IT" sz="2000" dirty="0" err="1"/>
              <a:t>each</a:t>
            </a:r>
            <a:r>
              <a:rPr lang="it-IT" sz="2000" dirty="0"/>
              <a:t> the </a:t>
            </a:r>
            <a:r>
              <a:rPr lang="it-IT" sz="2000" dirty="0" err="1"/>
              <a:t>restrictions</a:t>
            </a:r>
            <a:r>
              <a:rPr lang="it-IT" sz="2000" dirty="0"/>
              <a:t> to m, </a:t>
            </a:r>
            <a:r>
              <a:rPr lang="it-IT" sz="2000" dirty="0" err="1"/>
              <a:t>namely</a:t>
            </a:r>
            <a:r>
              <a:rPr lang="it-IT" sz="2000" dirty="0"/>
              <a:t> the subsets of m </a:t>
            </a:r>
            <a:r>
              <a:rPr lang="it-IT" sz="2000" dirty="0" err="1"/>
              <a:t>elements</a:t>
            </a:r>
            <a:r>
              <a:rPr lang="it-IT" sz="2000" dirty="0"/>
              <a:t>)</a:t>
            </a:r>
          </a:p>
          <a:p>
            <a:pPr lvl="1"/>
            <a:r>
              <a:rPr lang="it-IT" sz="2000" dirty="0"/>
              <a:t>k &lt; m &lt; </a:t>
            </a:r>
            <a:r>
              <a:rPr lang="it-IT" sz="2000" dirty="0" err="1"/>
              <a:t>n</a:t>
            </a:r>
            <a:r>
              <a:rPr lang="it-IT" sz="2000" dirty="0"/>
              <a:t> generate k-</a:t>
            </a:r>
            <a:r>
              <a:rPr lang="it-IT" sz="2000" dirty="0" err="1"/>
              <a:t>combinations</a:t>
            </a:r>
            <a:r>
              <a:rPr lang="it-IT" sz="2000" dirty="0"/>
              <a:t> of </a:t>
            </a:r>
            <a:r>
              <a:rPr lang="it-IT" sz="2000" dirty="0" err="1"/>
              <a:t>n</a:t>
            </a:r>
            <a:r>
              <a:rPr lang="it-IT" sz="2000" dirty="0"/>
              <a:t> </a:t>
            </a:r>
            <a:r>
              <a:rPr lang="it-IT" sz="2000" dirty="0" err="1"/>
              <a:t>elements</a:t>
            </a:r>
            <a:r>
              <a:rPr lang="it-IT" sz="2000" dirty="0"/>
              <a:t> and for </a:t>
            </a:r>
            <a:r>
              <a:rPr lang="it-IT" sz="2000" dirty="0" err="1"/>
              <a:t>each</a:t>
            </a:r>
            <a:r>
              <a:rPr lang="it-IT" sz="2000" dirty="0"/>
              <a:t> the </a:t>
            </a:r>
            <a:r>
              <a:rPr lang="it-IT" sz="2000" dirty="0" err="1"/>
              <a:t>reductions</a:t>
            </a:r>
            <a:r>
              <a:rPr lang="it-IT" sz="2000" dirty="0"/>
              <a:t> to m, </a:t>
            </a:r>
            <a:r>
              <a:rPr lang="it-IT" sz="2000" dirty="0" err="1"/>
              <a:t>namely</a:t>
            </a:r>
            <a:r>
              <a:rPr lang="it-IT" sz="2000" dirty="0"/>
              <a:t> the </a:t>
            </a:r>
            <a:r>
              <a:rPr lang="it-IT" sz="2000" dirty="0" err="1"/>
              <a:t>equations</a:t>
            </a:r>
            <a:r>
              <a:rPr lang="it-IT" sz="2000" dirty="0"/>
              <a:t> of m </a:t>
            </a:r>
            <a:r>
              <a:rPr lang="it-IT" sz="2000" dirty="0" err="1"/>
              <a:t>elements</a:t>
            </a:r>
            <a:r>
              <a:rPr lang="it-IT" sz="2000" dirty="0"/>
              <a:t>)</a:t>
            </a:r>
          </a:p>
          <a:p>
            <a:pPr lvl="1"/>
            <a:r>
              <a:rPr lang="it-IT" sz="2000" dirty="0"/>
              <a:t>k &lt; </a:t>
            </a:r>
            <a:r>
              <a:rPr lang="it-IT" sz="2000" dirty="0" err="1"/>
              <a:t>n</a:t>
            </a:r>
            <a:r>
              <a:rPr lang="it-IT" sz="2000" dirty="0"/>
              <a:t> &lt; m (</a:t>
            </a:r>
            <a:r>
              <a:rPr lang="it-IT" sz="2000" dirty="0" err="1"/>
              <a:t>trivial,it’s</a:t>
            </a:r>
            <a:r>
              <a:rPr lang="it-IT" sz="2000" dirty="0"/>
              <a:t> </a:t>
            </a:r>
            <a:r>
              <a:rPr lang="it-IT" sz="2000" dirty="0" err="1"/>
              <a:t>reduced</a:t>
            </a:r>
            <a:r>
              <a:rPr lang="it-IT" sz="2000" dirty="0"/>
              <a:t> to k)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8A3656-A014-CF43-A616-F25D3976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CE934D-63B3-0E44-9428-53515762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C7A4D9B-F12C-9E45-96A3-65DE11C5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62088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898F91D4-52D5-9CC0-2503-02526A3D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Roles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3BC6F80-B5BE-D376-2582-71F190949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208D20-B0C5-FA4D-EB74-6A5AF163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A3FC8E-C7AA-E0B1-484D-AA55AB2B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87F68B-A097-4C7C-0825-245E788A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892785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E977A7-1377-0B40-9DE1-46982642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ROLE EXTENSIONS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FFFDAE-B3F6-0542-A571-08CFB553A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NON </a:t>
            </a:r>
            <a:r>
              <a:rPr lang="it-IT" dirty="0" err="1"/>
              <a:t>operational</a:t>
            </a:r>
            <a:endParaRPr lang="it-IT" dirty="0"/>
          </a:p>
          <a:p>
            <a:r>
              <a:rPr lang="it-IT" dirty="0"/>
              <a:t>NON </a:t>
            </a:r>
            <a:r>
              <a:rPr lang="it-IT" dirty="0" err="1"/>
              <a:t>relational</a:t>
            </a:r>
            <a:endParaRPr lang="it-IT" dirty="0"/>
          </a:p>
          <a:p>
            <a:r>
              <a:rPr lang="it-IT" dirty="0" err="1"/>
              <a:t>Operational</a:t>
            </a:r>
            <a:endParaRPr lang="it-IT" dirty="0"/>
          </a:p>
          <a:p>
            <a:r>
              <a:rPr lang="it-IT" dirty="0" err="1"/>
              <a:t>Relational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046F3B-D154-7B47-8500-7FAFCEB1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408C98-A8E9-934D-9D33-719E475A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E15264-4294-2A45-8844-7637BAD3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53129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42AFC-B222-0B41-AE60-26E221DB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FILL RESTRICTIONS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1C0C39-88D3-9D40-A5DA-C64932039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R:a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i="1" dirty="0" err="1"/>
              <a:t>role</a:t>
            </a:r>
            <a:r>
              <a:rPr lang="it-IT" dirty="0"/>
              <a:t> </a:t>
            </a:r>
            <a:r>
              <a:rPr lang="it-IT" i="1" dirty="0" err="1"/>
              <a:t>nominal</a:t>
            </a:r>
            <a:r>
              <a:rPr lang="it-IT" i="1" dirty="0"/>
              <a:t> </a:t>
            </a:r>
            <a:r>
              <a:rPr lang="it-IT" i="1" dirty="0" err="1"/>
              <a:t>restriction</a:t>
            </a:r>
            <a:endParaRPr lang="it-IT" dirty="0"/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consists</a:t>
            </a:r>
            <a:r>
              <a:rPr lang="it-IT" dirty="0"/>
              <a:t> in </a:t>
            </a:r>
            <a:r>
              <a:rPr lang="it-IT" dirty="0" err="1"/>
              <a:t>requiring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filled</a:t>
            </a:r>
            <a:r>
              <a:rPr lang="it-IT" dirty="0"/>
              <a:t> with the </a:t>
            </a:r>
            <a:r>
              <a:rPr lang="it-IT" dirty="0" err="1"/>
              <a:t>value</a:t>
            </a:r>
            <a:r>
              <a:rPr lang="it-IT" dirty="0"/>
              <a:t> a</a:t>
            </a:r>
          </a:p>
          <a:p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the </a:t>
            </a:r>
            <a:r>
              <a:rPr lang="it-IT" dirty="0" err="1"/>
              <a:t>nominals</a:t>
            </a:r>
            <a:r>
              <a:rPr lang="it-IT" dirty="0"/>
              <a:t>,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equivalent</a:t>
            </a:r>
            <a:r>
              <a:rPr lang="it-IT" dirty="0"/>
              <a:t> to ∀</a:t>
            </a:r>
            <a:r>
              <a:rPr lang="it-IT" dirty="0" err="1"/>
              <a:t>R</a:t>
            </a:r>
            <a:r>
              <a:rPr lang="it-IT" dirty="0"/>
              <a:t>.{a}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0F217A-C099-5647-876E-DC7185516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49AF2B-2AE9-0249-96DF-A327C8E2A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E848E0-3C5B-6342-BF8F-879CEA15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20675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91D128-E9E7-654A-957D-F12BB291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ROLE CHAINS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8C86C6-39AF-D047-B8DB-8072E7416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 err="1"/>
              <a:t>Role</a:t>
            </a:r>
            <a:r>
              <a:rPr lang="it-IT" sz="2800" dirty="0"/>
              <a:t>-chains are </a:t>
            </a:r>
            <a:r>
              <a:rPr lang="it-IT" sz="2800" dirty="0" err="1"/>
              <a:t>containment</a:t>
            </a:r>
            <a:r>
              <a:rPr lang="it-IT" sz="2800" dirty="0"/>
              <a:t> and equality </a:t>
            </a:r>
            <a:r>
              <a:rPr lang="it-IT" sz="2800" i="1" dirty="0" err="1"/>
              <a:t>role-value-maps</a:t>
            </a:r>
            <a:endParaRPr lang="it-IT" sz="2800" i="1" dirty="0"/>
          </a:p>
          <a:p>
            <a:r>
              <a:rPr lang="it-IT" sz="2800" dirty="0" err="1"/>
              <a:t>They</a:t>
            </a:r>
            <a:r>
              <a:rPr lang="it-IT" sz="2800" dirty="0"/>
              <a:t> make use of the </a:t>
            </a:r>
            <a:r>
              <a:rPr lang="it-IT" sz="2800" i="1" dirty="0" err="1"/>
              <a:t>role</a:t>
            </a:r>
            <a:r>
              <a:rPr lang="it-IT" sz="2800" i="1" dirty="0"/>
              <a:t> </a:t>
            </a:r>
            <a:r>
              <a:rPr lang="it-IT" sz="2800" i="1" dirty="0" err="1"/>
              <a:t>composition</a:t>
            </a:r>
            <a:r>
              <a:rPr lang="it-IT" sz="2800" i="1" dirty="0"/>
              <a:t> operator</a:t>
            </a:r>
          </a:p>
          <a:p>
            <a:pPr lvl="1"/>
            <a:r>
              <a:rPr lang="it-IT" sz="2400" dirty="0"/>
              <a:t>(R⊆S)</a:t>
            </a:r>
            <a:r>
              <a:rPr lang="it-IT" sz="2400" baseline="30000" dirty="0"/>
              <a:t>I</a:t>
            </a:r>
            <a:r>
              <a:rPr lang="it-IT" sz="2400" dirty="0"/>
              <a:t> ={a∈∆ |∀b.(</a:t>
            </a:r>
            <a:r>
              <a:rPr lang="it-IT" sz="2400" dirty="0" err="1"/>
              <a:t>a,b</a:t>
            </a:r>
            <a:r>
              <a:rPr lang="it-IT" sz="2400" dirty="0"/>
              <a:t>)∈</a:t>
            </a:r>
            <a:r>
              <a:rPr lang="it-IT" sz="2400" dirty="0" err="1"/>
              <a:t>R</a:t>
            </a:r>
            <a:r>
              <a:rPr lang="it-IT" sz="2400" dirty="0"/>
              <a:t> →(</a:t>
            </a:r>
            <a:r>
              <a:rPr lang="it-IT" sz="2400" dirty="0" err="1"/>
              <a:t>a,b</a:t>
            </a:r>
            <a:r>
              <a:rPr lang="it-IT" sz="2400" dirty="0"/>
              <a:t>)∈</a:t>
            </a:r>
            <a:r>
              <a:rPr lang="it-IT" sz="2400" dirty="0" err="1"/>
              <a:t>S</a:t>
            </a:r>
            <a:r>
              <a:rPr lang="it-IT" sz="2400" dirty="0"/>
              <a:t>}, </a:t>
            </a:r>
          </a:p>
          <a:p>
            <a:pPr lvl="1"/>
            <a:r>
              <a:rPr lang="it-IT" sz="2400" dirty="0"/>
              <a:t>(</a:t>
            </a:r>
            <a:r>
              <a:rPr lang="it-IT" sz="2400" dirty="0" err="1"/>
              <a:t>R</a:t>
            </a:r>
            <a:r>
              <a:rPr lang="it-IT" sz="2400" dirty="0"/>
              <a:t>=</a:t>
            </a:r>
            <a:r>
              <a:rPr lang="it-IT" sz="2400" dirty="0" err="1"/>
              <a:t>S</a:t>
            </a:r>
            <a:r>
              <a:rPr lang="it-IT" sz="2400" dirty="0"/>
              <a:t>)</a:t>
            </a:r>
            <a:r>
              <a:rPr lang="it-IT" sz="2400" baseline="30000" dirty="0"/>
              <a:t>I</a:t>
            </a:r>
            <a:r>
              <a:rPr lang="it-IT" sz="2400" dirty="0"/>
              <a:t> ={a∈∆ |∀b.(</a:t>
            </a:r>
            <a:r>
              <a:rPr lang="it-IT" sz="2400" dirty="0" err="1"/>
              <a:t>a,b</a:t>
            </a:r>
            <a:r>
              <a:rPr lang="it-IT" sz="2400" dirty="0"/>
              <a:t>)∈</a:t>
            </a:r>
            <a:r>
              <a:rPr lang="it-IT" sz="2400" dirty="0" err="1"/>
              <a:t>R</a:t>
            </a:r>
            <a:r>
              <a:rPr lang="it-IT" sz="2400" dirty="0"/>
              <a:t> ↔(</a:t>
            </a:r>
            <a:r>
              <a:rPr lang="it-IT" sz="2400" dirty="0" err="1"/>
              <a:t>a,b</a:t>
            </a:r>
            <a:r>
              <a:rPr lang="it-IT" sz="2400" dirty="0"/>
              <a:t>)∈</a:t>
            </a:r>
            <a:r>
              <a:rPr lang="it-IT" sz="2400" dirty="0" err="1"/>
              <a:t>S</a:t>
            </a:r>
            <a:r>
              <a:rPr lang="it-IT" sz="2400" dirty="0"/>
              <a:t>}. </a:t>
            </a:r>
          </a:p>
          <a:p>
            <a:r>
              <a:rPr lang="it-IT" sz="2800" dirty="0"/>
              <a:t> </a:t>
            </a:r>
            <a:r>
              <a:rPr lang="it-IT" sz="2800" dirty="0" err="1"/>
              <a:t>Examples</a:t>
            </a:r>
            <a:endParaRPr lang="it-IT" sz="2800" dirty="0"/>
          </a:p>
          <a:p>
            <a:pPr lvl="1"/>
            <a:r>
              <a:rPr lang="it-IT" sz="2400" dirty="0" err="1"/>
              <a:t>Person</a:t>
            </a:r>
            <a:r>
              <a:rPr lang="it-IT" sz="2400" dirty="0"/>
              <a:t> ⊓ (</a:t>
            </a:r>
            <a:r>
              <a:rPr lang="it-IT" sz="2400" dirty="0" err="1"/>
              <a:t>hasChild</a:t>
            </a:r>
            <a:r>
              <a:rPr lang="it-IT" sz="2400" dirty="0"/>
              <a:t> ◦ </a:t>
            </a:r>
            <a:r>
              <a:rPr lang="it-IT" sz="2400" dirty="0" err="1"/>
              <a:t>hasFriend</a:t>
            </a:r>
            <a:r>
              <a:rPr lang="it-IT" sz="2400" dirty="0"/>
              <a:t> ⊆ </a:t>
            </a:r>
            <a:r>
              <a:rPr lang="it-IT" sz="2400" dirty="0" err="1"/>
              <a:t>knows</a:t>
            </a:r>
            <a:r>
              <a:rPr lang="it-IT" sz="2400" dirty="0"/>
              <a:t>) </a:t>
            </a:r>
          </a:p>
          <a:p>
            <a:pPr lvl="1"/>
            <a:r>
              <a:rPr lang="it-IT" sz="2400" dirty="0" err="1"/>
              <a:t>Person</a:t>
            </a:r>
            <a:r>
              <a:rPr lang="it-IT" sz="2400" dirty="0"/>
              <a:t> ⊓ (</a:t>
            </a:r>
            <a:r>
              <a:rPr lang="it-IT" sz="2400" dirty="0" err="1"/>
              <a:t>marriedTo</a:t>
            </a:r>
            <a:r>
              <a:rPr lang="it-IT" sz="2400" dirty="0"/>
              <a:t> ◦ </a:t>
            </a:r>
            <a:r>
              <a:rPr lang="it-IT" sz="2400" dirty="0" err="1"/>
              <a:t>likesToEat</a:t>
            </a:r>
            <a:r>
              <a:rPr lang="it-IT" sz="2400" dirty="0"/>
              <a:t> = </a:t>
            </a:r>
            <a:r>
              <a:rPr lang="it-IT" sz="2400" dirty="0" err="1"/>
              <a:t>likesToEat</a:t>
            </a:r>
            <a:r>
              <a:rPr lang="it-IT" sz="2400" dirty="0"/>
              <a:t>)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61E881-6075-2B4B-A269-050BFC42F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68382D-D23C-F54A-86AF-4BAA5F0E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CAEFF8-998E-B446-84A3-4EA65CDE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45264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DC3D04-DCD6-0D48-BB92-CE1E5C53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AGREEMENT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3A436A-01B0-4D44-8D5A-FA284C0BA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/>
              <a:t>Agreement and </a:t>
            </a:r>
            <a:r>
              <a:rPr lang="it-IT" sz="2800" dirty="0" err="1"/>
              <a:t>disagreement</a:t>
            </a:r>
            <a:r>
              <a:rPr lang="it-IT" sz="2800" dirty="0"/>
              <a:t> are </a:t>
            </a:r>
            <a:r>
              <a:rPr lang="it-IT" sz="2800" dirty="0" err="1"/>
              <a:t>restrictions</a:t>
            </a:r>
            <a:r>
              <a:rPr lang="it-IT" sz="2800" dirty="0"/>
              <a:t> on </a:t>
            </a:r>
            <a:r>
              <a:rPr lang="it-IT" sz="2800" dirty="0" err="1"/>
              <a:t>role</a:t>
            </a:r>
            <a:r>
              <a:rPr lang="it-IT" sz="2800" dirty="0"/>
              <a:t> chains</a:t>
            </a:r>
          </a:p>
          <a:p>
            <a:endParaRPr lang="it-IT" sz="2800" dirty="0"/>
          </a:p>
          <a:p>
            <a:pPr lvl="1"/>
            <a:r>
              <a:rPr lang="it-IT" sz="2400" dirty="0"/>
              <a:t>(</a:t>
            </a:r>
            <a:r>
              <a:rPr lang="it-IT" sz="2400" dirty="0" err="1"/>
              <a:t>f</a:t>
            </a:r>
            <a:r>
              <a:rPr lang="it-IT" sz="2400" dirty="0"/>
              <a:t> ≐ g)</a:t>
            </a:r>
            <a:r>
              <a:rPr lang="it-IT" sz="2400" baseline="30000" dirty="0"/>
              <a:t>I</a:t>
            </a:r>
            <a:r>
              <a:rPr lang="it-IT" sz="2400" dirty="0"/>
              <a:t> 	= 	{a ∈ ∆ | ∃b. (a, b) ∈ </a:t>
            </a:r>
            <a:r>
              <a:rPr lang="it-IT" sz="2400" dirty="0" err="1"/>
              <a:t>f</a:t>
            </a:r>
            <a:r>
              <a:rPr lang="it-IT" sz="2400" dirty="0"/>
              <a:t> ∧ (a, b) ∈ g }</a:t>
            </a:r>
          </a:p>
          <a:p>
            <a:pPr lvl="1"/>
            <a:r>
              <a:rPr lang="it-IT" sz="2400" dirty="0"/>
              <a:t>(</a:t>
            </a:r>
            <a:r>
              <a:rPr lang="it-IT" sz="2400" dirty="0" err="1"/>
              <a:t>f</a:t>
            </a:r>
            <a:r>
              <a:rPr lang="it-IT" sz="2400" dirty="0"/>
              <a:t>     g)</a:t>
            </a:r>
            <a:r>
              <a:rPr lang="it-IT" sz="2400" baseline="30000" dirty="0"/>
              <a:t>I	</a:t>
            </a:r>
            <a:r>
              <a:rPr lang="it-IT" sz="2400" dirty="0"/>
              <a:t>=	{a ∈ ∆	|∃b</a:t>
            </a:r>
            <a:r>
              <a:rPr lang="it-IT" sz="2400" baseline="-25000" dirty="0"/>
              <a:t>1</a:t>
            </a:r>
            <a:r>
              <a:rPr lang="it-IT" sz="2400" dirty="0"/>
              <a:t>,b</a:t>
            </a:r>
            <a:r>
              <a:rPr lang="it-IT" sz="2400" baseline="-25000" dirty="0"/>
              <a:t>2</a:t>
            </a:r>
            <a:r>
              <a:rPr lang="it-IT" sz="2400" dirty="0"/>
              <a:t> b</a:t>
            </a:r>
            <a:r>
              <a:rPr lang="it-IT" sz="2400" baseline="-25000" dirty="0"/>
              <a:t>1</a:t>
            </a:r>
            <a:r>
              <a:rPr lang="it-IT" sz="2400" dirty="0"/>
              <a:t>≠b</a:t>
            </a:r>
            <a:r>
              <a:rPr lang="it-IT" sz="2400" baseline="-25000" dirty="0"/>
              <a:t>2</a:t>
            </a:r>
            <a:r>
              <a:rPr lang="it-IT" sz="2400" dirty="0"/>
              <a:t>∧(a,b</a:t>
            </a:r>
            <a:r>
              <a:rPr lang="it-IT" sz="2400" baseline="-25000" dirty="0"/>
              <a:t>1</a:t>
            </a:r>
            <a:r>
              <a:rPr lang="it-IT" sz="2400" dirty="0"/>
              <a:t>)∈</a:t>
            </a:r>
            <a:r>
              <a:rPr lang="it-IT" sz="2400" dirty="0" err="1"/>
              <a:t>f</a:t>
            </a:r>
            <a:r>
              <a:rPr lang="it-IT" sz="2400" dirty="0"/>
              <a:t>∧(a,b</a:t>
            </a:r>
            <a:r>
              <a:rPr lang="it-IT" sz="2400" baseline="-25000" dirty="0"/>
              <a:t>2</a:t>
            </a:r>
            <a:r>
              <a:rPr lang="it-IT" sz="2400" dirty="0"/>
              <a:t>)∈g}. </a:t>
            </a:r>
          </a:p>
          <a:p>
            <a:endParaRPr lang="it-IT" sz="28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23E35A-0CC8-764D-97DF-58629813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617FF2-2016-044E-BA27-ACE96FE2C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4E2895-3FC2-8A48-9D7D-D24EFE90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21</a:t>
            </a:fld>
            <a:endParaRPr lang="it-IT" alt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1B3F63D-8E5C-4B43-BC5A-59CF4CFFB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324" y="2820966"/>
            <a:ext cx="251287" cy="38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9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638AB03C-DEE6-13E4-6029-44AC45533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Role</a:t>
            </a:r>
            <a:r>
              <a:rPr lang="it-IT" dirty="0"/>
              <a:t> box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B83E901A-A92D-D16A-61F8-924B78FA2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20AB39-C95A-40D8-7ACD-D8F4835C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96F44F-CE2A-94D3-15D5-915DC3E92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6729CC-68B4-C799-659B-A6598F1EA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44510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A71076-07DB-104C-A5DF-373834FE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ROLE BOX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3955B0-E133-524B-8DC7-9A6683B5E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inclusion</a:t>
            </a:r>
            <a:r>
              <a:rPr lang="it-IT" dirty="0"/>
              <a:t> </a:t>
            </a:r>
            <a:r>
              <a:rPr lang="it-IT" dirty="0" err="1"/>
              <a:t>axioms</a:t>
            </a:r>
            <a:r>
              <a:rPr lang="it-IT" dirty="0"/>
              <a:t> </a:t>
            </a:r>
            <a:r>
              <a:rPr lang="it-IT" dirty="0" err="1"/>
              <a:t>form</a:t>
            </a:r>
            <a:r>
              <a:rPr lang="it-IT" dirty="0"/>
              <a:t> the </a:t>
            </a:r>
            <a:r>
              <a:rPr lang="it-IT" dirty="0" err="1"/>
              <a:t>role</a:t>
            </a:r>
            <a:r>
              <a:rPr lang="it-IT" dirty="0"/>
              <a:t> box </a:t>
            </a:r>
            <a:r>
              <a:rPr lang="it-IT" dirty="0" err="1"/>
              <a:t>R</a:t>
            </a:r>
            <a:r>
              <a:rPr lang="it-IT" dirty="0"/>
              <a:t>-box</a:t>
            </a:r>
          </a:p>
          <a:p>
            <a:r>
              <a:rPr lang="it-IT" dirty="0" err="1"/>
              <a:t>Presence</a:t>
            </a:r>
            <a:r>
              <a:rPr lang="it-IT" dirty="0"/>
              <a:t> of </a:t>
            </a:r>
            <a:r>
              <a:rPr lang="it-IT" dirty="0" err="1"/>
              <a:t>R</a:t>
            </a:r>
            <a:r>
              <a:rPr lang="it-IT" dirty="0"/>
              <a:t>-box </a:t>
            </a:r>
            <a:r>
              <a:rPr lang="it-IT" dirty="0" err="1"/>
              <a:t>changes</a:t>
            </a:r>
            <a:r>
              <a:rPr lang="it-IT" dirty="0"/>
              <a:t> the </a:t>
            </a:r>
            <a:r>
              <a:rPr lang="it-IT" dirty="0" err="1"/>
              <a:t>architecture</a:t>
            </a:r>
            <a:r>
              <a:rPr lang="it-IT" dirty="0"/>
              <a:t> of </a:t>
            </a: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, first of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consistency</a:t>
            </a:r>
            <a:r>
              <a:rPr lang="it-IT" dirty="0"/>
              <a:t> of the T-box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to be </a:t>
            </a:r>
            <a:r>
              <a:rPr lang="it-IT" dirty="0" err="1"/>
              <a:t>performed</a:t>
            </a:r>
            <a:r>
              <a:rPr lang="it-IT" dirty="0"/>
              <a:t> </a:t>
            </a:r>
            <a:r>
              <a:rPr lang="it-IT" dirty="0" err="1"/>
              <a:t>along</a:t>
            </a:r>
            <a:r>
              <a:rPr lang="it-IT" dirty="0"/>
              <a:t> with the </a:t>
            </a:r>
            <a:r>
              <a:rPr lang="it-IT" dirty="0" err="1"/>
              <a:t>R</a:t>
            </a:r>
            <a:r>
              <a:rPr lang="it-IT" dirty="0"/>
              <a:t>-box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EC226C-9BFB-F14C-82EC-484237BB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F1A09F-11DB-E745-B594-A95A6DDC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D491EF-4475-6740-A3CF-D8E61627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816918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24A046-D563-7240-B2E9-D0224E1E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NON-RELATIONAL ROLE BOX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686AC5-ED67-104A-8582-CAD55DA3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7FFB53-2EDF-4E41-A1A7-B6B39D405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CB00B3-CF17-1341-99F8-B62E6744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24</a:t>
            </a:fld>
            <a:endParaRPr lang="it-IT" altLang="it-IT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03D7FF48-3D61-4B4D-887F-6AEFF44EE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it-IT" sz="2800" dirty="0" err="1"/>
              <a:t>Role</a:t>
            </a:r>
            <a:r>
              <a:rPr lang="it-IT" sz="2800" dirty="0"/>
              <a:t> </a:t>
            </a:r>
            <a:r>
              <a:rPr lang="it-IT" sz="2800" dirty="0" err="1"/>
              <a:t>transitivity</a:t>
            </a:r>
            <a:r>
              <a:rPr lang="it-IT" sz="2800" dirty="0"/>
              <a:t>: </a:t>
            </a:r>
            <a:r>
              <a:rPr lang="it-IT" sz="2800" dirty="0" err="1"/>
              <a:t>we</a:t>
            </a:r>
            <a:r>
              <a:rPr lang="it-IT" sz="2800" dirty="0"/>
              <a:t> </a:t>
            </a:r>
            <a:r>
              <a:rPr lang="it-IT" sz="2800" dirty="0" err="1"/>
              <a:t>declare</a:t>
            </a:r>
            <a:r>
              <a:rPr lang="it-IT" sz="2800" dirty="0"/>
              <a:t> in the </a:t>
            </a:r>
            <a:r>
              <a:rPr lang="it-IT" sz="2800" dirty="0" err="1"/>
              <a:t>R</a:t>
            </a:r>
            <a:r>
              <a:rPr lang="it-IT" sz="2800" dirty="0"/>
              <a:t>-box </a:t>
            </a:r>
            <a:r>
              <a:rPr lang="it-IT" sz="2800" dirty="0" err="1"/>
              <a:t>that</a:t>
            </a:r>
            <a:r>
              <a:rPr lang="it-IT" sz="2800" dirty="0"/>
              <a:t> a </a:t>
            </a:r>
            <a:r>
              <a:rPr lang="it-IT" sz="2800" dirty="0" err="1"/>
              <a:t>role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transitive </a:t>
            </a:r>
          </a:p>
          <a:p>
            <a:pPr marL="685800" lvl="1"/>
            <a:r>
              <a:rPr lang="it-IT" sz="2400" dirty="0" err="1">
                <a:solidFill>
                  <a:srgbClr val="0000FF"/>
                </a:solidFill>
              </a:rPr>
              <a:t>Tr</a:t>
            </a:r>
            <a:r>
              <a:rPr lang="it-IT" sz="2400" dirty="0">
                <a:solidFill>
                  <a:srgbClr val="0000FF"/>
                </a:solidFill>
              </a:rPr>
              <a:t>(</a:t>
            </a:r>
            <a:r>
              <a:rPr lang="it-IT" sz="2400" i="1" dirty="0" err="1">
                <a:solidFill>
                  <a:srgbClr val="0000FF"/>
                </a:solidFill>
              </a:rPr>
              <a:t>R</a:t>
            </a:r>
            <a:r>
              <a:rPr lang="it-IT" sz="2400" dirty="0">
                <a:solidFill>
                  <a:srgbClr val="0000FF"/>
                </a:solidFill>
              </a:rPr>
              <a:t>) </a:t>
            </a:r>
            <a:r>
              <a:rPr lang="it-IT" sz="2400" dirty="0">
                <a:solidFill>
                  <a:srgbClr val="FF0000"/>
                </a:solidFill>
              </a:rPr>
              <a:t>[</a:t>
            </a:r>
            <a:r>
              <a:rPr lang="it-IT" sz="2400" dirty="0" err="1">
                <a:solidFill>
                  <a:srgbClr val="FF0000"/>
                </a:solidFill>
              </a:rPr>
              <a:t>S</a:t>
            </a:r>
            <a:r>
              <a:rPr lang="it-IT" sz="2400" dirty="0">
                <a:solidFill>
                  <a:srgbClr val="FF0000"/>
                </a:solidFill>
              </a:rPr>
              <a:t>]</a:t>
            </a:r>
          </a:p>
          <a:p>
            <a:pPr marL="285750" indent="-285750"/>
            <a:r>
              <a:rPr lang="it-IT" sz="2800" dirty="0" err="1"/>
              <a:t>Role</a:t>
            </a:r>
            <a:r>
              <a:rPr lang="it-IT" sz="2800" dirty="0"/>
              <a:t> </a:t>
            </a:r>
            <a:r>
              <a:rPr lang="it-IT" sz="2800" dirty="0" err="1"/>
              <a:t>hierarchy</a:t>
            </a:r>
            <a:r>
              <a:rPr lang="it-IT" sz="2800" dirty="0"/>
              <a:t> </a:t>
            </a:r>
          </a:p>
          <a:p>
            <a:pPr marL="685800" lvl="1"/>
            <a:r>
              <a:rPr lang="it-IT" sz="2400" i="1" dirty="0" err="1">
                <a:solidFill>
                  <a:srgbClr val="0000FF"/>
                </a:solidFill>
              </a:rPr>
              <a:t>R</a:t>
            </a:r>
            <a:r>
              <a:rPr lang="it-IT" sz="2400" dirty="0">
                <a:solidFill>
                  <a:srgbClr val="0000FF"/>
                </a:solidFill>
              </a:rPr>
              <a:t> ⊆ </a:t>
            </a:r>
            <a:r>
              <a:rPr lang="it-IT" sz="2400" i="1" dirty="0" err="1">
                <a:solidFill>
                  <a:srgbClr val="0000FF"/>
                </a:solidFill>
              </a:rPr>
              <a:t>S</a:t>
            </a:r>
            <a:r>
              <a:rPr lang="it-IT" sz="2400" i="1" dirty="0">
                <a:solidFill>
                  <a:srgbClr val="0000FF"/>
                </a:solidFill>
              </a:rPr>
              <a:t> </a:t>
            </a:r>
            <a:r>
              <a:rPr lang="it-IT" sz="2400" dirty="0">
                <a:solidFill>
                  <a:srgbClr val="FF0000"/>
                </a:solidFill>
              </a:rPr>
              <a:t>[H]</a:t>
            </a:r>
          </a:p>
          <a:p>
            <a:pPr marL="285750" indent="-285750"/>
            <a:r>
              <a:rPr lang="it-IT" sz="2800" dirty="0" err="1"/>
              <a:t>Role</a:t>
            </a:r>
            <a:r>
              <a:rPr lang="it-IT" sz="2800" dirty="0"/>
              <a:t> </a:t>
            </a:r>
            <a:r>
              <a:rPr lang="it-IT" sz="2800" dirty="0" err="1"/>
              <a:t>complex</a:t>
            </a:r>
            <a:r>
              <a:rPr lang="it-IT" sz="2800" dirty="0"/>
              <a:t> </a:t>
            </a:r>
            <a:r>
              <a:rPr lang="it-IT" sz="2800" dirty="0" err="1"/>
              <a:t>hierarchy</a:t>
            </a:r>
            <a:endParaRPr lang="it-IT" sz="2800" dirty="0"/>
          </a:p>
          <a:p>
            <a:pPr marL="685800" lvl="1"/>
            <a:r>
              <a:rPr lang="it-IT" sz="2400" i="1" dirty="0" err="1">
                <a:solidFill>
                  <a:srgbClr val="0000FF"/>
                </a:solidFill>
              </a:rPr>
              <a:t>R</a:t>
            </a:r>
            <a:r>
              <a:rPr lang="it-IT" sz="2400" baseline="-25000" dirty="0">
                <a:solidFill>
                  <a:srgbClr val="0000FF"/>
                </a:solidFill>
              </a:rPr>
              <a:t> </a:t>
            </a:r>
            <a:r>
              <a:rPr lang="it-IT" sz="2400" dirty="0">
                <a:solidFill>
                  <a:srgbClr val="0000FF"/>
                </a:solidFill>
              </a:rPr>
              <a:t>o</a:t>
            </a:r>
            <a:r>
              <a:rPr lang="it-IT" sz="2400" baseline="-25000" dirty="0">
                <a:solidFill>
                  <a:srgbClr val="0000FF"/>
                </a:solidFill>
              </a:rPr>
              <a:t> </a:t>
            </a:r>
            <a:r>
              <a:rPr lang="it-IT" sz="2400" i="1" dirty="0" err="1">
                <a:solidFill>
                  <a:srgbClr val="0000FF"/>
                </a:solidFill>
              </a:rPr>
              <a:t>S</a:t>
            </a:r>
            <a:r>
              <a:rPr lang="it-IT" sz="2400" dirty="0">
                <a:solidFill>
                  <a:srgbClr val="0000FF"/>
                </a:solidFill>
              </a:rPr>
              <a:t> ⊆ </a:t>
            </a:r>
            <a:r>
              <a:rPr lang="it-IT" sz="2400" i="1" dirty="0" err="1">
                <a:solidFill>
                  <a:srgbClr val="0000FF"/>
                </a:solidFill>
              </a:rPr>
              <a:t>R</a:t>
            </a:r>
            <a:r>
              <a:rPr lang="it-IT" sz="2400" dirty="0"/>
              <a:t>, </a:t>
            </a:r>
            <a:r>
              <a:rPr lang="it-IT" sz="2400" i="1" dirty="0" err="1">
                <a:solidFill>
                  <a:srgbClr val="0000FF"/>
                </a:solidFill>
              </a:rPr>
              <a:t>R</a:t>
            </a:r>
            <a:r>
              <a:rPr lang="it-IT" sz="2400" baseline="-25000" dirty="0">
                <a:solidFill>
                  <a:srgbClr val="0000FF"/>
                </a:solidFill>
              </a:rPr>
              <a:t> </a:t>
            </a:r>
            <a:r>
              <a:rPr lang="it-IT" sz="2400" dirty="0">
                <a:solidFill>
                  <a:srgbClr val="0000FF"/>
                </a:solidFill>
              </a:rPr>
              <a:t>o</a:t>
            </a:r>
            <a:r>
              <a:rPr lang="it-IT" sz="2400" baseline="-25000" dirty="0">
                <a:solidFill>
                  <a:srgbClr val="0000FF"/>
                </a:solidFill>
              </a:rPr>
              <a:t> </a:t>
            </a:r>
            <a:r>
              <a:rPr lang="it-IT" sz="2400" i="1" dirty="0" err="1">
                <a:solidFill>
                  <a:srgbClr val="0000FF"/>
                </a:solidFill>
              </a:rPr>
              <a:t>S</a:t>
            </a:r>
            <a:r>
              <a:rPr lang="it-IT" sz="2400" dirty="0">
                <a:solidFill>
                  <a:srgbClr val="0000FF"/>
                </a:solidFill>
              </a:rPr>
              <a:t> ⊆ </a:t>
            </a:r>
            <a:r>
              <a:rPr lang="it-IT" sz="2400" i="1" dirty="0" err="1">
                <a:solidFill>
                  <a:srgbClr val="0000FF"/>
                </a:solidFill>
              </a:rPr>
              <a:t>S</a:t>
            </a:r>
            <a:r>
              <a:rPr lang="it-IT" sz="2400" i="1" dirty="0">
                <a:solidFill>
                  <a:srgbClr val="0000FF"/>
                </a:solidFill>
              </a:rPr>
              <a:t> </a:t>
            </a:r>
            <a:r>
              <a:rPr lang="it-IT" sz="2400" dirty="0">
                <a:solidFill>
                  <a:srgbClr val="FF0000"/>
                </a:solidFill>
              </a:rPr>
              <a:t>[</a:t>
            </a:r>
            <a:r>
              <a:rPr lang="it-IT" sz="2400" dirty="0" err="1">
                <a:solidFill>
                  <a:srgbClr val="FF0000"/>
                </a:solidFill>
              </a:rPr>
              <a:t>R</a:t>
            </a:r>
            <a:r>
              <a:rPr lang="it-IT" sz="2400" dirty="0">
                <a:solidFill>
                  <a:srgbClr val="FF0000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13931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DBF34BAA-C855-1AD3-27AB-E447F238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Defining</a:t>
            </a:r>
            <a:r>
              <a:rPr lang="it-IT" dirty="0"/>
              <a:t> </a:t>
            </a:r>
            <a:r>
              <a:rPr lang="it-IT" dirty="0" err="1"/>
              <a:t>roles</a:t>
            </a:r>
            <a:endParaRPr lang="it-IT" dirty="0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DDF16FEC-296F-0135-DF13-36AA403D3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E02021-1CB3-34E1-2EAE-389ADB40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14399D-00A6-83D3-F057-DD851EEC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3DCBF7-DCB8-97D0-9B48-53FAAAEE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13689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C1427-6318-2045-963B-C6D9C3DB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ROLE OPERATORS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AEEA8E-217C-F24B-B22D-750F4CC21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 err="1"/>
              <a:t>Role</a:t>
            </a:r>
            <a:r>
              <a:rPr lang="it-IT" sz="2800" dirty="0"/>
              <a:t> </a:t>
            </a:r>
            <a:r>
              <a:rPr lang="it-IT" sz="2800" dirty="0" err="1"/>
              <a:t>constructors</a:t>
            </a:r>
            <a:endParaRPr lang="it-IT" sz="2800" dirty="0"/>
          </a:p>
          <a:p>
            <a:pPr lvl="1"/>
            <a:r>
              <a:rPr lang="it-IT" sz="2400" b="1" dirty="0"/>
              <a:t>Inverse</a:t>
            </a:r>
          </a:p>
          <a:p>
            <a:pPr lvl="1"/>
            <a:r>
              <a:rPr lang="it-IT" sz="2400" dirty="0" err="1"/>
              <a:t>Intersection</a:t>
            </a:r>
            <a:endParaRPr lang="it-IT" sz="2400" dirty="0"/>
          </a:p>
          <a:p>
            <a:pPr lvl="1"/>
            <a:r>
              <a:rPr lang="it-IT" sz="2400" b="1" dirty="0"/>
              <a:t>Union</a:t>
            </a:r>
          </a:p>
          <a:p>
            <a:pPr lvl="1"/>
            <a:r>
              <a:rPr lang="it-IT" sz="2400" dirty="0" err="1"/>
              <a:t>Complement</a:t>
            </a:r>
            <a:r>
              <a:rPr lang="it-IT" sz="2400" dirty="0"/>
              <a:t> </a:t>
            </a:r>
          </a:p>
          <a:p>
            <a:pPr lvl="1"/>
            <a:r>
              <a:rPr lang="it-IT" sz="2400" b="1" dirty="0"/>
              <a:t>Chain</a:t>
            </a:r>
          </a:p>
          <a:p>
            <a:pPr lvl="1"/>
            <a:r>
              <a:rPr lang="it-IT" sz="2400" b="1" dirty="0" err="1"/>
              <a:t>Reflexive</a:t>
            </a:r>
            <a:r>
              <a:rPr lang="it-IT" sz="2400" b="1" dirty="0"/>
              <a:t>-transitive </a:t>
            </a:r>
            <a:r>
              <a:rPr lang="it-IT" sz="2400" b="1" dirty="0" err="1"/>
              <a:t>closure</a:t>
            </a:r>
            <a:endParaRPr lang="it-IT" sz="2400" b="1" dirty="0"/>
          </a:p>
          <a:p>
            <a:pPr lvl="1"/>
            <a:r>
              <a:rPr lang="it-IT" sz="2400" b="1" dirty="0"/>
              <a:t>Identity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AB9DF67-BCC9-9645-9075-16B0F727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AD78DC-7ED2-EF40-B7D7-E42B84A4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55ABB2-8ECA-9E47-A65C-DD588041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24510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44EDA4-690C-E743-9441-522ADFEBD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 err="1"/>
              <a:t>ALCQI</a:t>
            </a:r>
            <a:r>
              <a:rPr lang="it-IT" sz="3600" baseline="-25000" dirty="0" err="1"/>
              <a:t>reg</a:t>
            </a:r>
            <a:endParaRPr lang="it-IT" sz="36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9E1658-384B-984A-9F18-03FF60F47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ALCQI</a:t>
            </a:r>
            <a:r>
              <a:rPr lang="it-IT" baseline="-25000" dirty="0" err="1"/>
              <a:t>reg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equipped</a:t>
            </a:r>
            <a:r>
              <a:rPr lang="it-IT" dirty="0"/>
              <a:t> with</a:t>
            </a:r>
          </a:p>
          <a:p>
            <a:pPr lvl="1"/>
            <a:r>
              <a:rPr lang="it-IT" dirty="0"/>
              <a:t>ALCN </a:t>
            </a:r>
            <a:r>
              <a:rPr lang="it-IT" dirty="0" err="1"/>
              <a:t>operators</a:t>
            </a:r>
            <a:endParaRPr lang="it-IT" dirty="0"/>
          </a:p>
          <a:p>
            <a:pPr lvl="1"/>
            <a:r>
              <a:rPr lang="it-IT" dirty="0" err="1"/>
              <a:t>Qualified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</a:t>
            </a:r>
            <a:r>
              <a:rPr lang="it-IT" dirty="0" err="1"/>
              <a:t>restrictions</a:t>
            </a:r>
            <a:endParaRPr lang="it-IT" dirty="0"/>
          </a:p>
          <a:p>
            <a:pPr lvl="1"/>
            <a:r>
              <a:rPr lang="it-IT" dirty="0"/>
              <a:t>The </a:t>
            </a:r>
            <a:r>
              <a:rPr lang="it-IT" dirty="0" err="1"/>
              <a:t>operators</a:t>
            </a:r>
            <a:r>
              <a:rPr lang="it-IT" dirty="0"/>
              <a:t> in </a:t>
            </a:r>
            <a:r>
              <a:rPr lang="it-IT" dirty="0" err="1"/>
              <a:t>bold</a:t>
            </a:r>
            <a:r>
              <a:rPr lang="it-IT" dirty="0"/>
              <a:t> </a:t>
            </a:r>
            <a:r>
              <a:rPr lang="it-IT" dirty="0" err="1"/>
              <a:t>above</a:t>
            </a:r>
            <a:r>
              <a:rPr lang="it-IT" dirty="0"/>
              <a:t> </a:t>
            </a:r>
          </a:p>
          <a:p>
            <a:pPr lvl="2"/>
            <a:r>
              <a:rPr lang="it-IT" sz="2000" b="1" dirty="0"/>
              <a:t>Inverse, Union, Chain, </a:t>
            </a:r>
            <a:r>
              <a:rPr lang="it-IT" sz="2000" b="1" dirty="0" err="1"/>
              <a:t>Reflexive</a:t>
            </a:r>
            <a:r>
              <a:rPr lang="it-IT" sz="2000" b="1" dirty="0"/>
              <a:t>-transitive </a:t>
            </a:r>
            <a:r>
              <a:rPr lang="it-IT" sz="2000" b="1" dirty="0" err="1"/>
              <a:t>closure</a:t>
            </a:r>
            <a:r>
              <a:rPr lang="it-IT" sz="2000" b="1" dirty="0"/>
              <a:t>, Identity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4F190C-EFE0-6945-9934-3905E9614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986F1A-5F24-2F46-B65A-DD8F6BA00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FE26D2-830F-8B4E-8D59-123F02552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657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66078D-C443-334F-AAED-E9CFFFC8F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SEMANTICS OF ROLE OPERATORS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2F39B3-15A2-734D-B723-170219E84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000" dirty="0"/>
              <a:t>(</a:t>
            </a:r>
            <a:r>
              <a:rPr lang="it-IT" sz="2000" dirty="0" err="1"/>
              <a:t>R</a:t>
            </a:r>
            <a:r>
              <a:rPr lang="it-IT" sz="2000" baseline="30000" dirty="0"/>
              <a:t>-</a:t>
            </a:r>
            <a:r>
              <a:rPr lang="it-IT" sz="2000" dirty="0"/>
              <a:t>)</a:t>
            </a:r>
            <a:r>
              <a:rPr lang="it-IT" sz="2000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I</a:t>
            </a:r>
            <a:r>
              <a:rPr lang="it-IT" sz="2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		=	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{(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 ∆</a:t>
            </a:r>
            <a:r>
              <a:rPr lang="it-IT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(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y,x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endParaRPr lang="it-IT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000" dirty="0"/>
              <a:t>(R∪S)</a:t>
            </a:r>
            <a:r>
              <a:rPr lang="it-IT" sz="2000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I	</a:t>
            </a:r>
            <a:r>
              <a:rPr lang="it-IT" sz="2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=	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{(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 ∆</a:t>
            </a:r>
            <a:r>
              <a:rPr lang="it-IT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(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∨ (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endParaRPr lang="it-IT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000" dirty="0"/>
              <a:t>(R∘S)</a:t>
            </a:r>
            <a:r>
              <a:rPr lang="it-IT" sz="2000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I</a:t>
            </a:r>
            <a:r>
              <a:rPr lang="it-IT" sz="2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	=	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{(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 ∆</a:t>
            </a:r>
            <a:r>
              <a:rPr lang="it-IT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∃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x,z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∧ (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z,y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endParaRPr lang="it-IT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000" dirty="0"/>
              <a:t>(</a:t>
            </a:r>
            <a:r>
              <a:rPr lang="it-IT" sz="2000" dirty="0" err="1"/>
              <a:t>R</a:t>
            </a:r>
            <a:r>
              <a:rPr lang="it-IT" sz="2000" baseline="30000" dirty="0"/>
              <a:t>*</a:t>
            </a:r>
            <a:r>
              <a:rPr lang="it-IT" sz="2000" dirty="0"/>
              <a:t>)</a:t>
            </a:r>
            <a:r>
              <a:rPr lang="it-IT" sz="2000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I</a:t>
            </a:r>
            <a:r>
              <a:rPr lang="it-IT" sz="2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		=	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{(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 ∆</a:t>
            </a:r>
            <a:r>
              <a:rPr lang="it-IT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∃z</a:t>
            </a:r>
            <a:r>
              <a:rPr lang="it-IT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,z</a:t>
            </a:r>
            <a:r>
              <a:rPr lang="it-IT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,…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it-IT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x=z</a:t>
            </a:r>
            <a:r>
              <a:rPr lang="it-IT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 y=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it-IT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∀i. 1≤i&lt;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(z</a:t>
            </a:r>
            <a:r>
              <a:rPr lang="it-IT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,z</a:t>
            </a:r>
            <a:r>
              <a:rPr lang="it-IT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i+1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endParaRPr lang="it-IT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000" dirty="0"/>
              <a:t>(id(C))</a:t>
            </a:r>
            <a:r>
              <a:rPr lang="it-IT" sz="2000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I</a:t>
            </a:r>
            <a:r>
              <a:rPr lang="it-IT" sz="2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	=	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{(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x,x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) ∈ ∆</a:t>
            </a:r>
            <a:r>
              <a:rPr lang="it-IT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. C(x)}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E0478A-CD99-A042-BBB7-AA179843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487E9B-0B58-C842-99C5-0E1BD55CC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421CBB-BAF3-4C4C-A49E-42A8A072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03659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BD59F6-9731-5B4D-81B7-93A7141B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400" dirty="0"/>
              <a:t>INTEREFERENCE BETWEEN </a:t>
            </a:r>
            <a:r>
              <a:rPr lang="it-IT" sz="2400" dirty="0" err="1"/>
              <a:t>Q</a:t>
            </a:r>
            <a:r>
              <a:rPr lang="it-IT" sz="2400" dirty="0"/>
              <a:t> AND CLOSURE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5823EA-DDB5-4440-90EE-7C01ECE84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For </a:t>
            </a:r>
            <a:r>
              <a:rPr lang="it-IT" dirty="0" err="1"/>
              <a:t>ALCQI</a:t>
            </a:r>
            <a:r>
              <a:rPr lang="it-IT" baseline="-25000" dirty="0" err="1"/>
              <a:t>reg</a:t>
            </a:r>
            <a:r>
              <a:rPr lang="it-IT" baseline="-25000" dirty="0"/>
              <a:t>  </a:t>
            </a:r>
            <a:r>
              <a:rPr lang="it-IT" dirty="0"/>
              <a:t>FMP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hold</a:t>
            </a:r>
            <a:endParaRPr lang="it-IT" dirty="0"/>
          </a:p>
          <a:p>
            <a:r>
              <a:rPr lang="it-IT" dirty="0" err="1"/>
              <a:t>Example</a:t>
            </a:r>
            <a:endParaRPr lang="it-IT" dirty="0"/>
          </a:p>
          <a:p>
            <a:pPr lvl="1"/>
            <a:r>
              <a:rPr lang="it-IT" dirty="0"/>
              <a:t>∀</a:t>
            </a:r>
            <a:r>
              <a:rPr lang="it-IT" dirty="0" err="1"/>
              <a:t>R</a:t>
            </a:r>
            <a:r>
              <a:rPr lang="it-IT" dirty="0"/>
              <a:t>*.∃</a:t>
            </a:r>
            <a:r>
              <a:rPr lang="it-IT" dirty="0" err="1"/>
              <a:t>R</a:t>
            </a:r>
            <a:r>
              <a:rPr lang="it-IT" dirty="0"/>
              <a:t>*.C ⊓∃</a:t>
            </a:r>
            <a:r>
              <a:rPr lang="it-IT" dirty="0" err="1"/>
              <a:t>R</a:t>
            </a:r>
            <a:r>
              <a:rPr lang="it-IT" dirty="0"/>
              <a:t>*.C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finite models and </a:t>
            </a:r>
            <a:r>
              <a:rPr lang="it-IT" dirty="0" err="1"/>
              <a:t>cannot</a:t>
            </a:r>
            <a:r>
              <a:rPr lang="it-IT" dirty="0"/>
              <a:t> be </a:t>
            </a:r>
            <a:r>
              <a:rPr lang="it-IT" dirty="0" err="1"/>
              <a:t>blocked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F24D7D-B432-A847-A46C-879C99E6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5DCD39-F19A-324D-81A7-737C22D4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47FD99-54F8-8448-9A10-B863044C9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24711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27C2F9-098F-9F44-A324-753FB6EC7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TABLEAU FOR ∀R.∃R.C ⊓ ∃R.C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322FAF-73DA-C14C-BA03-79981B003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BF5B41-2CDD-6D48-AB85-39D9022A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9E25E7-13AF-8A4C-BDCF-887EEFFD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30</a:t>
            </a:fld>
            <a:endParaRPr lang="it-IT" altLang="it-IT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860B311-B3E1-3741-97C7-85FF5905ECB1}"/>
              </a:ext>
            </a:extLst>
          </p:cNvPr>
          <p:cNvSpPr/>
          <p:nvPr/>
        </p:nvSpPr>
        <p:spPr>
          <a:xfrm>
            <a:off x="1286635" y="800940"/>
            <a:ext cx="5850540" cy="6256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1638"/>
            <a:r>
              <a:rPr lang="it-IT" dirty="0"/>
              <a:t>∀R.∃R.C(x) 	∃R.C(x)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991D916-DD5D-EB44-85F8-C9F55735E786}"/>
              </a:ext>
            </a:extLst>
          </p:cNvPr>
          <p:cNvSpPr/>
          <p:nvPr/>
        </p:nvSpPr>
        <p:spPr>
          <a:xfrm>
            <a:off x="1286635" y="1658190"/>
            <a:ext cx="5850540" cy="6256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1638"/>
            <a:r>
              <a:rPr lang="it-IT" dirty="0"/>
              <a:t>∀R.∃R.C(x) 	</a:t>
            </a:r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	C(y)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EC9148E-3497-5442-AAD7-95BF6F0B92A0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4211905" y="1426602"/>
            <a:ext cx="0" cy="23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D1E9066A-9EE7-8F45-8D09-EF3A85B1221D}"/>
              </a:ext>
            </a:extLst>
          </p:cNvPr>
          <p:cNvSpPr/>
          <p:nvPr/>
        </p:nvSpPr>
        <p:spPr>
          <a:xfrm>
            <a:off x="1286635" y="2515439"/>
            <a:ext cx="5850540" cy="9074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1638"/>
            <a:r>
              <a:rPr lang="it-IT" dirty="0"/>
              <a:t>∀R.∃R.C(x)	∃R.C(x)	</a:t>
            </a:r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	C(y)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767B6DDF-AB87-8444-ABE3-87D7532579BA}"/>
              </a:ext>
            </a:extLst>
          </p:cNvPr>
          <p:cNvCxnSpPr>
            <a:cxnSpLocks/>
            <a:stCxn id="12" idx="2"/>
            <a:endCxn id="22" idx="0"/>
          </p:cNvCxnSpPr>
          <p:nvPr/>
        </p:nvCxnSpPr>
        <p:spPr>
          <a:xfrm>
            <a:off x="4211905" y="2283852"/>
            <a:ext cx="0" cy="231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11FA4DF8-594D-F74B-A60D-82C222A3517F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4211905" y="3422930"/>
            <a:ext cx="0" cy="347958"/>
          </a:xfrm>
          <a:prstGeom prst="straightConnector1">
            <a:avLst/>
          </a:prstGeom>
          <a:ln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26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27C2F9-098F-9F44-A324-753FB6EC7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TABLEAU FOR ∀</a:t>
            </a:r>
            <a:r>
              <a:rPr lang="it-IT" sz="2800" dirty="0" err="1"/>
              <a:t>R</a:t>
            </a:r>
            <a:r>
              <a:rPr lang="it-IT" sz="2800" dirty="0"/>
              <a:t>*.∃</a:t>
            </a:r>
            <a:r>
              <a:rPr lang="it-IT" sz="2800" dirty="0" err="1"/>
              <a:t>R</a:t>
            </a:r>
            <a:r>
              <a:rPr lang="it-IT" sz="2800" dirty="0"/>
              <a:t>*.C ⊓ ∃</a:t>
            </a:r>
            <a:r>
              <a:rPr lang="it-IT" sz="2800" dirty="0" err="1"/>
              <a:t>R</a:t>
            </a:r>
            <a:r>
              <a:rPr lang="it-IT" sz="2800" dirty="0"/>
              <a:t>*.C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322FAF-73DA-C14C-BA03-79981B003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BF5B41-2CDD-6D48-AB85-39D9022A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9E25E7-13AF-8A4C-BDCF-887EEFFD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31</a:t>
            </a:fld>
            <a:endParaRPr lang="it-IT" altLang="it-IT" dirty="0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1E9066A-9EE7-8F45-8D09-EF3A85B1221D}"/>
              </a:ext>
            </a:extLst>
          </p:cNvPr>
          <p:cNvSpPr/>
          <p:nvPr/>
        </p:nvSpPr>
        <p:spPr>
          <a:xfrm>
            <a:off x="1646730" y="826597"/>
            <a:ext cx="5850540" cy="9074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1638"/>
            <a:r>
              <a:rPr lang="it-IT" dirty="0"/>
              <a:t>∀</a:t>
            </a:r>
            <a:r>
              <a:rPr lang="it-IT" dirty="0" err="1"/>
              <a:t>R</a:t>
            </a:r>
            <a:r>
              <a:rPr lang="it-IT" dirty="0"/>
              <a:t>*.∃</a:t>
            </a:r>
            <a:r>
              <a:rPr lang="it-IT" dirty="0" err="1"/>
              <a:t>R</a:t>
            </a:r>
            <a:r>
              <a:rPr lang="it-IT" dirty="0"/>
              <a:t>*.C(x)	∃</a:t>
            </a:r>
            <a:r>
              <a:rPr lang="it-IT" dirty="0" err="1"/>
              <a:t>R</a:t>
            </a:r>
            <a:r>
              <a:rPr lang="it-IT" dirty="0"/>
              <a:t>*.C(x)	</a:t>
            </a:r>
            <a:r>
              <a:rPr lang="it-IT" b="1" dirty="0" err="1">
                <a:solidFill>
                  <a:srgbClr val="7030A0"/>
                </a:solidFill>
              </a:rPr>
              <a:t>R</a:t>
            </a:r>
            <a:r>
              <a:rPr lang="it-IT" b="1" dirty="0">
                <a:solidFill>
                  <a:srgbClr val="7030A0"/>
                </a:solidFill>
              </a:rPr>
              <a:t>*(</a:t>
            </a:r>
            <a:r>
              <a:rPr lang="it-IT" b="1" dirty="0" err="1">
                <a:solidFill>
                  <a:srgbClr val="7030A0"/>
                </a:solidFill>
              </a:rPr>
              <a:t>x,y</a:t>
            </a:r>
            <a:r>
              <a:rPr lang="it-IT" b="1" dirty="0">
                <a:solidFill>
                  <a:srgbClr val="7030A0"/>
                </a:solidFill>
              </a:rPr>
              <a:t>)</a:t>
            </a:r>
            <a:r>
              <a:rPr lang="it-IT" dirty="0"/>
              <a:t>	C(y)</a:t>
            </a:r>
          </a:p>
          <a:p>
            <a:pPr marL="401638"/>
            <a:r>
              <a:rPr lang="it-IT" dirty="0" err="1"/>
              <a:t>R</a:t>
            </a:r>
            <a:r>
              <a:rPr lang="it-IT" dirty="0"/>
              <a:t>*(</a:t>
            </a:r>
            <a:r>
              <a:rPr lang="it-IT" dirty="0" err="1"/>
              <a:t>x,z</a:t>
            </a:r>
            <a:r>
              <a:rPr lang="it-IT" dirty="0"/>
              <a:t>)	</a:t>
            </a:r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z,y</a:t>
            </a:r>
            <a:r>
              <a:rPr lang="it-IT" dirty="0"/>
              <a:t>)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767B6DDF-AB87-8444-ABE3-87D7532579BA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4572000" y="595010"/>
            <a:ext cx="0" cy="231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tangolo 10">
            <a:extLst>
              <a:ext uri="{FF2B5EF4-FFF2-40B4-BE49-F238E27FC236}">
                <a16:creationId xmlns:a16="http://schemas.microsoft.com/office/drawing/2014/main" id="{FB578B39-6C11-5740-BC18-DD968DAE8925}"/>
              </a:ext>
            </a:extLst>
          </p:cNvPr>
          <p:cNvSpPr/>
          <p:nvPr/>
        </p:nvSpPr>
        <p:spPr>
          <a:xfrm>
            <a:off x="1646730" y="2056240"/>
            <a:ext cx="5850540" cy="11677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1638"/>
            <a:r>
              <a:rPr lang="it-IT" b="1" dirty="0">
                <a:solidFill>
                  <a:srgbClr val="7030A0"/>
                </a:solidFill>
              </a:rPr>
              <a:t>∀</a:t>
            </a:r>
            <a:r>
              <a:rPr lang="it-IT" b="1" dirty="0" err="1">
                <a:solidFill>
                  <a:srgbClr val="7030A0"/>
                </a:solidFill>
              </a:rPr>
              <a:t>R</a:t>
            </a:r>
            <a:r>
              <a:rPr lang="it-IT" b="1" dirty="0">
                <a:solidFill>
                  <a:srgbClr val="7030A0"/>
                </a:solidFill>
              </a:rPr>
              <a:t>*.∃</a:t>
            </a:r>
            <a:r>
              <a:rPr lang="it-IT" b="1" dirty="0" err="1">
                <a:solidFill>
                  <a:srgbClr val="7030A0"/>
                </a:solidFill>
              </a:rPr>
              <a:t>R</a:t>
            </a:r>
            <a:r>
              <a:rPr lang="it-IT" b="1" dirty="0">
                <a:solidFill>
                  <a:srgbClr val="7030A0"/>
                </a:solidFill>
              </a:rPr>
              <a:t>*.C(x)</a:t>
            </a:r>
            <a:r>
              <a:rPr lang="it-IT" dirty="0"/>
              <a:t>	</a:t>
            </a:r>
            <a:r>
              <a:rPr lang="it-IT" b="1" dirty="0" err="1"/>
              <a:t>R</a:t>
            </a:r>
            <a:r>
              <a:rPr lang="it-IT" b="1" dirty="0"/>
              <a:t>*(</a:t>
            </a:r>
            <a:r>
              <a:rPr lang="it-IT" b="1" dirty="0" err="1"/>
              <a:t>x,y</a:t>
            </a:r>
            <a:r>
              <a:rPr lang="it-IT" b="1" dirty="0"/>
              <a:t>)</a:t>
            </a:r>
            <a:r>
              <a:rPr lang="it-IT" dirty="0"/>
              <a:t>	C(y)	</a:t>
            </a:r>
          </a:p>
          <a:p>
            <a:pPr marL="401638"/>
            <a:r>
              <a:rPr lang="it-IT" b="1" dirty="0" err="1">
                <a:solidFill>
                  <a:srgbClr val="7030A0"/>
                </a:solidFill>
              </a:rPr>
              <a:t>R</a:t>
            </a:r>
            <a:r>
              <a:rPr lang="it-IT" b="1" dirty="0">
                <a:solidFill>
                  <a:srgbClr val="7030A0"/>
                </a:solidFill>
              </a:rPr>
              <a:t>*(</a:t>
            </a:r>
            <a:r>
              <a:rPr lang="it-IT" b="1" dirty="0" err="1">
                <a:solidFill>
                  <a:srgbClr val="7030A0"/>
                </a:solidFill>
              </a:rPr>
              <a:t>x,z</a:t>
            </a:r>
            <a:r>
              <a:rPr lang="it-IT" b="1" dirty="0">
                <a:solidFill>
                  <a:srgbClr val="7030A0"/>
                </a:solidFill>
              </a:rPr>
              <a:t>)</a:t>
            </a:r>
            <a:r>
              <a:rPr lang="it-IT" dirty="0"/>
              <a:t>	</a:t>
            </a:r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z,y</a:t>
            </a:r>
            <a:r>
              <a:rPr lang="it-IT" dirty="0"/>
              <a:t>)	∃</a:t>
            </a:r>
            <a:r>
              <a:rPr lang="it-IT" dirty="0" err="1"/>
              <a:t>R</a:t>
            </a:r>
            <a:r>
              <a:rPr lang="it-IT" dirty="0"/>
              <a:t>*.C(</a:t>
            </a:r>
            <a:r>
              <a:rPr lang="it-IT" dirty="0" err="1"/>
              <a:t>z</a:t>
            </a:r>
            <a:r>
              <a:rPr lang="it-IT" dirty="0"/>
              <a:t>)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77008B9-927B-E741-8DF6-10E1B58AB650}"/>
              </a:ext>
            </a:extLst>
          </p:cNvPr>
          <p:cNvCxnSpPr>
            <a:cxnSpLocks/>
            <a:stCxn id="22" idx="2"/>
            <a:endCxn id="11" idx="0"/>
          </p:cNvCxnSpPr>
          <p:nvPr/>
        </p:nvCxnSpPr>
        <p:spPr>
          <a:xfrm>
            <a:off x="4572000" y="1734088"/>
            <a:ext cx="0" cy="322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tangolo 15">
            <a:extLst>
              <a:ext uri="{FF2B5EF4-FFF2-40B4-BE49-F238E27FC236}">
                <a16:creationId xmlns:a16="http://schemas.microsoft.com/office/drawing/2014/main" id="{147F678D-3758-3C41-BB3B-04542E303DF0}"/>
              </a:ext>
            </a:extLst>
          </p:cNvPr>
          <p:cNvSpPr/>
          <p:nvPr/>
        </p:nvSpPr>
        <p:spPr>
          <a:xfrm>
            <a:off x="1704975" y="3409412"/>
            <a:ext cx="5850540" cy="12515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1638"/>
            <a:r>
              <a:rPr lang="it-IT" b="1" dirty="0">
                <a:solidFill>
                  <a:srgbClr val="7030A0"/>
                </a:solidFill>
              </a:rPr>
              <a:t>∀</a:t>
            </a:r>
            <a:r>
              <a:rPr lang="it-IT" b="1" dirty="0" err="1">
                <a:solidFill>
                  <a:srgbClr val="7030A0"/>
                </a:solidFill>
              </a:rPr>
              <a:t>R</a:t>
            </a:r>
            <a:r>
              <a:rPr lang="it-IT" b="1" dirty="0">
                <a:solidFill>
                  <a:srgbClr val="7030A0"/>
                </a:solidFill>
              </a:rPr>
              <a:t>*.∃</a:t>
            </a:r>
            <a:r>
              <a:rPr lang="it-IT" b="1" dirty="0" err="1">
                <a:solidFill>
                  <a:srgbClr val="7030A0"/>
                </a:solidFill>
              </a:rPr>
              <a:t>R</a:t>
            </a:r>
            <a:r>
              <a:rPr lang="it-IT" b="1" dirty="0">
                <a:solidFill>
                  <a:srgbClr val="7030A0"/>
                </a:solidFill>
              </a:rPr>
              <a:t>*.C(x)</a:t>
            </a:r>
            <a:r>
              <a:rPr lang="it-IT" dirty="0"/>
              <a:t>	</a:t>
            </a:r>
            <a:r>
              <a:rPr lang="it-IT" b="1" dirty="0" err="1"/>
              <a:t>R</a:t>
            </a:r>
            <a:r>
              <a:rPr lang="it-IT" b="1" dirty="0"/>
              <a:t>*(</a:t>
            </a:r>
            <a:r>
              <a:rPr lang="it-IT" b="1" dirty="0" err="1"/>
              <a:t>x,y</a:t>
            </a:r>
            <a:r>
              <a:rPr lang="it-IT" b="1" dirty="0"/>
              <a:t>)</a:t>
            </a:r>
            <a:r>
              <a:rPr lang="it-IT" dirty="0"/>
              <a:t>	C(y)	</a:t>
            </a:r>
          </a:p>
          <a:p>
            <a:pPr marL="401638"/>
            <a:r>
              <a:rPr lang="it-IT" dirty="0" err="1">
                <a:solidFill>
                  <a:schemeClr val="bg1"/>
                </a:solidFill>
              </a:rPr>
              <a:t>R</a:t>
            </a:r>
            <a:r>
              <a:rPr lang="it-IT" dirty="0">
                <a:solidFill>
                  <a:schemeClr val="bg1"/>
                </a:solidFill>
              </a:rPr>
              <a:t>*(</a:t>
            </a:r>
            <a:r>
              <a:rPr lang="it-IT" dirty="0" err="1">
                <a:solidFill>
                  <a:schemeClr val="bg1"/>
                </a:solidFill>
              </a:rPr>
              <a:t>x,z</a:t>
            </a:r>
            <a:r>
              <a:rPr lang="it-IT" dirty="0">
                <a:solidFill>
                  <a:schemeClr val="bg1"/>
                </a:solidFill>
              </a:rPr>
              <a:t>)</a:t>
            </a:r>
            <a:r>
              <a:rPr lang="it-IT" dirty="0"/>
              <a:t>	</a:t>
            </a:r>
            <a:r>
              <a:rPr lang="it-IT" dirty="0" err="1"/>
              <a:t>R</a:t>
            </a:r>
            <a:r>
              <a:rPr lang="it-IT" dirty="0"/>
              <a:t>(</a:t>
            </a:r>
            <a:r>
              <a:rPr lang="it-IT" dirty="0" err="1"/>
              <a:t>z,y</a:t>
            </a:r>
            <a:r>
              <a:rPr lang="it-IT" dirty="0"/>
              <a:t>)	∃</a:t>
            </a:r>
            <a:r>
              <a:rPr lang="it-IT" dirty="0" err="1"/>
              <a:t>R</a:t>
            </a:r>
            <a:r>
              <a:rPr lang="it-IT" dirty="0"/>
              <a:t>*.C(</a:t>
            </a:r>
            <a:r>
              <a:rPr lang="it-IT" dirty="0" err="1"/>
              <a:t>z</a:t>
            </a:r>
            <a:r>
              <a:rPr lang="it-IT" dirty="0"/>
              <a:t>)	</a:t>
            </a:r>
          </a:p>
          <a:p>
            <a:pPr marL="401638"/>
            <a:r>
              <a:rPr lang="it-IT" b="1" dirty="0" err="1">
                <a:solidFill>
                  <a:srgbClr val="7030A0"/>
                </a:solidFill>
              </a:rPr>
              <a:t>R</a:t>
            </a:r>
            <a:r>
              <a:rPr lang="it-IT" b="1" dirty="0">
                <a:solidFill>
                  <a:srgbClr val="7030A0"/>
                </a:solidFill>
              </a:rPr>
              <a:t>*(x</a:t>
            </a:r>
            <a:r>
              <a:rPr lang="it-IT" b="1">
                <a:solidFill>
                  <a:srgbClr val="7030A0"/>
                </a:solidFill>
              </a:rPr>
              <a:t>,</a:t>
            </a:r>
            <a:r>
              <a:rPr lang="it-IT" b="1" dirty="0" err="1">
                <a:solidFill>
                  <a:srgbClr val="7030A0"/>
                </a:solidFill>
              </a:rPr>
              <a:t>w</a:t>
            </a:r>
            <a:r>
              <a:rPr lang="it-IT" b="1" dirty="0">
                <a:solidFill>
                  <a:srgbClr val="7030A0"/>
                </a:solidFill>
              </a:rPr>
              <a:t>)</a:t>
            </a:r>
            <a:r>
              <a:rPr lang="it-IT" dirty="0"/>
              <a:t>	C(</a:t>
            </a:r>
            <a:r>
              <a:rPr lang="it-IT" dirty="0" err="1"/>
              <a:t>w</a:t>
            </a:r>
            <a:r>
              <a:rPr lang="it-IT" dirty="0"/>
              <a:t>)	…</a:t>
            </a:r>
          </a:p>
        </p:txBody>
      </p:sp>
    </p:spTree>
    <p:extLst>
      <p:ext uri="{BB962C8B-B14F-4D97-AF65-F5344CB8AC3E}">
        <p14:creationId xmlns:p14="http://schemas.microsoft.com/office/powerpoint/2010/main" val="695724693"/>
      </p:ext>
    </p:extLst>
  </p:cSld>
  <p:clrMapOvr>
    <a:masterClrMapping/>
  </p:clrMapOvr>
</p:sld>
</file>

<file path=ppt/theme/theme1.xml><?xml version="1.0" encoding="utf-8"?>
<a:theme xmlns:a="http://schemas.openxmlformats.org/drawingml/2006/main" name="ESD_new_GP">
  <a:themeElements>
    <a:clrScheme name="Impostazioni personalizzate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635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8235C985-55F2-4F87-A977-D8A70953F925}" vid="{F161873E-82B3-403B-879B-B3C589C61F8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ESD_new_GP</Template>
  <TotalTime>60437</TotalTime>
  <Words>1625</Words>
  <Application>Microsoft Macintosh PowerPoint</Application>
  <PresentationFormat>Presentazione su schermo (16:9)</PresentationFormat>
  <Paragraphs>237</Paragraphs>
  <Slides>31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7" baseType="lpstr">
      <vt:lpstr>Apple Chancery</vt:lpstr>
      <vt:lpstr>Arial</vt:lpstr>
      <vt:lpstr>Calibri</vt:lpstr>
      <vt:lpstr>Tahoma</vt:lpstr>
      <vt:lpstr>Wingdings</vt:lpstr>
      <vt:lpstr>ESD_new_GP</vt:lpstr>
      <vt:lpstr>KNOWLEDGE REPRESENTATION</vt:lpstr>
      <vt:lpstr>UNIT 3.3</vt:lpstr>
      <vt:lpstr>AGENDA</vt:lpstr>
      <vt:lpstr>Augmenting ALCN</vt:lpstr>
      <vt:lpstr>CONCEPT EXTENSIONS FOR ALCN</vt:lpstr>
      <vt:lpstr>QUALIFIED NUMBER RESTRICTIONS</vt:lpstr>
      <vt:lpstr>TABLEAU FOR Q</vt:lpstr>
      <vt:lpstr>TRIVIAL EXTENSION</vt:lpstr>
      <vt:lpstr>EXTENSION PROBLEMS</vt:lpstr>
      <vt:lpstr>NON DETERMINISM</vt:lpstr>
      <vt:lpstr>NOMINALS</vt:lpstr>
      <vt:lpstr>NOMINAL REDUCTION</vt:lpstr>
      <vt:lpstr>DL-SAFETY AND NOMINAL SCHEMA</vt:lpstr>
      <vt:lpstr>INTERNALIZING NOMINAL SCHEMATA</vt:lpstr>
      <vt:lpstr>NOM-QNR AND BLOCK</vt:lpstr>
      <vt:lpstr>COMBINATORICS AND RESTRICTIONS</vt:lpstr>
      <vt:lpstr>Roles</vt:lpstr>
      <vt:lpstr>ROLE EXTENSIONS</vt:lpstr>
      <vt:lpstr>FILL RESTRICTIONS</vt:lpstr>
      <vt:lpstr>ROLE CHAINS</vt:lpstr>
      <vt:lpstr>AGREEMENT</vt:lpstr>
      <vt:lpstr>Role box</vt:lpstr>
      <vt:lpstr>ROLE BOX</vt:lpstr>
      <vt:lpstr>NON-RELATIONAL ROLE BOX</vt:lpstr>
      <vt:lpstr>Defining roles</vt:lpstr>
      <vt:lpstr>ROLE OPERATORS</vt:lpstr>
      <vt:lpstr>ALCQIreg</vt:lpstr>
      <vt:lpstr>SEMANTICS OF ROLE OPERATORS</vt:lpstr>
      <vt:lpstr>INTEREFERENCE BETWEEN Q AND CLOSURE</vt:lpstr>
      <vt:lpstr>TABLEAU FOR ∀R.∃R.C ⊓ ∃R.C</vt:lpstr>
      <vt:lpstr>TABLEAU FOR ∀R*.∃R*.C ⊓ ∃R*.C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Stefano Spellini</dc:creator>
  <cp:lastModifiedBy>Matteo Cristani</cp:lastModifiedBy>
  <cp:revision>375</cp:revision>
  <dcterms:created xsi:type="dcterms:W3CDTF">2019-02-11T14:27:15Z</dcterms:created>
  <dcterms:modified xsi:type="dcterms:W3CDTF">2025-08-15T08:37:00Z</dcterms:modified>
</cp:coreProperties>
</file>