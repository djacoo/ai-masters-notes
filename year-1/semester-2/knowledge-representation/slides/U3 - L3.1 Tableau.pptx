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59" r:id="rId1"/>
  </p:sldMasterIdLst>
  <p:notesMasterIdLst>
    <p:notesMasterId r:id="rId26"/>
  </p:notesMasterIdLst>
  <p:handoutMasterIdLst>
    <p:handoutMasterId r:id="rId27"/>
  </p:handoutMasterIdLst>
  <p:sldIdLst>
    <p:sldId id="257" r:id="rId2"/>
    <p:sldId id="259" r:id="rId3"/>
    <p:sldId id="258" r:id="rId4"/>
    <p:sldId id="260" r:id="rId5"/>
    <p:sldId id="261" r:id="rId6"/>
    <p:sldId id="262" r:id="rId7"/>
    <p:sldId id="263" r:id="rId8"/>
    <p:sldId id="264" r:id="rId9"/>
    <p:sldId id="266" r:id="rId10"/>
    <p:sldId id="268" r:id="rId11"/>
    <p:sldId id="273" r:id="rId12"/>
    <p:sldId id="270" r:id="rId13"/>
    <p:sldId id="272" r:id="rId14"/>
    <p:sldId id="275" r:id="rId15"/>
    <p:sldId id="277" r:id="rId16"/>
    <p:sldId id="276" r:id="rId17"/>
    <p:sldId id="278" r:id="rId18"/>
    <p:sldId id="279" r:id="rId19"/>
    <p:sldId id="280" r:id="rId20"/>
    <p:sldId id="282" r:id="rId21"/>
    <p:sldId id="284" r:id="rId22"/>
    <p:sldId id="286" r:id="rId23"/>
    <p:sldId id="288" r:id="rId24"/>
    <p:sldId id="289" r:id="rId25"/>
  </p:sldIdLst>
  <p:sldSz cx="9144000" cy="5143500" type="screen16x9"/>
  <p:notesSz cx="6858000" cy="9144000"/>
  <p:defaultTextStyle>
    <a:defPPr>
      <a:defRPr lang="nl-NL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MS PGothic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MS PGothic" panose="020B0600070205080204" pitchFamily="34" charset="-128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0BBC78E2-DF3B-4DCE-83BB-1269F2F94E16}">
          <p14:sldIdLst>
            <p14:sldId id="257"/>
            <p14:sldId id="259"/>
            <p14:sldId id="258"/>
            <p14:sldId id="260"/>
            <p14:sldId id="261"/>
            <p14:sldId id="262"/>
            <p14:sldId id="263"/>
            <p14:sldId id="264"/>
            <p14:sldId id="266"/>
            <p14:sldId id="268"/>
            <p14:sldId id="273"/>
            <p14:sldId id="270"/>
            <p14:sldId id="272"/>
            <p14:sldId id="275"/>
            <p14:sldId id="277"/>
            <p14:sldId id="276"/>
            <p14:sldId id="278"/>
            <p14:sldId id="279"/>
            <p14:sldId id="280"/>
            <p14:sldId id="282"/>
            <p14:sldId id="284"/>
            <p14:sldId id="286"/>
            <p14:sldId id="288"/>
            <p14:sldId id="28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1665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stefano" initials="s" lastIdx="2" clrIdx="0"/>
  <p:cmAuthor id="1" name="Matteo Cristani" initials="MC" lastIdx="1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00000"/>
    <a:srgbClr val="640000"/>
    <a:srgbClr val="8C3836"/>
    <a:srgbClr val="FFFF99"/>
    <a:srgbClr val="AA00AA"/>
    <a:srgbClr val="98BDD6"/>
    <a:srgbClr val="287ECB"/>
    <a:srgbClr val="F0BC51"/>
    <a:srgbClr val="D1634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Stile medio 2 - Colore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69C7853C-536D-4A76-A0AE-DD22124D55A5}" styleName="Stile con tema 1 - Colore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141" autoAdjust="0"/>
    <p:restoredTop sz="86463"/>
  </p:normalViewPr>
  <p:slideViewPr>
    <p:cSldViewPr snapToGrid="0">
      <p:cViewPr varScale="1">
        <p:scale>
          <a:sx n="140" d="100"/>
          <a:sy n="140" d="100"/>
        </p:scale>
        <p:origin x="1312" y="192"/>
      </p:cViewPr>
      <p:guideLst>
        <p:guide orient="horz" pos="1620"/>
        <p:guide pos="2880"/>
        <p:guide orient="horz" pos="1665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-9928"/>
    </p:cViewPr>
  </p:sorter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handoutMaster" Target="handoutMasters/handoutMaster1.xml"/><Relationship Id="rId30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184E245-B5A0-47D5-87CC-147578DADA4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Tahoma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BBE7327-C872-472C-88D2-681BC8B0B85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/>
            </a:lvl1pPr>
          </a:lstStyle>
          <a:p>
            <a:pPr>
              <a:defRPr/>
            </a:pPr>
            <a:fld id="{C790A485-6416-43AD-8EA8-9AB4021210E8}" type="datetimeFigureOut">
              <a:rPr lang="en-US" altLang="it-IT"/>
              <a:pPr>
                <a:defRPr/>
              </a:pPr>
              <a:t>8/19/25</a:t>
            </a:fld>
            <a:endParaRPr lang="en-US" altLang="it-IT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3062B19-2075-46D4-90D4-88B66BAEC41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Tahoma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50A42C-D4BA-4B57-8810-2714EF7E80A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/>
            </a:lvl1pPr>
          </a:lstStyle>
          <a:p>
            <a:pPr>
              <a:defRPr/>
            </a:pPr>
            <a:fld id="{304743EB-F053-4EB0-B667-D66F0FE415E3}" type="slidenum">
              <a:rPr lang="en-US" altLang="it-IT"/>
              <a:pPr>
                <a:defRPr/>
              </a:pPr>
              <a:t>‹N›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152446904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E71CFC63-76EE-4C9F-A897-82314CDCE8F4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A9A7D3CE-DD5A-4884-90F5-F968DA0A7280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6628" name="Rectangle 4">
            <a:extLst>
              <a:ext uri="{FF2B5EF4-FFF2-40B4-BE49-F238E27FC236}">
                <a16:creationId xmlns:a16="http://schemas.microsoft.com/office/drawing/2014/main" id="{4804E0D8-8B5E-4615-B9C4-D99DA5FC313A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7" name="Rectangle 5">
            <a:extLst>
              <a:ext uri="{FF2B5EF4-FFF2-40B4-BE49-F238E27FC236}">
                <a16:creationId xmlns:a16="http://schemas.microsoft.com/office/drawing/2014/main" id="{3926CD4B-EA52-4A35-ACD1-53E31ED8E8E1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nl-NL" noProof="0"/>
              <a:t>Click to edit Master text styles</a:t>
            </a:r>
          </a:p>
          <a:p>
            <a:pPr lvl="1"/>
            <a:r>
              <a:rPr lang="nl-NL" noProof="0"/>
              <a:t>Second level</a:t>
            </a:r>
          </a:p>
          <a:p>
            <a:pPr lvl="2"/>
            <a:r>
              <a:rPr lang="nl-NL" noProof="0"/>
              <a:t>Third level</a:t>
            </a:r>
          </a:p>
          <a:p>
            <a:pPr lvl="3"/>
            <a:r>
              <a:rPr lang="nl-NL" noProof="0"/>
              <a:t>Fourth level</a:t>
            </a:r>
          </a:p>
          <a:p>
            <a:pPr lvl="4"/>
            <a:r>
              <a:rPr lang="nl-NL" noProof="0"/>
              <a:t>Fifth level</a:t>
            </a:r>
          </a:p>
        </p:txBody>
      </p:sp>
      <p:sp>
        <p:nvSpPr>
          <p:cNvPr id="8198" name="Rectangle 6">
            <a:extLst>
              <a:ext uri="{FF2B5EF4-FFF2-40B4-BE49-F238E27FC236}">
                <a16:creationId xmlns:a16="http://schemas.microsoft.com/office/drawing/2014/main" id="{C34C6D3B-D2DB-4D5F-B47B-BAC5A6830E3C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199" name="Rectangle 7">
            <a:extLst>
              <a:ext uri="{FF2B5EF4-FFF2-40B4-BE49-F238E27FC236}">
                <a16:creationId xmlns:a16="http://schemas.microsoft.com/office/drawing/2014/main" id="{A0687926-11A6-4219-AC1F-0E059A65D58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615E51E3-9A27-4F9D-92A0-CC2B6D7DC9D8}" type="slidenum">
              <a:rPr lang="nl-NL" altLang="it-IT"/>
              <a:pPr>
                <a:defRPr/>
              </a:pPr>
              <a:t>‹N›</a:t>
            </a:fld>
            <a:endParaRPr lang="nl-NL" altLang="it-IT"/>
          </a:p>
        </p:txBody>
      </p:sp>
    </p:spTree>
    <p:extLst>
      <p:ext uri="{BB962C8B-B14F-4D97-AF65-F5344CB8AC3E}">
        <p14:creationId xmlns:p14="http://schemas.microsoft.com/office/powerpoint/2010/main" val="393876535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MS PGothic" panose="020B0600070205080204" pitchFamily="34" charset="-128"/>
        <a:cs typeface="ＭＳ Ｐゴシック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MS PGothic" panose="020B0600070205080204" pitchFamily="34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>
            <a:extLst>
              <a:ext uri="{FF2B5EF4-FFF2-40B4-BE49-F238E27FC236}">
                <a16:creationId xmlns:a16="http://schemas.microsoft.com/office/drawing/2014/main" id="{7C57EF8F-8361-448B-B33D-B27F754A853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0DD545CD-AACE-464A-8873-AFDA579DE3B8}" type="slidenum">
              <a:rPr lang="nl-NL" altLang="it-IT">
                <a:latin typeface="Arial" panose="020B0604020202020204" pitchFamily="34" charset="0"/>
              </a:rPr>
              <a:pPr/>
              <a:t>1</a:t>
            </a:fld>
            <a:endParaRPr lang="nl-NL" altLang="it-IT">
              <a:latin typeface="Arial" panose="020B0604020202020204" pitchFamily="34" charset="0"/>
            </a:endParaRPr>
          </a:p>
        </p:txBody>
      </p:sp>
      <p:sp>
        <p:nvSpPr>
          <p:cNvPr id="29699" name="Rectangle 2">
            <a:extLst>
              <a:ext uri="{FF2B5EF4-FFF2-40B4-BE49-F238E27FC236}">
                <a16:creationId xmlns:a16="http://schemas.microsoft.com/office/drawing/2014/main" id="{7461A36A-26A4-442B-A193-C48F58FB7FD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9575" y="703263"/>
            <a:ext cx="6046788" cy="3402012"/>
          </a:xfrm>
          <a:ln/>
        </p:spPr>
      </p:sp>
      <p:sp>
        <p:nvSpPr>
          <p:cNvPr id="29700" name="Rectangle 3">
            <a:extLst>
              <a:ext uri="{FF2B5EF4-FFF2-40B4-BE49-F238E27FC236}">
                <a16:creationId xmlns:a16="http://schemas.microsoft.com/office/drawing/2014/main" id="{393DB840-CA14-4E5B-BB44-138D926D3BA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5988" y="4340225"/>
            <a:ext cx="5026025" cy="411638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7047" tIns="38524" rIns="77047" bIns="38524"/>
          <a:lstStyle/>
          <a:p>
            <a:pPr eaLnBrk="1" hangingPunct="1"/>
            <a:endParaRPr lang="en-US" altLang="it-IT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15E51E3-9A27-4F9D-92A0-CC2B6D7DC9D8}" type="slidenum">
              <a:rPr lang="nl-NL" altLang="it-IT" smtClean="0"/>
              <a:pPr>
                <a:defRPr/>
              </a:pPr>
              <a:t>17</a:t>
            </a:fld>
            <a:endParaRPr lang="nl-NL" altLang="it-IT"/>
          </a:p>
        </p:txBody>
      </p:sp>
    </p:spTree>
    <p:extLst>
      <p:ext uri="{BB962C8B-B14F-4D97-AF65-F5344CB8AC3E}">
        <p14:creationId xmlns:p14="http://schemas.microsoft.com/office/powerpoint/2010/main" val="1821579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685800" y="1597821"/>
            <a:ext cx="7772400" cy="1102519"/>
          </a:xfrm>
        </p:spPr>
        <p:txBody>
          <a:bodyPr/>
          <a:lstStyle>
            <a:lvl1pPr>
              <a:defRPr>
                <a:solidFill>
                  <a:srgbClr val="800000"/>
                </a:solidFill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/>
              <a:t>Fare clic per modificare lo stile del sottotitolo dello schema</a:t>
            </a:r>
            <a:endParaRPr lang="en-US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058F5CD9-6EAF-4B8B-9A4D-446D9D8220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>
                <a:solidFill>
                  <a:srgbClr val="800000"/>
                </a:solidFill>
              </a:defRPr>
            </a:lvl1pPr>
          </a:lstStyle>
          <a:p>
            <a:pPr>
              <a:defRPr/>
            </a:pPr>
            <a:r>
              <a:rPr lang="it-IT" altLang="it-IT"/>
              <a:t>TABLEAU FOR ALC(N)</a:t>
            </a:r>
            <a:endParaRPr lang="it-IT" alt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CF5EC06-D9EF-421D-B636-55F4AACA08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800000"/>
                </a:solidFill>
              </a:defRPr>
            </a:lvl1pPr>
          </a:lstStyle>
          <a:p>
            <a:pPr>
              <a:defRPr/>
            </a:pPr>
            <a:r>
              <a:rPr lang="en-US"/>
              <a:t>KR</a:t>
            </a:r>
            <a:endParaRPr lang="en-US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FBED50A0-78C5-42A3-8B38-E1A9DBE8C2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>
                <a:solidFill>
                  <a:srgbClr val="800000"/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1EE87F2A-AB2C-4D87-BCA6-9B3A24192F3A}" type="slidenum">
              <a:rPr lang="it-IT" altLang="it-IT" smtClean="0"/>
              <a:pPr>
                <a:defRPr/>
              </a:pPr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33710302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>
                <a:solidFill>
                  <a:srgbClr val="800000"/>
                </a:solidFill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Modifica gli stili del testo dello schema
Secondo livello
Terzo livello
Quarto livello
Quinto livello</a:t>
            </a:r>
            <a:endParaRPr lang="en-US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53EF3F9C-540B-468D-B525-7A1FFFBD55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495550" cy="274637"/>
          </a:xfrm>
        </p:spPr>
        <p:txBody>
          <a:bodyPr/>
          <a:lstStyle>
            <a:lvl1pPr>
              <a:defRPr smtClean="0">
                <a:solidFill>
                  <a:srgbClr val="800000"/>
                </a:solidFill>
              </a:defRPr>
            </a:lvl1pPr>
          </a:lstStyle>
          <a:p>
            <a:pPr>
              <a:defRPr/>
            </a:pPr>
            <a:r>
              <a:rPr lang="it-IT" altLang="it-IT"/>
              <a:t>TABLEAU FOR ALC(N)</a:t>
            </a:r>
            <a:endParaRPr lang="it-IT" alt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9FAC2101-7C3D-43D9-B409-B7ABFD750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800000"/>
                </a:solidFill>
              </a:defRPr>
            </a:lvl1pPr>
          </a:lstStyle>
          <a:p>
            <a:pPr>
              <a:defRPr/>
            </a:pPr>
            <a:r>
              <a:rPr lang="en-US"/>
              <a:t>KR</a:t>
            </a:r>
            <a:endParaRPr lang="en-US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8E01E8D0-7250-4243-89B8-07E48DFA9A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>
                <a:solidFill>
                  <a:srgbClr val="800000"/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43CD341D-7438-4FA4-973F-6F9EECBD14B9}" type="slidenum">
              <a:rPr lang="it-IT" altLang="it-IT" smtClean="0"/>
              <a:pPr>
                <a:defRPr/>
              </a:pPr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29858566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200" b="1" cap="small" baseline="0">
                <a:solidFill>
                  <a:srgbClr val="800000"/>
                </a:solidFill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Modifica gli stili del testo dello schema
Secondo livello
Terzo livello
Quarto livello
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D1FC1CC5-72B4-4175-96AC-0AAB76C5D9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 lang="it-IT" altLang="it-IT"/>
              <a:t>TABLEAU FOR ALC(N)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AFD2EC85-D444-4CAE-8A7C-2318EECBC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 lang="it-IT"/>
              <a:t>KR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AC7C0FDD-1C9E-4F9B-802B-D0D0B256B1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>
                <a:solidFill>
                  <a:srgbClr val="FFFFFF"/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6FA0980B-2DE9-40AD-8A4E-40673DB95E95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32689803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nu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800000"/>
                </a:solidFill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Modifica gli stili del testo dello schema
Secondo livello
Terzo livello
Quarto livello
Quinto livello</a:t>
            </a:r>
            <a:endParaRPr lang="en-US"/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Modifica gli stili del testo dello schema
Secondo livello
Terzo livello
Quarto livello
Quinto livello</a:t>
            </a:r>
            <a:endParaRPr lang="en-US"/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4BDFE60E-FCA5-4468-A238-A20DBCFC18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defTabSz="457200" eaLnBrk="1" hangingPunct="1">
              <a:defRPr smtClean="0">
                <a:solidFill>
                  <a:srgbClr val="800000"/>
                </a:solidFill>
              </a:defRPr>
            </a:lvl1pPr>
          </a:lstStyle>
          <a:p>
            <a:pPr>
              <a:defRPr/>
            </a:pPr>
            <a:r>
              <a:rPr lang="it-IT" altLang="it-IT"/>
              <a:t>TABLEAU FOR ALC(N)</a:t>
            </a:r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30C1C83E-6933-48CB-81DB-2D6C24A082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defTabSz="457200" eaLnBrk="1" fontAlgn="auto" hangingPunct="1">
              <a:spcBef>
                <a:spcPts val="0"/>
              </a:spcBef>
              <a:spcAft>
                <a:spcPts val="0"/>
              </a:spcAft>
              <a:defRPr>
                <a:solidFill>
                  <a:srgbClr val="800000"/>
                </a:solidFill>
              </a:defRPr>
            </a:lvl1pPr>
          </a:lstStyle>
          <a:p>
            <a:pPr>
              <a:defRPr/>
            </a:pPr>
            <a:r>
              <a:rPr lang="it-IT"/>
              <a:t>KR</a:t>
            </a:r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38580F37-86A5-4A66-88A3-29B44267A8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457200" eaLnBrk="1" hangingPunct="1">
              <a:defRPr smtClean="0">
                <a:solidFill>
                  <a:srgbClr val="800000"/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D754FAF7-AB3B-4F7E-9E4D-EFD1BDE13684}" type="slidenum">
              <a:rPr lang="it-IT" altLang="it-IT" smtClean="0"/>
              <a:pPr>
                <a:defRPr/>
              </a:pPr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10439691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800000"/>
                </a:solidFill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Modifica gli stili del testo dello schema
Secondo livello
Terzo livello
Quarto livello
Quinto livello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Modifica gli stili del testo dello schema
Secondo livello
Terzo livello
Quarto livello
Quinto livello</a:t>
            </a:r>
            <a:endParaRPr lang="en-US"/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4645030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Modifica gli stili del testo dello schema
Secondo livello
Terzo livello
Quarto livello
Quinto livello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4645030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Modifica gli stili del testo dello schema
Secondo livello
Terzo livello
Quarto livello
Quinto livello</a:t>
            </a:r>
            <a:endParaRPr lang="en-US"/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9C22FEF5-9EB2-453F-A5FE-EAB3C53E95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>
                <a:solidFill>
                  <a:srgbClr val="800000"/>
                </a:solidFill>
              </a:defRPr>
            </a:lvl1pPr>
          </a:lstStyle>
          <a:p>
            <a:pPr>
              <a:defRPr/>
            </a:pPr>
            <a:r>
              <a:rPr lang="it-IT" altLang="it-IT"/>
              <a:t>TABLEAU FOR ALC(N)</a:t>
            </a:r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58A33CE7-8F18-4DB0-B6A3-7B697BF445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800000"/>
                </a:solidFill>
              </a:defRPr>
            </a:lvl1pPr>
          </a:lstStyle>
          <a:p>
            <a:pPr>
              <a:defRPr/>
            </a:pPr>
            <a:r>
              <a:rPr lang="it-IT"/>
              <a:t>KR</a:t>
            </a:r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DF4923DE-6083-4153-995D-8F0374F86C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>
                <a:solidFill>
                  <a:srgbClr val="800000"/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1D30E12C-3274-4FAB-BA9C-E68E77B0C14D}" type="slidenum">
              <a:rPr lang="it-IT" altLang="it-IT" smtClean="0"/>
              <a:pPr>
                <a:defRPr/>
              </a:pPr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16185744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800000"/>
                </a:solidFill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5501FED8-2700-48C7-87EB-F70A681723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>
                <a:solidFill>
                  <a:srgbClr val="800000"/>
                </a:solidFill>
              </a:defRPr>
            </a:lvl1pPr>
          </a:lstStyle>
          <a:p>
            <a:pPr>
              <a:defRPr/>
            </a:pPr>
            <a:r>
              <a:rPr lang="it-IT" altLang="it-IT"/>
              <a:t>TABLEAU FOR ALC(N)</a:t>
            </a:r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C9426F0B-8BC6-4ADE-A8A8-5385F5179F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800000"/>
                </a:solidFill>
              </a:defRPr>
            </a:lvl1pPr>
          </a:lstStyle>
          <a:p>
            <a:pPr>
              <a:defRPr/>
            </a:pPr>
            <a:r>
              <a:rPr lang="it-IT"/>
              <a:t>KR</a:t>
            </a:r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B7582239-C1BB-485A-9FEE-F41A21AB9B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>
                <a:solidFill>
                  <a:srgbClr val="800000"/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ADF7909B-0F24-4DCB-B54E-6ED0CFB1C016}" type="slidenum">
              <a:rPr lang="it-IT" altLang="it-IT" smtClean="0"/>
              <a:pPr>
                <a:defRPr/>
              </a:pPr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23318243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71FE9452-6A85-432A-9499-56CE62AA34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defTabSz="457200" eaLnBrk="1" hangingPunct="1">
              <a:defRPr smtClean="0">
                <a:solidFill>
                  <a:srgbClr val="800000"/>
                </a:solidFill>
              </a:defRPr>
            </a:lvl1pPr>
          </a:lstStyle>
          <a:p>
            <a:pPr>
              <a:defRPr/>
            </a:pPr>
            <a:r>
              <a:rPr lang="it-IT" altLang="it-IT"/>
              <a:t>TABLEAU FOR ALC(N)</a:t>
            </a:r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640F88F0-4AAD-4067-8504-06A96A4C41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defTabSz="457200" eaLnBrk="1" fontAlgn="auto" hangingPunct="1">
              <a:spcBef>
                <a:spcPts val="0"/>
              </a:spcBef>
              <a:spcAft>
                <a:spcPts val="0"/>
              </a:spcAft>
              <a:defRPr>
                <a:solidFill>
                  <a:srgbClr val="800000"/>
                </a:solidFill>
              </a:defRPr>
            </a:lvl1pPr>
          </a:lstStyle>
          <a:p>
            <a:pPr>
              <a:defRPr/>
            </a:pPr>
            <a:r>
              <a:rPr lang="it-IT"/>
              <a:t>KR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E10A01D4-5A85-4F93-84CF-2B84CC80E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457200" eaLnBrk="1" hangingPunct="1">
              <a:defRPr smtClean="0">
                <a:solidFill>
                  <a:srgbClr val="800000"/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52D64222-F0E5-4BFA-B141-DC6F71D62566}" type="slidenum">
              <a:rPr lang="it-IT" altLang="it-IT" smtClean="0"/>
              <a:pPr>
                <a:defRPr/>
              </a:pPr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466681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5" y="204787"/>
            <a:ext cx="3008313" cy="871538"/>
          </a:xfrm>
        </p:spPr>
        <p:txBody>
          <a:bodyPr anchor="b"/>
          <a:lstStyle>
            <a:lvl1pPr algn="l">
              <a:defRPr sz="2000" b="1">
                <a:solidFill>
                  <a:srgbClr val="800000"/>
                </a:solidFill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3575050" y="204790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Modifica gli stili del testo dello schema
Secondo livello
Terzo livello
Quarto livello
Quinto livello</a:t>
            </a:r>
            <a:endParaRPr lang="en-US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457205" y="1076328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Modifica gli stili del testo dello schema
Secondo livello
Terzo livello
Quarto livello
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F6507EE9-0CDC-4148-8A28-DB77BBCD05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 lang="it-IT" altLang="it-IT"/>
              <a:t>TABLEAU FOR ALC(N)</a:t>
            </a:r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6722D2B5-089D-434E-80AE-5C832BCCC4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 lang="it-IT"/>
              <a:t>KR</a:t>
            </a:r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272FBC73-D206-45C1-96E4-53614CD92D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>
                <a:solidFill>
                  <a:srgbClr val="FFFFFF"/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D8476B2D-B94D-4307-9644-89F667858B30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36199646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it-IT" noProof="0"/>
              <a:t>Fare clic sull'icona per inserire un'immagine</a:t>
            </a:r>
            <a:endParaRPr lang="en-US" noProof="0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1792288" y="4025505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Modifica gli stili del testo dello schema
Secondo livello
Terzo livello
Quarto livello
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960E7B81-0415-45FD-AB81-D333AF2D05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 lang="it-IT" altLang="it-IT"/>
              <a:t>TABLEAU FOR ALC(N)</a:t>
            </a:r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93E77243-2F71-42BE-B622-2FC4DE67B6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 lang="it-IT"/>
              <a:t>KR</a:t>
            </a:r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4516188A-68ED-4AC6-B692-6ABAE89F00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>
                <a:solidFill>
                  <a:srgbClr val="FFFFFF"/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96B338B3-9BD9-4219-AABA-FCF7A675F8C6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3808167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800000"/>
                </a:solidFill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Modifica gli stili del testo dello schema
Secondo livello
Terzo livello
Quarto livello
Quinto livello</a:t>
            </a:r>
            <a:endParaRPr lang="en-US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F836C99A-F6EA-44E5-B86D-8086FD21BB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 lang="it-IT" altLang="it-IT"/>
              <a:t>TABLEAU FOR ALC(N)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FA73AB2F-0E00-4C92-A508-186E6FD6C6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 lang="it-IT"/>
              <a:t>KR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42268B54-0662-4EE2-B3E9-264D1DF0D0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>
                <a:solidFill>
                  <a:srgbClr val="FFFFFF"/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9F91C6E6-09D2-40BD-91F2-E474F31023E0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33557252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olo verticale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6629400" y="205980"/>
            <a:ext cx="2057400" cy="4388644"/>
          </a:xfrm>
        </p:spPr>
        <p:txBody>
          <a:bodyPr vert="eaVert"/>
          <a:lstStyle>
            <a:lvl1pPr>
              <a:defRPr>
                <a:solidFill>
                  <a:srgbClr val="800000"/>
                </a:solidFill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457200" y="205980"/>
            <a:ext cx="6019800" cy="4388644"/>
          </a:xfrm>
        </p:spPr>
        <p:txBody>
          <a:bodyPr vert="eaVert"/>
          <a:lstStyle/>
          <a:p>
            <a:pPr lvl="0"/>
            <a:r>
              <a:rPr lang="it-IT"/>
              <a:t>Modifica gli stili del testo dello schema
Secondo livello
Terzo livello
Quarto livello
Quinto livello</a:t>
            </a:r>
            <a:endParaRPr lang="en-US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81144EC7-064D-4629-A13E-BC17C0C7C7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defTabSz="457200" eaLnBrk="1" hangingPunct="1">
              <a:defRPr smtClean="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 lang="it-IT" altLang="it-IT"/>
              <a:t>TABLEAU FOR ALC(N)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1DBA2179-2FC3-4FAD-8BB0-1E9D316AFE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defTabSz="457200" eaLnBrk="1" fontAlgn="auto" hangingPunct="1">
              <a:spcBef>
                <a:spcPts val="0"/>
              </a:spcBef>
              <a:spcAft>
                <a:spcPts val="0"/>
              </a:spcAft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 lang="it-IT"/>
              <a:t>KR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DAA0186A-B7F0-4F3A-A07F-0F1394DB0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457200" eaLnBrk="1" hangingPunct="1">
              <a:defRPr smtClean="0">
                <a:solidFill>
                  <a:srgbClr val="FFFFFF"/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D87B9D4D-E2B4-4C02-A143-BFB594918081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15910950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Connettore 1 8">
            <a:extLst>
              <a:ext uri="{FF2B5EF4-FFF2-40B4-BE49-F238E27FC236}">
                <a16:creationId xmlns:a16="http://schemas.microsoft.com/office/drawing/2014/main" id="{3E4D53D9-0413-4E98-B30A-0911779B1CD8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0" y="136525"/>
            <a:ext cx="7924800" cy="0"/>
          </a:xfrm>
          <a:prstGeom prst="line">
            <a:avLst/>
          </a:prstGeom>
          <a:noFill/>
          <a:ln w="25400">
            <a:solidFill>
              <a:srgbClr val="953735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051" name="Segnaposto titolo 1">
            <a:extLst>
              <a:ext uri="{FF2B5EF4-FFF2-40B4-BE49-F238E27FC236}">
                <a16:creationId xmlns:a16="http://schemas.microsoft.com/office/drawing/2014/main" id="{AA9ADE31-466F-4A6E-B2C5-67CEBCE01D34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9525"/>
            <a:ext cx="8229600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it-IT" altLang="it-IT"/>
              <a:t>Fare clic per modificare stile</a:t>
            </a:r>
            <a:endParaRPr lang="en-US" altLang="it-IT"/>
          </a:p>
        </p:txBody>
      </p:sp>
      <p:sp>
        <p:nvSpPr>
          <p:cNvPr id="2052" name="Segnaposto testo 2">
            <a:extLst>
              <a:ext uri="{FF2B5EF4-FFF2-40B4-BE49-F238E27FC236}">
                <a16:creationId xmlns:a16="http://schemas.microsoft.com/office/drawing/2014/main" id="{11430D93-9A39-4E38-B62A-1CFA666B51B8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866775"/>
            <a:ext cx="8229600" cy="3727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it-IT" altLang="it-IT" dirty="0"/>
              <a:t>Fare clic per modificare gli stili del testo dello schema</a:t>
            </a:r>
          </a:p>
          <a:p>
            <a:pPr lvl="1"/>
            <a:r>
              <a:rPr lang="it-IT" altLang="it-IT" dirty="0"/>
              <a:t>Secondo livello</a:t>
            </a:r>
          </a:p>
          <a:p>
            <a:pPr lvl="2"/>
            <a:r>
              <a:rPr lang="it-IT" altLang="it-IT" dirty="0"/>
              <a:t>Terzo livello</a:t>
            </a:r>
          </a:p>
          <a:p>
            <a:pPr lvl="3"/>
            <a:r>
              <a:rPr lang="it-IT" altLang="it-IT" dirty="0"/>
              <a:t>Quarto livello</a:t>
            </a:r>
          </a:p>
          <a:p>
            <a:pPr lvl="4"/>
            <a:r>
              <a:rPr lang="it-IT" altLang="it-IT" dirty="0"/>
              <a:t>Quinto livello</a:t>
            </a:r>
            <a:endParaRPr lang="en-US" altLang="it-IT" dirty="0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E59039C1-3D31-4618-812B-62486E9A9CB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 smtClean="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r>
              <a:rPr lang="it-IT" altLang="it-IT"/>
              <a:t>TABLEAU FOR ALC(N)</a:t>
            </a:r>
            <a:endParaRPr lang="en-US" alt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99C481AF-DC48-4A15-B780-A6FE13CE1F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r>
              <a:rPr lang="en-US"/>
              <a:t>KR</a:t>
            </a:r>
            <a:endParaRPr lang="en-US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0915BA29-28F1-45BD-95D4-7D70F8E1C1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 smtClean="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07703C53-5324-49A8-8F9E-1D23D9472D20}" type="slidenum">
              <a:rPr lang="en-US" altLang="it-IT"/>
              <a:pPr>
                <a:defRPr/>
              </a:pPr>
              <a:t>‹N›</a:t>
            </a:fld>
            <a:endParaRPr lang="en-US" altLang="it-IT"/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9943039F-1152-7640-A8B6-3592FA14B476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8035975" y="18703"/>
            <a:ext cx="1108025" cy="39204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36" r:id="rId1"/>
    <p:sldLayoutId id="2147484037" r:id="rId2"/>
    <p:sldLayoutId id="2147484038" r:id="rId3"/>
    <p:sldLayoutId id="2147484039" r:id="rId4"/>
    <p:sldLayoutId id="2147484040" r:id="rId5"/>
    <p:sldLayoutId id="2147484041" r:id="rId6"/>
    <p:sldLayoutId id="2147484042" r:id="rId7"/>
    <p:sldLayoutId id="2147484043" r:id="rId8"/>
    <p:sldLayoutId id="2147484044" r:id="rId9"/>
    <p:sldLayoutId id="2147484045" r:id="rId10"/>
    <p:sldLayoutId id="2147484046" r:id="rId11"/>
  </p:sldLayoutIdLst>
  <p:hf hdr="0"/>
  <p:txStyles>
    <p:titleStyle>
      <a:lvl1pPr algn="ctr" defTabSz="457200" rtl="0" eaLnBrk="1" fontAlgn="base" hangingPunct="1">
        <a:spcBef>
          <a:spcPct val="0"/>
        </a:spcBef>
        <a:spcAft>
          <a:spcPct val="0"/>
        </a:spcAft>
        <a:defRPr sz="4400" kern="1200">
          <a:solidFill>
            <a:srgbClr val="800000"/>
          </a:solidFill>
          <a:latin typeface="+mj-lt"/>
          <a:ea typeface="MS PGothic" panose="020B0600070205080204" pitchFamily="34" charset="-128"/>
          <a:cs typeface="ＭＳ Ｐゴシック" charset="0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rgbClr val="800000"/>
          </a:solidFill>
          <a:latin typeface="Calibri" charset="0"/>
          <a:ea typeface="MS PGothic" panose="020B0600070205080204" pitchFamily="34" charset="-128"/>
          <a:cs typeface="ＭＳ Ｐゴシック" charset="0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rgbClr val="800000"/>
          </a:solidFill>
          <a:latin typeface="Calibri" charset="0"/>
          <a:ea typeface="MS PGothic" panose="020B0600070205080204" pitchFamily="34" charset="-128"/>
          <a:cs typeface="ＭＳ Ｐゴシック" charset="0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rgbClr val="800000"/>
          </a:solidFill>
          <a:latin typeface="Calibri" charset="0"/>
          <a:ea typeface="MS PGothic" panose="020B0600070205080204" pitchFamily="34" charset="-128"/>
          <a:cs typeface="ＭＳ Ｐゴシック" charset="0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rgbClr val="800000"/>
          </a:solidFill>
          <a:latin typeface="Calibri" charset="0"/>
          <a:ea typeface="MS PGothic" panose="020B0600070205080204" pitchFamily="34" charset="-128"/>
          <a:cs typeface="ＭＳ Ｐゴシック" charset="0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rgbClr val="800000"/>
          </a:solidFill>
          <a:latin typeface="Calibri" charset="0"/>
          <a:ea typeface="ＭＳ Ｐゴシック" charset="0"/>
          <a:cs typeface="ＭＳ Ｐゴシック" charset="0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rgbClr val="800000"/>
          </a:solidFill>
          <a:latin typeface="Calibri" charset="0"/>
          <a:ea typeface="ＭＳ Ｐゴシック" charset="0"/>
          <a:cs typeface="ＭＳ Ｐゴシック" charset="0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rgbClr val="800000"/>
          </a:solidFill>
          <a:latin typeface="Calibri" charset="0"/>
          <a:ea typeface="ＭＳ Ｐゴシック" charset="0"/>
          <a:cs typeface="ＭＳ Ｐゴシック" charset="0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rgbClr val="800000"/>
          </a:solidFill>
          <a:latin typeface="Calibri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MS PGothic" panose="020B0600070205080204" pitchFamily="34" charset="-128"/>
          <a:cs typeface="ＭＳ Ｐゴシック" charset="0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>
            <a:extLst>
              <a:ext uri="{FF2B5EF4-FFF2-40B4-BE49-F238E27FC236}">
                <a16:creationId xmlns:a16="http://schemas.microsoft.com/office/drawing/2014/main" id="{495ECE64-F2A7-4B42-9294-67E7C03112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38128" y="4092351"/>
            <a:ext cx="3348038" cy="622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7866" tIns="33338" rIns="67866" bIns="33338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it-IT" sz="1800" dirty="0">
                <a:latin typeface="Tahoma" panose="020B0604030504040204" pitchFamily="34" charset="0"/>
              </a:rPr>
              <a:t>Computer Science Department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it-IT" sz="1800" dirty="0">
                <a:latin typeface="Tahoma" panose="020B0604030504040204" pitchFamily="34" charset="0"/>
              </a:rPr>
              <a:t>University of Verona - Italy</a:t>
            </a: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B34E587E-09E1-4E74-AE2B-B98A49061505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93216" y="843558"/>
            <a:ext cx="7772400" cy="2088232"/>
          </a:xfrm>
          <a:effectLst>
            <a:outerShdw blurRad="63500" dist="81320" dir="2319588" algn="ctr" rotWithShape="0">
              <a:schemeClr val="bg2">
                <a:alpha val="74997"/>
              </a:schemeClr>
            </a:outerShdw>
          </a:effectLst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600" b="1" dirty="0">
                <a:ea typeface="+mj-ea"/>
                <a:cs typeface="+mj-cs"/>
              </a:rPr>
              <a:t>UNIT 3: PROPOSITIONAL DESCRIPTION LOGIC</a:t>
            </a:r>
            <a:endParaRPr lang="en-US" sz="3600" dirty="0">
              <a:ea typeface="+mj-ea"/>
              <a:cs typeface="+mj-cs"/>
            </a:endParaRPr>
          </a:p>
        </p:txBody>
      </p:sp>
      <p:pic>
        <p:nvPicPr>
          <p:cNvPr id="28677" name="Immagine 25" descr="univr-color.gif">
            <a:extLst>
              <a:ext uri="{FF2B5EF4-FFF2-40B4-BE49-F238E27FC236}">
                <a16:creationId xmlns:a16="http://schemas.microsoft.com/office/drawing/2014/main" id="{0F2A3EAB-47C4-4463-9952-A31D235A5E5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7141" y="3805014"/>
            <a:ext cx="109855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8678" name="CasellaDiTesto 1">
            <a:extLst>
              <a:ext uri="{FF2B5EF4-FFF2-40B4-BE49-F238E27FC236}">
                <a16:creationId xmlns:a16="http://schemas.microsoft.com/office/drawing/2014/main" id="{7FE76117-C115-45E9-82F7-562E82BF0E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04213" y="2008188"/>
            <a:ext cx="18415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it-IT" sz="1800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olo 6">
            <a:extLst>
              <a:ext uri="{FF2B5EF4-FFF2-40B4-BE49-F238E27FC236}">
                <a16:creationId xmlns:a16="http://schemas.microsoft.com/office/drawing/2014/main" id="{A695A689-5F5C-804A-9943-AD4ABE490B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UNIT 3: </a:t>
            </a:r>
            <a:r>
              <a:rPr lang="it-IT" dirty="0" err="1"/>
              <a:t>Introduction</a:t>
            </a:r>
            <a:r>
              <a:rPr lang="it-IT" dirty="0"/>
              <a:t> to Tableau</a:t>
            </a:r>
          </a:p>
        </p:txBody>
      </p:sp>
      <p:sp>
        <p:nvSpPr>
          <p:cNvPr id="8" name="Segnaposto testo 7">
            <a:extLst>
              <a:ext uri="{FF2B5EF4-FFF2-40B4-BE49-F238E27FC236}">
                <a16:creationId xmlns:a16="http://schemas.microsoft.com/office/drawing/2014/main" id="{BC5CACE8-2E8A-0C4B-A565-46435E77BB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LECTURE 3.1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840FDB8-1932-FA4F-B6CC-C1256E6CE7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it-IT" altLang="it-IT"/>
              <a:t>TABLEAU FOR ALC(N)</a:t>
            </a:r>
            <a:endParaRPr lang="it-IT" alt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EB73FFDE-035C-CD4A-8BA7-E5AF64FFDC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KR</a:t>
            </a:r>
            <a:endParaRPr lang="en-US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E7DD3695-C241-8941-BE6C-216E9002D4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D341D-7438-4FA4-973F-6F9EECBD14B9}" type="slidenum">
              <a:rPr lang="it-IT" altLang="it-IT" smtClean="0"/>
              <a:pPr>
                <a:defRPr/>
              </a:pPr>
              <a:t>2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42162886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68943C2-1BF3-814D-AD51-360886A6F2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AGENDA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2A8EC73-AE29-174A-9409-9E1D77ED30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A-boxes </a:t>
            </a:r>
            <a:r>
              <a:rPr lang="it-IT" dirty="0" err="1"/>
              <a:t>compatible</a:t>
            </a:r>
            <a:r>
              <a:rPr lang="it-IT" dirty="0"/>
              <a:t> with an </a:t>
            </a:r>
            <a:r>
              <a:rPr lang="it-IT" dirty="0" err="1"/>
              <a:t>expression</a:t>
            </a:r>
            <a:r>
              <a:rPr lang="it-IT" dirty="0"/>
              <a:t>
</a:t>
            </a:r>
            <a:r>
              <a:rPr lang="it-IT" dirty="0" err="1"/>
              <a:t>Rewriting</a:t>
            </a:r>
            <a:r>
              <a:rPr lang="it-IT" dirty="0"/>
              <a:t> A-box
Tableau Method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0BCCA933-E9FC-A04D-8D88-48D098753A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it-IT" altLang="it-IT"/>
              <a:t>TABLEAU FOR ALC(N)</a:t>
            </a:r>
            <a:endParaRPr lang="it-IT" alt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68BF436F-0F34-4245-A2A1-F9434F7B5F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KR</a:t>
            </a:r>
            <a:endParaRPr lang="en-US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D038573E-F780-954B-81CF-ABBA77A6CD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D341D-7438-4FA4-973F-6F9EECBD14B9}" type="slidenum">
              <a:rPr lang="it-IT" altLang="it-IT" smtClean="0"/>
              <a:pPr>
                <a:defRPr/>
              </a:pPr>
              <a:t>3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2940231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D87DC60-64B1-9A47-A2F3-BDB6F7E330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Compatibility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84466B9-88EB-1F4C-92C0-1D45ABB74C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An A-box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compatible</a:t>
            </a:r>
            <a:r>
              <a:rPr lang="it-IT" dirty="0"/>
              <a:t> with an ALC(</a:t>
            </a:r>
            <a:r>
              <a:rPr lang="it-IT" dirty="0" err="1"/>
              <a:t>N</a:t>
            </a:r>
            <a:r>
              <a:rPr lang="it-IT" dirty="0"/>
              <a:t>) </a:t>
            </a:r>
            <a:r>
              <a:rPr lang="it-IT" dirty="0" err="1"/>
              <a:t>expression</a:t>
            </a:r>
            <a:r>
              <a:rPr lang="it-IT" dirty="0"/>
              <a:t> </a:t>
            </a:r>
            <a:r>
              <a:rPr lang="it-IT" dirty="0" err="1"/>
              <a:t>when</a:t>
            </a:r>
            <a:r>
              <a:rPr lang="it-IT" dirty="0"/>
              <a:t> an </a:t>
            </a:r>
            <a:r>
              <a:rPr lang="it-IT" dirty="0" err="1"/>
              <a:t>element</a:t>
            </a:r>
            <a:r>
              <a:rPr lang="it-IT" dirty="0"/>
              <a:t> of the </a:t>
            </a:r>
            <a:r>
              <a:rPr lang="it-IT" dirty="0" err="1"/>
              <a:t>expression</a:t>
            </a:r>
            <a:r>
              <a:rPr lang="it-IT" dirty="0"/>
              <a:t> can be </a:t>
            </a:r>
            <a:r>
              <a:rPr lang="it-IT" dirty="0" err="1"/>
              <a:t>represented</a:t>
            </a:r>
            <a:r>
              <a:rPr lang="it-IT" dirty="0"/>
              <a:t> by the A-box </a:t>
            </a:r>
            <a:r>
              <a:rPr lang="it-IT" dirty="0" err="1"/>
              <a:t>itself</a:t>
            </a:r>
            <a:endParaRPr lang="it-IT" dirty="0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3EB3B2E5-0B52-4544-95DF-BEE656F8AC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it-IT" altLang="it-IT"/>
              <a:t>TABLEAU FOR ALC(N)</a:t>
            </a:r>
            <a:endParaRPr lang="it-IT" alt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5A55BADA-4297-F842-B396-D4CD6A7391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KR</a:t>
            </a:r>
            <a:endParaRPr lang="en-US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23CF453D-6CF9-974A-B2B1-345565880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D341D-7438-4FA4-973F-6F9EECBD14B9}" type="slidenum">
              <a:rPr lang="it-IT" altLang="it-IT" smtClean="0"/>
              <a:pPr>
                <a:defRPr/>
              </a:pPr>
              <a:t>4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9241310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E77AC72-8F53-9049-A63B-7C3DFF4920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Example</a:t>
            </a:r>
            <a:r>
              <a:rPr lang="it-IT" dirty="0"/>
              <a:t> (RULE 1)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4E8273D-DD67-064B-80D7-175D2C14F0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(∀R.E ⊔∃S.(D⊓E)) ⊓ (∃</a:t>
            </a:r>
            <a:r>
              <a:rPr lang="it-IT" dirty="0" err="1"/>
              <a:t>R</a:t>
            </a:r>
            <a:r>
              <a:rPr lang="it-IT" dirty="0"/>
              <a:t>.(¬D ⊔ ∀S.D))</a:t>
            </a:r>
          </a:p>
          <a:p>
            <a:r>
              <a:rPr lang="it-IT" dirty="0"/>
              <a:t>Suppose an </a:t>
            </a:r>
            <a:r>
              <a:rPr lang="it-IT" dirty="0" err="1"/>
              <a:t>element</a:t>
            </a:r>
            <a:r>
              <a:rPr lang="it-IT" dirty="0"/>
              <a:t> x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claimed</a:t>
            </a:r>
            <a:r>
              <a:rPr lang="it-IT" dirty="0"/>
              <a:t> to </a:t>
            </a:r>
            <a:r>
              <a:rPr lang="it-IT" dirty="0" err="1"/>
              <a:t>belong</a:t>
            </a:r>
            <a:r>
              <a:rPr lang="it-IT" dirty="0"/>
              <a:t> to the </a:t>
            </a:r>
            <a:r>
              <a:rPr lang="it-IT" dirty="0" err="1"/>
              <a:t>above</a:t>
            </a:r>
            <a:r>
              <a:rPr lang="it-IT" dirty="0"/>
              <a:t> concept;
</a:t>
            </a:r>
            <a:r>
              <a:rPr lang="it-IT" dirty="0" err="1"/>
              <a:t>Consequently</a:t>
            </a:r>
            <a:r>
              <a:rPr lang="it-IT" dirty="0"/>
              <a:t>, </a:t>
            </a:r>
            <a:r>
              <a:rPr lang="it-IT" dirty="0" err="1"/>
              <a:t>it</a:t>
            </a:r>
            <a:r>
              <a:rPr lang="it-IT" dirty="0"/>
              <a:t> </a:t>
            </a:r>
            <a:r>
              <a:rPr lang="it-IT" dirty="0" err="1"/>
              <a:t>belongs</a:t>
            </a:r>
            <a:r>
              <a:rPr lang="it-IT" dirty="0"/>
              <a:t> to </a:t>
            </a:r>
            <a:r>
              <a:rPr lang="it-IT" dirty="0" err="1"/>
              <a:t>both</a:t>
            </a:r>
            <a:r>
              <a:rPr lang="it-IT" dirty="0"/>
              <a:t> </a:t>
            </a:r>
            <a:r>
              <a:rPr lang="it-IT" dirty="0" err="1"/>
              <a:t>intersecting</a:t>
            </a:r>
            <a:r>
              <a:rPr lang="it-IT" dirty="0"/>
              <a:t> concepts.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16163B71-CB14-9241-A4B1-77F0162AF5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it-IT" altLang="it-IT"/>
              <a:t>TABLEAU FOR ALC(N)</a:t>
            </a:r>
            <a:endParaRPr lang="it-IT" alt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9E48E7E1-308F-8B42-BDEF-42DDA8F9E5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KR</a:t>
            </a:r>
            <a:endParaRPr lang="en-US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F88E0DC4-B8CC-9145-B0CE-264578602A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D341D-7438-4FA4-973F-6F9EECBD14B9}" type="slidenum">
              <a:rPr lang="it-IT" altLang="it-IT" smtClean="0"/>
              <a:pPr>
                <a:defRPr/>
              </a:pPr>
              <a:t>5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8442094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E5704AC-DF8B-9A45-9AD8-6FB0600FD0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REWRITING STRUCTURE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6ADD92B-ACC0-7F4F-916F-D3EBE3C2DE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66775"/>
            <a:ext cx="8229600" cy="2169723"/>
          </a:xfrm>
        </p:spPr>
        <p:txBody>
          <a:bodyPr/>
          <a:lstStyle/>
          <a:p>
            <a:r>
              <a:rPr lang="it-IT" dirty="0"/>
              <a:t>RULE 1: </a:t>
            </a:r>
            <a:r>
              <a:rPr lang="it-IT" dirty="0" err="1"/>
              <a:t>Any</a:t>
            </a:r>
            <a:r>
              <a:rPr lang="it-IT" dirty="0"/>
              <a:t> concept C for </a:t>
            </a:r>
            <a:r>
              <a:rPr lang="it-IT" dirty="0" err="1"/>
              <a:t>which</a:t>
            </a:r>
            <a:r>
              <a:rPr lang="it-IT" dirty="0"/>
              <a:t> x </a:t>
            </a:r>
            <a:r>
              <a:rPr lang="it-IT" dirty="0" err="1"/>
              <a:t>is</a:t>
            </a:r>
            <a:r>
              <a:rPr lang="it-IT" dirty="0"/>
              <a:t> an </a:t>
            </a:r>
            <a:r>
              <a:rPr lang="it-IT" dirty="0" err="1"/>
              <a:t>element</a:t>
            </a:r>
            <a:r>
              <a:rPr lang="it-IT" dirty="0"/>
              <a:t> of the extension of C, x </a:t>
            </a:r>
            <a:r>
              <a:rPr lang="it-IT" dirty="0" err="1"/>
              <a:t>belongs</a:t>
            </a:r>
            <a:r>
              <a:rPr lang="it-IT" dirty="0"/>
              <a:t> to </a:t>
            </a:r>
            <a:r>
              <a:rPr lang="it-IT" dirty="0" err="1"/>
              <a:t>all</a:t>
            </a:r>
            <a:r>
              <a:rPr lang="it-IT" dirty="0"/>
              <a:t> concepts </a:t>
            </a:r>
            <a:r>
              <a:rPr lang="it-IT" dirty="0" err="1"/>
              <a:t>joined</a:t>
            </a:r>
            <a:r>
              <a:rPr lang="it-IT" dirty="0"/>
              <a:t> in C</a:t>
            </a:r>
          </a:p>
          <a:p>
            <a:r>
              <a:rPr lang="it-IT" dirty="0">
                <a:highlight>
                  <a:srgbClr val="FFFF00"/>
                </a:highlight>
              </a:rPr>
              <a:t>C = A ⊓ B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rewritten</a:t>
            </a:r>
            <a:endParaRPr lang="it-IT" dirty="0"/>
          </a:p>
          <a:p>
            <a:pPr marL="457200" lvl="1" indent="0">
              <a:buNone/>
            </a:pPr>
            <a:endParaRPr lang="it-IT" dirty="0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0B7BB733-D119-6240-ADA3-2D466B5591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it-IT" altLang="it-IT"/>
              <a:t>TABLEAU FOR ALC(N)</a:t>
            </a:r>
            <a:endParaRPr lang="it-IT" alt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8F562A6D-E296-7640-8876-6B6459BB8C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KR</a:t>
            </a:r>
            <a:endParaRPr lang="en-US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D6C3BAFA-8340-B744-8B66-CCAA82CC1F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D341D-7438-4FA4-973F-6F9EECBD14B9}" type="slidenum">
              <a:rPr lang="it-IT" altLang="it-IT" smtClean="0"/>
              <a:pPr>
                <a:defRPr/>
              </a:pPr>
              <a:t>6</a:t>
            </a:fld>
            <a:endParaRPr lang="it-IT" altLang="it-IT"/>
          </a:p>
        </p:txBody>
      </p:sp>
      <p:sp>
        <p:nvSpPr>
          <p:cNvPr id="7" name="Rettangolo 6">
            <a:extLst>
              <a:ext uri="{FF2B5EF4-FFF2-40B4-BE49-F238E27FC236}">
                <a16:creationId xmlns:a16="http://schemas.microsoft.com/office/drawing/2014/main" id="{336426EA-0A64-5F44-9444-A597C0454F57}"/>
              </a:ext>
            </a:extLst>
          </p:cNvPr>
          <p:cNvSpPr/>
          <p:nvPr/>
        </p:nvSpPr>
        <p:spPr>
          <a:xfrm>
            <a:off x="1738222" y="3416440"/>
            <a:ext cx="2182483" cy="1103802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C(x)</a:t>
            </a:r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0E3D943C-20D1-5246-AB4E-3E931EDD2610}"/>
              </a:ext>
            </a:extLst>
          </p:cNvPr>
          <p:cNvSpPr/>
          <p:nvPr/>
        </p:nvSpPr>
        <p:spPr>
          <a:xfrm>
            <a:off x="5461958" y="3416440"/>
            <a:ext cx="2182483" cy="1103802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A(x)</a:t>
            </a:r>
          </a:p>
          <a:p>
            <a:pPr algn="ctr"/>
            <a:r>
              <a:rPr lang="it-IT" dirty="0"/>
              <a:t>B(x)</a:t>
            </a:r>
          </a:p>
        </p:txBody>
      </p:sp>
      <p:cxnSp>
        <p:nvCxnSpPr>
          <p:cNvPr id="10" name="Connettore 1 9">
            <a:extLst>
              <a:ext uri="{FF2B5EF4-FFF2-40B4-BE49-F238E27FC236}">
                <a16:creationId xmlns:a16="http://schemas.microsoft.com/office/drawing/2014/main" id="{D5BF6B86-AE04-7944-84BB-874A8924A191}"/>
              </a:ext>
            </a:extLst>
          </p:cNvPr>
          <p:cNvCxnSpPr>
            <a:cxnSpLocks/>
            <a:stCxn id="7" idx="3"/>
            <a:endCxn id="8" idx="1"/>
          </p:cNvCxnSpPr>
          <p:nvPr/>
        </p:nvCxnSpPr>
        <p:spPr>
          <a:xfrm>
            <a:off x="3920705" y="3968341"/>
            <a:ext cx="1541253" cy="0"/>
          </a:xfrm>
          <a:prstGeom prst="line">
            <a:avLst/>
          </a:prstGeom>
          <a:ln>
            <a:headEnd w="lg" len="lg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949475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44BC5F6-1F6F-D14E-B95A-3179D7D118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EXAMPLE (</a:t>
            </a:r>
            <a:r>
              <a:rPr lang="it-IT" dirty="0" err="1"/>
              <a:t>ctd</a:t>
            </a:r>
            <a:r>
              <a:rPr lang="it-IT" dirty="0"/>
              <a:t>)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795D7A5D-C3D4-F643-AE12-2E3BD9CDC1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it-IT" altLang="it-IT"/>
              <a:t>TABLEAU FOR ALC(N)</a:t>
            </a:r>
            <a:endParaRPr lang="it-IT" alt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6C68758-9A35-1542-9FA4-7855890D3A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KR</a:t>
            </a:r>
            <a:endParaRPr lang="en-US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09F582C0-A188-0843-A632-ED52F6B312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D341D-7438-4FA4-973F-6F9EECBD14B9}" type="slidenum">
              <a:rPr lang="it-IT" altLang="it-IT" smtClean="0"/>
              <a:pPr>
                <a:defRPr/>
              </a:pPr>
              <a:t>7</a:t>
            </a:fld>
            <a:endParaRPr lang="it-IT" altLang="it-IT"/>
          </a:p>
        </p:txBody>
      </p:sp>
      <p:sp>
        <p:nvSpPr>
          <p:cNvPr id="7" name="Rettangolo 6">
            <a:extLst>
              <a:ext uri="{FF2B5EF4-FFF2-40B4-BE49-F238E27FC236}">
                <a16:creationId xmlns:a16="http://schemas.microsoft.com/office/drawing/2014/main" id="{20B2AD64-2BB6-124C-8445-2263BC7C64E8}"/>
              </a:ext>
            </a:extLst>
          </p:cNvPr>
          <p:cNvSpPr/>
          <p:nvPr/>
        </p:nvSpPr>
        <p:spPr>
          <a:xfrm>
            <a:off x="2705397" y="959486"/>
            <a:ext cx="3959051" cy="1103802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(∀R.E ⊔∃S.(D⊓E)) ⊓ (∃</a:t>
            </a:r>
            <a:r>
              <a:rPr lang="it-IT" dirty="0" err="1"/>
              <a:t>R</a:t>
            </a:r>
            <a:r>
              <a:rPr lang="it-IT" dirty="0"/>
              <a:t>.(¬D ⊔ ∀S.D))(x)</a:t>
            </a:r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ECA265BF-C7AB-AB48-8AB5-239C0ABBEB09}"/>
              </a:ext>
            </a:extLst>
          </p:cNvPr>
          <p:cNvSpPr/>
          <p:nvPr/>
        </p:nvSpPr>
        <p:spPr>
          <a:xfrm>
            <a:off x="2705397" y="3080213"/>
            <a:ext cx="3959050" cy="1103802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(∀R.E ⊔∃S.(D⊓E))(x)</a:t>
            </a:r>
          </a:p>
          <a:p>
            <a:pPr algn="ctr"/>
            <a:r>
              <a:rPr lang="it-IT" dirty="0"/>
              <a:t>(∃</a:t>
            </a:r>
            <a:r>
              <a:rPr lang="it-IT" dirty="0" err="1"/>
              <a:t>R</a:t>
            </a:r>
            <a:r>
              <a:rPr lang="it-IT" dirty="0"/>
              <a:t>.(¬D ⊔ ∀S.D))(x)</a:t>
            </a:r>
          </a:p>
        </p:txBody>
      </p:sp>
      <p:cxnSp>
        <p:nvCxnSpPr>
          <p:cNvPr id="9" name="Connettore 1 8">
            <a:extLst>
              <a:ext uri="{FF2B5EF4-FFF2-40B4-BE49-F238E27FC236}">
                <a16:creationId xmlns:a16="http://schemas.microsoft.com/office/drawing/2014/main" id="{B109D3AC-5936-3E48-A237-288490F3213A}"/>
              </a:ext>
            </a:extLst>
          </p:cNvPr>
          <p:cNvCxnSpPr>
            <a:cxnSpLocks/>
            <a:stCxn id="7" idx="2"/>
            <a:endCxn id="8" idx="0"/>
          </p:cNvCxnSpPr>
          <p:nvPr/>
        </p:nvCxnSpPr>
        <p:spPr>
          <a:xfrm flipH="1">
            <a:off x="4684922" y="2063288"/>
            <a:ext cx="1" cy="1016925"/>
          </a:xfrm>
          <a:prstGeom prst="line">
            <a:avLst/>
          </a:prstGeom>
          <a:ln>
            <a:headEnd w="lg" len="lg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893517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BEB8E03-3D91-5E4C-8652-2ABDA1FBD9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DISJUNCTION REWRITING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168DB5E-4BE8-BB46-8753-C84F6B7962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66775"/>
            <a:ext cx="8229600" cy="2144782"/>
          </a:xfrm>
        </p:spPr>
        <p:txBody>
          <a:bodyPr/>
          <a:lstStyle/>
          <a:p>
            <a:r>
              <a:rPr lang="it-IT" dirty="0"/>
              <a:t>RULE 2: </a:t>
            </a:r>
            <a:r>
              <a:rPr lang="it-IT" dirty="0" err="1"/>
              <a:t>Any</a:t>
            </a:r>
            <a:r>
              <a:rPr lang="it-IT" dirty="0"/>
              <a:t> concept C for </a:t>
            </a:r>
            <a:r>
              <a:rPr lang="it-IT" dirty="0" err="1"/>
              <a:t>which</a:t>
            </a:r>
            <a:r>
              <a:rPr lang="it-IT" dirty="0"/>
              <a:t> x </a:t>
            </a:r>
            <a:r>
              <a:rPr lang="it-IT" dirty="0" err="1"/>
              <a:t>is</a:t>
            </a:r>
            <a:r>
              <a:rPr lang="it-IT" dirty="0"/>
              <a:t> an </a:t>
            </a:r>
            <a:r>
              <a:rPr lang="it-IT" dirty="0" err="1"/>
              <a:t>element</a:t>
            </a:r>
            <a:r>
              <a:rPr lang="it-IT" dirty="0"/>
              <a:t> of the extension of C, </a:t>
            </a:r>
            <a:r>
              <a:rPr lang="it-IT" dirty="0" err="1"/>
              <a:t>belongs</a:t>
            </a:r>
            <a:r>
              <a:rPr lang="it-IT" dirty="0"/>
              <a:t> to </a:t>
            </a:r>
            <a:r>
              <a:rPr lang="it-IT" dirty="0" err="1"/>
              <a:t>at</a:t>
            </a:r>
            <a:r>
              <a:rPr lang="it-IT" dirty="0"/>
              <a:t> </a:t>
            </a:r>
            <a:r>
              <a:rPr lang="it-IT" dirty="0" err="1"/>
              <a:t>least</a:t>
            </a:r>
            <a:r>
              <a:rPr lang="it-IT" dirty="0"/>
              <a:t> one of the </a:t>
            </a:r>
            <a:r>
              <a:rPr lang="it-IT" dirty="0" err="1"/>
              <a:t>disjoint</a:t>
            </a:r>
            <a:r>
              <a:rPr lang="it-IT" dirty="0"/>
              <a:t> concepts in C</a:t>
            </a:r>
          </a:p>
          <a:p>
            <a:pPr lvl="1"/>
            <a:r>
              <a:rPr lang="it-IT" dirty="0">
                <a:highlight>
                  <a:srgbClr val="FFFF00"/>
                </a:highlight>
              </a:rPr>
              <a:t>C = A ⊔ B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rewritten</a:t>
            </a:r>
            <a:endParaRPr lang="it-IT" dirty="0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C064FD56-CFBD-534E-BF50-7D8B81D97D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it-IT" altLang="it-IT"/>
              <a:t>TABLEAU FOR ALC(N)</a:t>
            </a:r>
            <a:endParaRPr lang="it-IT" alt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55212CB6-D70B-584C-9D22-D32850D26D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KR</a:t>
            </a:r>
            <a:endParaRPr lang="en-US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54A9E357-8F55-1D47-B489-C83B4222B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D341D-7438-4FA4-973F-6F9EECBD14B9}" type="slidenum">
              <a:rPr lang="it-IT" altLang="it-IT" smtClean="0"/>
              <a:pPr>
                <a:defRPr/>
              </a:pPr>
              <a:t>8</a:t>
            </a:fld>
            <a:endParaRPr lang="it-IT" altLang="it-IT"/>
          </a:p>
        </p:txBody>
      </p:sp>
      <p:sp>
        <p:nvSpPr>
          <p:cNvPr id="7" name="Rettangolo 6">
            <a:extLst>
              <a:ext uri="{FF2B5EF4-FFF2-40B4-BE49-F238E27FC236}">
                <a16:creationId xmlns:a16="http://schemas.microsoft.com/office/drawing/2014/main" id="{FBF651F5-0B86-C345-8436-451041ABC4A1}"/>
              </a:ext>
            </a:extLst>
          </p:cNvPr>
          <p:cNvSpPr/>
          <p:nvPr/>
        </p:nvSpPr>
        <p:spPr>
          <a:xfrm>
            <a:off x="457200" y="3364629"/>
            <a:ext cx="2182483" cy="48757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C(x)</a:t>
            </a:r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9D8449DF-7670-284E-8EA9-B3524D8B4C24}"/>
              </a:ext>
            </a:extLst>
          </p:cNvPr>
          <p:cNvSpPr/>
          <p:nvPr/>
        </p:nvSpPr>
        <p:spPr>
          <a:xfrm>
            <a:off x="5461958" y="3868807"/>
            <a:ext cx="2182483" cy="651435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B(x)</a:t>
            </a:r>
          </a:p>
        </p:txBody>
      </p:sp>
      <p:cxnSp>
        <p:nvCxnSpPr>
          <p:cNvPr id="9" name="Connettore 1 8">
            <a:extLst>
              <a:ext uri="{FF2B5EF4-FFF2-40B4-BE49-F238E27FC236}">
                <a16:creationId xmlns:a16="http://schemas.microsoft.com/office/drawing/2014/main" id="{6E40F5D6-25DE-A543-B1E1-33A28452912E}"/>
              </a:ext>
            </a:extLst>
          </p:cNvPr>
          <p:cNvCxnSpPr>
            <a:cxnSpLocks/>
            <a:stCxn id="7" idx="3"/>
            <a:endCxn id="8" idx="1"/>
          </p:cNvCxnSpPr>
          <p:nvPr/>
        </p:nvCxnSpPr>
        <p:spPr>
          <a:xfrm>
            <a:off x="2639683" y="3608417"/>
            <a:ext cx="2822275" cy="586108"/>
          </a:xfrm>
          <a:prstGeom prst="line">
            <a:avLst/>
          </a:prstGeom>
          <a:ln>
            <a:headEnd w="lg" len="lg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ttangolo 11">
            <a:extLst>
              <a:ext uri="{FF2B5EF4-FFF2-40B4-BE49-F238E27FC236}">
                <a16:creationId xmlns:a16="http://schemas.microsoft.com/office/drawing/2014/main" id="{DC4FA0B8-A8F0-4946-95F3-8633BBE5100C}"/>
              </a:ext>
            </a:extLst>
          </p:cNvPr>
          <p:cNvSpPr/>
          <p:nvPr/>
        </p:nvSpPr>
        <p:spPr>
          <a:xfrm>
            <a:off x="5461957" y="2765007"/>
            <a:ext cx="2182483" cy="61622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A(x)</a:t>
            </a:r>
          </a:p>
        </p:txBody>
      </p:sp>
      <p:cxnSp>
        <p:nvCxnSpPr>
          <p:cNvPr id="14" name="Connettore 1 13">
            <a:extLst>
              <a:ext uri="{FF2B5EF4-FFF2-40B4-BE49-F238E27FC236}">
                <a16:creationId xmlns:a16="http://schemas.microsoft.com/office/drawing/2014/main" id="{9458F80B-2C58-6242-972F-842B642A5A86}"/>
              </a:ext>
            </a:extLst>
          </p:cNvPr>
          <p:cNvCxnSpPr>
            <a:cxnSpLocks/>
            <a:stCxn id="7" idx="3"/>
            <a:endCxn id="12" idx="1"/>
          </p:cNvCxnSpPr>
          <p:nvPr/>
        </p:nvCxnSpPr>
        <p:spPr>
          <a:xfrm flipV="1">
            <a:off x="2639683" y="3073120"/>
            <a:ext cx="2822274" cy="535297"/>
          </a:xfrm>
          <a:prstGeom prst="line">
            <a:avLst/>
          </a:prstGeom>
          <a:ln>
            <a:headEnd w="lg" len="lg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01838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44BC5F6-1F6F-D14E-B95A-3179D7D118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EXAMPLE (</a:t>
            </a:r>
            <a:r>
              <a:rPr lang="it-IT" dirty="0" err="1"/>
              <a:t>ctd</a:t>
            </a:r>
            <a:r>
              <a:rPr lang="it-IT" dirty="0"/>
              <a:t>)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795D7A5D-C3D4-F643-AE12-2E3BD9CDC1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it-IT" altLang="it-IT"/>
              <a:t>TABLEAU FOR ALC(N)</a:t>
            </a:r>
            <a:endParaRPr lang="it-IT" alt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6C68758-9A35-1542-9FA4-7855890D3A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KR</a:t>
            </a:r>
            <a:endParaRPr lang="en-US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09F582C0-A188-0843-A632-ED52F6B312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D341D-7438-4FA4-973F-6F9EECBD14B9}" type="slidenum">
              <a:rPr lang="it-IT" altLang="it-IT" smtClean="0"/>
              <a:pPr>
                <a:defRPr/>
              </a:pPr>
              <a:t>9</a:t>
            </a:fld>
            <a:endParaRPr lang="it-IT" altLang="it-IT"/>
          </a:p>
        </p:txBody>
      </p:sp>
      <p:sp>
        <p:nvSpPr>
          <p:cNvPr id="7" name="Rettangolo 6">
            <a:extLst>
              <a:ext uri="{FF2B5EF4-FFF2-40B4-BE49-F238E27FC236}">
                <a16:creationId xmlns:a16="http://schemas.microsoft.com/office/drawing/2014/main" id="{20B2AD64-2BB6-124C-8445-2263BC7C64E8}"/>
              </a:ext>
            </a:extLst>
          </p:cNvPr>
          <p:cNvSpPr/>
          <p:nvPr/>
        </p:nvSpPr>
        <p:spPr>
          <a:xfrm>
            <a:off x="2705397" y="959486"/>
            <a:ext cx="3959051" cy="490537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(∀R.E ⊔∃S.(D⊓E)) ⊓ (∃</a:t>
            </a:r>
            <a:r>
              <a:rPr lang="it-IT" dirty="0" err="1"/>
              <a:t>R</a:t>
            </a:r>
            <a:r>
              <a:rPr lang="it-IT" dirty="0"/>
              <a:t>.(¬D ⊔ ∀S.D))(x)</a:t>
            </a:r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ECA265BF-C7AB-AB48-8AB5-239C0ABBEB09}"/>
              </a:ext>
            </a:extLst>
          </p:cNvPr>
          <p:cNvSpPr/>
          <p:nvPr/>
        </p:nvSpPr>
        <p:spPr>
          <a:xfrm>
            <a:off x="2705396" y="1818861"/>
            <a:ext cx="3959050" cy="62580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(∀R.E ⊔∃S.(D⊓E))(x)</a:t>
            </a:r>
          </a:p>
          <a:p>
            <a:pPr algn="ctr"/>
            <a:r>
              <a:rPr lang="it-IT" dirty="0"/>
              <a:t>(∃</a:t>
            </a:r>
            <a:r>
              <a:rPr lang="it-IT" dirty="0" err="1"/>
              <a:t>R</a:t>
            </a:r>
            <a:r>
              <a:rPr lang="it-IT" dirty="0"/>
              <a:t>.(¬D ⊔ ∀S.D))(x)</a:t>
            </a:r>
          </a:p>
        </p:txBody>
      </p:sp>
      <p:cxnSp>
        <p:nvCxnSpPr>
          <p:cNvPr id="9" name="Connettore 1 8">
            <a:extLst>
              <a:ext uri="{FF2B5EF4-FFF2-40B4-BE49-F238E27FC236}">
                <a16:creationId xmlns:a16="http://schemas.microsoft.com/office/drawing/2014/main" id="{B109D3AC-5936-3E48-A237-288490F3213A}"/>
              </a:ext>
            </a:extLst>
          </p:cNvPr>
          <p:cNvCxnSpPr>
            <a:cxnSpLocks/>
            <a:stCxn id="7" idx="2"/>
            <a:endCxn id="8" idx="0"/>
          </p:cNvCxnSpPr>
          <p:nvPr/>
        </p:nvCxnSpPr>
        <p:spPr>
          <a:xfrm flipH="1">
            <a:off x="4684921" y="1450023"/>
            <a:ext cx="2" cy="368838"/>
          </a:xfrm>
          <a:prstGeom prst="line">
            <a:avLst/>
          </a:prstGeom>
          <a:ln>
            <a:headEnd w="lg" len="lg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ttangolo 11">
            <a:extLst>
              <a:ext uri="{FF2B5EF4-FFF2-40B4-BE49-F238E27FC236}">
                <a16:creationId xmlns:a16="http://schemas.microsoft.com/office/drawing/2014/main" id="{E1E9E738-1EB8-2A41-8229-59366A8CFA7E}"/>
              </a:ext>
            </a:extLst>
          </p:cNvPr>
          <p:cNvSpPr/>
          <p:nvPr/>
        </p:nvSpPr>
        <p:spPr>
          <a:xfrm>
            <a:off x="1360830" y="2876468"/>
            <a:ext cx="2495551" cy="62580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∀R.E(x)</a:t>
            </a:r>
          </a:p>
          <a:p>
            <a:pPr algn="ctr"/>
            <a:r>
              <a:rPr lang="it-IT" dirty="0"/>
              <a:t>(∃</a:t>
            </a:r>
            <a:r>
              <a:rPr lang="it-IT" dirty="0" err="1"/>
              <a:t>R</a:t>
            </a:r>
            <a:r>
              <a:rPr lang="it-IT" dirty="0"/>
              <a:t>.(¬D ⊔ ∀S.D))(x)</a:t>
            </a:r>
          </a:p>
        </p:txBody>
      </p:sp>
      <p:sp>
        <p:nvSpPr>
          <p:cNvPr id="13" name="Rettangolo 12">
            <a:extLst>
              <a:ext uri="{FF2B5EF4-FFF2-40B4-BE49-F238E27FC236}">
                <a16:creationId xmlns:a16="http://schemas.microsoft.com/office/drawing/2014/main" id="{13CE6A7C-7321-144D-8E56-D73F630A6236}"/>
              </a:ext>
            </a:extLst>
          </p:cNvPr>
          <p:cNvSpPr/>
          <p:nvPr/>
        </p:nvSpPr>
        <p:spPr>
          <a:xfrm>
            <a:off x="5628030" y="2876468"/>
            <a:ext cx="2495551" cy="62580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∃S.(D⊓E)(x)</a:t>
            </a:r>
          </a:p>
          <a:p>
            <a:pPr algn="ctr"/>
            <a:r>
              <a:rPr lang="it-IT" dirty="0"/>
              <a:t>(∃</a:t>
            </a:r>
            <a:r>
              <a:rPr lang="it-IT" dirty="0" err="1"/>
              <a:t>R</a:t>
            </a:r>
            <a:r>
              <a:rPr lang="it-IT" dirty="0"/>
              <a:t>.(¬D ⊔ ∀S.D))(x)</a:t>
            </a:r>
          </a:p>
        </p:txBody>
      </p:sp>
      <p:cxnSp>
        <p:nvCxnSpPr>
          <p:cNvPr id="14" name="Connettore 1 13">
            <a:extLst>
              <a:ext uri="{FF2B5EF4-FFF2-40B4-BE49-F238E27FC236}">
                <a16:creationId xmlns:a16="http://schemas.microsoft.com/office/drawing/2014/main" id="{6E99A5A0-E24B-D442-8B2A-B0E29D4CA690}"/>
              </a:ext>
            </a:extLst>
          </p:cNvPr>
          <p:cNvCxnSpPr>
            <a:cxnSpLocks/>
            <a:stCxn id="8" idx="2"/>
            <a:endCxn id="12" idx="0"/>
          </p:cNvCxnSpPr>
          <p:nvPr/>
        </p:nvCxnSpPr>
        <p:spPr>
          <a:xfrm flipH="1">
            <a:off x="2608606" y="2444667"/>
            <a:ext cx="2076315" cy="431801"/>
          </a:xfrm>
          <a:prstGeom prst="line">
            <a:avLst/>
          </a:prstGeom>
          <a:ln>
            <a:headEnd w="lg" len="lg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ttore 1 17">
            <a:extLst>
              <a:ext uri="{FF2B5EF4-FFF2-40B4-BE49-F238E27FC236}">
                <a16:creationId xmlns:a16="http://schemas.microsoft.com/office/drawing/2014/main" id="{43BEDE70-9EFE-B347-BC35-C6C0FA174AD6}"/>
              </a:ext>
            </a:extLst>
          </p:cNvPr>
          <p:cNvCxnSpPr>
            <a:cxnSpLocks/>
            <a:stCxn id="8" idx="2"/>
            <a:endCxn id="13" idx="0"/>
          </p:cNvCxnSpPr>
          <p:nvPr/>
        </p:nvCxnSpPr>
        <p:spPr>
          <a:xfrm>
            <a:off x="4684921" y="2444667"/>
            <a:ext cx="2190885" cy="431801"/>
          </a:xfrm>
          <a:prstGeom prst="line">
            <a:avLst/>
          </a:prstGeom>
          <a:ln>
            <a:headEnd w="lg" len="lg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881209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BEB8E03-3D91-5E4C-8652-2ABDA1FBD9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REWRITING THE EXISTENTIAL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168DB5E-4BE8-BB46-8753-C84F6B7962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66775"/>
            <a:ext cx="8229600" cy="2368640"/>
          </a:xfrm>
        </p:spPr>
        <p:txBody>
          <a:bodyPr/>
          <a:lstStyle/>
          <a:p>
            <a:r>
              <a:rPr lang="it-IT" sz="2400" dirty="0"/>
              <a:t>RULE 3: </a:t>
            </a:r>
            <a:r>
              <a:rPr lang="it-IT" sz="2400" dirty="0" err="1"/>
              <a:t>Any</a:t>
            </a:r>
            <a:r>
              <a:rPr lang="it-IT" sz="2400" dirty="0"/>
              <a:t> concept C for </a:t>
            </a:r>
            <a:r>
              <a:rPr lang="it-IT" sz="2400" dirty="0" err="1"/>
              <a:t>which</a:t>
            </a:r>
            <a:r>
              <a:rPr lang="it-IT" sz="2400" dirty="0"/>
              <a:t> x </a:t>
            </a:r>
            <a:r>
              <a:rPr lang="it-IT" sz="2400" dirty="0" err="1"/>
              <a:t>is</a:t>
            </a:r>
            <a:r>
              <a:rPr lang="it-IT" sz="2400" dirty="0"/>
              <a:t> an </a:t>
            </a:r>
            <a:r>
              <a:rPr lang="it-IT" sz="2400" dirty="0" err="1"/>
              <a:t>element</a:t>
            </a:r>
            <a:r>
              <a:rPr lang="it-IT" sz="2400" dirty="0"/>
              <a:t> of the extension of C, </a:t>
            </a:r>
            <a:r>
              <a:rPr lang="it-IT" sz="2400" dirty="0" err="1"/>
              <a:t>if</a:t>
            </a:r>
            <a:r>
              <a:rPr lang="it-IT" sz="2400" dirty="0"/>
              <a:t> C </a:t>
            </a:r>
            <a:r>
              <a:rPr lang="it-IT" sz="2400" dirty="0" err="1"/>
              <a:t>is</a:t>
            </a:r>
            <a:r>
              <a:rPr lang="it-IT" sz="2400" dirty="0"/>
              <a:t> an </a:t>
            </a:r>
            <a:r>
              <a:rPr lang="it-IT" sz="2400" dirty="0" err="1"/>
              <a:t>existential</a:t>
            </a:r>
            <a:r>
              <a:rPr lang="it-IT" sz="2400" dirty="0"/>
              <a:t> </a:t>
            </a:r>
            <a:r>
              <a:rPr lang="it-IT" sz="2400" dirty="0" err="1"/>
              <a:t>expression</a:t>
            </a:r>
            <a:r>
              <a:rPr lang="it-IT" sz="2400" dirty="0"/>
              <a:t> ∃R.D., </a:t>
            </a:r>
            <a:r>
              <a:rPr lang="it-IT" sz="2400" dirty="0" err="1"/>
              <a:t>then</a:t>
            </a:r>
            <a:r>
              <a:rPr lang="it-IT" sz="2400" dirty="0"/>
              <a:t>, </a:t>
            </a:r>
            <a:r>
              <a:rPr lang="it-IT" sz="2400" dirty="0" err="1"/>
              <a:t>creating</a:t>
            </a:r>
            <a:r>
              <a:rPr lang="it-IT" sz="2400" dirty="0"/>
              <a:t> a new y </a:t>
            </a:r>
            <a:r>
              <a:rPr lang="it-IT" sz="2400" dirty="0" err="1"/>
              <a:t>if</a:t>
            </a:r>
            <a:r>
              <a:rPr lang="it-IT" sz="2400" dirty="0"/>
              <a:t> </a:t>
            </a:r>
            <a:r>
              <a:rPr lang="it-IT" sz="2400" dirty="0" err="1"/>
              <a:t>there</a:t>
            </a:r>
            <a:r>
              <a:rPr lang="it-IT" sz="2400" dirty="0"/>
              <a:t> are no </a:t>
            </a:r>
            <a:r>
              <a:rPr lang="it-IT" sz="2400" dirty="0" err="1"/>
              <a:t>ones</a:t>
            </a:r>
            <a:r>
              <a:rPr lang="it-IT" sz="2400" dirty="0"/>
              <a:t> </a:t>
            </a:r>
            <a:r>
              <a:rPr lang="it-IT" sz="2400" dirty="0" err="1"/>
              <a:t>that</a:t>
            </a:r>
            <a:r>
              <a:rPr lang="it-IT" sz="2400" dirty="0"/>
              <a:t> </a:t>
            </a:r>
            <a:r>
              <a:rPr lang="it-IT" sz="2400" dirty="0" err="1"/>
              <a:t>already</a:t>
            </a:r>
            <a:r>
              <a:rPr lang="it-IT" sz="2400" dirty="0"/>
              <a:t> </a:t>
            </a:r>
            <a:r>
              <a:rPr lang="it-IT" sz="2400" dirty="0" err="1"/>
              <a:t>respect</a:t>
            </a:r>
            <a:r>
              <a:rPr lang="it-IT" sz="2400" dirty="0"/>
              <a:t> the </a:t>
            </a:r>
            <a:r>
              <a:rPr lang="it-IT" sz="2400" dirty="0" err="1"/>
              <a:t>constraint</a:t>
            </a:r>
            <a:r>
              <a:rPr lang="it-IT" sz="2400" dirty="0"/>
              <a:t>, </a:t>
            </a:r>
            <a:r>
              <a:rPr lang="it-IT" sz="2400" dirty="0" err="1"/>
              <a:t>we</a:t>
            </a:r>
            <a:r>
              <a:rPr lang="it-IT" sz="2400" dirty="0"/>
              <a:t> </a:t>
            </a:r>
            <a:r>
              <a:rPr lang="it-IT" sz="2400" dirty="0" err="1"/>
              <a:t>rewrite</a:t>
            </a:r>
            <a:r>
              <a:rPr lang="it-IT" sz="2400" dirty="0"/>
              <a:t> C in a </a:t>
            </a:r>
            <a:r>
              <a:rPr lang="it-IT" sz="2400" dirty="0" err="1"/>
              <a:t>pair</a:t>
            </a:r>
            <a:r>
              <a:rPr lang="it-IT" sz="2400" dirty="0"/>
              <a:t> of </a:t>
            </a:r>
            <a:r>
              <a:rPr lang="it-IT" sz="2400" dirty="0" err="1"/>
              <a:t>assertions</a:t>
            </a:r>
            <a:r>
              <a:rPr lang="it-IT" sz="2400" dirty="0"/>
              <a:t> for the relation and for the class</a:t>
            </a:r>
          </a:p>
          <a:p>
            <a:r>
              <a:rPr lang="it-IT" sz="2400" dirty="0">
                <a:highlight>
                  <a:srgbClr val="FFFF00"/>
                </a:highlight>
              </a:rPr>
              <a:t>C = ∃R.D</a:t>
            </a:r>
            <a:r>
              <a:rPr lang="it-IT" sz="2400" dirty="0"/>
              <a:t> </a:t>
            </a:r>
            <a:r>
              <a:rPr lang="it-IT" sz="2400" dirty="0" err="1"/>
              <a:t>is</a:t>
            </a:r>
            <a:r>
              <a:rPr lang="it-IT" sz="2400" dirty="0"/>
              <a:t> </a:t>
            </a:r>
            <a:r>
              <a:rPr lang="it-IT" sz="2400" dirty="0" err="1"/>
              <a:t>rewritten</a:t>
            </a:r>
            <a:endParaRPr lang="it-IT" sz="2400" dirty="0"/>
          </a:p>
          <a:p>
            <a:endParaRPr lang="it-IT" sz="2400" dirty="0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C064FD56-CFBD-534E-BF50-7D8B81D97D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it-IT" altLang="it-IT"/>
              <a:t>TABLEAU FOR ALC(N)</a:t>
            </a:r>
            <a:endParaRPr lang="it-IT" alt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55212CB6-D70B-584C-9D22-D32850D26D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KR</a:t>
            </a:r>
            <a:endParaRPr lang="en-US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54A9E357-8F55-1D47-B489-C83B4222B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D341D-7438-4FA4-973F-6F9EECBD14B9}" type="slidenum">
              <a:rPr lang="it-IT" altLang="it-IT" smtClean="0"/>
              <a:pPr>
                <a:defRPr/>
              </a:pPr>
              <a:t>10</a:t>
            </a:fld>
            <a:endParaRPr lang="it-IT" altLang="it-IT"/>
          </a:p>
        </p:txBody>
      </p:sp>
      <p:sp>
        <p:nvSpPr>
          <p:cNvPr id="13" name="Rettangolo 12">
            <a:extLst>
              <a:ext uri="{FF2B5EF4-FFF2-40B4-BE49-F238E27FC236}">
                <a16:creationId xmlns:a16="http://schemas.microsoft.com/office/drawing/2014/main" id="{E69EBCF0-7FC0-DB4A-9562-F25E1C0680F7}"/>
              </a:ext>
            </a:extLst>
          </p:cNvPr>
          <p:cNvSpPr/>
          <p:nvPr/>
        </p:nvSpPr>
        <p:spPr>
          <a:xfrm>
            <a:off x="613733" y="3543533"/>
            <a:ext cx="2182483" cy="48757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C(x)</a:t>
            </a:r>
          </a:p>
        </p:txBody>
      </p:sp>
      <p:sp>
        <p:nvSpPr>
          <p:cNvPr id="17" name="Rettangolo 16">
            <a:extLst>
              <a:ext uri="{FF2B5EF4-FFF2-40B4-BE49-F238E27FC236}">
                <a16:creationId xmlns:a16="http://schemas.microsoft.com/office/drawing/2014/main" id="{DBDD1FDC-234D-5744-A9C0-CCA70C9EE9B5}"/>
              </a:ext>
            </a:extLst>
          </p:cNvPr>
          <p:cNvSpPr/>
          <p:nvPr/>
        </p:nvSpPr>
        <p:spPr>
          <a:xfrm>
            <a:off x="5461958" y="3479208"/>
            <a:ext cx="2182483" cy="61622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 err="1"/>
              <a:t>R</a:t>
            </a:r>
            <a:r>
              <a:rPr lang="it-IT" dirty="0"/>
              <a:t>(</a:t>
            </a:r>
            <a:r>
              <a:rPr lang="it-IT" dirty="0" err="1"/>
              <a:t>x,y</a:t>
            </a:r>
            <a:r>
              <a:rPr lang="it-IT" dirty="0"/>
              <a:t>)</a:t>
            </a:r>
          </a:p>
          <a:p>
            <a:pPr algn="ctr"/>
            <a:r>
              <a:rPr lang="it-IT" dirty="0"/>
              <a:t>D(y)</a:t>
            </a:r>
          </a:p>
        </p:txBody>
      </p:sp>
      <p:cxnSp>
        <p:nvCxnSpPr>
          <p:cNvPr id="18" name="Connettore 1 17">
            <a:extLst>
              <a:ext uri="{FF2B5EF4-FFF2-40B4-BE49-F238E27FC236}">
                <a16:creationId xmlns:a16="http://schemas.microsoft.com/office/drawing/2014/main" id="{F13CB83B-748E-AE4B-8331-8716C8E340A3}"/>
              </a:ext>
            </a:extLst>
          </p:cNvPr>
          <p:cNvCxnSpPr>
            <a:cxnSpLocks/>
            <a:stCxn id="13" idx="3"/>
            <a:endCxn id="17" idx="1"/>
          </p:cNvCxnSpPr>
          <p:nvPr/>
        </p:nvCxnSpPr>
        <p:spPr>
          <a:xfrm>
            <a:off x="2796216" y="3787321"/>
            <a:ext cx="2665742" cy="0"/>
          </a:xfrm>
          <a:prstGeom prst="line">
            <a:avLst/>
          </a:prstGeom>
          <a:ln>
            <a:headEnd w="lg" len="lg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99703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287397D-B176-8D4A-A7F5-AAB1F298FF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EXCEPTIONS FOR THE EXISTENTIAL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32FE49F5-FC15-DE4F-BF0E-C3314DD4855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495550" cy="274637"/>
          </a:xfrm>
        </p:spPr>
        <p:txBody>
          <a:bodyPr/>
          <a:lstStyle/>
          <a:p>
            <a:pPr>
              <a:defRPr/>
            </a:pPr>
            <a:r>
              <a:rPr lang="it-IT" altLang="it-IT"/>
              <a:t>TABLEAU FOR ALC(N)</a:t>
            </a:r>
            <a:endParaRPr lang="it-IT" alt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8A4D5699-F907-3542-9CE9-011DD4BE84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</p:spPr>
        <p:txBody>
          <a:bodyPr/>
          <a:lstStyle/>
          <a:p>
            <a:pPr>
              <a:defRPr/>
            </a:pPr>
            <a:r>
              <a:rPr lang="en-US"/>
              <a:t>KR</a:t>
            </a:r>
            <a:endParaRPr lang="en-US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C8042126-4FB6-5444-BB92-838B4A4CB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D341D-7438-4FA4-973F-6F9EECBD14B9}" type="slidenum">
              <a:rPr lang="it-IT" altLang="it-IT" smtClean="0"/>
              <a:pPr>
                <a:defRPr/>
              </a:pPr>
              <a:t>11</a:t>
            </a:fld>
            <a:endParaRPr lang="it-IT" altLang="it-IT"/>
          </a:p>
        </p:txBody>
      </p:sp>
      <p:sp>
        <p:nvSpPr>
          <p:cNvPr id="7" name="Rettangolo 6">
            <a:extLst>
              <a:ext uri="{FF2B5EF4-FFF2-40B4-BE49-F238E27FC236}">
                <a16:creationId xmlns:a16="http://schemas.microsoft.com/office/drawing/2014/main" id="{EEE4CEBC-ABBB-2247-8AAC-2C476A142FB4}"/>
              </a:ext>
            </a:extLst>
          </p:cNvPr>
          <p:cNvSpPr/>
          <p:nvPr/>
        </p:nvSpPr>
        <p:spPr>
          <a:xfrm>
            <a:off x="1080059" y="1428190"/>
            <a:ext cx="2182483" cy="616225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∃R.D(x)</a:t>
            </a:r>
          </a:p>
          <a:p>
            <a:pPr algn="ctr"/>
            <a:r>
              <a:rPr lang="it-IT" dirty="0" err="1"/>
              <a:t>R</a:t>
            </a:r>
            <a:r>
              <a:rPr lang="it-IT" dirty="0"/>
              <a:t>(</a:t>
            </a:r>
            <a:r>
              <a:rPr lang="it-IT" dirty="0" err="1"/>
              <a:t>x,y</a:t>
            </a:r>
            <a:r>
              <a:rPr lang="it-IT" dirty="0"/>
              <a:t>)</a:t>
            </a:r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2D5AC43F-3D72-5F4C-AC70-01D64A390DFF}"/>
              </a:ext>
            </a:extLst>
          </p:cNvPr>
          <p:cNvSpPr/>
          <p:nvPr/>
        </p:nvSpPr>
        <p:spPr>
          <a:xfrm>
            <a:off x="5928284" y="1363865"/>
            <a:ext cx="2182483" cy="680549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 err="1"/>
              <a:t>R</a:t>
            </a:r>
            <a:r>
              <a:rPr lang="it-IT" dirty="0"/>
              <a:t>(</a:t>
            </a:r>
            <a:r>
              <a:rPr lang="it-IT" dirty="0" err="1"/>
              <a:t>x,y</a:t>
            </a:r>
            <a:r>
              <a:rPr lang="it-IT" dirty="0"/>
              <a:t>)</a:t>
            </a:r>
          </a:p>
          <a:p>
            <a:pPr algn="ctr"/>
            <a:r>
              <a:rPr lang="it-IT" dirty="0"/>
              <a:t>D(y)</a:t>
            </a:r>
          </a:p>
        </p:txBody>
      </p:sp>
      <p:cxnSp>
        <p:nvCxnSpPr>
          <p:cNvPr id="9" name="Connettore 1 8">
            <a:extLst>
              <a:ext uri="{FF2B5EF4-FFF2-40B4-BE49-F238E27FC236}">
                <a16:creationId xmlns:a16="http://schemas.microsoft.com/office/drawing/2014/main" id="{793F900F-8D3A-C849-ABB5-40BC50C036A7}"/>
              </a:ext>
            </a:extLst>
          </p:cNvPr>
          <p:cNvCxnSpPr>
            <a:cxnSpLocks/>
            <a:stCxn id="7" idx="3"/>
            <a:endCxn id="8" idx="1"/>
          </p:cNvCxnSpPr>
          <p:nvPr/>
        </p:nvCxnSpPr>
        <p:spPr>
          <a:xfrm flipV="1">
            <a:off x="3262542" y="1704140"/>
            <a:ext cx="2665742" cy="32163"/>
          </a:xfrm>
          <a:prstGeom prst="line">
            <a:avLst/>
          </a:prstGeom>
          <a:ln>
            <a:headEnd w="lg" len="lg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ttangolo 11">
            <a:extLst>
              <a:ext uri="{FF2B5EF4-FFF2-40B4-BE49-F238E27FC236}">
                <a16:creationId xmlns:a16="http://schemas.microsoft.com/office/drawing/2014/main" id="{D66D7DD2-FD11-F44F-930A-702BCFC113D9}"/>
              </a:ext>
            </a:extLst>
          </p:cNvPr>
          <p:cNvSpPr/>
          <p:nvPr/>
        </p:nvSpPr>
        <p:spPr>
          <a:xfrm>
            <a:off x="1080059" y="2527025"/>
            <a:ext cx="2182483" cy="1432832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∃R.D(x)</a:t>
            </a:r>
          </a:p>
          <a:p>
            <a:pPr algn="ctr"/>
            <a:r>
              <a:rPr lang="it-IT" dirty="0" err="1"/>
              <a:t>R</a:t>
            </a:r>
            <a:r>
              <a:rPr lang="it-IT" dirty="0"/>
              <a:t>(</a:t>
            </a:r>
            <a:r>
              <a:rPr lang="it-IT" dirty="0" err="1"/>
              <a:t>x,y</a:t>
            </a:r>
            <a:r>
              <a:rPr lang="it-IT" dirty="0"/>
              <a:t>)</a:t>
            </a:r>
          </a:p>
          <a:p>
            <a:pPr algn="ctr"/>
            <a:r>
              <a:rPr lang="it-IT" dirty="0"/>
              <a:t>¬D(y)</a:t>
            </a:r>
          </a:p>
        </p:txBody>
      </p:sp>
      <p:sp>
        <p:nvSpPr>
          <p:cNvPr id="13" name="Rettangolo 12">
            <a:extLst>
              <a:ext uri="{FF2B5EF4-FFF2-40B4-BE49-F238E27FC236}">
                <a16:creationId xmlns:a16="http://schemas.microsoft.com/office/drawing/2014/main" id="{59B09D2E-1F93-514A-ABDA-323FCB0D6EA5}"/>
              </a:ext>
            </a:extLst>
          </p:cNvPr>
          <p:cNvSpPr/>
          <p:nvPr/>
        </p:nvSpPr>
        <p:spPr>
          <a:xfrm>
            <a:off x="5928284" y="2527024"/>
            <a:ext cx="2182483" cy="1432831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 err="1"/>
              <a:t>R</a:t>
            </a:r>
            <a:r>
              <a:rPr lang="it-IT" dirty="0"/>
              <a:t>(</a:t>
            </a:r>
            <a:r>
              <a:rPr lang="it-IT" dirty="0" err="1"/>
              <a:t>x,z</a:t>
            </a:r>
            <a:r>
              <a:rPr lang="it-IT" dirty="0"/>
              <a:t>)</a:t>
            </a:r>
          </a:p>
          <a:p>
            <a:pPr algn="ctr"/>
            <a:r>
              <a:rPr lang="it-IT" dirty="0"/>
              <a:t>D(</a:t>
            </a:r>
            <a:r>
              <a:rPr lang="it-IT" dirty="0" err="1"/>
              <a:t>z</a:t>
            </a:r>
            <a:r>
              <a:rPr lang="it-IT" dirty="0"/>
              <a:t>)</a:t>
            </a:r>
          </a:p>
          <a:p>
            <a:pPr algn="ctr"/>
            <a:r>
              <a:rPr lang="it-IT" dirty="0" err="1"/>
              <a:t>R</a:t>
            </a:r>
            <a:r>
              <a:rPr lang="it-IT" dirty="0"/>
              <a:t>(</a:t>
            </a:r>
            <a:r>
              <a:rPr lang="it-IT" dirty="0" err="1"/>
              <a:t>x,y</a:t>
            </a:r>
            <a:r>
              <a:rPr lang="it-IT" dirty="0"/>
              <a:t>)</a:t>
            </a:r>
          </a:p>
          <a:p>
            <a:pPr algn="ctr"/>
            <a:r>
              <a:rPr lang="it-IT" dirty="0"/>
              <a:t>¬ D(y)</a:t>
            </a:r>
          </a:p>
          <a:p>
            <a:pPr algn="ctr"/>
            <a:endParaRPr lang="it-IT" dirty="0"/>
          </a:p>
        </p:txBody>
      </p:sp>
      <p:cxnSp>
        <p:nvCxnSpPr>
          <p:cNvPr id="14" name="Connettore 1 13">
            <a:extLst>
              <a:ext uri="{FF2B5EF4-FFF2-40B4-BE49-F238E27FC236}">
                <a16:creationId xmlns:a16="http://schemas.microsoft.com/office/drawing/2014/main" id="{DFEEA4EB-4704-1C4A-B4AD-4C1467501BF6}"/>
              </a:ext>
            </a:extLst>
          </p:cNvPr>
          <p:cNvCxnSpPr>
            <a:cxnSpLocks/>
            <a:stCxn id="12" idx="3"/>
            <a:endCxn id="13" idx="1"/>
          </p:cNvCxnSpPr>
          <p:nvPr/>
        </p:nvCxnSpPr>
        <p:spPr>
          <a:xfrm flipV="1">
            <a:off x="3262542" y="3243440"/>
            <a:ext cx="2665742" cy="1"/>
          </a:xfrm>
          <a:prstGeom prst="line">
            <a:avLst/>
          </a:prstGeom>
          <a:ln>
            <a:headEnd w="lg" len="lg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447872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44BC5F6-1F6F-D14E-B95A-3179D7D118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EXAMPLE (</a:t>
            </a:r>
            <a:r>
              <a:rPr lang="it-IT" dirty="0" err="1"/>
              <a:t>ctd</a:t>
            </a:r>
            <a:r>
              <a:rPr lang="it-IT" dirty="0"/>
              <a:t>)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795D7A5D-C3D4-F643-AE12-2E3BD9CDC1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it-IT" altLang="it-IT"/>
              <a:t>TABLEAU FOR ALC(N)</a:t>
            </a:r>
            <a:endParaRPr lang="it-IT" alt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6C68758-9A35-1542-9FA4-7855890D3A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KR</a:t>
            </a:r>
            <a:endParaRPr lang="en-US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09F582C0-A188-0843-A632-ED52F6B312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D341D-7438-4FA4-973F-6F9EECBD14B9}" type="slidenum">
              <a:rPr lang="it-IT" altLang="it-IT" smtClean="0"/>
              <a:pPr>
                <a:defRPr/>
              </a:pPr>
              <a:t>12</a:t>
            </a:fld>
            <a:endParaRPr lang="it-IT" altLang="it-IT"/>
          </a:p>
        </p:txBody>
      </p:sp>
      <p:sp>
        <p:nvSpPr>
          <p:cNvPr id="7" name="Rettangolo 6">
            <a:extLst>
              <a:ext uri="{FF2B5EF4-FFF2-40B4-BE49-F238E27FC236}">
                <a16:creationId xmlns:a16="http://schemas.microsoft.com/office/drawing/2014/main" id="{20B2AD64-2BB6-124C-8445-2263BC7C64E8}"/>
              </a:ext>
            </a:extLst>
          </p:cNvPr>
          <p:cNvSpPr/>
          <p:nvPr/>
        </p:nvSpPr>
        <p:spPr>
          <a:xfrm>
            <a:off x="2705397" y="740825"/>
            <a:ext cx="3959051" cy="490537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(∀R.E ⊔∃S.(D⊓E)) ⊓ (∃</a:t>
            </a:r>
            <a:r>
              <a:rPr lang="it-IT" dirty="0" err="1"/>
              <a:t>R</a:t>
            </a:r>
            <a:r>
              <a:rPr lang="it-IT" dirty="0"/>
              <a:t>.(¬D ⊔ ∀S.D))(x)</a:t>
            </a:r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ECA265BF-C7AB-AB48-8AB5-239C0ABBEB09}"/>
              </a:ext>
            </a:extLst>
          </p:cNvPr>
          <p:cNvSpPr/>
          <p:nvPr/>
        </p:nvSpPr>
        <p:spPr>
          <a:xfrm>
            <a:off x="2705396" y="1600200"/>
            <a:ext cx="3959050" cy="62580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(∀R.E ⊔∃S.(D⊓E))(x)</a:t>
            </a:r>
          </a:p>
          <a:p>
            <a:pPr algn="ctr"/>
            <a:r>
              <a:rPr lang="it-IT" dirty="0"/>
              <a:t>(∃</a:t>
            </a:r>
            <a:r>
              <a:rPr lang="it-IT" dirty="0" err="1"/>
              <a:t>R</a:t>
            </a:r>
            <a:r>
              <a:rPr lang="it-IT" dirty="0"/>
              <a:t>.(¬D ⊔ ∀S.D))(x)</a:t>
            </a:r>
          </a:p>
        </p:txBody>
      </p:sp>
      <p:cxnSp>
        <p:nvCxnSpPr>
          <p:cNvPr id="9" name="Connettore 1 8">
            <a:extLst>
              <a:ext uri="{FF2B5EF4-FFF2-40B4-BE49-F238E27FC236}">
                <a16:creationId xmlns:a16="http://schemas.microsoft.com/office/drawing/2014/main" id="{B109D3AC-5936-3E48-A237-288490F3213A}"/>
              </a:ext>
            </a:extLst>
          </p:cNvPr>
          <p:cNvCxnSpPr>
            <a:cxnSpLocks/>
            <a:stCxn id="7" idx="2"/>
            <a:endCxn id="8" idx="0"/>
          </p:cNvCxnSpPr>
          <p:nvPr/>
        </p:nvCxnSpPr>
        <p:spPr>
          <a:xfrm flipH="1">
            <a:off x="4684921" y="1231362"/>
            <a:ext cx="2" cy="368838"/>
          </a:xfrm>
          <a:prstGeom prst="line">
            <a:avLst/>
          </a:prstGeom>
          <a:ln>
            <a:headEnd w="lg" len="lg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ttangolo 11">
            <a:extLst>
              <a:ext uri="{FF2B5EF4-FFF2-40B4-BE49-F238E27FC236}">
                <a16:creationId xmlns:a16="http://schemas.microsoft.com/office/drawing/2014/main" id="{E1E9E738-1EB8-2A41-8229-59366A8CFA7E}"/>
              </a:ext>
            </a:extLst>
          </p:cNvPr>
          <p:cNvSpPr/>
          <p:nvPr/>
        </p:nvSpPr>
        <p:spPr>
          <a:xfrm>
            <a:off x="1360830" y="2657807"/>
            <a:ext cx="2495551" cy="62580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∀R.E(x)</a:t>
            </a:r>
          </a:p>
          <a:p>
            <a:pPr algn="ctr"/>
            <a:r>
              <a:rPr lang="it-IT" dirty="0"/>
              <a:t>(∃</a:t>
            </a:r>
            <a:r>
              <a:rPr lang="it-IT" dirty="0" err="1"/>
              <a:t>R</a:t>
            </a:r>
            <a:r>
              <a:rPr lang="it-IT" dirty="0"/>
              <a:t>.(¬D ⊔ ∀S.D))(x)</a:t>
            </a:r>
          </a:p>
        </p:txBody>
      </p:sp>
      <p:sp>
        <p:nvSpPr>
          <p:cNvPr id="13" name="Rettangolo 12">
            <a:extLst>
              <a:ext uri="{FF2B5EF4-FFF2-40B4-BE49-F238E27FC236}">
                <a16:creationId xmlns:a16="http://schemas.microsoft.com/office/drawing/2014/main" id="{13CE6A7C-7321-144D-8E56-D73F630A6236}"/>
              </a:ext>
            </a:extLst>
          </p:cNvPr>
          <p:cNvSpPr/>
          <p:nvPr/>
        </p:nvSpPr>
        <p:spPr>
          <a:xfrm>
            <a:off x="5628030" y="2657807"/>
            <a:ext cx="2495551" cy="62580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∃S.(D⊓E)(x)</a:t>
            </a:r>
          </a:p>
          <a:p>
            <a:pPr algn="ctr"/>
            <a:r>
              <a:rPr lang="it-IT" dirty="0"/>
              <a:t>(∃</a:t>
            </a:r>
            <a:r>
              <a:rPr lang="it-IT" dirty="0" err="1"/>
              <a:t>R</a:t>
            </a:r>
            <a:r>
              <a:rPr lang="it-IT" dirty="0"/>
              <a:t>.(¬D ⊔ ∀S.D))(x)</a:t>
            </a:r>
          </a:p>
        </p:txBody>
      </p:sp>
      <p:cxnSp>
        <p:nvCxnSpPr>
          <p:cNvPr id="14" name="Connettore 1 13">
            <a:extLst>
              <a:ext uri="{FF2B5EF4-FFF2-40B4-BE49-F238E27FC236}">
                <a16:creationId xmlns:a16="http://schemas.microsoft.com/office/drawing/2014/main" id="{6E99A5A0-E24B-D442-8B2A-B0E29D4CA690}"/>
              </a:ext>
            </a:extLst>
          </p:cNvPr>
          <p:cNvCxnSpPr>
            <a:cxnSpLocks/>
            <a:stCxn id="8" idx="2"/>
            <a:endCxn id="12" idx="0"/>
          </p:cNvCxnSpPr>
          <p:nvPr/>
        </p:nvCxnSpPr>
        <p:spPr>
          <a:xfrm flipH="1">
            <a:off x="2608606" y="2226006"/>
            <a:ext cx="2076315" cy="431801"/>
          </a:xfrm>
          <a:prstGeom prst="line">
            <a:avLst/>
          </a:prstGeom>
          <a:ln>
            <a:headEnd w="lg" len="lg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ttore 1 17">
            <a:extLst>
              <a:ext uri="{FF2B5EF4-FFF2-40B4-BE49-F238E27FC236}">
                <a16:creationId xmlns:a16="http://schemas.microsoft.com/office/drawing/2014/main" id="{43BEDE70-9EFE-B347-BC35-C6C0FA174AD6}"/>
              </a:ext>
            </a:extLst>
          </p:cNvPr>
          <p:cNvCxnSpPr>
            <a:cxnSpLocks/>
            <a:stCxn id="8" idx="2"/>
            <a:endCxn id="13" idx="0"/>
          </p:cNvCxnSpPr>
          <p:nvPr/>
        </p:nvCxnSpPr>
        <p:spPr>
          <a:xfrm>
            <a:off x="4684921" y="2226006"/>
            <a:ext cx="2190885" cy="431801"/>
          </a:xfrm>
          <a:prstGeom prst="line">
            <a:avLst/>
          </a:prstGeom>
          <a:ln>
            <a:headEnd w="lg" len="lg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ttangolo 14">
            <a:extLst>
              <a:ext uri="{FF2B5EF4-FFF2-40B4-BE49-F238E27FC236}">
                <a16:creationId xmlns:a16="http://schemas.microsoft.com/office/drawing/2014/main" id="{3D05712E-895B-F14C-8004-4279B17BAB27}"/>
              </a:ext>
            </a:extLst>
          </p:cNvPr>
          <p:cNvSpPr/>
          <p:nvPr/>
        </p:nvSpPr>
        <p:spPr>
          <a:xfrm>
            <a:off x="1360830" y="3609892"/>
            <a:ext cx="2495551" cy="115737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∀R.E(x)</a:t>
            </a:r>
          </a:p>
          <a:p>
            <a:pPr algn="ctr"/>
            <a:r>
              <a:rPr lang="it-IT" dirty="0" err="1"/>
              <a:t>R</a:t>
            </a:r>
            <a:r>
              <a:rPr lang="it-IT" dirty="0"/>
              <a:t>(</a:t>
            </a:r>
            <a:r>
              <a:rPr lang="it-IT" dirty="0" err="1"/>
              <a:t>x,y</a:t>
            </a:r>
            <a:r>
              <a:rPr lang="it-IT" dirty="0"/>
              <a:t>)</a:t>
            </a:r>
          </a:p>
          <a:p>
            <a:pPr algn="ctr"/>
            <a:r>
              <a:rPr lang="it-IT" dirty="0"/>
              <a:t>(¬D ⊔ ∀S.D)(y)</a:t>
            </a:r>
          </a:p>
        </p:txBody>
      </p:sp>
      <p:sp>
        <p:nvSpPr>
          <p:cNvPr id="17" name="Rettangolo 16">
            <a:extLst>
              <a:ext uri="{FF2B5EF4-FFF2-40B4-BE49-F238E27FC236}">
                <a16:creationId xmlns:a16="http://schemas.microsoft.com/office/drawing/2014/main" id="{5C6998A4-222F-D649-B305-DF0ADF7ACF06}"/>
              </a:ext>
            </a:extLst>
          </p:cNvPr>
          <p:cNvSpPr/>
          <p:nvPr/>
        </p:nvSpPr>
        <p:spPr>
          <a:xfrm>
            <a:off x="5628029" y="3609893"/>
            <a:ext cx="2495551" cy="115737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 err="1"/>
              <a:t>S</a:t>
            </a:r>
            <a:r>
              <a:rPr lang="it-IT" dirty="0"/>
              <a:t>(</a:t>
            </a:r>
            <a:r>
              <a:rPr lang="it-IT" dirty="0" err="1"/>
              <a:t>x,z</a:t>
            </a:r>
            <a:r>
              <a:rPr lang="it-IT" dirty="0"/>
              <a:t>)</a:t>
            </a:r>
          </a:p>
          <a:p>
            <a:pPr algn="ctr"/>
            <a:r>
              <a:rPr lang="it-IT" dirty="0"/>
              <a:t>(D⊓E)(</a:t>
            </a:r>
            <a:r>
              <a:rPr lang="it-IT" dirty="0" err="1"/>
              <a:t>z</a:t>
            </a:r>
            <a:r>
              <a:rPr lang="it-IT" dirty="0"/>
              <a:t>)</a:t>
            </a:r>
          </a:p>
          <a:p>
            <a:pPr algn="ctr"/>
            <a:r>
              <a:rPr lang="it-IT" dirty="0" err="1"/>
              <a:t>R</a:t>
            </a:r>
            <a:r>
              <a:rPr lang="it-IT" dirty="0"/>
              <a:t>(</a:t>
            </a:r>
            <a:r>
              <a:rPr lang="it-IT" dirty="0" err="1"/>
              <a:t>x,y</a:t>
            </a:r>
            <a:r>
              <a:rPr lang="it-IT" dirty="0"/>
              <a:t>)</a:t>
            </a:r>
          </a:p>
          <a:p>
            <a:pPr algn="ctr"/>
            <a:r>
              <a:rPr lang="it-IT" dirty="0"/>
              <a:t>(¬D ⊔ ∀S.D)(y)</a:t>
            </a:r>
          </a:p>
        </p:txBody>
      </p:sp>
      <p:cxnSp>
        <p:nvCxnSpPr>
          <p:cNvPr id="19" name="Connettore 1 18">
            <a:extLst>
              <a:ext uri="{FF2B5EF4-FFF2-40B4-BE49-F238E27FC236}">
                <a16:creationId xmlns:a16="http://schemas.microsoft.com/office/drawing/2014/main" id="{69EF991B-23E3-894E-8044-A82A4AD20D66}"/>
              </a:ext>
            </a:extLst>
          </p:cNvPr>
          <p:cNvCxnSpPr>
            <a:cxnSpLocks/>
            <a:stCxn id="12" idx="2"/>
            <a:endCxn id="15" idx="0"/>
          </p:cNvCxnSpPr>
          <p:nvPr/>
        </p:nvCxnSpPr>
        <p:spPr>
          <a:xfrm>
            <a:off x="2608606" y="3283613"/>
            <a:ext cx="0" cy="326279"/>
          </a:xfrm>
          <a:prstGeom prst="line">
            <a:avLst/>
          </a:prstGeom>
          <a:ln>
            <a:headEnd w="lg" len="lg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ttore 1 19">
            <a:extLst>
              <a:ext uri="{FF2B5EF4-FFF2-40B4-BE49-F238E27FC236}">
                <a16:creationId xmlns:a16="http://schemas.microsoft.com/office/drawing/2014/main" id="{CF027E71-AE39-1645-8C20-31273C200254}"/>
              </a:ext>
            </a:extLst>
          </p:cNvPr>
          <p:cNvCxnSpPr>
            <a:cxnSpLocks/>
            <a:stCxn id="13" idx="2"/>
            <a:endCxn id="17" idx="0"/>
          </p:cNvCxnSpPr>
          <p:nvPr/>
        </p:nvCxnSpPr>
        <p:spPr>
          <a:xfrm flipH="1">
            <a:off x="6875805" y="3283613"/>
            <a:ext cx="1" cy="326280"/>
          </a:xfrm>
          <a:prstGeom prst="line">
            <a:avLst/>
          </a:prstGeom>
          <a:ln>
            <a:headEnd w="lg" len="lg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e 25">
            <a:extLst>
              <a:ext uri="{FF2B5EF4-FFF2-40B4-BE49-F238E27FC236}">
                <a16:creationId xmlns:a16="http://schemas.microsoft.com/office/drawing/2014/main" id="{3C91826A-1107-B145-B638-B1EAFD145EC8}"/>
              </a:ext>
            </a:extLst>
          </p:cNvPr>
          <p:cNvSpPr/>
          <p:nvPr/>
        </p:nvSpPr>
        <p:spPr>
          <a:xfrm>
            <a:off x="706603" y="3995758"/>
            <a:ext cx="377687" cy="385637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1</a:t>
            </a:r>
          </a:p>
        </p:txBody>
      </p:sp>
      <p:sp>
        <p:nvSpPr>
          <p:cNvPr id="27" name="Ovale 26">
            <a:extLst>
              <a:ext uri="{FF2B5EF4-FFF2-40B4-BE49-F238E27FC236}">
                <a16:creationId xmlns:a16="http://schemas.microsoft.com/office/drawing/2014/main" id="{BBCB259B-C042-E749-8EC3-4AAADA841A28}"/>
              </a:ext>
            </a:extLst>
          </p:cNvPr>
          <p:cNvSpPr/>
          <p:nvPr/>
        </p:nvSpPr>
        <p:spPr>
          <a:xfrm>
            <a:off x="4988405" y="3995757"/>
            <a:ext cx="377687" cy="385637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2</a:t>
            </a:r>
          </a:p>
        </p:txBody>
      </p:sp>
      <p:cxnSp>
        <p:nvCxnSpPr>
          <p:cNvPr id="29" name="Connettore 2 28">
            <a:extLst>
              <a:ext uri="{FF2B5EF4-FFF2-40B4-BE49-F238E27FC236}">
                <a16:creationId xmlns:a16="http://schemas.microsoft.com/office/drawing/2014/main" id="{40A47994-0BB1-8842-8775-DF75AAAF5811}"/>
              </a:ext>
            </a:extLst>
          </p:cNvPr>
          <p:cNvCxnSpPr>
            <a:stCxn id="26" idx="6"/>
            <a:endCxn id="15" idx="1"/>
          </p:cNvCxnSpPr>
          <p:nvPr/>
        </p:nvCxnSpPr>
        <p:spPr>
          <a:xfrm>
            <a:off x="1084290" y="4188577"/>
            <a:ext cx="27654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ttore 2 31">
            <a:extLst>
              <a:ext uri="{FF2B5EF4-FFF2-40B4-BE49-F238E27FC236}">
                <a16:creationId xmlns:a16="http://schemas.microsoft.com/office/drawing/2014/main" id="{0303C76F-43D8-7F40-A4B9-3BB52E670F43}"/>
              </a:ext>
            </a:extLst>
          </p:cNvPr>
          <p:cNvCxnSpPr>
            <a:cxnSpLocks/>
            <a:stCxn id="27" idx="6"/>
            <a:endCxn id="17" idx="1"/>
          </p:cNvCxnSpPr>
          <p:nvPr/>
        </p:nvCxnSpPr>
        <p:spPr>
          <a:xfrm>
            <a:off x="5366092" y="4188576"/>
            <a:ext cx="261937" cy="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17368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BEB8E03-3D91-5E4C-8652-2ABDA1FBD9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REWRITING THE UNIVERSAL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168DB5E-4BE8-BB46-8753-C84F6B7962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66775"/>
            <a:ext cx="8229600" cy="2368640"/>
          </a:xfrm>
        </p:spPr>
        <p:txBody>
          <a:bodyPr/>
          <a:lstStyle/>
          <a:p>
            <a:r>
              <a:rPr lang="it-IT" sz="2400" dirty="0"/>
              <a:t>RULE 4: </a:t>
            </a:r>
            <a:r>
              <a:rPr lang="it-IT" sz="2400" dirty="0" err="1"/>
              <a:t>Any</a:t>
            </a:r>
            <a:r>
              <a:rPr lang="it-IT" sz="2400" dirty="0"/>
              <a:t> concept C for </a:t>
            </a:r>
            <a:r>
              <a:rPr lang="it-IT" sz="2400" dirty="0" err="1"/>
              <a:t>which</a:t>
            </a:r>
            <a:r>
              <a:rPr lang="it-IT" sz="2400" dirty="0"/>
              <a:t> x </a:t>
            </a:r>
            <a:r>
              <a:rPr lang="it-IT" sz="2400" dirty="0" err="1"/>
              <a:t>is</a:t>
            </a:r>
            <a:r>
              <a:rPr lang="it-IT" sz="2400" dirty="0"/>
              <a:t> an </a:t>
            </a:r>
            <a:r>
              <a:rPr lang="it-IT" sz="2400" dirty="0" err="1"/>
              <a:t>element</a:t>
            </a:r>
            <a:r>
              <a:rPr lang="it-IT" sz="2400" dirty="0"/>
              <a:t> of the extension of C, </a:t>
            </a:r>
            <a:r>
              <a:rPr lang="it-IT" sz="2400" dirty="0" err="1"/>
              <a:t>if</a:t>
            </a:r>
            <a:r>
              <a:rPr lang="it-IT" sz="2400" dirty="0"/>
              <a:t> C </a:t>
            </a:r>
            <a:r>
              <a:rPr lang="it-IT" sz="2400" dirty="0" err="1"/>
              <a:t>is</a:t>
            </a:r>
            <a:r>
              <a:rPr lang="it-IT" sz="2400" dirty="0"/>
              <a:t> an </a:t>
            </a:r>
            <a:r>
              <a:rPr lang="it-IT" sz="2400" dirty="0" err="1"/>
              <a:t>expression</a:t>
            </a:r>
            <a:r>
              <a:rPr lang="it-IT" sz="2400" dirty="0"/>
              <a:t> of </a:t>
            </a:r>
            <a:r>
              <a:rPr lang="it-IT" sz="2400" dirty="0" err="1"/>
              <a:t>universal</a:t>
            </a:r>
            <a:r>
              <a:rPr lang="it-IT" sz="2400" dirty="0"/>
              <a:t> </a:t>
            </a:r>
            <a:r>
              <a:rPr lang="it-IT" sz="2400" dirty="0" err="1"/>
              <a:t>type</a:t>
            </a:r>
            <a:r>
              <a:rPr lang="it-IT" sz="2400" dirty="0"/>
              <a:t> ∀R.D, </a:t>
            </a:r>
            <a:r>
              <a:rPr lang="it-IT" sz="2400" dirty="0" err="1"/>
              <a:t>then</a:t>
            </a:r>
            <a:r>
              <a:rPr lang="it-IT" sz="2400" dirty="0"/>
              <a:t>, for </a:t>
            </a:r>
            <a:r>
              <a:rPr lang="it-IT" sz="2400" dirty="0" err="1"/>
              <a:t>every</a:t>
            </a:r>
            <a:r>
              <a:rPr lang="it-IT" sz="2400" dirty="0"/>
              <a:t> y </a:t>
            </a:r>
            <a:r>
              <a:rPr lang="it-IT" sz="2400" dirty="0" err="1"/>
              <a:t>already</a:t>
            </a:r>
            <a:r>
              <a:rPr lang="it-IT" sz="2400" dirty="0"/>
              <a:t> </a:t>
            </a:r>
            <a:r>
              <a:rPr lang="it-IT" sz="2400" dirty="0" err="1"/>
              <a:t>mentioned</a:t>
            </a:r>
            <a:r>
              <a:rPr lang="it-IT" sz="2400" dirty="0"/>
              <a:t>, </a:t>
            </a:r>
            <a:r>
              <a:rPr lang="it-IT" sz="2400" dirty="0" err="1"/>
              <a:t>we</a:t>
            </a:r>
            <a:r>
              <a:rPr lang="it-IT" sz="2400" dirty="0"/>
              <a:t> </a:t>
            </a:r>
            <a:r>
              <a:rPr lang="it-IT" sz="2400" dirty="0" err="1"/>
              <a:t>rewrite</a:t>
            </a:r>
            <a:r>
              <a:rPr lang="it-IT" sz="2400" dirty="0"/>
              <a:t> C in a </a:t>
            </a:r>
            <a:r>
              <a:rPr lang="it-IT" sz="2400" dirty="0" err="1"/>
              <a:t>pair</a:t>
            </a:r>
            <a:r>
              <a:rPr lang="it-IT" sz="2400" dirty="0"/>
              <a:t> of </a:t>
            </a:r>
            <a:r>
              <a:rPr lang="it-IT" sz="2400" dirty="0" err="1"/>
              <a:t>assertions</a:t>
            </a:r>
            <a:r>
              <a:rPr lang="it-IT" sz="2400" dirty="0"/>
              <a:t> for the relation and for the class</a:t>
            </a:r>
          </a:p>
          <a:p>
            <a:r>
              <a:rPr lang="it-IT" sz="2400" dirty="0">
                <a:highlight>
                  <a:srgbClr val="FFFF00"/>
                </a:highlight>
              </a:rPr>
              <a:t>C = ∀R.D</a:t>
            </a:r>
            <a:r>
              <a:rPr lang="it-IT" sz="2400" dirty="0"/>
              <a:t> </a:t>
            </a:r>
            <a:r>
              <a:rPr lang="it-IT" sz="2400" dirty="0" err="1"/>
              <a:t>is</a:t>
            </a:r>
            <a:r>
              <a:rPr lang="it-IT" sz="2400" dirty="0"/>
              <a:t> </a:t>
            </a:r>
            <a:r>
              <a:rPr lang="it-IT" sz="2400" dirty="0" err="1"/>
              <a:t>rewritten</a:t>
            </a:r>
            <a:endParaRPr lang="it-IT" sz="2400" dirty="0"/>
          </a:p>
          <a:p>
            <a:endParaRPr lang="it-IT" sz="2400" dirty="0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C064FD56-CFBD-534E-BF50-7D8B81D97D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it-IT" altLang="it-IT"/>
              <a:t>TABLEAU FOR ALC(N)</a:t>
            </a:r>
            <a:endParaRPr lang="it-IT" alt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55212CB6-D70B-584C-9D22-D32850D26D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KR</a:t>
            </a:r>
            <a:endParaRPr lang="en-US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54A9E357-8F55-1D47-B489-C83B4222B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D341D-7438-4FA4-973F-6F9EECBD14B9}" type="slidenum">
              <a:rPr lang="it-IT" altLang="it-IT" smtClean="0"/>
              <a:pPr>
                <a:defRPr/>
              </a:pPr>
              <a:t>13</a:t>
            </a:fld>
            <a:endParaRPr lang="it-IT" altLang="it-IT"/>
          </a:p>
        </p:txBody>
      </p:sp>
      <p:sp>
        <p:nvSpPr>
          <p:cNvPr id="13" name="Rettangolo 12">
            <a:extLst>
              <a:ext uri="{FF2B5EF4-FFF2-40B4-BE49-F238E27FC236}">
                <a16:creationId xmlns:a16="http://schemas.microsoft.com/office/drawing/2014/main" id="{E69EBCF0-7FC0-DB4A-9562-F25E1C0680F7}"/>
              </a:ext>
            </a:extLst>
          </p:cNvPr>
          <p:cNvSpPr/>
          <p:nvPr/>
        </p:nvSpPr>
        <p:spPr>
          <a:xfrm>
            <a:off x="703185" y="3299740"/>
            <a:ext cx="2182483" cy="93781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C(x)</a:t>
            </a:r>
          </a:p>
          <a:p>
            <a:pPr algn="ctr"/>
            <a:r>
              <a:rPr lang="it-IT" dirty="0" err="1"/>
              <a:t>R</a:t>
            </a:r>
            <a:r>
              <a:rPr lang="it-IT" dirty="0"/>
              <a:t>(</a:t>
            </a:r>
            <a:r>
              <a:rPr lang="it-IT" dirty="0" err="1"/>
              <a:t>x,y</a:t>
            </a:r>
            <a:r>
              <a:rPr lang="it-IT" dirty="0"/>
              <a:t>)</a:t>
            </a:r>
          </a:p>
        </p:txBody>
      </p:sp>
      <p:sp>
        <p:nvSpPr>
          <p:cNvPr id="17" name="Rettangolo 16">
            <a:extLst>
              <a:ext uri="{FF2B5EF4-FFF2-40B4-BE49-F238E27FC236}">
                <a16:creationId xmlns:a16="http://schemas.microsoft.com/office/drawing/2014/main" id="{DBDD1FDC-234D-5744-A9C0-CCA70C9EE9B5}"/>
              </a:ext>
            </a:extLst>
          </p:cNvPr>
          <p:cNvSpPr/>
          <p:nvPr/>
        </p:nvSpPr>
        <p:spPr>
          <a:xfrm>
            <a:off x="5551410" y="3235415"/>
            <a:ext cx="2182483" cy="1002143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 err="1"/>
              <a:t>R</a:t>
            </a:r>
            <a:r>
              <a:rPr lang="it-IT" dirty="0"/>
              <a:t>(</a:t>
            </a:r>
            <a:r>
              <a:rPr lang="it-IT" dirty="0" err="1"/>
              <a:t>x,y</a:t>
            </a:r>
            <a:r>
              <a:rPr lang="it-IT" dirty="0"/>
              <a:t>)</a:t>
            </a:r>
          </a:p>
          <a:p>
            <a:pPr algn="ctr"/>
            <a:r>
              <a:rPr lang="it-IT" dirty="0"/>
              <a:t>D(y)</a:t>
            </a:r>
          </a:p>
        </p:txBody>
      </p:sp>
      <p:cxnSp>
        <p:nvCxnSpPr>
          <p:cNvPr id="18" name="Connettore 1 17">
            <a:extLst>
              <a:ext uri="{FF2B5EF4-FFF2-40B4-BE49-F238E27FC236}">
                <a16:creationId xmlns:a16="http://schemas.microsoft.com/office/drawing/2014/main" id="{F13CB83B-748E-AE4B-8331-8716C8E340A3}"/>
              </a:ext>
            </a:extLst>
          </p:cNvPr>
          <p:cNvCxnSpPr>
            <a:cxnSpLocks/>
            <a:stCxn id="13" idx="3"/>
            <a:endCxn id="17" idx="1"/>
          </p:cNvCxnSpPr>
          <p:nvPr/>
        </p:nvCxnSpPr>
        <p:spPr>
          <a:xfrm flipV="1">
            <a:off x="2885668" y="3736487"/>
            <a:ext cx="2665742" cy="32162"/>
          </a:xfrm>
          <a:prstGeom prst="line">
            <a:avLst/>
          </a:prstGeom>
          <a:ln>
            <a:headEnd w="lg" len="lg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55155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44BC5F6-1F6F-D14E-B95A-3179D7D118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EXAMPLE (</a:t>
            </a:r>
            <a:r>
              <a:rPr lang="it-IT" dirty="0" err="1"/>
              <a:t>ctd</a:t>
            </a:r>
            <a:r>
              <a:rPr lang="it-IT" dirty="0"/>
              <a:t>) (PART 1)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795D7A5D-C3D4-F643-AE12-2E3BD9CDC1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it-IT" altLang="it-IT"/>
              <a:t>TABLEAU FOR ALC(N)</a:t>
            </a:r>
            <a:endParaRPr lang="it-IT" alt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6C68758-9A35-1542-9FA4-7855890D3A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KR</a:t>
            </a:r>
            <a:endParaRPr lang="en-US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09F582C0-A188-0843-A632-ED52F6B312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D341D-7438-4FA4-973F-6F9EECBD14B9}" type="slidenum">
              <a:rPr lang="it-IT" altLang="it-IT" smtClean="0"/>
              <a:pPr>
                <a:defRPr/>
              </a:pPr>
              <a:t>14</a:t>
            </a:fld>
            <a:endParaRPr lang="it-IT" altLang="it-IT"/>
          </a:p>
        </p:txBody>
      </p:sp>
      <p:sp>
        <p:nvSpPr>
          <p:cNvPr id="15" name="Rettangolo 14">
            <a:extLst>
              <a:ext uri="{FF2B5EF4-FFF2-40B4-BE49-F238E27FC236}">
                <a16:creationId xmlns:a16="http://schemas.microsoft.com/office/drawing/2014/main" id="{3D05712E-895B-F14C-8004-4279B17BAB27}"/>
              </a:ext>
            </a:extLst>
          </p:cNvPr>
          <p:cNvSpPr/>
          <p:nvPr/>
        </p:nvSpPr>
        <p:spPr>
          <a:xfrm>
            <a:off x="3324224" y="777240"/>
            <a:ext cx="2495551" cy="85725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∀R.E(x)</a:t>
            </a:r>
          </a:p>
          <a:p>
            <a:pPr algn="ctr"/>
            <a:r>
              <a:rPr lang="it-IT" dirty="0" err="1"/>
              <a:t>R</a:t>
            </a:r>
            <a:r>
              <a:rPr lang="it-IT" dirty="0"/>
              <a:t>(</a:t>
            </a:r>
            <a:r>
              <a:rPr lang="it-IT" dirty="0" err="1"/>
              <a:t>x,y</a:t>
            </a:r>
            <a:r>
              <a:rPr lang="it-IT" dirty="0"/>
              <a:t>)</a:t>
            </a:r>
          </a:p>
          <a:p>
            <a:pPr algn="ctr"/>
            <a:r>
              <a:rPr lang="it-IT" dirty="0"/>
              <a:t>(¬D ⊔ ∀S.D)(y)</a:t>
            </a:r>
          </a:p>
        </p:txBody>
      </p:sp>
      <p:sp>
        <p:nvSpPr>
          <p:cNvPr id="26" name="Ovale 25">
            <a:extLst>
              <a:ext uri="{FF2B5EF4-FFF2-40B4-BE49-F238E27FC236}">
                <a16:creationId xmlns:a16="http://schemas.microsoft.com/office/drawing/2014/main" id="{3C91826A-1107-B145-B638-B1EAFD145EC8}"/>
              </a:ext>
            </a:extLst>
          </p:cNvPr>
          <p:cNvSpPr/>
          <p:nvPr/>
        </p:nvSpPr>
        <p:spPr>
          <a:xfrm>
            <a:off x="2575061" y="1013046"/>
            <a:ext cx="377687" cy="385637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1</a:t>
            </a:r>
          </a:p>
        </p:txBody>
      </p:sp>
      <p:cxnSp>
        <p:nvCxnSpPr>
          <p:cNvPr id="29" name="Connettore 2 28">
            <a:extLst>
              <a:ext uri="{FF2B5EF4-FFF2-40B4-BE49-F238E27FC236}">
                <a16:creationId xmlns:a16="http://schemas.microsoft.com/office/drawing/2014/main" id="{40A47994-0BB1-8842-8775-DF75AAAF5811}"/>
              </a:ext>
            </a:extLst>
          </p:cNvPr>
          <p:cNvCxnSpPr>
            <a:cxnSpLocks/>
            <a:stCxn id="26" idx="6"/>
            <a:endCxn id="15" idx="1"/>
          </p:cNvCxnSpPr>
          <p:nvPr/>
        </p:nvCxnSpPr>
        <p:spPr>
          <a:xfrm>
            <a:off x="2952748" y="1205865"/>
            <a:ext cx="37147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ttore 2 22">
            <a:extLst>
              <a:ext uri="{FF2B5EF4-FFF2-40B4-BE49-F238E27FC236}">
                <a16:creationId xmlns:a16="http://schemas.microsoft.com/office/drawing/2014/main" id="{09DD8F13-C2E0-034E-8F32-F9045431D4C2}"/>
              </a:ext>
            </a:extLst>
          </p:cNvPr>
          <p:cNvCxnSpPr>
            <a:cxnSpLocks/>
            <a:stCxn id="15" idx="2"/>
            <a:endCxn id="25" idx="0"/>
          </p:cNvCxnSpPr>
          <p:nvPr/>
        </p:nvCxnSpPr>
        <p:spPr>
          <a:xfrm flipH="1">
            <a:off x="4571999" y="1634490"/>
            <a:ext cx="1" cy="29695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ttangolo 24">
            <a:extLst>
              <a:ext uri="{FF2B5EF4-FFF2-40B4-BE49-F238E27FC236}">
                <a16:creationId xmlns:a16="http://schemas.microsoft.com/office/drawing/2014/main" id="{F415DF58-3950-354E-BDC9-709992DD0D0D}"/>
              </a:ext>
            </a:extLst>
          </p:cNvPr>
          <p:cNvSpPr/>
          <p:nvPr/>
        </p:nvSpPr>
        <p:spPr>
          <a:xfrm>
            <a:off x="3324223" y="1931448"/>
            <a:ext cx="2495551" cy="89249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 err="1"/>
              <a:t>R</a:t>
            </a:r>
            <a:r>
              <a:rPr lang="it-IT" dirty="0"/>
              <a:t>(</a:t>
            </a:r>
            <a:r>
              <a:rPr lang="it-IT" dirty="0" err="1"/>
              <a:t>x,y</a:t>
            </a:r>
            <a:r>
              <a:rPr lang="it-IT" dirty="0"/>
              <a:t>)</a:t>
            </a:r>
          </a:p>
          <a:p>
            <a:pPr algn="ctr"/>
            <a:r>
              <a:rPr lang="it-IT" dirty="0"/>
              <a:t>E(y)</a:t>
            </a:r>
          </a:p>
          <a:p>
            <a:pPr algn="ctr"/>
            <a:r>
              <a:rPr lang="it-IT" dirty="0"/>
              <a:t>(¬D ⊔ ∀S.D)(y)</a:t>
            </a:r>
          </a:p>
        </p:txBody>
      </p:sp>
      <p:cxnSp>
        <p:nvCxnSpPr>
          <p:cNvPr id="28" name="Connettore 2 27">
            <a:extLst>
              <a:ext uri="{FF2B5EF4-FFF2-40B4-BE49-F238E27FC236}">
                <a16:creationId xmlns:a16="http://schemas.microsoft.com/office/drawing/2014/main" id="{DD2713AB-FEDB-C94D-97EE-8E6F47A4FA43}"/>
              </a:ext>
            </a:extLst>
          </p:cNvPr>
          <p:cNvCxnSpPr>
            <a:cxnSpLocks/>
            <a:stCxn id="25" idx="2"/>
            <a:endCxn id="35" idx="0"/>
          </p:cNvCxnSpPr>
          <p:nvPr/>
        </p:nvCxnSpPr>
        <p:spPr>
          <a:xfrm flipH="1">
            <a:off x="2763906" y="2823938"/>
            <a:ext cx="1808093" cy="22120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ttangolo 34">
            <a:extLst>
              <a:ext uri="{FF2B5EF4-FFF2-40B4-BE49-F238E27FC236}">
                <a16:creationId xmlns:a16="http://schemas.microsoft.com/office/drawing/2014/main" id="{B73D1097-8D41-E844-9042-E14FE868ADBF}"/>
              </a:ext>
            </a:extLst>
          </p:cNvPr>
          <p:cNvSpPr/>
          <p:nvPr/>
        </p:nvSpPr>
        <p:spPr>
          <a:xfrm>
            <a:off x="1516130" y="3045145"/>
            <a:ext cx="2495551" cy="89249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 err="1"/>
              <a:t>R</a:t>
            </a:r>
            <a:r>
              <a:rPr lang="it-IT" dirty="0"/>
              <a:t>(</a:t>
            </a:r>
            <a:r>
              <a:rPr lang="it-IT" dirty="0" err="1"/>
              <a:t>x,y</a:t>
            </a:r>
            <a:r>
              <a:rPr lang="it-IT" dirty="0"/>
              <a:t>)</a:t>
            </a:r>
          </a:p>
          <a:p>
            <a:pPr algn="ctr"/>
            <a:r>
              <a:rPr lang="it-IT" dirty="0"/>
              <a:t>E(y)</a:t>
            </a:r>
          </a:p>
          <a:p>
            <a:pPr algn="ctr"/>
            <a:r>
              <a:rPr lang="it-IT" dirty="0"/>
              <a:t>¬D(y)</a:t>
            </a:r>
          </a:p>
        </p:txBody>
      </p:sp>
      <p:sp>
        <p:nvSpPr>
          <p:cNvPr id="36" name="Rettangolo 35">
            <a:extLst>
              <a:ext uri="{FF2B5EF4-FFF2-40B4-BE49-F238E27FC236}">
                <a16:creationId xmlns:a16="http://schemas.microsoft.com/office/drawing/2014/main" id="{D28E7DA3-2320-C242-BE23-B31744EE16A2}"/>
              </a:ext>
            </a:extLst>
          </p:cNvPr>
          <p:cNvSpPr/>
          <p:nvPr/>
        </p:nvSpPr>
        <p:spPr>
          <a:xfrm>
            <a:off x="5305424" y="3046797"/>
            <a:ext cx="2495551" cy="89249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 err="1"/>
              <a:t>R</a:t>
            </a:r>
            <a:r>
              <a:rPr lang="it-IT" dirty="0"/>
              <a:t>(</a:t>
            </a:r>
            <a:r>
              <a:rPr lang="it-IT" dirty="0" err="1"/>
              <a:t>x,y</a:t>
            </a:r>
            <a:r>
              <a:rPr lang="it-IT" dirty="0"/>
              <a:t>)</a:t>
            </a:r>
          </a:p>
          <a:p>
            <a:pPr algn="ctr"/>
            <a:r>
              <a:rPr lang="it-IT" dirty="0"/>
              <a:t>E(y)</a:t>
            </a:r>
          </a:p>
          <a:p>
            <a:pPr algn="ctr"/>
            <a:r>
              <a:rPr lang="it-IT" dirty="0"/>
              <a:t>(∀S.D)(y)</a:t>
            </a:r>
          </a:p>
        </p:txBody>
      </p:sp>
      <p:cxnSp>
        <p:nvCxnSpPr>
          <p:cNvPr id="38" name="Connettore 2 37">
            <a:extLst>
              <a:ext uri="{FF2B5EF4-FFF2-40B4-BE49-F238E27FC236}">
                <a16:creationId xmlns:a16="http://schemas.microsoft.com/office/drawing/2014/main" id="{4223F53B-201B-8B46-8865-62806E3FFF0D}"/>
              </a:ext>
            </a:extLst>
          </p:cNvPr>
          <p:cNvCxnSpPr>
            <a:cxnSpLocks/>
            <a:stCxn id="25" idx="2"/>
            <a:endCxn id="36" idx="0"/>
          </p:cNvCxnSpPr>
          <p:nvPr/>
        </p:nvCxnSpPr>
        <p:spPr>
          <a:xfrm>
            <a:off x="4571999" y="2823938"/>
            <a:ext cx="1981201" cy="22285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325917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21BE4D5-C761-C14F-B47D-5D5CAB61D2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RULE OF THUMB OF CANCELLATION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2A8F998-0EF3-6C4F-8086-742C066D13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 err="1"/>
              <a:t>Existentials</a:t>
            </a:r>
            <a:r>
              <a:rPr lang="it-IT" dirty="0"/>
              <a:t> ARE CONSUMED so </a:t>
            </a:r>
            <a:r>
              <a:rPr lang="it-IT" dirty="0" err="1"/>
              <a:t>they</a:t>
            </a:r>
            <a:r>
              <a:rPr lang="it-IT" dirty="0"/>
              <a:t> can be </a:t>
            </a:r>
            <a:r>
              <a:rPr lang="it-IT" dirty="0" err="1"/>
              <a:t>deleted</a:t>
            </a:r>
            <a:r>
              <a:rPr lang="it-IT" dirty="0"/>
              <a:t>
</a:t>
            </a:r>
            <a:r>
              <a:rPr lang="it-IT" dirty="0" err="1"/>
              <a:t>Universals</a:t>
            </a:r>
            <a:r>
              <a:rPr lang="it-IT" dirty="0"/>
              <a:t> </a:t>
            </a:r>
            <a:r>
              <a:rPr lang="it-IT" dirty="0" err="1"/>
              <a:t>potentially</a:t>
            </a:r>
            <a:r>
              <a:rPr lang="it-IT" dirty="0"/>
              <a:t> act </a:t>
            </a:r>
            <a:r>
              <a:rPr lang="it-IT" dirty="0" err="1"/>
              <a:t>indefinitely</a:t>
            </a:r>
            <a:r>
              <a:rPr lang="it-IT" dirty="0"/>
              <a:t>, so </a:t>
            </a:r>
            <a:r>
              <a:rPr lang="it-IT" dirty="0" err="1"/>
              <a:t>they</a:t>
            </a:r>
            <a:r>
              <a:rPr lang="it-IT" dirty="0"/>
              <a:t> </a:t>
            </a:r>
            <a:r>
              <a:rPr lang="it-IT" dirty="0" err="1"/>
              <a:t>cannot</a:t>
            </a:r>
            <a:r>
              <a:rPr lang="it-IT" dirty="0"/>
              <a:t> be </a:t>
            </a:r>
            <a:r>
              <a:rPr lang="it-IT" dirty="0" err="1"/>
              <a:t>deleted</a:t>
            </a:r>
            <a:endParaRPr lang="it-IT" dirty="0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4AEBE5B4-D462-8644-B4E0-C7AF462588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it-IT" altLang="it-IT"/>
              <a:t>TABLEAU FOR ALC(N)</a:t>
            </a:r>
            <a:endParaRPr lang="it-IT" alt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F63AE968-7E2A-564A-8291-37C0CFBECB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KR</a:t>
            </a:r>
            <a:endParaRPr lang="en-US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87BF3E46-FC32-5E49-B218-10E949B2D2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D341D-7438-4FA4-973F-6F9EECBD14B9}" type="slidenum">
              <a:rPr lang="it-IT" altLang="it-IT" smtClean="0"/>
              <a:pPr>
                <a:defRPr/>
              </a:pPr>
              <a:t>15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25114505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44BC5F6-1F6F-D14E-B95A-3179D7D118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EXAMPLE (</a:t>
            </a:r>
            <a:r>
              <a:rPr lang="it-IT" dirty="0" err="1"/>
              <a:t>ctd</a:t>
            </a:r>
            <a:r>
              <a:rPr lang="it-IT" dirty="0"/>
              <a:t>) (PART 2)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795D7A5D-C3D4-F643-AE12-2E3BD9CDC1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it-IT" altLang="it-IT"/>
              <a:t>TABLEAU FOR ALC(N)</a:t>
            </a:r>
            <a:endParaRPr lang="it-IT" alt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6C68758-9A35-1542-9FA4-7855890D3A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KR</a:t>
            </a:r>
            <a:endParaRPr lang="en-US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09F582C0-A188-0843-A632-ED52F6B312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D341D-7438-4FA4-973F-6F9EECBD14B9}" type="slidenum">
              <a:rPr lang="it-IT" altLang="it-IT" smtClean="0"/>
              <a:pPr>
                <a:defRPr/>
              </a:pPr>
              <a:t>16</a:t>
            </a:fld>
            <a:endParaRPr lang="it-IT" altLang="it-IT"/>
          </a:p>
        </p:txBody>
      </p:sp>
      <p:sp>
        <p:nvSpPr>
          <p:cNvPr id="17" name="Rettangolo 16">
            <a:extLst>
              <a:ext uri="{FF2B5EF4-FFF2-40B4-BE49-F238E27FC236}">
                <a16:creationId xmlns:a16="http://schemas.microsoft.com/office/drawing/2014/main" id="{5C6998A4-222F-D649-B305-DF0ADF7ACF06}"/>
              </a:ext>
            </a:extLst>
          </p:cNvPr>
          <p:cNvSpPr/>
          <p:nvPr/>
        </p:nvSpPr>
        <p:spPr>
          <a:xfrm>
            <a:off x="3230423" y="757363"/>
            <a:ext cx="2495551" cy="108137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 err="1"/>
              <a:t>S</a:t>
            </a:r>
            <a:r>
              <a:rPr lang="it-IT" dirty="0"/>
              <a:t>(</a:t>
            </a:r>
            <a:r>
              <a:rPr lang="it-IT" dirty="0" err="1"/>
              <a:t>x,z</a:t>
            </a:r>
            <a:r>
              <a:rPr lang="it-IT" dirty="0"/>
              <a:t>)</a:t>
            </a:r>
          </a:p>
          <a:p>
            <a:pPr algn="ctr"/>
            <a:r>
              <a:rPr lang="it-IT" dirty="0"/>
              <a:t>(D⊓E)(</a:t>
            </a:r>
            <a:r>
              <a:rPr lang="it-IT" dirty="0" err="1"/>
              <a:t>z</a:t>
            </a:r>
            <a:r>
              <a:rPr lang="it-IT" dirty="0"/>
              <a:t>)</a:t>
            </a:r>
          </a:p>
          <a:p>
            <a:pPr algn="ctr"/>
            <a:r>
              <a:rPr lang="it-IT" dirty="0" err="1"/>
              <a:t>R</a:t>
            </a:r>
            <a:r>
              <a:rPr lang="it-IT" dirty="0"/>
              <a:t>(</a:t>
            </a:r>
            <a:r>
              <a:rPr lang="it-IT" dirty="0" err="1"/>
              <a:t>x,y</a:t>
            </a:r>
            <a:r>
              <a:rPr lang="it-IT" dirty="0"/>
              <a:t>)</a:t>
            </a:r>
          </a:p>
          <a:p>
            <a:pPr algn="ctr"/>
            <a:r>
              <a:rPr lang="it-IT" dirty="0"/>
              <a:t>(¬D ⊔ ∀S.D)(y)</a:t>
            </a:r>
          </a:p>
        </p:txBody>
      </p:sp>
      <p:sp>
        <p:nvSpPr>
          <p:cNvPr id="27" name="Ovale 26">
            <a:extLst>
              <a:ext uri="{FF2B5EF4-FFF2-40B4-BE49-F238E27FC236}">
                <a16:creationId xmlns:a16="http://schemas.microsoft.com/office/drawing/2014/main" id="{BBCB259B-C042-E749-8EC3-4AAADA841A28}"/>
              </a:ext>
            </a:extLst>
          </p:cNvPr>
          <p:cNvSpPr/>
          <p:nvPr/>
        </p:nvSpPr>
        <p:spPr>
          <a:xfrm>
            <a:off x="2590799" y="1117893"/>
            <a:ext cx="377687" cy="360316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2</a:t>
            </a:r>
          </a:p>
        </p:txBody>
      </p:sp>
      <p:cxnSp>
        <p:nvCxnSpPr>
          <p:cNvPr id="32" name="Connettore 2 31">
            <a:extLst>
              <a:ext uri="{FF2B5EF4-FFF2-40B4-BE49-F238E27FC236}">
                <a16:creationId xmlns:a16="http://schemas.microsoft.com/office/drawing/2014/main" id="{0303C76F-43D8-7F40-A4B9-3BB52E670F43}"/>
              </a:ext>
            </a:extLst>
          </p:cNvPr>
          <p:cNvCxnSpPr>
            <a:cxnSpLocks/>
            <a:stCxn id="27" idx="6"/>
            <a:endCxn id="17" idx="1"/>
          </p:cNvCxnSpPr>
          <p:nvPr/>
        </p:nvCxnSpPr>
        <p:spPr>
          <a:xfrm>
            <a:off x="2968486" y="1298051"/>
            <a:ext cx="26193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ttangolo 12">
            <a:extLst>
              <a:ext uri="{FF2B5EF4-FFF2-40B4-BE49-F238E27FC236}">
                <a16:creationId xmlns:a16="http://schemas.microsoft.com/office/drawing/2014/main" id="{F562434D-D06F-ED42-AA11-324863DE1924}"/>
              </a:ext>
            </a:extLst>
          </p:cNvPr>
          <p:cNvSpPr/>
          <p:nvPr/>
        </p:nvSpPr>
        <p:spPr>
          <a:xfrm>
            <a:off x="3230423" y="2424781"/>
            <a:ext cx="2495551" cy="1368307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 err="1"/>
              <a:t>S</a:t>
            </a:r>
            <a:r>
              <a:rPr lang="it-IT" dirty="0"/>
              <a:t>(</a:t>
            </a:r>
            <a:r>
              <a:rPr lang="it-IT" dirty="0" err="1"/>
              <a:t>x,z</a:t>
            </a:r>
            <a:r>
              <a:rPr lang="it-IT" dirty="0"/>
              <a:t>)</a:t>
            </a:r>
          </a:p>
          <a:p>
            <a:pPr algn="ctr"/>
            <a:r>
              <a:rPr lang="it-IT" dirty="0"/>
              <a:t>D(</a:t>
            </a:r>
            <a:r>
              <a:rPr lang="it-IT" dirty="0" err="1"/>
              <a:t>z</a:t>
            </a:r>
            <a:r>
              <a:rPr lang="it-IT" dirty="0"/>
              <a:t>)</a:t>
            </a:r>
          </a:p>
          <a:p>
            <a:pPr algn="ctr"/>
            <a:r>
              <a:rPr lang="it-IT" dirty="0"/>
              <a:t>E(</a:t>
            </a:r>
            <a:r>
              <a:rPr lang="it-IT" dirty="0" err="1"/>
              <a:t>z</a:t>
            </a:r>
            <a:r>
              <a:rPr lang="it-IT" dirty="0"/>
              <a:t>)</a:t>
            </a:r>
          </a:p>
          <a:p>
            <a:pPr algn="ctr"/>
            <a:r>
              <a:rPr lang="it-IT" dirty="0" err="1"/>
              <a:t>R</a:t>
            </a:r>
            <a:r>
              <a:rPr lang="it-IT" dirty="0"/>
              <a:t>(</a:t>
            </a:r>
            <a:r>
              <a:rPr lang="it-IT" dirty="0" err="1"/>
              <a:t>x,y</a:t>
            </a:r>
            <a:r>
              <a:rPr lang="it-IT" dirty="0"/>
              <a:t>)</a:t>
            </a:r>
          </a:p>
          <a:p>
            <a:pPr algn="ctr"/>
            <a:r>
              <a:rPr lang="it-IT" dirty="0"/>
              <a:t>(¬D ⊔ ∀S.D)(y)</a:t>
            </a:r>
          </a:p>
        </p:txBody>
      </p:sp>
      <p:cxnSp>
        <p:nvCxnSpPr>
          <p:cNvPr id="14" name="Connettore 2 13">
            <a:extLst>
              <a:ext uri="{FF2B5EF4-FFF2-40B4-BE49-F238E27FC236}">
                <a16:creationId xmlns:a16="http://schemas.microsoft.com/office/drawing/2014/main" id="{7B4D72F8-CB53-C342-8747-108674C2E20A}"/>
              </a:ext>
            </a:extLst>
          </p:cNvPr>
          <p:cNvCxnSpPr>
            <a:cxnSpLocks/>
            <a:stCxn id="17" idx="2"/>
            <a:endCxn id="13" idx="0"/>
          </p:cNvCxnSpPr>
          <p:nvPr/>
        </p:nvCxnSpPr>
        <p:spPr>
          <a:xfrm>
            <a:off x="4478199" y="1838739"/>
            <a:ext cx="0" cy="58604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ttangolo 18">
            <a:extLst>
              <a:ext uri="{FF2B5EF4-FFF2-40B4-BE49-F238E27FC236}">
                <a16:creationId xmlns:a16="http://schemas.microsoft.com/office/drawing/2014/main" id="{A8F3E72D-87BE-764A-B719-0EB8F0F3852F}"/>
              </a:ext>
            </a:extLst>
          </p:cNvPr>
          <p:cNvSpPr/>
          <p:nvPr/>
        </p:nvSpPr>
        <p:spPr>
          <a:xfrm>
            <a:off x="266698" y="2424781"/>
            <a:ext cx="2495551" cy="1368307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 err="1"/>
              <a:t>S</a:t>
            </a:r>
            <a:r>
              <a:rPr lang="it-IT" dirty="0"/>
              <a:t>(</a:t>
            </a:r>
            <a:r>
              <a:rPr lang="it-IT" dirty="0" err="1"/>
              <a:t>x,z</a:t>
            </a:r>
            <a:r>
              <a:rPr lang="it-IT" dirty="0"/>
              <a:t>)</a:t>
            </a:r>
          </a:p>
          <a:p>
            <a:pPr algn="ctr"/>
            <a:r>
              <a:rPr lang="it-IT" dirty="0"/>
              <a:t>D(</a:t>
            </a:r>
            <a:r>
              <a:rPr lang="it-IT" dirty="0" err="1"/>
              <a:t>z</a:t>
            </a:r>
            <a:r>
              <a:rPr lang="it-IT" dirty="0"/>
              <a:t>)</a:t>
            </a:r>
          </a:p>
          <a:p>
            <a:pPr algn="ctr"/>
            <a:r>
              <a:rPr lang="it-IT" dirty="0"/>
              <a:t>E(</a:t>
            </a:r>
            <a:r>
              <a:rPr lang="it-IT" dirty="0" err="1"/>
              <a:t>z</a:t>
            </a:r>
            <a:r>
              <a:rPr lang="it-IT" dirty="0"/>
              <a:t>)</a:t>
            </a:r>
          </a:p>
          <a:p>
            <a:pPr algn="ctr"/>
            <a:r>
              <a:rPr lang="it-IT" dirty="0" err="1"/>
              <a:t>R</a:t>
            </a:r>
            <a:r>
              <a:rPr lang="it-IT" dirty="0"/>
              <a:t>(</a:t>
            </a:r>
            <a:r>
              <a:rPr lang="it-IT" dirty="0" err="1"/>
              <a:t>x,y</a:t>
            </a:r>
            <a:r>
              <a:rPr lang="it-IT" dirty="0"/>
              <a:t>)</a:t>
            </a:r>
          </a:p>
          <a:p>
            <a:pPr algn="ctr"/>
            <a:r>
              <a:rPr lang="it-IT" dirty="0"/>
              <a:t>¬D(y)</a:t>
            </a:r>
          </a:p>
        </p:txBody>
      </p:sp>
      <p:sp>
        <p:nvSpPr>
          <p:cNvPr id="20" name="Rettangolo 19">
            <a:extLst>
              <a:ext uri="{FF2B5EF4-FFF2-40B4-BE49-F238E27FC236}">
                <a16:creationId xmlns:a16="http://schemas.microsoft.com/office/drawing/2014/main" id="{D3FA04A4-B751-4F43-984A-D34A9606857C}"/>
              </a:ext>
            </a:extLst>
          </p:cNvPr>
          <p:cNvSpPr/>
          <p:nvPr/>
        </p:nvSpPr>
        <p:spPr>
          <a:xfrm>
            <a:off x="6191249" y="2424780"/>
            <a:ext cx="2495551" cy="1368307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 err="1"/>
              <a:t>S</a:t>
            </a:r>
            <a:r>
              <a:rPr lang="it-IT" dirty="0"/>
              <a:t>(</a:t>
            </a:r>
            <a:r>
              <a:rPr lang="it-IT" dirty="0" err="1"/>
              <a:t>x,z</a:t>
            </a:r>
            <a:r>
              <a:rPr lang="it-IT" dirty="0"/>
              <a:t>)</a:t>
            </a:r>
          </a:p>
          <a:p>
            <a:pPr algn="ctr"/>
            <a:r>
              <a:rPr lang="it-IT" dirty="0"/>
              <a:t>D(</a:t>
            </a:r>
            <a:r>
              <a:rPr lang="it-IT" dirty="0" err="1"/>
              <a:t>z</a:t>
            </a:r>
            <a:r>
              <a:rPr lang="it-IT" dirty="0"/>
              <a:t>)</a:t>
            </a:r>
          </a:p>
          <a:p>
            <a:pPr algn="ctr"/>
            <a:r>
              <a:rPr lang="it-IT" dirty="0"/>
              <a:t>E(</a:t>
            </a:r>
            <a:r>
              <a:rPr lang="it-IT" dirty="0" err="1"/>
              <a:t>z</a:t>
            </a:r>
            <a:r>
              <a:rPr lang="it-IT" dirty="0"/>
              <a:t>)</a:t>
            </a:r>
          </a:p>
          <a:p>
            <a:pPr algn="ctr"/>
            <a:r>
              <a:rPr lang="it-IT" dirty="0" err="1"/>
              <a:t>R</a:t>
            </a:r>
            <a:r>
              <a:rPr lang="it-IT" dirty="0"/>
              <a:t>(</a:t>
            </a:r>
            <a:r>
              <a:rPr lang="it-IT" dirty="0" err="1"/>
              <a:t>x,y</a:t>
            </a:r>
            <a:r>
              <a:rPr lang="it-IT" dirty="0"/>
              <a:t>)</a:t>
            </a:r>
          </a:p>
          <a:p>
            <a:pPr algn="ctr"/>
            <a:r>
              <a:rPr lang="it-IT" dirty="0"/>
              <a:t>(∀S.D)(y)</a:t>
            </a:r>
          </a:p>
        </p:txBody>
      </p:sp>
      <p:cxnSp>
        <p:nvCxnSpPr>
          <p:cNvPr id="21" name="Connettore 2 20">
            <a:extLst>
              <a:ext uri="{FF2B5EF4-FFF2-40B4-BE49-F238E27FC236}">
                <a16:creationId xmlns:a16="http://schemas.microsoft.com/office/drawing/2014/main" id="{F4892F04-2F8C-1C4E-8490-93F5B46C640B}"/>
              </a:ext>
            </a:extLst>
          </p:cNvPr>
          <p:cNvCxnSpPr>
            <a:cxnSpLocks/>
            <a:stCxn id="13" idx="1"/>
            <a:endCxn id="19" idx="3"/>
          </p:cNvCxnSpPr>
          <p:nvPr/>
        </p:nvCxnSpPr>
        <p:spPr>
          <a:xfrm flipH="1">
            <a:off x="2762249" y="3108935"/>
            <a:ext cx="46817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ttore 2 23">
            <a:extLst>
              <a:ext uri="{FF2B5EF4-FFF2-40B4-BE49-F238E27FC236}">
                <a16:creationId xmlns:a16="http://schemas.microsoft.com/office/drawing/2014/main" id="{BFDEFDAF-25A1-354D-9C11-001C70562434}"/>
              </a:ext>
            </a:extLst>
          </p:cNvPr>
          <p:cNvCxnSpPr>
            <a:cxnSpLocks/>
            <a:stCxn id="13" idx="3"/>
            <a:endCxn id="20" idx="1"/>
          </p:cNvCxnSpPr>
          <p:nvPr/>
        </p:nvCxnSpPr>
        <p:spPr>
          <a:xfrm flipV="1">
            <a:off x="5725974" y="3108934"/>
            <a:ext cx="465275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806106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6DAE346-0C24-2449-AAF4-5EDA9B4A49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CLASSIFICATION OF AN A-BOX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ED53F8F-BE96-D947-A739-FF2B4C7A3C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An a-box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said</a:t>
            </a:r>
            <a:endParaRPr lang="it-IT" dirty="0"/>
          </a:p>
          <a:p>
            <a:pPr lvl="1"/>
            <a:r>
              <a:rPr lang="it-IT" b="1" dirty="0"/>
              <a:t>Open</a:t>
            </a:r>
            <a:r>
              <a:rPr lang="it-IT" dirty="0"/>
              <a:t> </a:t>
            </a:r>
            <a:r>
              <a:rPr lang="it-IT" dirty="0" err="1"/>
              <a:t>when</a:t>
            </a:r>
            <a:r>
              <a:rPr lang="it-IT" dirty="0"/>
              <a:t> </a:t>
            </a:r>
            <a:r>
              <a:rPr lang="it-IT" dirty="0" err="1"/>
              <a:t>it</a:t>
            </a:r>
            <a:r>
              <a:rPr lang="it-IT" dirty="0"/>
              <a:t> </a:t>
            </a:r>
            <a:r>
              <a:rPr lang="it-IT" dirty="0" err="1"/>
              <a:t>does</a:t>
            </a:r>
            <a:r>
              <a:rPr lang="it-IT" dirty="0"/>
              <a:t> </a:t>
            </a:r>
            <a:r>
              <a:rPr lang="it-IT" dirty="0" err="1"/>
              <a:t>not</a:t>
            </a:r>
            <a:r>
              <a:rPr lang="it-IT" dirty="0"/>
              <a:t> </a:t>
            </a:r>
            <a:r>
              <a:rPr lang="it-IT" dirty="0" err="1"/>
              <a:t>contain</a:t>
            </a:r>
            <a:r>
              <a:rPr lang="it-IT" dirty="0"/>
              <a:t> a </a:t>
            </a:r>
            <a:r>
              <a:rPr lang="it-IT" dirty="0" err="1"/>
              <a:t>contradiction</a:t>
            </a:r>
            <a:r>
              <a:rPr lang="it-IT" dirty="0"/>
              <a:t>;
</a:t>
            </a:r>
            <a:r>
              <a:rPr lang="it-IT" b="1" dirty="0" err="1"/>
              <a:t>Closed</a:t>
            </a:r>
            <a:r>
              <a:rPr lang="it-IT" dirty="0"/>
              <a:t> </a:t>
            </a:r>
            <a:r>
              <a:rPr lang="it-IT" dirty="0" err="1"/>
              <a:t>when</a:t>
            </a:r>
            <a:r>
              <a:rPr lang="it-IT" dirty="0"/>
              <a:t> </a:t>
            </a:r>
            <a:r>
              <a:rPr lang="it-IT" dirty="0" err="1"/>
              <a:t>it</a:t>
            </a:r>
            <a:r>
              <a:rPr lang="it-IT" dirty="0"/>
              <a:t> </a:t>
            </a:r>
            <a:r>
              <a:rPr lang="it-IT" dirty="0" err="1"/>
              <a:t>contains</a:t>
            </a:r>
            <a:r>
              <a:rPr lang="it-IT" dirty="0"/>
              <a:t> a </a:t>
            </a:r>
            <a:r>
              <a:rPr lang="it-IT" dirty="0" err="1"/>
              <a:t>contradiction</a:t>
            </a:r>
            <a:endParaRPr lang="it-IT" dirty="0"/>
          </a:p>
          <a:p>
            <a:r>
              <a:rPr lang="it-IT" dirty="0"/>
              <a:t>An a-box with </a:t>
            </a:r>
            <a:r>
              <a:rPr lang="it-IT" dirty="0" err="1"/>
              <a:t>respect</a:t>
            </a:r>
            <a:r>
              <a:rPr lang="it-IT" dirty="0"/>
              <a:t> to a </a:t>
            </a:r>
            <a:r>
              <a:rPr lang="it-IT" dirty="0" err="1"/>
              <a:t>conceptual</a:t>
            </a:r>
            <a:r>
              <a:rPr lang="it-IT" dirty="0"/>
              <a:t> </a:t>
            </a:r>
            <a:r>
              <a:rPr lang="it-IT" dirty="0" err="1"/>
              <a:t>expression</a:t>
            </a:r>
            <a:r>
              <a:rPr lang="it-IT" dirty="0"/>
              <a:t> C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said</a:t>
            </a:r>
            <a:r>
              <a:rPr lang="it-IT" dirty="0"/>
              <a:t> to be</a:t>
            </a:r>
          </a:p>
          <a:p>
            <a:pPr lvl="1"/>
            <a:r>
              <a:rPr lang="it-IT" b="1" dirty="0" err="1"/>
              <a:t>Exhausted</a:t>
            </a:r>
            <a:r>
              <a:rPr lang="it-IT" dirty="0"/>
              <a:t> </a:t>
            </a:r>
            <a:r>
              <a:rPr lang="it-IT" dirty="0" err="1"/>
              <a:t>when</a:t>
            </a:r>
            <a:r>
              <a:rPr lang="it-IT" dirty="0"/>
              <a:t> the </a:t>
            </a:r>
            <a:r>
              <a:rPr lang="it-IT" dirty="0" err="1"/>
              <a:t>application</a:t>
            </a:r>
            <a:r>
              <a:rPr lang="it-IT" dirty="0"/>
              <a:t> of </a:t>
            </a:r>
            <a:r>
              <a:rPr lang="it-IT" dirty="0" err="1"/>
              <a:t>rewriting</a:t>
            </a:r>
            <a:r>
              <a:rPr lang="it-IT" dirty="0"/>
              <a:t> rules </a:t>
            </a:r>
            <a:r>
              <a:rPr lang="it-IT" dirty="0" err="1"/>
              <a:t>rewrites</a:t>
            </a:r>
            <a:r>
              <a:rPr lang="it-IT" dirty="0"/>
              <a:t> </a:t>
            </a:r>
            <a:r>
              <a:rPr lang="it-IT" dirty="0" err="1"/>
              <a:t>it</a:t>
            </a:r>
            <a:r>
              <a:rPr lang="it-IT" dirty="0"/>
              <a:t> to </a:t>
            </a:r>
            <a:r>
              <a:rPr lang="it-IT" dirty="0" err="1"/>
              <a:t>itself</a:t>
            </a:r>
            <a:r>
              <a:rPr lang="it-IT" dirty="0"/>
              <a:t>.</a:t>
            </a:r>
            <a:endParaRPr lang="it-IT" b="1" dirty="0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C97D576C-E8C4-4C43-86CC-BBD3331527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it-IT" altLang="it-IT"/>
              <a:t>TABLEAU FOR ALC(N)</a:t>
            </a:r>
            <a:endParaRPr lang="it-IT" alt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4DA3CF0B-EAEF-C742-A4B1-5ECDDD5A7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KR</a:t>
            </a:r>
            <a:endParaRPr lang="en-US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6C95D1C8-94F1-944F-A2B8-A540F1E01B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D341D-7438-4FA4-973F-6F9EECBD14B9}" type="slidenum">
              <a:rPr lang="it-IT" altLang="it-IT" smtClean="0"/>
              <a:pPr>
                <a:defRPr/>
              </a:pPr>
              <a:t>17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259515483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0F17932-9807-9640-A534-6BA57C9399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TABLEAU SAT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5CED229-E098-004A-BC66-D99605FEFF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A concept C </a:t>
            </a:r>
            <a:r>
              <a:rPr lang="it-IT" dirty="0" err="1"/>
              <a:t>is</a:t>
            </a:r>
            <a:r>
              <a:rPr lang="it-IT" dirty="0"/>
              <a:t> SAT </a:t>
            </a:r>
            <a:r>
              <a:rPr lang="it-IT" dirty="0" err="1"/>
              <a:t>if</a:t>
            </a:r>
            <a:r>
              <a:rPr lang="it-IT" dirty="0"/>
              <a:t> </a:t>
            </a:r>
            <a:r>
              <a:rPr lang="it-IT" dirty="0" err="1"/>
              <a:t>applying</a:t>
            </a:r>
            <a:r>
              <a:rPr lang="it-IT" dirty="0"/>
              <a:t> Tableau to </a:t>
            </a:r>
            <a:r>
              <a:rPr lang="it-IT" b="1" dirty="0"/>
              <a:t>C</a:t>
            </a:r>
            <a:r>
              <a:rPr lang="it-IT" dirty="0"/>
              <a:t> </a:t>
            </a:r>
            <a:r>
              <a:rPr lang="it-IT" dirty="0" err="1"/>
              <a:t>results</a:t>
            </a:r>
            <a:r>
              <a:rPr lang="it-IT" dirty="0"/>
              <a:t> in AT LEAST one </a:t>
            </a:r>
            <a:r>
              <a:rPr lang="it-IT" b="1" dirty="0"/>
              <a:t>open</a:t>
            </a:r>
            <a:r>
              <a:rPr lang="it-IT" dirty="0"/>
              <a:t> and </a:t>
            </a:r>
            <a:r>
              <a:rPr lang="it-IT" b="1" dirty="0" err="1"/>
              <a:t>exhausted</a:t>
            </a:r>
            <a:r>
              <a:rPr lang="it-IT" dirty="0"/>
              <a:t> A-box;
A concept </a:t>
            </a:r>
            <a:r>
              <a:rPr lang="it-IT" b="1" dirty="0"/>
              <a:t>C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UNSAT </a:t>
            </a:r>
            <a:r>
              <a:rPr lang="it-IT" dirty="0" err="1"/>
              <a:t>if</a:t>
            </a:r>
            <a:r>
              <a:rPr lang="it-IT" dirty="0"/>
              <a:t> </a:t>
            </a:r>
            <a:r>
              <a:rPr lang="it-IT" dirty="0" err="1"/>
              <a:t>applying</a:t>
            </a:r>
            <a:r>
              <a:rPr lang="it-IT" dirty="0"/>
              <a:t> Tableau to C </a:t>
            </a:r>
            <a:r>
              <a:rPr lang="it-IT" dirty="0" err="1"/>
              <a:t>results</a:t>
            </a:r>
            <a:r>
              <a:rPr lang="it-IT" dirty="0"/>
              <a:t> in </a:t>
            </a:r>
            <a:r>
              <a:rPr lang="it-IT" b="1" dirty="0"/>
              <a:t>ALL</a:t>
            </a:r>
            <a:r>
              <a:rPr lang="it-IT" dirty="0"/>
              <a:t> </a:t>
            </a:r>
            <a:r>
              <a:rPr lang="it-IT" b="1" dirty="0" err="1"/>
              <a:t>closed</a:t>
            </a:r>
            <a:r>
              <a:rPr lang="it-IT" dirty="0"/>
              <a:t> a-boxes.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9D320460-51DD-2148-BAC2-9AD981703A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it-IT" altLang="it-IT"/>
              <a:t>TABLEAU FOR ALC(N)</a:t>
            </a:r>
            <a:endParaRPr lang="it-IT" alt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31348BB-AFFA-344C-91F0-91FA329068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KR</a:t>
            </a:r>
            <a:endParaRPr lang="en-US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ED4040CC-2962-1749-901A-20A63D45E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D341D-7438-4FA4-973F-6F9EECBD14B9}" type="slidenum">
              <a:rPr lang="it-IT" altLang="it-IT" smtClean="0"/>
              <a:pPr>
                <a:defRPr/>
              </a:pPr>
              <a:t>18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23581880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ED9F387-30F1-8843-B46E-E62D528679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RULE OF THUMB FOR SAT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FA63A96-4F5F-B94A-B244-06246B4021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 err="1"/>
              <a:t>Whenever</a:t>
            </a:r>
            <a:r>
              <a:rPr lang="it-IT" dirty="0"/>
              <a:t> an a-box </a:t>
            </a:r>
            <a:r>
              <a:rPr lang="it-IT" dirty="0" err="1"/>
              <a:t>derived</a:t>
            </a:r>
            <a:r>
              <a:rPr lang="it-IT" dirty="0"/>
              <a:t> from </a:t>
            </a:r>
            <a:r>
              <a:rPr lang="it-IT" dirty="0" err="1"/>
              <a:t>another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open and </a:t>
            </a:r>
            <a:r>
              <a:rPr lang="it-IT" dirty="0" err="1"/>
              <a:t>exhausted</a:t>
            </a:r>
            <a:r>
              <a:rPr lang="it-IT" dirty="0"/>
              <a:t>, I finish the </a:t>
            </a:r>
            <a:r>
              <a:rPr lang="it-IT" dirty="0" err="1"/>
              <a:t>rewrites</a:t>
            </a:r>
            <a:r>
              <a:rPr lang="it-IT" dirty="0"/>
              <a:t> and I </a:t>
            </a:r>
            <a:r>
              <a:rPr lang="it-IT" dirty="0" err="1"/>
              <a:t>run</a:t>
            </a:r>
            <a:r>
              <a:rPr lang="it-IT" dirty="0"/>
              <a:t> out of SAT;
</a:t>
            </a:r>
            <a:r>
              <a:rPr lang="it-IT" dirty="0" err="1"/>
              <a:t>Every</a:t>
            </a:r>
            <a:r>
              <a:rPr lang="it-IT" dirty="0"/>
              <a:t> time an a-box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closed</a:t>
            </a:r>
            <a:r>
              <a:rPr lang="it-IT" dirty="0"/>
              <a:t>, I finish </a:t>
            </a:r>
            <a:r>
              <a:rPr lang="it-IT" dirty="0" err="1"/>
              <a:t>rewriting</a:t>
            </a:r>
            <a:r>
              <a:rPr lang="it-IT" dirty="0"/>
              <a:t> the a-box;
</a:t>
            </a:r>
            <a:r>
              <a:rPr lang="it-IT" dirty="0" err="1"/>
              <a:t>Whenever</a:t>
            </a:r>
            <a:r>
              <a:rPr lang="it-IT" dirty="0"/>
              <a:t> </a:t>
            </a:r>
            <a:r>
              <a:rPr lang="it-IT" dirty="0" err="1"/>
              <a:t>all</a:t>
            </a:r>
            <a:r>
              <a:rPr lang="it-IT" dirty="0"/>
              <a:t> the a-boxes are </a:t>
            </a:r>
            <a:r>
              <a:rPr lang="it-IT" dirty="0" err="1"/>
              <a:t>closed</a:t>
            </a:r>
            <a:r>
              <a:rPr lang="it-IT" dirty="0"/>
              <a:t>, I finish the </a:t>
            </a:r>
            <a:r>
              <a:rPr lang="it-IT" dirty="0" err="1"/>
              <a:t>rewrites</a:t>
            </a:r>
            <a:r>
              <a:rPr lang="it-IT" dirty="0"/>
              <a:t> and </a:t>
            </a:r>
            <a:r>
              <a:rPr lang="it-IT" dirty="0" err="1"/>
              <a:t>unsat</a:t>
            </a:r>
            <a:r>
              <a:rPr lang="it-IT" dirty="0"/>
              <a:t> </a:t>
            </a:r>
            <a:r>
              <a:rPr lang="it-IT" dirty="0" err="1"/>
              <a:t>result</a:t>
            </a:r>
            <a:r>
              <a:rPr lang="it-IT" dirty="0"/>
              <a:t>.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505BC3AA-28A1-854A-89DB-4B98908EF7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it-IT" altLang="it-IT"/>
              <a:t>TABLEAU FOR ALC(N)</a:t>
            </a:r>
            <a:endParaRPr lang="it-IT" alt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01F85B3F-90FE-B94F-BF79-03D32F2F62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KR</a:t>
            </a:r>
            <a:endParaRPr lang="en-US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885C0482-9EF7-904D-969F-D7DB47929D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D341D-7438-4FA4-973F-6F9EECBD14B9}" type="slidenum">
              <a:rPr lang="it-IT" altLang="it-IT" smtClean="0"/>
              <a:pPr>
                <a:defRPr/>
              </a:pPr>
              <a:t>19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424347277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44BC5F6-1F6F-D14E-B95A-3179D7D118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EXAMPLE (</a:t>
            </a:r>
            <a:r>
              <a:rPr lang="it-IT" dirty="0" err="1"/>
              <a:t>ctd</a:t>
            </a:r>
            <a:r>
              <a:rPr lang="it-IT" dirty="0"/>
              <a:t>) (PART 1) - ANALYSIS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795D7A5D-C3D4-F643-AE12-2E3BD9CDC1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it-IT" altLang="it-IT"/>
              <a:t>TABLEAU FOR ALC(N)</a:t>
            </a:r>
            <a:endParaRPr lang="it-IT" alt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6C68758-9A35-1542-9FA4-7855890D3A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KR</a:t>
            </a:r>
            <a:endParaRPr lang="en-US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09F582C0-A188-0843-A632-ED52F6B312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D341D-7438-4FA4-973F-6F9EECBD14B9}" type="slidenum">
              <a:rPr lang="it-IT" altLang="it-IT" smtClean="0"/>
              <a:pPr>
                <a:defRPr/>
              </a:pPr>
              <a:t>20</a:t>
            </a:fld>
            <a:endParaRPr lang="it-IT" altLang="it-IT"/>
          </a:p>
        </p:txBody>
      </p:sp>
      <p:sp>
        <p:nvSpPr>
          <p:cNvPr id="15" name="Rettangolo 14">
            <a:extLst>
              <a:ext uri="{FF2B5EF4-FFF2-40B4-BE49-F238E27FC236}">
                <a16:creationId xmlns:a16="http://schemas.microsoft.com/office/drawing/2014/main" id="{3D05712E-895B-F14C-8004-4279B17BAB27}"/>
              </a:ext>
            </a:extLst>
          </p:cNvPr>
          <p:cNvSpPr/>
          <p:nvPr/>
        </p:nvSpPr>
        <p:spPr>
          <a:xfrm>
            <a:off x="2733051" y="808196"/>
            <a:ext cx="2495551" cy="85725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∀R.E(x)</a:t>
            </a:r>
          </a:p>
          <a:p>
            <a:pPr algn="ctr"/>
            <a:r>
              <a:rPr lang="it-IT" dirty="0" err="1"/>
              <a:t>R</a:t>
            </a:r>
            <a:r>
              <a:rPr lang="it-IT" dirty="0"/>
              <a:t>(</a:t>
            </a:r>
            <a:r>
              <a:rPr lang="it-IT" dirty="0" err="1"/>
              <a:t>x,y</a:t>
            </a:r>
            <a:r>
              <a:rPr lang="it-IT" dirty="0"/>
              <a:t>)</a:t>
            </a:r>
          </a:p>
          <a:p>
            <a:pPr algn="ctr"/>
            <a:r>
              <a:rPr lang="it-IT" dirty="0"/>
              <a:t>(¬D ⊔ ∀S.D)(y)</a:t>
            </a:r>
          </a:p>
        </p:txBody>
      </p:sp>
      <p:cxnSp>
        <p:nvCxnSpPr>
          <p:cNvPr id="23" name="Connettore 2 22">
            <a:extLst>
              <a:ext uri="{FF2B5EF4-FFF2-40B4-BE49-F238E27FC236}">
                <a16:creationId xmlns:a16="http://schemas.microsoft.com/office/drawing/2014/main" id="{09DD8F13-C2E0-034E-8F32-F9045431D4C2}"/>
              </a:ext>
            </a:extLst>
          </p:cNvPr>
          <p:cNvCxnSpPr>
            <a:cxnSpLocks/>
            <a:stCxn id="15" idx="2"/>
            <a:endCxn id="25" idx="0"/>
          </p:cNvCxnSpPr>
          <p:nvPr/>
        </p:nvCxnSpPr>
        <p:spPr>
          <a:xfrm flipH="1">
            <a:off x="3980826" y="1665446"/>
            <a:ext cx="1" cy="29695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ttangolo 24">
            <a:extLst>
              <a:ext uri="{FF2B5EF4-FFF2-40B4-BE49-F238E27FC236}">
                <a16:creationId xmlns:a16="http://schemas.microsoft.com/office/drawing/2014/main" id="{F415DF58-3950-354E-BDC9-709992DD0D0D}"/>
              </a:ext>
            </a:extLst>
          </p:cNvPr>
          <p:cNvSpPr/>
          <p:nvPr/>
        </p:nvSpPr>
        <p:spPr>
          <a:xfrm>
            <a:off x="2733050" y="1962404"/>
            <a:ext cx="2495551" cy="89249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 err="1"/>
              <a:t>R</a:t>
            </a:r>
            <a:r>
              <a:rPr lang="it-IT" dirty="0"/>
              <a:t>(</a:t>
            </a:r>
            <a:r>
              <a:rPr lang="it-IT" dirty="0" err="1"/>
              <a:t>x,y</a:t>
            </a:r>
            <a:r>
              <a:rPr lang="it-IT" dirty="0"/>
              <a:t>)</a:t>
            </a:r>
          </a:p>
          <a:p>
            <a:pPr algn="ctr"/>
            <a:r>
              <a:rPr lang="it-IT" dirty="0"/>
              <a:t>E(y)</a:t>
            </a:r>
          </a:p>
          <a:p>
            <a:pPr algn="ctr"/>
            <a:r>
              <a:rPr lang="it-IT" dirty="0"/>
              <a:t>(¬D ⊔ ∀S.D)(y)</a:t>
            </a:r>
          </a:p>
        </p:txBody>
      </p:sp>
      <p:cxnSp>
        <p:nvCxnSpPr>
          <p:cNvPr id="28" name="Connettore 2 27">
            <a:extLst>
              <a:ext uri="{FF2B5EF4-FFF2-40B4-BE49-F238E27FC236}">
                <a16:creationId xmlns:a16="http://schemas.microsoft.com/office/drawing/2014/main" id="{DD2713AB-FEDB-C94D-97EE-8E6F47A4FA43}"/>
              </a:ext>
            </a:extLst>
          </p:cNvPr>
          <p:cNvCxnSpPr>
            <a:cxnSpLocks/>
            <a:stCxn id="25" idx="2"/>
            <a:endCxn id="35" idx="0"/>
          </p:cNvCxnSpPr>
          <p:nvPr/>
        </p:nvCxnSpPr>
        <p:spPr>
          <a:xfrm flipH="1">
            <a:off x="2172732" y="2854894"/>
            <a:ext cx="1808094" cy="17035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ttangolo 34">
            <a:extLst>
              <a:ext uri="{FF2B5EF4-FFF2-40B4-BE49-F238E27FC236}">
                <a16:creationId xmlns:a16="http://schemas.microsoft.com/office/drawing/2014/main" id="{B73D1097-8D41-E844-9042-E14FE868ADBF}"/>
              </a:ext>
            </a:extLst>
          </p:cNvPr>
          <p:cNvSpPr/>
          <p:nvPr/>
        </p:nvSpPr>
        <p:spPr>
          <a:xfrm>
            <a:off x="924956" y="3025251"/>
            <a:ext cx="2495551" cy="89249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 err="1"/>
              <a:t>R</a:t>
            </a:r>
            <a:r>
              <a:rPr lang="it-IT" dirty="0"/>
              <a:t>(</a:t>
            </a:r>
            <a:r>
              <a:rPr lang="it-IT" dirty="0" err="1"/>
              <a:t>x,y</a:t>
            </a:r>
            <a:r>
              <a:rPr lang="it-IT" dirty="0"/>
              <a:t>)</a:t>
            </a:r>
          </a:p>
          <a:p>
            <a:pPr algn="ctr"/>
            <a:r>
              <a:rPr lang="it-IT" dirty="0"/>
              <a:t>E(y)</a:t>
            </a:r>
          </a:p>
          <a:p>
            <a:pPr algn="ctr"/>
            <a:r>
              <a:rPr lang="it-IT" dirty="0"/>
              <a:t>¬D(y)</a:t>
            </a:r>
          </a:p>
        </p:txBody>
      </p:sp>
      <p:sp>
        <p:nvSpPr>
          <p:cNvPr id="36" name="Rettangolo 35">
            <a:extLst>
              <a:ext uri="{FF2B5EF4-FFF2-40B4-BE49-F238E27FC236}">
                <a16:creationId xmlns:a16="http://schemas.microsoft.com/office/drawing/2014/main" id="{D28E7DA3-2320-C242-BE23-B31744EE16A2}"/>
              </a:ext>
            </a:extLst>
          </p:cNvPr>
          <p:cNvSpPr/>
          <p:nvPr/>
        </p:nvSpPr>
        <p:spPr>
          <a:xfrm>
            <a:off x="5017808" y="3046797"/>
            <a:ext cx="2495551" cy="89249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 err="1"/>
              <a:t>R</a:t>
            </a:r>
            <a:r>
              <a:rPr lang="it-IT" dirty="0"/>
              <a:t>(</a:t>
            </a:r>
            <a:r>
              <a:rPr lang="it-IT" dirty="0" err="1"/>
              <a:t>x,y</a:t>
            </a:r>
            <a:r>
              <a:rPr lang="it-IT" dirty="0"/>
              <a:t>)</a:t>
            </a:r>
          </a:p>
          <a:p>
            <a:pPr algn="ctr"/>
            <a:r>
              <a:rPr lang="it-IT" dirty="0"/>
              <a:t>E(y)</a:t>
            </a:r>
          </a:p>
          <a:p>
            <a:pPr algn="ctr"/>
            <a:r>
              <a:rPr lang="it-IT" dirty="0"/>
              <a:t>(∀S.D)(y)</a:t>
            </a:r>
          </a:p>
        </p:txBody>
      </p:sp>
      <p:cxnSp>
        <p:nvCxnSpPr>
          <p:cNvPr id="38" name="Connettore 2 37">
            <a:extLst>
              <a:ext uri="{FF2B5EF4-FFF2-40B4-BE49-F238E27FC236}">
                <a16:creationId xmlns:a16="http://schemas.microsoft.com/office/drawing/2014/main" id="{4223F53B-201B-8B46-8865-62806E3FFF0D}"/>
              </a:ext>
            </a:extLst>
          </p:cNvPr>
          <p:cNvCxnSpPr>
            <a:cxnSpLocks/>
            <a:stCxn id="25" idx="2"/>
            <a:endCxn id="36" idx="0"/>
          </p:cNvCxnSpPr>
          <p:nvPr/>
        </p:nvCxnSpPr>
        <p:spPr>
          <a:xfrm>
            <a:off x="3980826" y="2854894"/>
            <a:ext cx="2284758" cy="19190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Ovale 2">
            <a:extLst>
              <a:ext uri="{FF2B5EF4-FFF2-40B4-BE49-F238E27FC236}">
                <a16:creationId xmlns:a16="http://schemas.microsoft.com/office/drawing/2014/main" id="{A4BD3DE2-60E0-2540-8BC4-CA50AC33A037}"/>
              </a:ext>
            </a:extLst>
          </p:cNvPr>
          <p:cNvSpPr/>
          <p:nvPr/>
        </p:nvSpPr>
        <p:spPr>
          <a:xfrm>
            <a:off x="6817000" y="1054381"/>
            <a:ext cx="1392721" cy="385637"/>
          </a:xfrm>
          <a:prstGeom prst="ellipse">
            <a:avLst/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APERTA</a:t>
            </a:r>
          </a:p>
        </p:txBody>
      </p:sp>
      <p:sp>
        <p:nvSpPr>
          <p:cNvPr id="16" name="Ovale 15">
            <a:extLst>
              <a:ext uri="{FF2B5EF4-FFF2-40B4-BE49-F238E27FC236}">
                <a16:creationId xmlns:a16="http://schemas.microsoft.com/office/drawing/2014/main" id="{5AABE2CC-DDEF-DF49-979B-1721A1311581}"/>
              </a:ext>
            </a:extLst>
          </p:cNvPr>
          <p:cNvSpPr/>
          <p:nvPr/>
        </p:nvSpPr>
        <p:spPr>
          <a:xfrm>
            <a:off x="228596" y="4137959"/>
            <a:ext cx="1392721" cy="385636"/>
          </a:xfrm>
          <a:prstGeom prst="ellipse">
            <a:avLst/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APERTA</a:t>
            </a:r>
          </a:p>
        </p:txBody>
      </p:sp>
      <p:sp>
        <p:nvSpPr>
          <p:cNvPr id="17" name="Ovale 16">
            <a:extLst>
              <a:ext uri="{FF2B5EF4-FFF2-40B4-BE49-F238E27FC236}">
                <a16:creationId xmlns:a16="http://schemas.microsoft.com/office/drawing/2014/main" id="{10FB9079-0FEB-6A4F-93ED-0F13038E4CB9}"/>
              </a:ext>
            </a:extLst>
          </p:cNvPr>
          <p:cNvSpPr/>
          <p:nvPr/>
        </p:nvSpPr>
        <p:spPr>
          <a:xfrm>
            <a:off x="6816999" y="4137957"/>
            <a:ext cx="1392721" cy="385637"/>
          </a:xfrm>
          <a:prstGeom prst="ellipse">
            <a:avLst/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APERTA</a:t>
            </a:r>
          </a:p>
        </p:txBody>
      </p:sp>
      <p:sp>
        <p:nvSpPr>
          <p:cNvPr id="18" name="Ovale 17">
            <a:extLst>
              <a:ext uri="{FF2B5EF4-FFF2-40B4-BE49-F238E27FC236}">
                <a16:creationId xmlns:a16="http://schemas.microsoft.com/office/drawing/2014/main" id="{6196651F-7FDC-F24C-BC1A-14657107F682}"/>
              </a:ext>
            </a:extLst>
          </p:cNvPr>
          <p:cNvSpPr/>
          <p:nvPr/>
        </p:nvSpPr>
        <p:spPr>
          <a:xfrm>
            <a:off x="6816998" y="2208502"/>
            <a:ext cx="1392721" cy="385637"/>
          </a:xfrm>
          <a:prstGeom prst="ellipse">
            <a:avLst/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APERTA</a:t>
            </a:r>
          </a:p>
        </p:txBody>
      </p:sp>
      <p:cxnSp>
        <p:nvCxnSpPr>
          <p:cNvPr id="11" name="Connettore 4 10">
            <a:extLst>
              <a:ext uri="{FF2B5EF4-FFF2-40B4-BE49-F238E27FC236}">
                <a16:creationId xmlns:a16="http://schemas.microsoft.com/office/drawing/2014/main" id="{CE92A309-A4BF-ED40-8EB8-CDCDD0F85FAE}"/>
              </a:ext>
            </a:extLst>
          </p:cNvPr>
          <p:cNvCxnSpPr>
            <a:stCxn id="16" idx="6"/>
            <a:endCxn id="35" idx="2"/>
          </p:cNvCxnSpPr>
          <p:nvPr/>
        </p:nvCxnSpPr>
        <p:spPr>
          <a:xfrm flipV="1">
            <a:off x="1621317" y="3917741"/>
            <a:ext cx="551415" cy="413036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ttore 4 12">
            <a:extLst>
              <a:ext uri="{FF2B5EF4-FFF2-40B4-BE49-F238E27FC236}">
                <a16:creationId xmlns:a16="http://schemas.microsoft.com/office/drawing/2014/main" id="{97125486-1E41-3E47-B895-2191F122AFA7}"/>
              </a:ext>
            </a:extLst>
          </p:cNvPr>
          <p:cNvCxnSpPr>
            <a:stCxn id="17" idx="2"/>
            <a:endCxn id="36" idx="2"/>
          </p:cNvCxnSpPr>
          <p:nvPr/>
        </p:nvCxnSpPr>
        <p:spPr>
          <a:xfrm rot="10800000">
            <a:off x="6265585" y="3939288"/>
            <a:ext cx="551415" cy="391489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ttore 2 18">
            <a:extLst>
              <a:ext uri="{FF2B5EF4-FFF2-40B4-BE49-F238E27FC236}">
                <a16:creationId xmlns:a16="http://schemas.microsoft.com/office/drawing/2014/main" id="{11C7A832-A236-1F47-B7A9-A20AD368550D}"/>
              </a:ext>
            </a:extLst>
          </p:cNvPr>
          <p:cNvCxnSpPr>
            <a:stCxn id="3" idx="2"/>
            <a:endCxn id="15" idx="3"/>
          </p:cNvCxnSpPr>
          <p:nvPr/>
        </p:nvCxnSpPr>
        <p:spPr>
          <a:xfrm flipH="1" flipV="1">
            <a:off x="5228602" y="1236821"/>
            <a:ext cx="1588398" cy="1037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ttore 2 20">
            <a:extLst>
              <a:ext uri="{FF2B5EF4-FFF2-40B4-BE49-F238E27FC236}">
                <a16:creationId xmlns:a16="http://schemas.microsoft.com/office/drawing/2014/main" id="{A7D28F56-D779-8846-AD21-96EF5813374E}"/>
              </a:ext>
            </a:extLst>
          </p:cNvPr>
          <p:cNvCxnSpPr>
            <a:stCxn id="18" idx="2"/>
            <a:endCxn id="25" idx="3"/>
          </p:cNvCxnSpPr>
          <p:nvPr/>
        </p:nvCxnSpPr>
        <p:spPr>
          <a:xfrm flipH="1">
            <a:off x="5228601" y="2401321"/>
            <a:ext cx="1588397" cy="732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Ovale 30">
            <a:extLst>
              <a:ext uri="{FF2B5EF4-FFF2-40B4-BE49-F238E27FC236}">
                <a16:creationId xmlns:a16="http://schemas.microsoft.com/office/drawing/2014/main" id="{F682E9EE-0C3C-0542-BEB9-11DC355868BA}"/>
              </a:ext>
            </a:extLst>
          </p:cNvPr>
          <p:cNvSpPr/>
          <p:nvPr/>
        </p:nvSpPr>
        <p:spPr>
          <a:xfrm>
            <a:off x="2391547" y="4149684"/>
            <a:ext cx="1392721" cy="385636"/>
          </a:xfrm>
          <a:prstGeom prst="ellipse">
            <a:avLst/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600" dirty="0"/>
              <a:t>ESAURITA</a:t>
            </a:r>
          </a:p>
        </p:txBody>
      </p:sp>
      <p:cxnSp>
        <p:nvCxnSpPr>
          <p:cNvPr id="32" name="Connettore 4 31">
            <a:extLst>
              <a:ext uri="{FF2B5EF4-FFF2-40B4-BE49-F238E27FC236}">
                <a16:creationId xmlns:a16="http://schemas.microsoft.com/office/drawing/2014/main" id="{0C68248E-3927-8C4D-8566-E810E4D24119}"/>
              </a:ext>
            </a:extLst>
          </p:cNvPr>
          <p:cNvCxnSpPr>
            <a:cxnSpLocks/>
            <a:stCxn id="31" idx="6"/>
            <a:endCxn id="35" idx="3"/>
          </p:cNvCxnSpPr>
          <p:nvPr/>
        </p:nvCxnSpPr>
        <p:spPr>
          <a:xfrm flipH="1" flipV="1">
            <a:off x="3420507" y="3471496"/>
            <a:ext cx="363761" cy="871006"/>
          </a:xfrm>
          <a:prstGeom prst="bentConnector3">
            <a:avLst>
              <a:gd name="adj1" fmla="val -62843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Ovale 36">
            <a:extLst>
              <a:ext uri="{FF2B5EF4-FFF2-40B4-BE49-F238E27FC236}">
                <a16:creationId xmlns:a16="http://schemas.microsoft.com/office/drawing/2014/main" id="{D3170CA2-B9D9-6E45-9E2E-DCE314C9DEA9}"/>
              </a:ext>
            </a:extLst>
          </p:cNvPr>
          <p:cNvSpPr/>
          <p:nvPr/>
        </p:nvSpPr>
        <p:spPr>
          <a:xfrm>
            <a:off x="4532240" y="4169247"/>
            <a:ext cx="1392721" cy="385636"/>
          </a:xfrm>
          <a:prstGeom prst="ellipse">
            <a:avLst/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600" dirty="0"/>
              <a:t>ESAURITA</a:t>
            </a:r>
          </a:p>
        </p:txBody>
      </p:sp>
      <p:cxnSp>
        <p:nvCxnSpPr>
          <p:cNvPr id="39" name="Connettore 4 38">
            <a:extLst>
              <a:ext uri="{FF2B5EF4-FFF2-40B4-BE49-F238E27FC236}">
                <a16:creationId xmlns:a16="http://schemas.microsoft.com/office/drawing/2014/main" id="{A2C63B6C-ECDA-F545-A84F-490A55E8649E}"/>
              </a:ext>
            </a:extLst>
          </p:cNvPr>
          <p:cNvCxnSpPr>
            <a:stCxn id="37" idx="2"/>
            <a:endCxn id="36" idx="1"/>
          </p:cNvCxnSpPr>
          <p:nvPr/>
        </p:nvCxnSpPr>
        <p:spPr>
          <a:xfrm rot="10800000" flipH="1">
            <a:off x="4532240" y="3493043"/>
            <a:ext cx="485568" cy="869023"/>
          </a:xfrm>
          <a:prstGeom prst="bentConnector3">
            <a:avLst>
              <a:gd name="adj1" fmla="val -47079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riangolo 44">
            <a:extLst>
              <a:ext uri="{FF2B5EF4-FFF2-40B4-BE49-F238E27FC236}">
                <a16:creationId xmlns:a16="http://schemas.microsoft.com/office/drawing/2014/main" id="{8F1136A8-142C-414F-8A06-352652DA81B7}"/>
              </a:ext>
            </a:extLst>
          </p:cNvPr>
          <p:cNvSpPr/>
          <p:nvPr/>
        </p:nvSpPr>
        <p:spPr>
          <a:xfrm>
            <a:off x="15642" y="896962"/>
            <a:ext cx="1282141" cy="768484"/>
          </a:xfrm>
          <a:prstGeom prst="triangle">
            <a:avLst/>
          </a:prstGeom>
          <a:gradFill flip="none" rotWithShape="1">
            <a:gsLst>
              <a:gs pos="0">
                <a:schemeClr val="accent4">
                  <a:lumMod val="67000"/>
                </a:schemeClr>
              </a:gs>
              <a:gs pos="48000">
                <a:schemeClr val="accent4">
                  <a:lumMod val="97000"/>
                  <a:lumOff val="3000"/>
                </a:schemeClr>
              </a:gs>
              <a:gs pos="100000">
                <a:schemeClr val="accent4">
                  <a:lumMod val="60000"/>
                  <a:lumOff val="40000"/>
                </a:schemeClr>
              </a:gs>
            </a:gsLst>
            <a:lin ang="16200000" scaled="1"/>
            <a:tileRect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600" dirty="0"/>
              <a:t>MIN</a:t>
            </a:r>
          </a:p>
        </p:txBody>
      </p:sp>
      <p:cxnSp>
        <p:nvCxnSpPr>
          <p:cNvPr id="49" name="Connettore 4 48">
            <a:extLst>
              <a:ext uri="{FF2B5EF4-FFF2-40B4-BE49-F238E27FC236}">
                <a16:creationId xmlns:a16="http://schemas.microsoft.com/office/drawing/2014/main" id="{53247582-1735-F941-8F4A-0DEF3C5F9FD6}"/>
              </a:ext>
            </a:extLst>
          </p:cNvPr>
          <p:cNvCxnSpPr>
            <a:stCxn id="45" idx="4"/>
            <a:endCxn id="25" idx="1"/>
          </p:cNvCxnSpPr>
          <p:nvPr/>
        </p:nvCxnSpPr>
        <p:spPr>
          <a:xfrm rot="16200000" flipH="1">
            <a:off x="1643815" y="1319413"/>
            <a:ext cx="743203" cy="1435267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ttore 4 50">
            <a:extLst>
              <a:ext uri="{FF2B5EF4-FFF2-40B4-BE49-F238E27FC236}">
                <a16:creationId xmlns:a16="http://schemas.microsoft.com/office/drawing/2014/main" id="{4B0269F6-8064-D643-8B17-A3FF69BD325A}"/>
              </a:ext>
            </a:extLst>
          </p:cNvPr>
          <p:cNvCxnSpPr>
            <a:stCxn id="45" idx="3"/>
            <a:endCxn id="35" idx="1"/>
          </p:cNvCxnSpPr>
          <p:nvPr/>
        </p:nvCxnSpPr>
        <p:spPr>
          <a:xfrm rot="16200000" flipH="1">
            <a:off x="-112191" y="2434349"/>
            <a:ext cx="1806050" cy="268243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ttore 2 55">
            <a:extLst>
              <a:ext uri="{FF2B5EF4-FFF2-40B4-BE49-F238E27FC236}">
                <a16:creationId xmlns:a16="http://schemas.microsoft.com/office/drawing/2014/main" id="{B72C021C-FDFA-D643-BA92-8DE321CCE863}"/>
              </a:ext>
            </a:extLst>
          </p:cNvPr>
          <p:cNvCxnSpPr>
            <a:cxnSpLocks/>
            <a:stCxn id="45" idx="5"/>
            <a:endCxn id="15" idx="1"/>
          </p:cNvCxnSpPr>
          <p:nvPr/>
        </p:nvCxnSpPr>
        <p:spPr>
          <a:xfrm flipV="1">
            <a:off x="977248" y="1236821"/>
            <a:ext cx="1755803" cy="4438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9998012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44BC5F6-1F6F-D14E-B95A-3179D7D118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ESEMPIO (</a:t>
            </a:r>
            <a:r>
              <a:rPr lang="it-IT" dirty="0" err="1"/>
              <a:t>ctd</a:t>
            </a:r>
            <a:r>
              <a:rPr lang="it-IT" dirty="0"/>
              <a:t>) (PARTE 2)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795D7A5D-C3D4-F643-AE12-2E3BD9CDC1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it-IT" altLang="it-IT"/>
              <a:t>TABLEAU FOR ALC(N)</a:t>
            </a:r>
            <a:endParaRPr lang="it-IT" alt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6C68758-9A35-1542-9FA4-7855890D3A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KR</a:t>
            </a:r>
            <a:endParaRPr lang="en-US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09F582C0-A188-0843-A632-ED52F6B312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D341D-7438-4FA4-973F-6F9EECBD14B9}" type="slidenum">
              <a:rPr lang="it-IT" altLang="it-IT" smtClean="0"/>
              <a:pPr>
                <a:defRPr/>
              </a:pPr>
              <a:t>21</a:t>
            </a:fld>
            <a:endParaRPr lang="it-IT" altLang="it-IT" dirty="0"/>
          </a:p>
        </p:txBody>
      </p:sp>
      <p:sp>
        <p:nvSpPr>
          <p:cNvPr id="17" name="Rettangolo 16">
            <a:extLst>
              <a:ext uri="{FF2B5EF4-FFF2-40B4-BE49-F238E27FC236}">
                <a16:creationId xmlns:a16="http://schemas.microsoft.com/office/drawing/2014/main" id="{5C6998A4-222F-D649-B305-DF0ADF7ACF06}"/>
              </a:ext>
            </a:extLst>
          </p:cNvPr>
          <p:cNvSpPr/>
          <p:nvPr/>
        </p:nvSpPr>
        <p:spPr>
          <a:xfrm>
            <a:off x="3230423" y="757363"/>
            <a:ext cx="2495551" cy="108137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 err="1"/>
              <a:t>S</a:t>
            </a:r>
            <a:r>
              <a:rPr lang="it-IT" dirty="0"/>
              <a:t>(</a:t>
            </a:r>
            <a:r>
              <a:rPr lang="it-IT" dirty="0" err="1"/>
              <a:t>x,z</a:t>
            </a:r>
            <a:r>
              <a:rPr lang="it-IT" dirty="0"/>
              <a:t>)</a:t>
            </a:r>
          </a:p>
          <a:p>
            <a:pPr algn="ctr"/>
            <a:r>
              <a:rPr lang="it-IT" dirty="0"/>
              <a:t>(D⊓E)(</a:t>
            </a:r>
            <a:r>
              <a:rPr lang="it-IT" dirty="0" err="1"/>
              <a:t>z</a:t>
            </a:r>
            <a:r>
              <a:rPr lang="it-IT" dirty="0"/>
              <a:t>)</a:t>
            </a:r>
          </a:p>
          <a:p>
            <a:pPr algn="ctr"/>
            <a:r>
              <a:rPr lang="it-IT" dirty="0" err="1"/>
              <a:t>R</a:t>
            </a:r>
            <a:r>
              <a:rPr lang="it-IT" dirty="0"/>
              <a:t>(</a:t>
            </a:r>
            <a:r>
              <a:rPr lang="it-IT" dirty="0" err="1"/>
              <a:t>x,y</a:t>
            </a:r>
            <a:r>
              <a:rPr lang="it-IT" dirty="0"/>
              <a:t>)</a:t>
            </a:r>
          </a:p>
          <a:p>
            <a:pPr algn="ctr"/>
            <a:r>
              <a:rPr lang="it-IT" dirty="0"/>
              <a:t>(¬D ⊔ ∀S.D)(y)</a:t>
            </a:r>
          </a:p>
        </p:txBody>
      </p:sp>
      <p:sp>
        <p:nvSpPr>
          <p:cNvPr id="13" name="Rettangolo 12">
            <a:extLst>
              <a:ext uri="{FF2B5EF4-FFF2-40B4-BE49-F238E27FC236}">
                <a16:creationId xmlns:a16="http://schemas.microsoft.com/office/drawing/2014/main" id="{F562434D-D06F-ED42-AA11-324863DE1924}"/>
              </a:ext>
            </a:extLst>
          </p:cNvPr>
          <p:cNvSpPr/>
          <p:nvPr/>
        </p:nvSpPr>
        <p:spPr>
          <a:xfrm>
            <a:off x="3230423" y="2424781"/>
            <a:ext cx="2495551" cy="1368307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 err="1"/>
              <a:t>S</a:t>
            </a:r>
            <a:r>
              <a:rPr lang="it-IT" dirty="0"/>
              <a:t>(</a:t>
            </a:r>
            <a:r>
              <a:rPr lang="it-IT" dirty="0" err="1"/>
              <a:t>x,z</a:t>
            </a:r>
            <a:r>
              <a:rPr lang="it-IT" dirty="0"/>
              <a:t>)</a:t>
            </a:r>
          </a:p>
          <a:p>
            <a:pPr algn="ctr"/>
            <a:r>
              <a:rPr lang="it-IT" dirty="0"/>
              <a:t>D(</a:t>
            </a:r>
            <a:r>
              <a:rPr lang="it-IT" dirty="0" err="1"/>
              <a:t>z</a:t>
            </a:r>
            <a:r>
              <a:rPr lang="it-IT" dirty="0"/>
              <a:t>)</a:t>
            </a:r>
          </a:p>
          <a:p>
            <a:pPr algn="ctr"/>
            <a:r>
              <a:rPr lang="it-IT" dirty="0"/>
              <a:t>E(</a:t>
            </a:r>
            <a:r>
              <a:rPr lang="it-IT" dirty="0" err="1"/>
              <a:t>z</a:t>
            </a:r>
            <a:r>
              <a:rPr lang="it-IT" dirty="0"/>
              <a:t>)</a:t>
            </a:r>
          </a:p>
          <a:p>
            <a:pPr algn="ctr"/>
            <a:r>
              <a:rPr lang="it-IT" dirty="0" err="1"/>
              <a:t>R</a:t>
            </a:r>
            <a:r>
              <a:rPr lang="it-IT" dirty="0"/>
              <a:t>(</a:t>
            </a:r>
            <a:r>
              <a:rPr lang="it-IT" dirty="0" err="1"/>
              <a:t>x,y</a:t>
            </a:r>
            <a:r>
              <a:rPr lang="it-IT" dirty="0"/>
              <a:t>)</a:t>
            </a:r>
          </a:p>
          <a:p>
            <a:pPr algn="ctr"/>
            <a:r>
              <a:rPr lang="it-IT" dirty="0"/>
              <a:t>(¬D ⊔ ∀S.D)(y)</a:t>
            </a:r>
          </a:p>
        </p:txBody>
      </p:sp>
      <p:cxnSp>
        <p:nvCxnSpPr>
          <p:cNvPr id="14" name="Connettore 2 13">
            <a:extLst>
              <a:ext uri="{FF2B5EF4-FFF2-40B4-BE49-F238E27FC236}">
                <a16:creationId xmlns:a16="http://schemas.microsoft.com/office/drawing/2014/main" id="{7B4D72F8-CB53-C342-8747-108674C2E20A}"/>
              </a:ext>
            </a:extLst>
          </p:cNvPr>
          <p:cNvCxnSpPr>
            <a:cxnSpLocks/>
            <a:stCxn id="17" idx="2"/>
            <a:endCxn id="13" idx="0"/>
          </p:cNvCxnSpPr>
          <p:nvPr/>
        </p:nvCxnSpPr>
        <p:spPr>
          <a:xfrm>
            <a:off x="4478199" y="1838739"/>
            <a:ext cx="0" cy="58604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ttangolo 18">
            <a:extLst>
              <a:ext uri="{FF2B5EF4-FFF2-40B4-BE49-F238E27FC236}">
                <a16:creationId xmlns:a16="http://schemas.microsoft.com/office/drawing/2014/main" id="{A8F3E72D-87BE-764A-B719-0EB8F0F3852F}"/>
              </a:ext>
            </a:extLst>
          </p:cNvPr>
          <p:cNvSpPr/>
          <p:nvPr/>
        </p:nvSpPr>
        <p:spPr>
          <a:xfrm>
            <a:off x="266698" y="2424781"/>
            <a:ext cx="2495551" cy="1368307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 err="1"/>
              <a:t>S</a:t>
            </a:r>
            <a:r>
              <a:rPr lang="it-IT" dirty="0"/>
              <a:t>(</a:t>
            </a:r>
            <a:r>
              <a:rPr lang="it-IT" dirty="0" err="1"/>
              <a:t>x,z</a:t>
            </a:r>
            <a:r>
              <a:rPr lang="it-IT" dirty="0"/>
              <a:t>)</a:t>
            </a:r>
          </a:p>
          <a:p>
            <a:pPr algn="ctr"/>
            <a:r>
              <a:rPr lang="it-IT" dirty="0"/>
              <a:t>D(</a:t>
            </a:r>
            <a:r>
              <a:rPr lang="it-IT" dirty="0" err="1"/>
              <a:t>z</a:t>
            </a:r>
            <a:r>
              <a:rPr lang="it-IT" dirty="0"/>
              <a:t>)</a:t>
            </a:r>
          </a:p>
          <a:p>
            <a:pPr algn="ctr"/>
            <a:r>
              <a:rPr lang="it-IT" dirty="0"/>
              <a:t>E(</a:t>
            </a:r>
            <a:r>
              <a:rPr lang="it-IT" dirty="0" err="1"/>
              <a:t>z</a:t>
            </a:r>
            <a:r>
              <a:rPr lang="it-IT" dirty="0"/>
              <a:t>)</a:t>
            </a:r>
          </a:p>
          <a:p>
            <a:pPr algn="ctr"/>
            <a:r>
              <a:rPr lang="it-IT" dirty="0" err="1"/>
              <a:t>R</a:t>
            </a:r>
            <a:r>
              <a:rPr lang="it-IT" dirty="0"/>
              <a:t>(</a:t>
            </a:r>
            <a:r>
              <a:rPr lang="it-IT" dirty="0" err="1"/>
              <a:t>x,y</a:t>
            </a:r>
            <a:r>
              <a:rPr lang="it-IT" dirty="0"/>
              <a:t>)</a:t>
            </a:r>
          </a:p>
          <a:p>
            <a:pPr algn="ctr"/>
            <a:r>
              <a:rPr lang="it-IT" dirty="0"/>
              <a:t>¬D(y)</a:t>
            </a:r>
          </a:p>
        </p:txBody>
      </p:sp>
      <p:sp>
        <p:nvSpPr>
          <p:cNvPr id="20" name="Rettangolo 19">
            <a:extLst>
              <a:ext uri="{FF2B5EF4-FFF2-40B4-BE49-F238E27FC236}">
                <a16:creationId xmlns:a16="http://schemas.microsoft.com/office/drawing/2014/main" id="{D3FA04A4-B751-4F43-984A-D34A9606857C}"/>
              </a:ext>
            </a:extLst>
          </p:cNvPr>
          <p:cNvSpPr/>
          <p:nvPr/>
        </p:nvSpPr>
        <p:spPr>
          <a:xfrm>
            <a:off x="6191249" y="2424780"/>
            <a:ext cx="2495551" cy="1368307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 err="1"/>
              <a:t>S</a:t>
            </a:r>
            <a:r>
              <a:rPr lang="it-IT" dirty="0"/>
              <a:t>(</a:t>
            </a:r>
            <a:r>
              <a:rPr lang="it-IT" dirty="0" err="1"/>
              <a:t>x,z</a:t>
            </a:r>
            <a:r>
              <a:rPr lang="it-IT" dirty="0"/>
              <a:t>)</a:t>
            </a:r>
          </a:p>
          <a:p>
            <a:pPr algn="ctr"/>
            <a:r>
              <a:rPr lang="it-IT" dirty="0"/>
              <a:t>D(</a:t>
            </a:r>
            <a:r>
              <a:rPr lang="it-IT" dirty="0" err="1"/>
              <a:t>z</a:t>
            </a:r>
            <a:r>
              <a:rPr lang="it-IT" dirty="0"/>
              <a:t>)</a:t>
            </a:r>
          </a:p>
          <a:p>
            <a:pPr algn="ctr"/>
            <a:r>
              <a:rPr lang="it-IT" dirty="0"/>
              <a:t>E(</a:t>
            </a:r>
            <a:r>
              <a:rPr lang="it-IT" dirty="0" err="1"/>
              <a:t>z</a:t>
            </a:r>
            <a:r>
              <a:rPr lang="it-IT" dirty="0"/>
              <a:t>)</a:t>
            </a:r>
          </a:p>
          <a:p>
            <a:pPr algn="ctr"/>
            <a:r>
              <a:rPr lang="it-IT" dirty="0" err="1"/>
              <a:t>R</a:t>
            </a:r>
            <a:r>
              <a:rPr lang="it-IT" dirty="0"/>
              <a:t>(</a:t>
            </a:r>
            <a:r>
              <a:rPr lang="it-IT" dirty="0" err="1"/>
              <a:t>x,y</a:t>
            </a:r>
            <a:r>
              <a:rPr lang="it-IT" dirty="0"/>
              <a:t>)</a:t>
            </a:r>
          </a:p>
          <a:p>
            <a:pPr algn="ctr"/>
            <a:r>
              <a:rPr lang="it-IT" dirty="0"/>
              <a:t>(∀S.D)(y)</a:t>
            </a:r>
          </a:p>
        </p:txBody>
      </p:sp>
      <p:cxnSp>
        <p:nvCxnSpPr>
          <p:cNvPr id="21" name="Connettore 2 20">
            <a:extLst>
              <a:ext uri="{FF2B5EF4-FFF2-40B4-BE49-F238E27FC236}">
                <a16:creationId xmlns:a16="http://schemas.microsoft.com/office/drawing/2014/main" id="{F4892F04-2F8C-1C4E-8490-93F5B46C640B}"/>
              </a:ext>
            </a:extLst>
          </p:cNvPr>
          <p:cNvCxnSpPr>
            <a:cxnSpLocks/>
            <a:stCxn id="13" idx="1"/>
            <a:endCxn id="19" idx="3"/>
          </p:cNvCxnSpPr>
          <p:nvPr/>
        </p:nvCxnSpPr>
        <p:spPr>
          <a:xfrm flipH="1">
            <a:off x="2762249" y="3108935"/>
            <a:ext cx="46817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ttore 2 23">
            <a:extLst>
              <a:ext uri="{FF2B5EF4-FFF2-40B4-BE49-F238E27FC236}">
                <a16:creationId xmlns:a16="http://schemas.microsoft.com/office/drawing/2014/main" id="{BFDEFDAF-25A1-354D-9C11-001C70562434}"/>
              </a:ext>
            </a:extLst>
          </p:cNvPr>
          <p:cNvCxnSpPr>
            <a:cxnSpLocks/>
            <a:stCxn id="13" idx="3"/>
            <a:endCxn id="20" idx="1"/>
          </p:cNvCxnSpPr>
          <p:nvPr/>
        </p:nvCxnSpPr>
        <p:spPr>
          <a:xfrm flipV="1">
            <a:off x="5725974" y="3108934"/>
            <a:ext cx="465275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e 14">
            <a:extLst>
              <a:ext uri="{FF2B5EF4-FFF2-40B4-BE49-F238E27FC236}">
                <a16:creationId xmlns:a16="http://schemas.microsoft.com/office/drawing/2014/main" id="{D6732D61-7A2A-2A41-A30B-6E6467C8A529}"/>
              </a:ext>
            </a:extLst>
          </p:cNvPr>
          <p:cNvSpPr/>
          <p:nvPr/>
        </p:nvSpPr>
        <p:spPr>
          <a:xfrm>
            <a:off x="6817000" y="1117483"/>
            <a:ext cx="1392721" cy="385637"/>
          </a:xfrm>
          <a:prstGeom prst="ellipse">
            <a:avLst/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APERTA</a:t>
            </a:r>
          </a:p>
        </p:txBody>
      </p:sp>
      <p:cxnSp>
        <p:nvCxnSpPr>
          <p:cNvPr id="16" name="Connettore 2 15">
            <a:extLst>
              <a:ext uri="{FF2B5EF4-FFF2-40B4-BE49-F238E27FC236}">
                <a16:creationId xmlns:a16="http://schemas.microsoft.com/office/drawing/2014/main" id="{94EE1712-6A98-9042-86CE-8B8CEC9C4EC6}"/>
              </a:ext>
            </a:extLst>
          </p:cNvPr>
          <p:cNvCxnSpPr>
            <a:cxnSpLocks/>
            <a:stCxn id="15" idx="2"/>
            <a:endCxn id="17" idx="3"/>
          </p:cNvCxnSpPr>
          <p:nvPr/>
        </p:nvCxnSpPr>
        <p:spPr>
          <a:xfrm flipH="1" flipV="1">
            <a:off x="5725974" y="1298051"/>
            <a:ext cx="1091026" cy="122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ttore 2 10">
            <a:extLst>
              <a:ext uri="{FF2B5EF4-FFF2-40B4-BE49-F238E27FC236}">
                <a16:creationId xmlns:a16="http://schemas.microsoft.com/office/drawing/2014/main" id="{4F28C46A-D1F4-3747-8AA7-DD7EEB59F7BD}"/>
              </a:ext>
            </a:extLst>
          </p:cNvPr>
          <p:cNvCxnSpPr>
            <a:stCxn id="15" idx="4"/>
          </p:cNvCxnSpPr>
          <p:nvPr/>
        </p:nvCxnSpPr>
        <p:spPr>
          <a:xfrm>
            <a:off x="7513361" y="1503120"/>
            <a:ext cx="10561" cy="9216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Ovale 42">
            <a:extLst>
              <a:ext uri="{FF2B5EF4-FFF2-40B4-BE49-F238E27FC236}">
                <a16:creationId xmlns:a16="http://schemas.microsoft.com/office/drawing/2014/main" id="{02C6B343-6C66-A345-BFFF-01F277945BE2}"/>
              </a:ext>
            </a:extLst>
          </p:cNvPr>
          <p:cNvSpPr/>
          <p:nvPr/>
        </p:nvSpPr>
        <p:spPr>
          <a:xfrm>
            <a:off x="3781839" y="4186311"/>
            <a:ext cx="1392721" cy="385637"/>
          </a:xfrm>
          <a:prstGeom prst="ellipse">
            <a:avLst/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600" dirty="0"/>
              <a:t>ESAURITA</a:t>
            </a:r>
          </a:p>
        </p:txBody>
      </p:sp>
      <p:cxnSp>
        <p:nvCxnSpPr>
          <p:cNvPr id="45" name="Connettore 7 44">
            <a:extLst>
              <a:ext uri="{FF2B5EF4-FFF2-40B4-BE49-F238E27FC236}">
                <a16:creationId xmlns:a16="http://schemas.microsoft.com/office/drawing/2014/main" id="{F5F1D439-43BE-5D42-98B0-918E040A3751}"/>
              </a:ext>
            </a:extLst>
          </p:cNvPr>
          <p:cNvCxnSpPr>
            <a:stCxn id="43" idx="2"/>
            <a:endCxn id="19" idx="2"/>
          </p:cNvCxnSpPr>
          <p:nvPr/>
        </p:nvCxnSpPr>
        <p:spPr>
          <a:xfrm rot="10800000">
            <a:off x="1514475" y="3793088"/>
            <a:ext cx="2267365" cy="586042"/>
          </a:xfrm>
          <a:prstGeom prst="curved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ttore 7 50">
            <a:extLst>
              <a:ext uri="{FF2B5EF4-FFF2-40B4-BE49-F238E27FC236}">
                <a16:creationId xmlns:a16="http://schemas.microsoft.com/office/drawing/2014/main" id="{041DE980-0ECA-864E-A531-6354C83537DE}"/>
              </a:ext>
            </a:extLst>
          </p:cNvPr>
          <p:cNvCxnSpPr>
            <a:stCxn id="43" idx="6"/>
            <a:endCxn id="20" idx="2"/>
          </p:cNvCxnSpPr>
          <p:nvPr/>
        </p:nvCxnSpPr>
        <p:spPr>
          <a:xfrm flipV="1">
            <a:off x="5174560" y="3793087"/>
            <a:ext cx="2264465" cy="586043"/>
          </a:xfrm>
          <a:prstGeom prst="curved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Ovale 51">
            <a:extLst>
              <a:ext uri="{FF2B5EF4-FFF2-40B4-BE49-F238E27FC236}">
                <a16:creationId xmlns:a16="http://schemas.microsoft.com/office/drawing/2014/main" id="{CAB0EDBE-971D-4440-965A-EECCFDC4F27B}"/>
              </a:ext>
            </a:extLst>
          </p:cNvPr>
          <p:cNvSpPr/>
          <p:nvPr/>
        </p:nvSpPr>
        <p:spPr>
          <a:xfrm>
            <a:off x="818112" y="1117483"/>
            <a:ext cx="1392721" cy="385637"/>
          </a:xfrm>
          <a:prstGeom prst="ellipse">
            <a:avLst/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APERTA</a:t>
            </a:r>
          </a:p>
        </p:txBody>
      </p:sp>
      <p:cxnSp>
        <p:nvCxnSpPr>
          <p:cNvPr id="54" name="Connettore 2 53">
            <a:extLst>
              <a:ext uri="{FF2B5EF4-FFF2-40B4-BE49-F238E27FC236}">
                <a16:creationId xmlns:a16="http://schemas.microsoft.com/office/drawing/2014/main" id="{49F96B3A-6C77-7B42-BB8A-C8418788CFBB}"/>
              </a:ext>
            </a:extLst>
          </p:cNvPr>
          <p:cNvCxnSpPr>
            <a:cxnSpLocks/>
            <a:stCxn id="52" idx="4"/>
            <a:endCxn id="19" idx="0"/>
          </p:cNvCxnSpPr>
          <p:nvPr/>
        </p:nvCxnSpPr>
        <p:spPr>
          <a:xfrm>
            <a:off x="1514473" y="1503120"/>
            <a:ext cx="1" cy="92166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ttore 2 58">
            <a:extLst>
              <a:ext uri="{FF2B5EF4-FFF2-40B4-BE49-F238E27FC236}">
                <a16:creationId xmlns:a16="http://schemas.microsoft.com/office/drawing/2014/main" id="{87556142-F066-104A-847E-F23F384FE170}"/>
              </a:ext>
            </a:extLst>
          </p:cNvPr>
          <p:cNvCxnSpPr>
            <a:stCxn id="52" idx="5"/>
          </p:cNvCxnSpPr>
          <p:nvPr/>
        </p:nvCxnSpPr>
        <p:spPr>
          <a:xfrm>
            <a:off x="2006874" y="1446645"/>
            <a:ext cx="1471822" cy="97813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2168983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BEB8E03-3D91-5E4C-8652-2ABDA1FBD9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z="2800" dirty="0"/>
              <a:t>REWRITING MAJORITY NUMERALS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168DB5E-4BE8-BB46-8753-C84F6B7962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66775"/>
            <a:ext cx="8229600" cy="2368640"/>
          </a:xfrm>
        </p:spPr>
        <p:txBody>
          <a:bodyPr/>
          <a:lstStyle/>
          <a:p>
            <a:r>
              <a:rPr lang="it-IT" sz="2400" dirty="0"/>
              <a:t>RULE 5: </a:t>
            </a:r>
            <a:r>
              <a:rPr lang="it-IT" sz="2400" dirty="0" err="1"/>
              <a:t>Any</a:t>
            </a:r>
            <a:r>
              <a:rPr lang="it-IT" sz="2400" dirty="0"/>
              <a:t> concept C for </a:t>
            </a:r>
            <a:r>
              <a:rPr lang="it-IT" sz="2400" dirty="0" err="1"/>
              <a:t>which</a:t>
            </a:r>
            <a:r>
              <a:rPr lang="it-IT" sz="2400" dirty="0"/>
              <a:t> x </a:t>
            </a:r>
            <a:r>
              <a:rPr lang="it-IT" sz="2400" dirty="0" err="1"/>
              <a:t>is</a:t>
            </a:r>
            <a:r>
              <a:rPr lang="it-IT" sz="2400" dirty="0"/>
              <a:t> an </a:t>
            </a:r>
            <a:r>
              <a:rPr lang="it-IT" sz="2400" dirty="0" err="1"/>
              <a:t>element</a:t>
            </a:r>
            <a:r>
              <a:rPr lang="it-IT" sz="2400" dirty="0"/>
              <a:t> of the extension of C, </a:t>
            </a:r>
            <a:r>
              <a:rPr lang="it-IT" sz="2400" dirty="0" err="1"/>
              <a:t>if</a:t>
            </a:r>
            <a:r>
              <a:rPr lang="it-IT" sz="2400" dirty="0"/>
              <a:t> C </a:t>
            </a:r>
            <a:r>
              <a:rPr lang="it-IT" sz="2400" dirty="0" err="1"/>
              <a:t>is</a:t>
            </a:r>
            <a:r>
              <a:rPr lang="it-IT" sz="2400" dirty="0"/>
              <a:t> a </a:t>
            </a:r>
            <a:r>
              <a:rPr lang="it-IT" sz="2400" dirty="0" err="1"/>
              <a:t>numeral</a:t>
            </a:r>
            <a:r>
              <a:rPr lang="it-IT" sz="2400" dirty="0"/>
              <a:t> </a:t>
            </a:r>
            <a:r>
              <a:rPr lang="it-IT" sz="2400" dirty="0" err="1"/>
              <a:t>expression</a:t>
            </a:r>
            <a:r>
              <a:rPr lang="it-IT" sz="2400" dirty="0"/>
              <a:t> of ≥</a:t>
            </a:r>
            <a:r>
              <a:rPr lang="it-IT" sz="2400" dirty="0" err="1"/>
              <a:t>nR</a:t>
            </a:r>
            <a:r>
              <a:rPr lang="it-IT" sz="2400" dirty="0"/>
              <a:t>, C </a:t>
            </a:r>
            <a:r>
              <a:rPr lang="it-IT" sz="2400" dirty="0" err="1"/>
              <a:t>is</a:t>
            </a:r>
            <a:r>
              <a:rPr lang="it-IT" sz="2400" dirty="0"/>
              <a:t> </a:t>
            </a:r>
            <a:r>
              <a:rPr lang="it-IT" sz="2400" dirty="0" err="1"/>
              <a:t>rewritten</a:t>
            </a:r>
            <a:r>
              <a:rPr lang="it-IT" sz="2400" dirty="0"/>
              <a:t> by </a:t>
            </a:r>
            <a:r>
              <a:rPr lang="it-IT" sz="2400" dirty="0" err="1"/>
              <a:t>introducing</a:t>
            </a:r>
            <a:r>
              <a:rPr lang="it-IT" sz="2400" dirty="0"/>
              <a:t> a </a:t>
            </a:r>
            <a:r>
              <a:rPr lang="it-IT" sz="2400" dirty="0" err="1"/>
              <a:t>sufficient</a:t>
            </a:r>
            <a:r>
              <a:rPr lang="it-IT" sz="2400" dirty="0"/>
              <a:t> </a:t>
            </a:r>
            <a:r>
              <a:rPr lang="it-IT" sz="2400" dirty="0" err="1"/>
              <a:t>number</a:t>
            </a:r>
            <a:r>
              <a:rPr lang="it-IT" sz="2400" dirty="0"/>
              <a:t> of new </a:t>
            </a:r>
            <a:r>
              <a:rPr lang="it-IT" sz="2400" dirty="0" err="1"/>
              <a:t>variables</a:t>
            </a:r>
            <a:r>
              <a:rPr lang="it-IT" sz="2400" dirty="0"/>
              <a:t> </a:t>
            </a:r>
            <a:r>
              <a:rPr lang="it-IT" sz="2400" dirty="0" err="1"/>
              <a:t>yi</a:t>
            </a:r>
            <a:r>
              <a:rPr lang="it-IT" sz="2400" dirty="0"/>
              <a:t> and </a:t>
            </a:r>
            <a:r>
              <a:rPr lang="it-IT" sz="2400" dirty="0" err="1"/>
              <a:t>expressions</a:t>
            </a:r>
            <a:r>
              <a:rPr lang="it-IT" sz="2400" dirty="0"/>
              <a:t> </a:t>
            </a:r>
            <a:r>
              <a:rPr lang="it-IT" sz="2400" dirty="0" err="1"/>
              <a:t>R</a:t>
            </a:r>
            <a:r>
              <a:rPr lang="it-IT" sz="2400" dirty="0"/>
              <a:t>(</a:t>
            </a:r>
            <a:r>
              <a:rPr lang="it-IT" sz="2400" dirty="0" err="1"/>
              <a:t>x,yi</a:t>
            </a:r>
            <a:r>
              <a:rPr lang="it-IT" sz="2400" dirty="0"/>
              <a:t>) so </a:t>
            </a:r>
            <a:r>
              <a:rPr lang="it-IT" sz="2400" dirty="0" err="1"/>
              <a:t>that</a:t>
            </a:r>
            <a:r>
              <a:rPr lang="it-IT" sz="2400" dirty="0"/>
              <a:t> the </a:t>
            </a:r>
            <a:r>
              <a:rPr lang="it-IT" sz="2400" dirty="0" err="1"/>
              <a:t>total</a:t>
            </a:r>
            <a:r>
              <a:rPr lang="it-IT" sz="2400" dirty="0"/>
              <a:t> of </a:t>
            </a:r>
            <a:r>
              <a:rPr lang="it-IT" sz="2400" dirty="0" err="1"/>
              <a:t>expressions</a:t>
            </a:r>
            <a:r>
              <a:rPr lang="it-IT" sz="2400" dirty="0"/>
              <a:t> </a:t>
            </a:r>
            <a:r>
              <a:rPr lang="it-IT" sz="2400" dirty="0" err="1"/>
              <a:t>R</a:t>
            </a:r>
            <a:r>
              <a:rPr lang="it-IT" sz="2400" dirty="0"/>
              <a:t>(</a:t>
            </a:r>
            <a:r>
              <a:rPr lang="it-IT" sz="2400" dirty="0" err="1"/>
              <a:t>x,y</a:t>
            </a:r>
            <a:r>
              <a:rPr lang="it-IT" sz="2400" dirty="0"/>
              <a:t>) </a:t>
            </a:r>
            <a:r>
              <a:rPr lang="it-IT" sz="2400" dirty="0" err="1"/>
              <a:t>is</a:t>
            </a:r>
            <a:r>
              <a:rPr lang="it-IT" sz="2400" dirty="0"/>
              <a:t> </a:t>
            </a:r>
            <a:r>
              <a:rPr lang="it-IT" sz="2400" dirty="0" err="1"/>
              <a:t>equal</a:t>
            </a:r>
            <a:r>
              <a:rPr lang="it-IT" sz="2400" dirty="0"/>
              <a:t> to </a:t>
            </a:r>
            <a:r>
              <a:rPr lang="it-IT" sz="2400" dirty="0" err="1"/>
              <a:t>n</a:t>
            </a:r>
            <a:endParaRPr lang="it-IT" sz="2400" dirty="0"/>
          </a:p>
          <a:p>
            <a:r>
              <a:rPr lang="it-IT" sz="2400" dirty="0">
                <a:highlight>
                  <a:srgbClr val="FFFF00"/>
                </a:highlight>
              </a:rPr>
              <a:t>C = ≥</a:t>
            </a:r>
            <a:r>
              <a:rPr lang="it-IT" sz="2400" dirty="0" err="1">
                <a:highlight>
                  <a:srgbClr val="FFFF00"/>
                </a:highlight>
              </a:rPr>
              <a:t>nR</a:t>
            </a:r>
            <a:r>
              <a:rPr lang="it-IT" sz="2400" dirty="0"/>
              <a:t> </a:t>
            </a:r>
            <a:r>
              <a:rPr lang="it-IT" sz="2400" dirty="0" err="1"/>
              <a:t>is</a:t>
            </a:r>
            <a:r>
              <a:rPr lang="it-IT" sz="2400" dirty="0"/>
              <a:t> </a:t>
            </a:r>
            <a:r>
              <a:rPr lang="it-IT" sz="2400" dirty="0" err="1"/>
              <a:t>rewritten</a:t>
            </a:r>
            <a:endParaRPr lang="it-IT" sz="2400" dirty="0"/>
          </a:p>
          <a:p>
            <a:endParaRPr lang="it-IT" sz="2400" dirty="0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C064FD56-CFBD-534E-BF50-7D8B81D97D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it-IT" altLang="it-IT"/>
              <a:t>TABLEAU FOR ALC(N)</a:t>
            </a:r>
            <a:endParaRPr lang="it-IT" alt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55212CB6-D70B-584C-9D22-D32850D26D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KR</a:t>
            </a:r>
            <a:endParaRPr lang="en-US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54A9E357-8F55-1D47-B489-C83B4222B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D341D-7438-4FA4-973F-6F9EECBD14B9}" type="slidenum">
              <a:rPr lang="it-IT" altLang="it-IT" smtClean="0"/>
              <a:pPr>
                <a:defRPr/>
              </a:pPr>
              <a:t>22</a:t>
            </a:fld>
            <a:endParaRPr lang="it-IT" altLang="it-IT"/>
          </a:p>
        </p:txBody>
      </p:sp>
      <p:sp>
        <p:nvSpPr>
          <p:cNvPr id="13" name="Rettangolo 12">
            <a:extLst>
              <a:ext uri="{FF2B5EF4-FFF2-40B4-BE49-F238E27FC236}">
                <a16:creationId xmlns:a16="http://schemas.microsoft.com/office/drawing/2014/main" id="{E69EBCF0-7FC0-DB4A-9562-F25E1C0680F7}"/>
              </a:ext>
            </a:extLst>
          </p:cNvPr>
          <p:cNvSpPr/>
          <p:nvPr/>
        </p:nvSpPr>
        <p:spPr>
          <a:xfrm>
            <a:off x="613733" y="3543533"/>
            <a:ext cx="2182483" cy="81746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C(x)</a:t>
            </a:r>
          </a:p>
        </p:txBody>
      </p:sp>
      <p:sp>
        <p:nvSpPr>
          <p:cNvPr id="17" name="Rettangolo 16">
            <a:extLst>
              <a:ext uri="{FF2B5EF4-FFF2-40B4-BE49-F238E27FC236}">
                <a16:creationId xmlns:a16="http://schemas.microsoft.com/office/drawing/2014/main" id="{DBDD1FDC-234D-5744-A9C0-CCA70C9EE9B5}"/>
              </a:ext>
            </a:extLst>
          </p:cNvPr>
          <p:cNvSpPr/>
          <p:nvPr/>
        </p:nvSpPr>
        <p:spPr>
          <a:xfrm>
            <a:off x="5461958" y="3140766"/>
            <a:ext cx="2182483" cy="162649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 err="1"/>
              <a:t>R</a:t>
            </a:r>
            <a:r>
              <a:rPr lang="it-IT" dirty="0"/>
              <a:t>(x,y</a:t>
            </a:r>
            <a:r>
              <a:rPr lang="it-IT" baseline="-25000" dirty="0"/>
              <a:t>1</a:t>
            </a:r>
            <a:r>
              <a:rPr lang="it-IT" dirty="0"/>
              <a:t>)</a:t>
            </a:r>
          </a:p>
          <a:p>
            <a:pPr algn="ctr"/>
            <a:r>
              <a:rPr lang="it-IT" dirty="0" err="1"/>
              <a:t>R</a:t>
            </a:r>
            <a:r>
              <a:rPr lang="it-IT" dirty="0"/>
              <a:t>(x,y</a:t>
            </a:r>
            <a:r>
              <a:rPr lang="it-IT" baseline="-25000" dirty="0"/>
              <a:t>2</a:t>
            </a:r>
            <a:r>
              <a:rPr lang="it-IT" dirty="0"/>
              <a:t>)</a:t>
            </a:r>
          </a:p>
          <a:p>
            <a:pPr algn="ctr"/>
            <a:r>
              <a:rPr lang="it-IT" dirty="0"/>
              <a:t>…</a:t>
            </a:r>
          </a:p>
          <a:p>
            <a:pPr algn="ctr"/>
            <a:r>
              <a:rPr lang="it-IT" dirty="0" err="1"/>
              <a:t>R</a:t>
            </a:r>
            <a:r>
              <a:rPr lang="it-IT" dirty="0"/>
              <a:t>(</a:t>
            </a:r>
            <a:r>
              <a:rPr lang="it-IT" dirty="0" err="1"/>
              <a:t>x,y</a:t>
            </a:r>
            <a:r>
              <a:rPr lang="it-IT" baseline="-25000" dirty="0" err="1"/>
              <a:t>n</a:t>
            </a:r>
            <a:r>
              <a:rPr lang="it-IT" dirty="0"/>
              <a:t>)</a:t>
            </a:r>
          </a:p>
        </p:txBody>
      </p:sp>
      <p:cxnSp>
        <p:nvCxnSpPr>
          <p:cNvPr id="18" name="Connettore 1 17">
            <a:extLst>
              <a:ext uri="{FF2B5EF4-FFF2-40B4-BE49-F238E27FC236}">
                <a16:creationId xmlns:a16="http://schemas.microsoft.com/office/drawing/2014/main" id="{F13CB83B-748E-AE4B-8331-8716C8E340A3}"/>
              </a:ext>
            </a:extLst>
          </p:cNvPr>
          <p:cNvCxnSpPr>
            <a:cxnSpLocks/>
            <a:stCxn id="13" idx="3"/>
            <a:endCxn id="17" idx="1"/>
          </p:cNvCxnSpPr>
          <p:nvPr/>
        </p:nvCxnSpPr>
        <p:spPr>
          <a:xfrm>
            <a:off x="2796216" y="3952265"/>
            <a:ext cx="2665742" cy="1750"/>
          </a:xfrm>
          <a:prstGeom prst="line">
            <a:avLst/>
          </a:prstGeom>
          <a:ln>
            <a:headEnd w="lg" len="lg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1667142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287397D-B176-8D4A-A7F5-AAB1F298FF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EXCEPTIONS FOR MAJORITY NUMERALS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32FE49F5-FC15-DE4F-BF0E-C3314DD4855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495550" cy="274637"/>
          </a:xfrm>
        </p:spPr>
        <p:txBody>
          <a:bodyPr/>
          <a:lstStyle/>
          <a:p>
            <a:pPr>
              <a:defRPr/>
            </a:pPr>
            <a:r>
              <a:rPr lang="it-IT" altLang="it-IT"/>
              <a:t>TABLEAU FOR ALC(N)</a:t>
            </a:r>
            <a:endParaRPr lang="it-IT" alt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8A4D5699-F907-3542-9CE9-011DD4BE84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</p:spPr>
        <p:txBody>
          <a:bodyPr/>
          <a:lstStyle/>
          <a:p>
            <a:pPr>
              <a:defRPr/>
            </a:pPr>
            <a:r>
              <a:rPr lang="en-US"/>
              <a:t>KR</a:t>
            </a:r>
            <a:endParaRPr lang="en-US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C8042126-4FB6-5444-BB92-838B4A4CB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D341D-7438-4FA4-973F-6F9EECBD14B9}" type="slidenum">
              <a:rPr lang="it-IT" altLang="it-IT" smtClean="0"/>
              <a:pPr>
                <a:defRPr/>
              </a:pPr>
              <a:t>23</a:t>
            </a:fld>
            <a:endParaRPr lang="it-IT" altLang="it-IT"/>
          </a:p>
        </p:txBody>
      </p:sp>
      <p:sp>
        <p:nvSpPr>
          <p:cNvPr id="7" name="Rettangolo 6">
            <a:extLst>
              <a:ext uri="{FF2B5EF4-FFF2-40B4-BE49-F238E27FC236}">
                <a16:creationId xmlns:a16="http://schemas.microsoft.com/office/drawing/2014/main" id="{EEE4CEBC-ABBB-2247-8AAC-2C476A142FB4}"/>
              </a:ext>
            </a:extLst>
          </p:cNvPr>
          <p:cNvSpPr/>
          <p:nvPr/>
        </p:nvSpPr>
        <p:spPr>
          <a:xfrm>
            <a:off x="1033234" y="1748869"/>
            <a:ext cx="2182483" cy="1503847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≥</a:t>
            </a:r>
            <a:r>
              <a:rPr lang="it-IT" dirty="0" err="1"/>
              <a:t>nR</a:t>
            </a:r>
            <a:r>
              <a:rPr lang="it-IT" dirty="0"/>
              <a:t>(x)</a:t>
            </a:r>
          </a:p>
          <a:p>
            <a:pPr algn="ctr"/>
            <a:r>
              <a:rPr lang="it-IT" dirty="0" err="1"/>
              <a:t>R</a:t>
            </a:r>
            <a:r>
              <a:rPr lang="it-IT" dirty="0"/>
              <a:t>(x,y</a:t>
            </a:r>
            <a:r>
              <a:rPr lang="it-IT" baseline="-25000" dirty="0"/>
              <a:t>1</a:t>
            </a:r>
            <a:r>
              <a:rPr lang="it-IT" dirty="0"/>
              <a:t>)</a:t>
            </a:r>
          </a:p>
          <a:p>
            <a:pPr algn="ctr"/>
            <a:r>
              <a:rPr lang="it-IT" dirty="0" err="1"/>
              <a:t>R</a:t>
            </a:r>
            <a:r>
              <a:rPr lang="it-IT" dirty="0"/>
              <a:t>(x,y</a:t>
            </a:r>
            <a:r>
              <a:rPr lang="it-IT" baseline="-25000" dirty="0"/>
              <a:t>2</a:t>
            </a:r>
            <a:r>
              <a:rPr lang="it-IT" dirty="0"/>
              <a:t>)</a:t>
            </a:r>
          </a:p>
          <a:p>
            <a:pPr algn="ctr"/>
            <a:r>
              <a:rPr lang="it-IT" dirty="0"/>
              <a:t>..</a:t>
            </a:r>
          </a:p>
          <a:p>
            <a:pPr algn="ctr"/>
            <a:r>
              <a:rPr lang="it-IT" dirty="0" err="1"/>
              <a:t>R</a:t>
            </a:r>
            <a:r>
              <a:rPr lang="it-IT" dirty="0"/>
              <a:t>(</a:t>
            </a:r>
            <a:r>
              <a:rPr lang="it-IT" dirty="0" err="1"/>
              <a:t>x,y</a:t>
            </a:r>
            <a:r>
              <a:rPr lang="it-IT" baseline="-25000" dirty="0" err="1"/>
              <a:t>k</a:t>
            </a:r>
            <a:r>
              <a:rPr lang="it-IT" dirty="0"/>
              <a:t>)</a:t>
            </a:r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2D5AC43F-3D72-5F4C-AC70-01D64A390DFF}"/>
              </a:ext>
            </a:extLst>
          </p:cNvPr>
          <p:cNvSpPr/>
          <p:nvPr/>
        </p:nvSpPr>
        <p:spPr>
          <a:xfrm>
            <a:off x="5928284" y="950808"/>
            <a:ext cx="2182483" cy="3059182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 err="1"/>
              <a:t>R</a:t>
            </a:r>
            <a:r>
              <a:rPr lang="it-IT" dirty="0"/>
              <a:t>(x,y</a:t>
            </a:r>
            <a:r>
              <a:rPr lang="it-IT" baseline="-25000" dirty="0"/>
              <a:t>1</a:t>
            </a:r>
            <a:r>
              <a:rPr lang="it-IT" dirty="0"/>
              <a:t>)</a:t>
            </a:r>
          </a:p>
          <a:p>
            <a:pPr algn="ctr"/>
            <a:r>
              <a:rPr lang="it-IT" dirty="0" err="1"/>
              <a:t>R</a:t>
            </a:r>
            <a:r>
              <a:rPr lang="it-IT" dirty="0"/>
              <a:t>(x,y</a:t>
            </a:r>
            <a:r>
              <a:rPr lang="it-IT" baseline="-25000" dirty="0"/>
              <a:t>2</a:t>
            </a:r>
            <a:r>
              <a:rPr lang="it-IT" dirty="0"/>
              <a:t>)</a:t>
            </a:r>
          </a:p>
          <a:p>
            <a:pPr algn="ctr"/>
            <a:r>
              <a:rPr lang="it-IT" dirty="0"/>
              <a:t>..</a:t>
            </a:r>
          </a:p>
          <a:p>
            <a:pPr algn="ctr"/>
            <a:r>
              <a:rPr lang="it-IT" dirty="0" err="1"/>
              <a:t>R</a:t>
            </a:r>
            <a:r>
              <a:rPr lang="it-IT" dirty="0"/>
              <a:t>(</a:t>
            </a:r>
            <a:r>
              <a:rPr lang="it-IT" dirty="0" err="1"/>
              <a:t>x,y</a:t>
            </a:r>
            <a:r>
              <a:rPr lang="it-IT" baseline="-25000" dirty="0" err="1"/>
              <a:t>k</a:t>
            </a:r>
            <a:r>
              <a:rPr lang="it-IT" dirty="0"/>
              <a:t>)</a:t>
            </a:r>
          </a:p>
          <a:p>
            <a:pPr algn="ctr"/>
            <a:r>
              <a:rPr lang="it-IT" dirty="0" err="1"/>
              <a:t>R</a:t>
            </a:r>
            <a:r>
              <a:rPr lang="it-IT" dirty="0"/>
              <a:t>(x,y</a:t>
            </a:r>
            <a:r>
              <a:rPr lang="it-IT" baseline="-25000" dirty="0"/>
              <a:t>k+1</a:t>
            </a:r>
            <a:r>
              <a:rPr lang="it-IT" dirty="0"/>
              <a:t>)</a:t>
            </a:r>
          </a:p>
          <a:p>
            <a:pPr algn="ctr"/>
            <a:r>
              <a:rPr lang="it-IT" dirty="0" err="1"/>
              <a:t>R</a:t>
            </a:r>
            <a:r>
              <a:rPr lang="it-IT" dirty="0"/>
              <a:t>(x,y</a:t>
            </a:r>
            <a:r>
              <a:rPr lang="it-IT" baseline="-25000" dirty="0"/>
              <a:t>k+2</a:t>
            </a:r>
            <a:r>
              <a:rPr lang="it-IT" dirty="0"/>
              <a:t>)</a:t>
            </a:r>
          </a:p>
          <a:p>
            <a:pPr algn="ctr"/>
            <a:r>
              <a:rPr lang="it-IT" dirty="0"/>
              <a:t>..</a:t>
            </a:r>
          </a:p>
          <a:p>
            <a:pPr algn="ctr"/>
            <a:r>
              <a:rPr lang="it-IT" dirty="0" err="1"/>
              <a:t>R</a:t>
            </a:r>
            <a:r>
              <a:rPr lang="it-IT" dirty="0"/>
              <a:t>(</a:t>
            </a:r>
            <a:r>
              <a:rPr lang="it-IT" dirty="0" err="1"/>
              <a:t>x,y</a:t>
            </a:r>
            <a:r>
              <a:rPr lang="it-IT" baseline="-25000" dirty="0" err="1"/>
              <a:t>n</a:t>
            </a:r>
            <a:r>
              <a:rPr lang="it-IT" dirty="0"/>
              <a:t>)</a:t>
            </a:r>
          </a:p>
          <a:p>
            <a:pPr algn="ctr"/>
            <a:endParaRPr lang="it-IT" dirty="0"/>
          </a:p>
        </p:txBody>
      </p:sp>
      <p:cxnSp>
        <p:nvCxnSpPr>
          <p:cNvPr id="9" name="Connettore 1 8">
            <a:extLst>
              <a:ext uri="{FF2B5EF4-FFF2-40B4-BE49-F238E27FC236}">
                <a16:creationId xmlns:a16="http://schemas.microsoft.com/office/drawing/2014/main" id="{793F900F-8D3A-C849-ABB5-40BC50C036A7}"/>
              </a:ext>
            </a:extLst>
          </p:cNvPr>
          <p:cNvCxnSpPr>
            <a:cxnSpLocks/>
            <a:stCxn id="7" idx="3"/>
            <a:endCxn id="8" idx="1"/>
          </p:cNvCxnSpPr>
          <p:nvPr/>
        </p:nvCxnSpPr>
        <p:spPr>
          <a:xfrm flipV="1">
            <a:off x="3215717" y="2480399"/>
            <a:ext cx="2712567" cy="20394"/>
          </a:xfrm>
          <a:prstGeom prst="line">
            <a:avLst/>
          </a:prstGeom>
          <a:ln>
            <a:headEnd w="lg" len="lg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7584858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BEB8E03-3D91-5E4C-8652-2ABDA1FBD9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z="2800" dirty="0"/>
              <a:t>REWRITING OF MINORITY NUMERALS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168DB5E-4BE8-BB46-8753-C84F6B7962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66775"/>
            <a:ext cx="8229600" cy="1207003"/>
          </a:xfrm>
        </p:spPr>
        <p:txBody>
          <a:bodyPr/>
          <a:lstStyle/>
          <a:p>
            <a:r>
              <a:rPr lang="it-IT" sz="1600" dirty="0"/>
              <a:t>RULE 5: </a:t>
            </a:r>
            <a:r>
              <a:rPr lang="it-IT" sz="1600" dirty="0" err="1"/>
              <a:t>Any</a:t>
            </a:r>
            <a:r>
              <a:rPr lang="it-IT" sz="1600" dirty="0"/>
              <a:t> concept C for </a:t>
            </a:r>
            <a:r>
              <a:rPr lang="it-IT" sz="1600" dirty="0" err="1"/>
              <a:t>which</a:t>
            </a:r>
            <a:r>
              <a:rPr lang="it-IT" sz="1600" dirty="0"/>
              <a:t> x </a:t>
            </a:r>
            <a:r>
              <a:rPr lang="it-IT" sz="1600" dirty="0" err="1"/>
              <a:t>is</a:t>
            </a:r>
            <a:r>
              <a:rPr lang="it-IT" sz="1600" dirty="0"/>
              <a:t> an </a:t>
            </a:r>
            <a:r>
              <a:rPr lang="it-IT" sz="1600" dirty="0" err="1"/>
              <a:t>element</a:t>
            </a:r>
            <a:r>
              <a:rPr lang="it-IT" sz="1600" dirty="0"/>
              <a:t> of the extension of C, </a:t>
            </a:r>
            <a:r>
              <a:rPr lang="it-IT" sz="1600" dirty="0" err="1"/>
              <a:t>if</a:t>
            </a:r>
            <a:r>
              <a:rPr lang="it-IT" sz="1600" dirty="0"/>
              <a:t> C </a:t>
            </a:r>
            <a:r>
              <a:rPr lang="it-IT" sz="1600" dirty="0" err="1"/>
              <a:t>is</a:t>
            </a:r>
            <a:r>
              <a:rPr lang="it-IT" sz="1600" dirty="0"/>
              <a:t> a </a:t>
            </a:r>
            <a:r>
              <a:rPr lang="it-IT" sz="1600" dirty="0" err="1"/>
              <a:t>numeral</a:t>
            </a:r>
            <a:r>
              <a:rPr lang="it-IT" sz="1600" dirty="0"/>
              <a:t> </a:t>
            </a:r>
            <a:r>
              <a:rPr lang="it-IT" sz="1600" dirty="0" err="1"/>
              <a:t>expression</a:t>
            </a:r>
            <a:r>
              <a:rPr lang="it-IT" sz="1600" dirty="0"/>
              <a:t> of ≤</a:t>
            </a:r>
            <a:r>
              <a:rPr lang="it-IT" sz="1600" dirty="0" err="1"/>
              <a:t>nR</a:t>
            </a:r>
            <a:r>
              <a:rPr lang="it-IT" sz="1600" dirty="0"/>
              <a:t>, C </a:t>
            </a:r>
            <a:r>
              <a:rPr lang="it-IT" sz="1600" dirty="0" err="1"/>
              <a:t>is</a:t>
            </a:r>
            <a:r>
              <a:rPr lang="it-IT" sz="1600" dirty="0"/>
              <a:t> </a:t>
            </a:r>
            <a:r>
              <a:rPr lang="it-IT" sz="1600" dirty="0" err="1"/>
              <a:t>rewritten</a:t>
            </a:r>
            <a:r>
              <a:rPr lang="it-IT" sz="1600" dirty="0"/>
              <a:t> by </a:t>
            </a:r>
            <a:r>
              <a:rPr lang="it-IT" sz="1600" dirty="0" err="1"/>
              <a:t>exploding</a:t>
            </a:r>
            <a:r>
              <a:rPr lang="it-IT" sz="1600" dirty="0"/>
              <a:t> the a-box </a:t>
            </a:r>
            <a:r>
              <a:rPr lang="it-IT" sz="1600" dirty="0" err="1"/>
              <a:t>into</a:t>
            </a:r>
            <a:r>
              <a:rPr lang="it-IT" sz="1600" dirty="0"/>
              <a:t> </a:t>
            </a:r>
            <a:r>
              <a:rPr lang="it-IT" sz="1600" dirty="0" err="1"/>
              <a:t>as</a:t>
            </a:r>
            <a:r>
              <a:rPr lang="it-IT" sz="1600" dirty="0"/>
              <a:t> </a:t>
            </a:r>
            <a:r>
              <a:rPr lang="it-IT" sz="1600" dirty="0" err="1"/>
              <a:t>many</a:t>
            </a:r>
            <a:r>
              <a:rPr lang="it-IT" sz="1600" dirty="0"/>
              <a:t> a-boxes </a:t>
            </a:r>
            <a:r>
              <a:rPr lang="it-IT" sz="1600" dirty="0" err="1"/>
              <a:t>as</a:t>
            </a:r>
            <a:r>
              <a:rPr lang="it-IT" sz="1600" dirty="0"/>
              <a:t> the subsets of </a:t>
            </a:r>
            <a:r>
              <a:rPr lang="it-IT" sz="1600" dirty="0" err="1"/>
              <a:t>dimension</a:t>
            </a:r>
            <a:r>
              <a:rPr lang="it-IT" sz="1600" dirty="0"/>
              <a:t> </a:t>
            </a:r>
            <a:r>
              <a:rPr lang="it-IT" sz="1600" dirty="0" err="1"/>
              <a:t>n</a:t>
            </a:r>
            <a:r>
              <a:rPr lang="it-IT" sz="1600" dirty="0"/>
              <a:t> of the </a:t>
            </a:r>
            <a:r>
              <a:rPr lang="it-IT" sz="1600" dirty="0" err="1"/>
              <a:t>assertions</a:t>
            </a:r>
            <a:r>
              <a:rPr lang="it-IT" sz="1600" dirty="0"/>
              <a:t> </a:t>
            </a:r>
            <a:r>
              <a:rPr lang="it-IT" sz="1600" dirty="0" err="1"/>
              <a:t>R</a:t>
            </a:r>
            <a:r>
              <a:rPr lang="it-IT" sz="1600" dirty="0"/>
              <a:t>(</a:t>
            </a:r>
            <a:r>
              <a:rPr lang="it-IT" sz="1600" dirty="0" err="1"/>
              <a:t>x,y</a:t>
            </a:r>
            <a:r>
              <a:rPr lang="it-IT" sz="1600" baseline="-25000" dirty="0" err="1"/>
              <a:t>i</a:t>
            </a:r>
            <a:r>
              <a:rPr lang="it-IT" sz="1600" dirty="0"/>
              <a:t>)</a:t>
            </a:r>
          </a:p>
          <a:p>
            <a:r>
              <a:rPr lang="it-IT" sz="1600" dirty="0">
                <a:highlight>
                  <a:srgbClr val="FFFF00"/>
                </a:highlight>
              </a:rPr>
              <a:t>C = ≤ </a:t>
            </a:r>
            <a:r>
              <a:rPr lang="it-IT" sz="1600" dirty="0" err="1">
                <a:highlight>
                  <a:srgbClr val="FFFF00"/>
                </a:highlight>
              </a:rPr>
              <a:t>nR</a:t>
            </a:r>
            <a:r>
              <a:rPr lang="it-IT" sz="1600" dirty="0"/>
              <a:t> </a:t>
            </a:r>
            <a:r>
              <a:rPr lang="it-IT" sz="1600" dirty="0" err="1"/>
              <a:t>is</a:t>
            </a:r>
            <a:r>
              <a:rPr lang="it-IT" sz="1600" dirty="0"/>
              <a:t> </a:t>
            </a:r>
            <a:r>
              <a:rPr lang="it-IT" sz="1600" dirty="0" err="1"/>
              <a:t>rewritten</a:t>
            </a:r>
            <a:endParaRPr lang="it-IT" sz="1600" dirty="0"/>
          </a:p>
          <a:p>
            <a:endParaRPr lang="it-IT" sz="1600" dirty="0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C064FD56-CFBD-534E-BF50-7D8B81D97D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it-IT" altLang="it-IT"/>
              <a:t>TABLEAU FOR ALC(N)</a:t>
            </a:r>
            <a:endParaRPr lang="it-IT" alt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55212CB6-D70B-584C-9D22-D32850D26D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KR</a:t>
            </a:r>
            <a:endParaRPr lang="en-US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54A9E357-8F55-1D47-B489-C83B4222B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D341D-7438-4FA4-973F-6F9EECBD14B9}" type="slidenum">
              <a:rPr lang="it-IT" altLang="it-IT" smtClean="0"/>
              <a:pPr>
                <a:defRPr/>
              </a:pPr>
              <a:t>24</a:t>
            </a:fld>
            <a:endParaRPr lang="it-IT" altLang="it-IT"/>
          </a:p>
        </p:txBody>
      </p:sp>
      <p:sp>
        <p:nvSpPr>
          <p:cNvPr id="13" name="Rettangolo 12">
            <a:extLst>
              <a:ext uri="{FF2B5EF4-FFF2-40B4-BE49-F238E27FC236}">
                <a16:creationId xmlns:a16="http://schemas.microsoft.com/office/drawing/2014/main" id="{E69EBCF0-7FC0-DB4A-9562-F25E1C0680F7}"/>
              </a:ext>
            </a:extLst>
          </p:cNvPr>
          <p:cNvSpPr/>
          <p:nvPr/>
        </p:nvSpPr>
        <p:spPr>
          <a:xfrm>
            <a:off x="457200" y="2073778"/>
            <a:ext cx="2182483" cy="1931692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C(x)</a:t>
            </a:r>
          </a:p>
          <a:p>
            <a:pPr algn="ctr"/>
            <a:r>
              <a:rPr lang="it-IT" dirty="0" err="1"/>
              <a:t>R</a:t>
            </a:r>
            <a:r>
              <a:rPr lang="it-IT" dirty="0"/>
              <a:t>(x,y</a:t>
            </a:r>
            <a:r>
              <a:rPr lang="it-IT" baseline="-25000" dirty="0"/>
              <a:t>1</a:t>
            </a:r>
            <a:r>
              <a:rPr lang="it-IT" dirty="0"/>
              <a:t>)</a:t>
            </a:r>
          </a:p>
          <a:p>
            <a:pPr algn="ctr"/>
            <a:r>
              <a:rPr lang="it-IT" dirty="0" err="1"/>
              <a:t>R</a:t>
            </a:r>
            <a:r>
              <a:rPr lang="it-IT" dirty="0"/>
              <a:t>(x,y</a:t>
            </a:r>
            <a:r>
              <a:rPr lang="it-IT" baseline="-25000" dirty="0"/>
              <a:t>2</a:t>
            </a:r>
            <a:r>
              <a:rPr lang="it-IT" dirty="0"/>
              <a:t>)</a:t>
            </a:r>
          </a:p>
          <a:p>
            <a:pPr algn="ctr"/>
            <a:r>
              <a:rPr lang="it-IT" dirty="0"/>
              <a:t>…</a:t>
            </a:r>
          </a:p>
          <a:p>
            <a:pPr algn="ctr"/>
            <a:r>
              <a:rPr lang="it-IT" dirty="0" err="1"/>
              <a:t>R</a:t>
            </a:r>
            <a:r>
              <a:rPr lang="it-IT" dirty="0"/>
              <a:t>(</a:t>
            </a:r>
            <a:r>
              <a:rPr lang="it-IT" dirty="0" err="1"/>
              <a:t>x,y</a:t>
            </a:r>
            <a:r>
              <a:rPr lang="it-IT" baseline="-25000" dirty="0" err="1"/>
              <a:t>m</a:t>
            </a:r>
            <a:r>
              <a:rPr lang="it-IT" dirty="0"/>
              <a:t>)</a:t>
            </a:r>
          </a:p>
        </p:txBody>
      </p:sp>
      <p:sp>
        <p:nvSpPr>
          <p:cNvPr id="17" name="Rettangolo 16">
            <a:extLst>
              <a:ext uri="{FF2B5EF4-FFF2-40B4-BE49-F238E27FC236}">
                <a16:creationId xmlns:a16="http://schemas.microsoft.com/office/drawing/2014/main" id="{DBDD1FDC-234D-5744-A9C0-CCA70C9EE9B5}"/>
              </a:ext>
            </a:extLst>
          </p:cNvPr>
          <p:cNvSpPr/>
          <p:nvPr/>
        </p:nvSpPr>
        <p:spPr>
          <a:xfrm>
            <a:off x="5413077" y="3549498"/>
            <a:ext cx="2182483" cy="121776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 err="1"/>
              <a:t>R</a:t>
            </a:r>
            <a:r>
              <a:rPr lang="it-IT" dirty="0"/>
              <a:t>(x,y</a:t>
            </a:r>
            <a:r>
              <a:rPr lang="it-IT" baseline="-25000" dirty="0"/>
              <a:t>m-n+1</a:t>
            </a:r>
            <a:r>
              <a:rPr lang="it-IT" dirty="0"/>
              <a:t>)</a:t>
            </a:r>
          </a:p>
          <a:p>
            <a:pPr algn="ctr"/>
            <a:r>
              <a:rPr lang="it-IT" dirty="0" err="1"/>
              <a:t>R</a:t>
            </a:r>
            <a:r>
              <a:rPr lang="it-IT" dirty="0"/>
              <a:t>(x,y</a:t>
            </a:r>
            <a:r>
              <a:rPr lang="it-IT" baseline="-25000" dirty="0"/>
              <a:t>m-n+2</a:t>
            </a:r>
            <a:r>
              <a:rPr lang="it-IT" dirty="0"/>
              <a:t>)</a:t>
            </a:r>
          </a:p>
          <a:p>
            <a:pPr algn="ctr"/>
            <a:r>
              <a:rPr lang="it-IT" dirty="0"/>
              <a:t>…</a:t>
            </a:r>
          </a:p>
          <a:p>
            <a:pPr algn="ctr"/>
            <a:r>
              <a:rPr lang="it-IT" dirty="0" err="1"/>
              <a:t>R</a:t>
            </a:r>
            <a:r>
              <a:rPr lang="it-IT" dirty="0"/>
              <a:t>(</a:t>
            </a:r>
            <a:r>
              <a:rPr lang="it-IT" dirty="0" err="1"/>
              <a:t>x,y</a:t>
            </a:r>
            <a:r>
              <a:rPr lang="it-IT" baseline="-25000" dirty="0" err="1"/>
              <a:t>m</a:t>
            </a:r>
            <a:r>
              <a:rPr lang="it-IT" dirty="0"/>
              <a:t>)</a:t>
            </a:r>
          </a:p>
        </p:txBody>
      </p:sp>
      <p:cxnSp>
        <p:nvCxnSpPr>
          <p:cNvPr id="18" name="Connettore 1 17">
            <a:extLst>
              <a:ext uri="{FF2B5EF4-FFF2-40B4-BE49-F238E27FC236}">
                <a16:creationId xmlns:a16="http://schemas.microsoft.com/office/drawing/2014/main" id="{F13CB83B-748E-AE4B-8331-8716C8E340A3}"/>
              </a:ext>
            </a:extLst>
          </p:cNvPr>
          <p:cNvCxnSpPr>
            <a:cxnSpLocks/>
            <a:stCxn id="13" idx="3"/>
            <a:endCxn id="17" idx="1"/>
          </p:cNvCxnSpPr>
          <p:nvPr/>
        </p:nvCxnSpPr>
        <p:spPr>
          <a:xfrm>
            <a:off x="2639683" y="3039624"/>
            <a:ext cx="2773394" cy="1118757"/>
          </a:xfrm>
          <a:prstGeom prst="line">
            <a:avLst/>
          </a:prstGeom>
          <a:ln>
            <a:headEnd w="lg" len="lg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ttore 1 14">
            <a:extLst>
              <a:ext uri="{FF2B5EF4-FFF2-40B4-BE49-F238E27FC236}">
                <a16:creationId xmlns:a16="http://schemas.microsoft.com/office/drawing/2014/main" id="{E6FA6046-293F-824A-B548-59F31E4DBBAF}"/>
              </a:ext>
            </a:extLst>
          </p:cNvPr>
          <p:cNvCxnSpPr>
            <a:cxnSpLocks/>
            <a:stCxn id="13" idx="3"/>
            <a:endCxn id="19" idx="1"/>
          </p:cNvCxnSpPr>
          <p:nvPr/>
        </p:nvCxnSpPr>
        <p:spPr>
          <a:xfrm flipV="1">
            <a:off x="2639683" y="2270550"/>
            <a:ext cx="2822275" cy="769074"/>
          </a:xfrm>
          <a:prstGeom prst="line">
            <a:avLst/>
          </a:prstGeom>
          <a:ln>
            <a:headEnd w="lg" len="lg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ttangolo 18">
            <a:extLst>
              <a:ext uri="{FF2B5EF4-FFF2-40B4-BE49-F238E27FC236}">
                <a16:creationId xmlns:a16="http://schemas.microsoft.com/office/drawing/2014/main" id="{1F9D4FFF-262C-404B-97BA-DBE1DF9696AD}"/>
              </a:ext>
            </a:extLst>
          </p:cNvPr>
          <p:cNvSpPr/>
          <p:nvPr/>
        </p:nvSpPr>
        <p:spPr>
          <a:xfrm>
            <a:off x="5461958" y="1661667"/>
            <a:ext cx="2182483" cy="121776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 err="1"/>
              <a:t>R</a:t>
            </a:r>
            <a:r>
              <a:rPr lang="it-IT" dirty="0"/>
              <a:t>(x,y</a:t>
            </a:r>
            <a:r>
              <a:rPr lang="it-IT" baseline="-25000" dirty="0"/>
              <a:t>1</a:t>
            </a:r>
            <a:r>
              <a:rPr lang="it-IT" dirty="0"/>
              <a:t>)</a:t>
            </a:r>
          </a:p>
          <a:p>
            <a:pPr algn="ctr"/>
            <a:r>
              <a:rPr lang="it-IT" dirty="0" err="1"/>
              <a:t>R</a:t>
            </a:r>
            <a:r>
              <a:rPr lang="it-IT" dirty="0"/>
              <a:t>(x,y</a:t>
            </a:r>
            <a:r>
              <a:rPr lang="it-IT" baseline="-25000" dirty="0"/>
              <a:t>2</a:t>
            </a:r>
            <a:r>
              <a:rPr lang="it-IT" dirty="0"/>
              <a:t>)</a:t>
            </a:r>
          </a:p>
          <a:p>
            <a:pPr algn="ctr"/>
            <a:r>
              <a:rPr lang="it-IT" dirty="0"/>
              <a:t>…</a:t>
            </a:r>
          </a:p>
          <a:p>
            <a:pPr algn="ctr"/>
            <a:r>
              <a:rPr lang="it-IT" dirty="0" err="1"/>
              <a:t>R</a:t>
            </a:r>
            <a:r>
              <a:rPr lang="it-IT" dirty="0"/>
              <a:t>(</a:t>
            </a:r>
            <a:r>
              <a:rPr lang="it-IT" dirty="0" err="1"/>
              <a:t>x,y</a:t>
            </a:r>
            <a:r>
              <a:rPr lang="it-IT" baseline="-25000" dirty="0" err="1"/>
              <a:t>n</a:t>
            </a:r>
            <a:r>
              <a:rPr lang="it-IT" dirty="0"/>
              <a:t>)</a:t>
            </a:r>
          </a:p>
        </p:txBody>
      </p:sp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1EA5D0C7-565E-CD42-8E59-AEC52444AFF0}"/>
              </a:ext>
            </a:extLst>
          </p:cNvPr>
          <p:cNvSpPr txBox="1"/>
          <p:nvPr/>
        </p:nvSpPr>
        <p:spPr>
          <a:xfrm>
            <a:off x="6317408" y="2983547"/>
            <a:ext cx="373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870300025"/>
      </p:ext>
    </p:extLst>
  </p:cSld>
  <p:clrMapOvr>
    <a:masterClrMapping/>
  </p:clrMapOvr>
</p:sld>
</file>

<file path=ppt/theme/theme1.xml><?xml version="1.0" encoding="utf-8"?>
<a:theme xmlns:a="http://schemas.openxmlformats.org/drawingml/2006/main" name="ESD_new_GP">
  <a:themeElements>
    <a:clrScheme name="Impostazioni personalizzate 3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963513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zione standard1" id="{8235C985-55F2-4F87-A977-D8A70953F925}" vid="{F161873E-82B3-403B-879B-B3C589C61F8F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ESD_new_GP</Template>
  <TotalTime>66272</TotalTime>
  <Words>1827</Words>
  <Application>Microsoft Macintosh PowerPoint</Application>
  <PresentationFormat>Presentazione su schermo (16:9)</PresentationFormat>
  <Paragraphs>277</Paragraphs>
  <Slides>24</Slides>
  <Notes>2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24</vt:i4>
      </vt:variant>
    </vt:vector>
  </HeadingPairs>
  <TitlesOfParts>
    <vt:vector size="28" baseType="lpstr">
      <vt:lpstr>Arial</vt:lpstr>
      <vt:lpstr>Calibri</vt:lpstr>
      <vt:lpstr>Tahoma</vt:lpstr>
      <vt:lpstr>ESD_new_GP</vt:lpstr>
      <vt:lpstr>UNIT 3: PROPOSITIONAL DESCRIPTION LOGIC</vt:lpstr>
      <vt:lpstr>UNIT 3: Introduction to Tableau</vt:lpstr>
      <vt:lpstr>AGENDA</vt:lpstr>
      <vt:lpstr>Compatibility</vt:lpstr>
      <vt:lpstr>Example (RULE 1)</vt:lpstr>
      <vt:lpstr>REWRITING STRUCTURE</vt:lpstr>
      <vt:lpstr>EXAMPLE (ctd)</vt:lpstr>
      <vt:lpstr>DISJUNCTION REWRITING</vt:lpstr>
      <vt:lpstr>EXAMPLE (ctd)</vt:lpstr>
      <vt:lpstr>REWRITING THE EXISTENTIAL</vt:lpstr>
      <vt:lpstr>EXCEPTIONS FOR THE EXISTENTIAL</vt:lpstr>
      <vt:lpstr>EXAMPLE (ctd)</vt:lpstr>
      <vt:lpstr>REWRITING THE UNIVERSAL</vt:lpstr>
      <vt:lpstr>EXAMPLE (ctd) (PART 1)</vt:lpstr>
      <vt:lpstr>RULE OF THUMB OF CANCELLATION</vt:lpstr>
      <vt:lpstr>EXAMPLE (ctd) (PART 2)</vt:lpstr>
      <vt:lpstr>CLASSIFICATION OF AN A-BOX</vt:lpstr>
      <vt:lpstr>TABLEAU SAT</vt:lpstr>
      <vt:lpstr>RULE OF THUMB FOR SAT</vt:lpstr>
      <vt:lpstr>EXAMPLE (ctd) (PART 1) - ANALYSIS</vt:lpstr>
      <vt:lpstr>ESEMPIO (ctd) (PARTE 2)</vt:lpstr>
      <vt:lpstr>REWRITING MAJORITY NUMERALS</vt:lpstr>
      <vt:lpstr>EXCEPTIONS FOR MAJORITY NUMERALS</vt:lpstr>
      <vt:lpstr>REWRITING OF MINORITY NUMERALS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dc:creator>Stefano Spellini</dc:creator>
  <cp:lastModifiedBy>Matteo Cristani</cp:lastModifiedBy>
  <cp:revision>271</cp:revision>
  <dcterms:created xsi:type="dcterms:W3CDTF">2019-02-11T14:27:15Z</dcterms:created>
  <dcterms:modified xsi:type="dcterms:W3CDTF">2025-08-19T05:43:07Z</dcterms:modified>
</cp:coreProperties>
</file>