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  <p:sldId id="269" r:id="rId13"/>
    <p:sldId id="271" r:id="rId14"/>
    <p:sldId id="272" r:id="rId15"/>
    <p:sldId id="289" r:id="rId16"/>
    <p:sldId id="290" r:id="rId17"/>
    <p:sldId id="291" r:id="rId18"/>
    <p:sldId id="273" r:id="rId19"/>
    <p:sldId id="274" r:id="rId20"/>
    <p:sldId id="275" r:id="rId21"/>
    <p:sldId id="276" r:id="rId22"/>
    <p:sldId id="292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0"/>
            <p14:sldId id="269"/>
            <p14:sldId id="271"/>
            <p14:sldId id="272"/>
            <p14:sldId id="289"/>
            <p14:sldId id="290"/>
            <p14:sldId id="291"/>
            <p14:sldId id="273"/>
            <p14:sldId id="274"/>
            <p14:sldId id="275"/>
            <p14:sldId id="276"/>
            <p14:sldId id="292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BDD6"/>
    <a:srgbClr val="800000"/>
    <a:srgbClr val="640000"/>
    <a:srgbClr val="8C3836"/>
    <a:srgbClr val="FFFF99"/>
    <a:srgbClr val="AA00AA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ile con tema 2 - Color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ile con tema 2 - Color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86531"/>
  </p:normalViewPr>
  <p:slideViewPr>
    <p:cSldViewPr snapToGrid="0">
      <p:cViewPr varScale="1">
        <p:scale>
          <a:sx n="141" d="100"/>
          <a:sy n="141" d="100"/>
        </p:scale>
        <p:origin x="272" y="176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8/15/25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15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2098170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5E51E3-9A27-4F9D-92A0-CC2B6D7DC9D8}" type="slidenum">
              <a:rPr lang="nl-NL" altLang="it-IT" smtClean="0"/>
              <a:pPr>
                <a:defRPr/>
              </a:pPr>
              <a:t>23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373354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 PER ALCQIREG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KNOWLEDGE REPRESENTATION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95A689-5F5C-804A-9943-AD4ABE49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UNIT 4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C5CACE8-2E8A-0C4B-A565-46435E77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RECOGNITION OF ALCQIREG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73FFDE-035C-CD4A-8BA7-E5AF64FF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D3695-C241-8941-BE6C-216E9002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2565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EB284-93F3-404E-86BF-B4694D40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495FD2-803C-6644-8BFC-FFF5F209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ALCFI</a:t>
            </a:r>
            <a:r>
              <a:rPr lang="it-IT" sz="2800" baseline="-25000" dirty="0"/>
              <a:t>REG</a:t>
            </a:r>
          </a:p>
          <a:p>
            <a:r>
              <a:rPr lang="it-IT" sz="2800" dirty="0" err="1"/>
              <a:t>Equivalence</a:t>
            </a:r>
            <a:r>
              <a:rPr lang="it-IT" sz="2800" dirty="0"/>
              <a:t> of ALCQI</a:t>
            </a:r>
            <a:r>
              <a:rPr lang="it-IT" sz="2800" baseline="-25000" dirty="0"/>
              <a:t>REG</a:t>
            </a:r>
            <a:r>
              <a:rPr lang="it-IT" sz="2800" dirty="0"/>
              <a:t> and ALCFI</a:t>
            </a:r>
            <a:r>
              <a:rPr lang="it-IT" sz="2800" baseline="-25000" dirty="0"/>
              <a:t>REG</a:t>
            </a:r>
            <a:endParaRPr lang="it-IT" sz="2800" dirty="0"/>
          </a:p>
          <a:p>
            <a:r>
              <a:rPr lang="it-IT" sz="2800" dirty="0" err="1"/>
              <a:t>Translating</a:t>
            </a:r>
            <a:r>
              <a:rPr lang="it-IT" sz="2800" dirty="0"/>
              <a:t> ALCFI</a:t>
            </a:r>
            <a:r>
              <a:rPr lang="it-IT" sz="2800" baseline="-25000" dirty="0"/>
              <a:t>REG</a:t>
            </a:r>
            <a:r>
              <a:rPr lang="it-IT" sz="2800" dirty="0"/>
              <a:t> in 2ATA</a:t>
            </a:r>
          </a:p>
          <a:p>
            <a:r>
              <a:rPr lang="it-IT" sz="2800" dirty="0" err="1"/>
              <a:t>Hierarchies</a:t>
            </a:r>
            <a:r>
              <a:rPr lang="it-IT" sz="2800" dirty="0"/>
              <a:t> of ALC(</a:t>
            </a:r>
            <a:r>
              <a:rPr lang="it-IT" sz="2800" dirty="0" err="1"/>
              <a:t>N</a:t>
            </a:r>
            <a:r>
              <a:rPr lang="it-IT" sz="2800" dirty="0"/>
              <a:t>) and ALCQI</a:t>
            </a:r>
            <a:r>
              <a:rPr lang="it-IT" sz="2800" baseline="-25000" dirty="0"/>
              <a:t>REG</a:t>
            </a:r>
          </a:p>
          <a:p>
            <a:endParaRPr lang="it-IT" sz="28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7EC964-3306-B34E-8ED6-4C5AF121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DD4142-1E17-EC44-BFA0-C94CD9D3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270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D44C9E-BB51-AE40-A25A-4B4F5180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ALCFI</a:t>
            </a:r>
            <a:r>
              <a:rPr lang="it-IT" baseline="-25000" dirty="0"/>
              <a:t>REG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99D167-AAC1-3947-8A89-4B063C9AC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ALCFI</a:t>
            </a:r>
            <a:r>
              <a:rPr lang="it-IT" baseline="-25000" dirty="0"/>
              <a:t>REG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obtained</a:t>
            </a:r>
            <a:r>
              <a:rPr lang="it-IT" dirty="0"/>
              <a:t> by </a:t>
            </a:r>
            <a:r>
              <a:rPr lang="it-IT" dirty="0" err="1"/>
              <a:t>adding</a:t>
            </a:r>
            <a:r>
              <a:rPr lang="it-IT" dirty="0"/>
              <a:t> to ALC the regular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operators</a:t>
            </a:r>
            <a:r>
              <a:rPr lang="it-IT" dirty="0"/>
              <a:t> (union, </a:t>
            </a:r>
            <a:r>
              <a:rPr lang="it-IT" dirty="0" err="1"/>
              <a:t>composition</a:t>
            </a:r>
            <a:r>
              <a:rPr lang="it-IT" dirty="0"/>
              <a:t>, </a:t>
            </a:r>
            <a:r>
              <a:rPr lang="it-IT" dirty="0" err="1"/>
              <a:t>reflexive</a:t>
            </a:r>
            <a:r>
              <a:rPr lang="it-IT" dirty="0"/>
              <a:t>-transitive </a:t>
            </a:r>
            <a:r>
              <a:rPr lang="it-IT" dirty="0" err="1"/>
              <a:t>closure</a:t>
            </a:r>
            <a:r>
              <a:rPr lang="it-IT" dirty="0"/>
              <a:t>, concept </a:t>
            </a:r>
            <a:r>
              <a:rPr lang="it-IT" dirty="0" err="1"/>
              <a:t>identity</a:t>
            </a:r>
            <a:r>
              <a:rPr lang="it-IT" dirty="0"/>
              <a:t>, inverse) and the </a:t>
            </a:r>
            <a:r>
              <a:rPr lang="it-IT" dirty="0" err="1"/>
              <a:t>functional</a:t>
            </a:r>
            <a:r>
              <a:rPr lang="it-IT" dirty="0"/>
              <a:t> </a:t>
            </a:r>
            <a:r>
              <a:rPr lang="it-IT" dirty="0" err="1"/>
              <a:t>limit</a:t>
            </a:r>
            <a:r>
              <a:rPr lang="it-IT" dirty="0"/>
              <a:t> operator≤1R:C</a:t>
            </a:r>
            <a:endParaRPr lang="it-IT" baseline="-250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376198-1ADF-F24B-B7A4-A6C2BC94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FC5086-B1C5-464C-AAC7-3AF6426C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5573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2FC1F-A376-1247-9E6C-7CCD05499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REPRESENTATION OF </a:t>
            </a:r>
            <a:r>
              <a:rPr lang="it-IT" dirty="0" err="1"/>
              <a:t>Q</a:t>
            </a:r>
            <a:r>
              <a:rPr lang="it-IT" dirty="0"/>
              <a:t> IN ALCFI</a:t>
            </a:r>
            <a:r>
              <a:rPr lang="it-IT" baseline="-25000" dirty="0"/>
              <a:t>REG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8FC307-320B-2944-8103-037EF035B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reification</a:t>
            </a:r>
            <a:r>
              <a:rPr lang="it-IT" dirty="0"/>
              <a:t>
Explicit </a:t>
            </a:r>
            <a:r>
              <a:rPr lang="it-IT" dirty="0" err="1"/>
              <a:t>representation</a:t>
            </a:r>
            <a:r>
              <a:rPr lang="it-IT" dirty="0"/>
              <a:t> of </a:t>
            </a:r>
            <a:r>
              <a:rPr lang="it-IT" dirty="0" err="1"/>
              <a:t>Q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functional</a:t>
            </a:r>
            <a:r>
              <a:rPr lang="it-IT" dirty="0"/>
              <a:t> </a:t>
            </a:r>
            <a:r>
              <a:rPr lang="it-IT" dirty="0" err="1"/>
              <a:t>constraint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8713C5-13DC-BB45-8F8C-08C31EA2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261225-9CE6-C445-94F1-C1E6AA76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30931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2A4732-66BE-8849-A6C6-63B59288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REIFICATION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F52760-816B-3B4D-8FD4-7FFCF8C8B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Given a </a:t>
            </a:r>
            <a:r>
              <a:rPr lang="it-IT" sz="2800" dirty="0" err="1"/>
              <a:t>role</a:t>
            </a:r>
            <a:r>
              <a:rPr lang="it-IT" sz="2800" dirty="0"/>
              <a:t> </a:t>
            </a:r>
            <a:r>
              <a:rPr lang="it-IT" sz="2800" dirty="0" err="1"/>
              <a:t>R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call the </a:t>
            </a:r>
            <a:r>
              <a:rPr lang="it-IT" sz="2800" dirty="0" err="1"/>
              <a:t>reified</a:t>
            </a:r>
            <a:r>
              <a:rPr lang="it-IT" sz="2800" dirty="0"/>
              <a:t> </a:t>
            </a:r>
            <a:r>
              <a:rPr lang="it-IT" sz="2800" dirty="0" err="1"/>
              <a:t>form</a:t>
            </a:r>
            <a:r>
              <a:rPr lang="it-IT" sz="2800" dirty="0"/>
              <a:t> of </a:t>
            </a:r>
            <a:r>
              <a:rPr lang="it-IT" sz="2800" dirty="0" err="1"/>
              <a:t>R</a:t>
            </a:r>
            <a:r>
              <a:rPr lang="it-IT" sz="2800" dirty="0"/>
              <a:t> the following </a:t>
            </a:r>
            <a:r>
              <a:rPr lang="it-IT" sz="2800" dirty="0" err="1"/>
              <a:t>expression</a:t>
            </a:r>
            <a:endParaRPr lang="it-IT" sz="2800" dirty="0"/>
          </a:p>
          <a:p>
            <a:pPr marL="0" indent="0">
              <a:buNone/>
            </a:pPr>
            <a:r>
              <a:rPr lang="it-IT" sz="2800" dirty="0"/>
              <a:t>						 V</a:t>
            </a:r>
            <a:r>
              <a:rPr lang="it-IT" sz="2800" baseline="-25000" dirty="0"/>
              <a:t>1</a:t>
            </a:r>
            <a:r>
              <a:rPr lang="it-IT" sz="2800" baseline="30000" dirty="0"/>
              <a:t>−</a:t>
            </a:r>
            <a:r>
              <a:rPr lang="it-IT" sz="2800" dirty="0"/>
              <a:t>◦id(A</a:t>
            </a:r>
            <a:r>
              <a:rPr lang="it-IT" sz="2800" baseline="-25000" dirty="0"/>
              <a:t>R</a:t>
            </a:r>
            <a:r>
              <a:rPr lang="it-IT" sz="2800" dirty="0"/>
              <a:t>)◦V</a:t>
            </a:r>
            <a:r>
              <a:rPr lang="it-IT" sz="2800" baseline="-25000" dirty="0"/>
              <a:t>2</a:t>
            </a:r>
          </a:p>
          <a:p>
            <a:pPr marL="0" indent="0">
              <a:buNone/>
            </a:pPr>
            <a:endParaRPr lang="it-IT" sz="2800" dirty="0"/>
          </a:p>
          <a:p>
            <a:pPr marL="0" indent="0">
              <a:buNone/>
            </a:pPr>
            <a:r>
              <a:rPr lang="it-IT" sz="2800" dirty="0"/>
              <a:t>	</a:t>
            </a:r>
            <a:r>
              <a:rPr lang="it-IT" sz="2800" dirty="0" err="1"/>
              <a:t>where</a:t>
            </a:r>
            <a:r>
              <a:rPr lang="it-IT" sz="2800" dirty="0"/>
              <a:t> AR </a:t>
            </a:r>
            <a:r>
              <a:rPr lang="it-IT" sz="2800" dirty="0" err="1"/>
              <a:t>is</a:t>
            </a:r>
            <a:r>
              <a:rPr lang="it-IT" sz="2800" dirty="0"/>
              <a:t> a concept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contains</a:t>
            </a:r>
            <a:r>
              <a:rPr lang="it-IT" sz="2800" dirty="0"/>
              <a:t> </a:t>
            </a:r>
            <a:r>
              <a:rPr lang="it-IT" sz="2800" dirty="0" err="1"/>
              <a:t>pairs</a:t>
            </a:r>
            <a:br>
              <a:rPr lang="it-IT" sz="2800" dirty="0"/>
            </a:br>
            <a:r>
              <a:rPr lang="it-IT" sz="2800" dirty="0"/>
              <a:t>	of </a:t>
            </a:r>
            <a:r>
              <a:rPr lang="it-IT" sz="2800" dirty="0" err="1"/>
              <a:t>elements</a:t>
            </a:r>
            <a:r>
              <a:rPr lang="it-IT" sz="2800" dirty="0"/>
              <a:t> in relation to </a:t>
            </a:r>
            <a:r>
              <a:rPr lang="it-IT" sz="2800" dirty="0" err="1"/>
              <a:t>R</a:t>
            </a:r>
            <a:endParaRPr lang="it-IT" sz="28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ACBE8F-60B5-4F42-806A-C5087F992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FF9957-5A84-1543-B32F-A65E4BC9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70748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6F430B-7B44-1148-8EE6-532B461A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REIFICATION OF CONCEPTS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6770E7-5AAB-FC49-8230-CE3BB684F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reification</a:t>
            </a:r>
            <a:r>
              <a:rPr lang="it-IT" dirty="0"/>
              <a:t> of a concept C (or </a:t>
            </a:r>
            <a:r>
              <a:rPr lang="it-IT" dirty="0" err="1"/>
              <a:t>reified</a:t>
            </a:r>
            <a:r>
              <a:rPr lang="it-IT" dirty="0"/>
              <a:t> </a:t>
            </a:r>
            <a:r>
              <a:rPr lang="it-IT" dirty="0" err="1"/>
              <a:t>counterpart</a:t>
            </a:r>
            <a:r>
              <a:rPr lang="it-IT" dirty="0"/>
              <a:t>) in ALCFI</a:t>
            </a:r>
            <a:r>
              <a:rPr lang="it-IT" baseline="-25000" dirty="0"/>
              <a:t>REG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rewriting</a:t>
            </a:r>
            <a:r>
              <a:rPr lang="it-IT" dirty="0"/>
              <a:t> of C </a:t>
            </a:r>
            <a:r>
              <a:rPr lang="it-IT" dirty="0" err="1"/>
              <a:t>as</a:t>
            </a:r>
            <a:r>
              <a:rPr lang="it-IT" dirty="0"/>
              <a:t> an </a:t>
            </a:r>
            <a:r>
              <a:rPr lang="it-IT" dirty="0" err="1"/>
              <a:t>intersection</a:t>
            </a:r>
            <a:r>
              <a:rPr lang="it-IT" dirty="0"/>
              <a:t> of </a:t>
            </a:r>
            <a:r>
              <a:rPr lang="it-IT" dirty="0" err="1"/>
              <a:t>two</a:t>
            </a:r>
            <a:r>
              <a:rPr lang="it-IT" dirty="0"/>
              <a:t> concepts:</a:t>
            </a:r>
          </a:p>
          <a:p>
            <a:endParaRPr lang="it-IT" dirty="0"/>
          </a:p>
          <a:p>
            <a:pPr marL="457200" lvl="1" indent="0">
              <a:buNone/>
            </a:pPr>
            <a:r>
              <a:rPr lang="it-IT" dirty="0"/>
              <a:t>				</a:t>
            </a:r>
            <a:r>
              <a:rPr lang="el-GR" dirty="0"/>
              <a:t>ξ</a:t>
            </a:r>
            <a:r>
              <a:rPr lang="el-GR" baseline="-25000" dirty="0"/>
              <a:t>1</a:t>
            </a:r>
            <a:r>
              <a:rPr lang="el-GR" dirty="0"/>
              <a:t>(</a:t>
            </a:r>
            <a:r>
              <a:rPr lang="it-IT" dirty="0"/>
              <a:t>C) = </a:t>
            </a:r>
            <a:r>
              <a:rPr lang="el-GR" dirty="0"/>
              <a:t>ξ</a:t>
            </a:r>
            <a:r>
              <a:rPr lang="el-GR" baseline="-25000" dirty="0"/>
              <a:t>0</a:t>
            </a:r>
            <a:r>
              <a:rPr lang="el-GR" dirty="0"/>
              <a:t>(</a:t>
            </a:r>
            <a:r>
              <a:rPr lang="it-IT" dirty="0"/>
              <a:t>C) ⊓ </a:t>
            </a:r>
            <a:r>
              <a:rPr lang="el-GR" dirty="0"/>
              <a:t>Θ</a:t>
            </a:r>
            <a:r>
              <a:rPr lang="el-GR" baseline="-25000" dirty="0"/>
              <a:t>1</a:t>
            </a:r>
            <a:r>
              <a:rPr lang="el-GR" dirty="0"/>
              <a:t> </a:t>
            </a:r>
          </a:p>
          <a:p>
            <a:pPr lvl="1"/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CDB0E1-E4C1-5844-80F8-573C926D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454FE8-8D41-A04D-AFCE-AFED8959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7301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7DCB7C-8F99-894D-82E1-BE67498F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STEP-BY-STEP REIFICATION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9F431B-09A9-5140-936B-9A7A906BF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dirty="0"/>
              <a:t>Step 1: </a:t>
            </a:r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role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reified</a:t>
            </a:r>
            <a:r>
              <a:rPr lang="it-IT" sz="2000" dirty="0"/>
              <a:t> </a:t>
            </a:r>
            <a:r>
              <a:rPr lang="it-IT" sz="2000" dirty="0" err="1"/>
              <a:t>using</a:t>
            </a:r>
            <a:r>
              <a:rPr lang="it-IT" sz="2000" dirty="0"/>
              <a:t> </a:t>
            </a:r>
            <a:r>
              <a:rPr lang="it-IT" sz="2000" dirty="0" err="1"/>
              <a:t>only</a:t>
            </a:r>
            <a:r>
              <a:rPr lang="it-IT" sz="2000" dirty="0"/>
              <a:t> </a:t>
            </a:r>
            <a:r>
              <a:rPr lang="it-IT" sz="2000" dirty="0" err="1"/>
              <a:t>two</a:t>
            </a:r>
            <a:r>
              <a:rPr lang="it-IT" sz="2000" dirty="0"/>
              <a:t> </a:t>
            </a:r>
            <a:r>
              <a:rPr lang="it-IT" sz="2000" dirty="0" err="1"/>
              <a:t>roles</a:t>
            </a:r>
            <a:r>
              <a:rPr lang="it-IT" sz="2000" dirty="0"/>
              <a:t> V1 and V2 (V1−◦id(AR)◦V2) [</a:t>
            </a:r>
            <a:r>
              <a:rPr lang="it-IT" sz="2000" dirty="0" err="1"/>
              <a:t>only</a:t>
            </a:r>
            <a:r>
              <a:rPr lang="it-IT" sz="2000" dirty="0"/>
              <a:t> </a:t>
            </a:r>
            <a:r>
              <a:rPr lang="it-IT" sz="2000" dirty="0" err="1"/>
              <a:t>two</a:t>
            </a:r>
            <a:r>
              <a:rPr lang="it-IT" sz="2000" dirty="0"/>
              <a:t> for </a:t>
            </a:r>
            <a:r>
              <a:rPr lang="it-IT" sz="2000" dirty="0" err="1"/>
              <a:t>each</a:t>
            </a:r>
            <a:r>
              <a:rPr lang="it-IT" sz="2000" dirty="0"/>
              <a:t> concept]
Step 2: </a:t>
            </a:r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qualified</a:t>
            </a:r>
            <a:r>
              <a:rPr lang="it-IT" sz="2000" dirty="0"/>
              <a:t> </a:t>
            </a:r>
            <a:r>
              <a:rPr lang="it-IT" sz="2000" dirty="0" err="1"/>
              <a:t>restriction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rewritten</a:t>
            </a:r>
            <a:r>
              <a:rPr lang="it-IT" sz="2000" dirty="0"/>
              <a:t> by </a:t>
            </a:r>
            <a:r>
              <a:rPr lang="it-IT" sz="2000" dirty="0" err="1"/>
              <a:t>replacing</a:t>
            </a:r>
            <a:r>
              <a:rPr lang="it-IT" sz="2000" dirty="0"/>
              <a:t> the </a:t>
            </a:r>
            <a:r>
              <a:rPr lang="it-IT" sz="2000" dirty="0" err="1"/>
              <a:t>roles</a:t>
            </a:r>
            <a:r>
              <a:rPr lang="it-IT" sz="2000" dirty="0"/>
              <a:t> </a:t>
            </a:r>
            <a:r>
              <a:rPr lang="it-IT" sz="2000" dirty="0" err="1"/>
              <a:t>as</a:t>
            </a:r>
            <a:r>
              <a:rPr lang="it-IT" sz="2000" dirty="0"/>
              <a:t> follows:</a:t>
            </a:r>
          </a:p>
          <a:p>
            <a:pPr lvl="1"/>
            <a:r>
              <a:rPr lang="it-IT" sz="1800" dirty="0">
                <a:solidFill>
                  <a:srgbClr val="FF0000"/>
                </a:solidFill>
              </a:rPr>
              <a:t>≤</a:t>
            </a:r>
            <a:r>
              <a:rPr lang="it-IT" sz="1800" dirty="0" err="1">
                <a:solidFill>
                  <a:srgbClr val="FF0000"/>
                </a:solidFill>
              </a:rPr>
              <a:t>nR.C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≤</a:t>
            </a:r>
            <a:r>
              <a:rPr lang="it-IT" sz="1800" dirty="0" err="1">
                <a:solidFill>
                  <a:srgbClr val="FF0000"/>
                </a:solidFill>
              </a:rPr>
              <a:t>n</a:t>
            </a:r>
            <a:r>
              <a:rPr lang="it-IT" sz="1800" dirty="0">
                <a:solidFill>
                  <a:srgbClr val="FF0000"/>
                </a:solidFill>
              </a:rPr>
              <a:t>(V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◦id(A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)◦V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dirty="0">
                <a:solidFill>
                  <a:srgbClr val="FF0000"/>
                </a:solidFill>
              </a:rPr>
              <a:t>).C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≤nV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⊓∃V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dirty="0">
                <a:solidFill>
                  <a:srgbClr val="FF0000"/>
                </a:solidFill>
              </a:rPr>
              <a:t>.C)</a:t>
            </a:r>
            <a:endParaRPr lang="it-IT" sz="1800" baseline="30000" dirty="0">
              <a:solidFill>
                <a:srgbClr val="FF0000"/>
              </a:solidFill>
            </a:endParaRPr>
          </a:p>
          <a:p>
            <a:pPr lvl="1"/>
            <a:r>
              <a:rPr lang="it-IT" sz="1800" dirty="0">
                <a:solidFill>
                  <a:srgbClr val="FF0000"/>
                </a:solidFill>
              </a:rPr>
              <a:t>≥</a:t>
            </a:r>
            <a:r>
              <a:rPr lang="it-IT" sz="1800" dirty="0" err="1">
                <a:solidFill>
                  <a:srgbClr val="FF0000"/>
                </a:solidFill>
              </a:rPr>
              <a:t>nR.C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≥</a:t>
            </a:r>
            <a:r>
              <a:rPr lang="it-IT" sz="1800" dirty="0" err="1">
                <a:solidFill>
                  <a:srgbClr val="FF0000"/>
                </a:solidFill>
              </a:rPr>
              <a:t>n</a:t>
            </a:r>
            <a:r>
              <a:rPr lang="it-IT" sz="1800" dirty="0">
                <a:solidFill>
                  <a:srgbClr val="FF0000"/>
                </a:solidFill>
              </a:rPr>
              <a:t>(V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◦id(A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)◦V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dirty="0">
                <a:solidFill>
                  <a:srgbClr val="FF0000"/>
                </a:solidFill>
              </a:rPr>
              <a:t>).C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≥nV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⊓∃V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dirty="0">
                <a:solidFill>
                  <a:srgbClr val="FF0000"/>
                </a:solidFill>
              </a:rPr>
              <a:t>.C)</a:t>
            </a:r>
            <a:endParaRPr lang="it-IT" sz="1800" dirty="0"/>
          </a:p>
          <a:p>
            <a:pPr lvl="1"/>
            <a:r>
              <a:rPr lang="it-IT" sz="1800" dirty="0">
                <a:solidFill>
                  <a:srgbClr val="FF0000"/>
                </a:solidFill>
              </a:rPr>
              <a:t>≤</a:t>
            </a:r>
            <a:r>
              <a:rPr lang="it-IT" sz="1800" dirty="0" err="1">
                <a:solidFill>
                  <a:srgbClr val="FF0000"/>
                </a:solidFill>
              </a:rPr>
              <a:t>nR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≤</a:t>
            </a:r>
            <a:r>
              <a:rPr lang="it-IT" sz="1800" dirty="0" err="1">
                <a:solidFill>
                  <a:srgbClr val="FF0000"/>
                </a:solidFill>
              </a:rPr>
              <a:t>n</a:t>
            </a:r>
            <a:r>
              <a:rPr lang="it-IT" sz="1800" dirty="0">
                <a:solidFill>
                  <a:srgbClr val="FF0000"/>
                </a:solidFill>
              </a:rPr>
              <a:t>(V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◦id(A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)◦V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dirty="0">
                <a:solidFill>
                  <a:srgbClr val="FF0000"/>
                </a:solidFill>
              </a:rPr>
              <a:t>).C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≤nV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⊓∃V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dirty="0">
                <a:solidFill>
                  <a:srgbClr val="FF0000"/>
                </a:solidFill>
              </a:rPr>
              <a:t>.C)</a:t>
            </a:r>
            <a:endParaRPr lang="it-IT" sz="1800" dirty="0"/>
          </a:p>
          <a:p>
            <a:pPr lvl="1"/>
            <a:r>
              <a:rPr lang="it-IT" sz="1800" dirty="0">
                <a:solidFill>
                  <a:srgbClr val="FF0000"/>
                </a:solidFill>
              </a:rPr>
              <a:t>≥</a:t>
            </a:r>
            <a:r>
              <a:rPr lang="it-IT" sz="1800" dirty="0" err="1">
                <a:solidFill>
                  <a:srgbClr val="FF0000"/>
                </a:solidFill>
              </a:rPr>
              <a:t>nR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≥</a:t>
            </a:r>
            <a:r>
              <a:rPr lang="it-IT" sz="1800" dirty="0" err="1">
                <a:solidFill>
                  <a:srgbClr val="FF0000"/>
                </a:solidFill>
              </a:rPr>
              <a:t>n</a:t>
            </a:r>
            <a:r>
              <a:rPr lang="it-IT" sz="1800" dirty="0">
                <a:solidFill>
                  <a:srgbClr val="FF0000"/>
                </a:solidFill>
              </a:rPr>
              <a:t>(V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◦id(A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)◦V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dirty="0">
                <a:solidFill>
                  <a:srgbClr val="FF0000"/>
                </a:solidFill>
              </a:rPr>
              <a:t>).C</a:t>
            </a:r>
            <a:r>
              <a:rPr lang="it-IT" sz="1800" dirty="0"/>
              <a:t>		</a:t>
            </a:r>
            <a:r>
              <a:rPr lang="it-IT" sz="1800" dirty="0" err="1"/>
              <a:t>is</a:t>
            </a:r>
            <a:r>
              <a:rPr lang="it-IT" sz="1800" dirty="0"/>
              <a:t>	</a:t>
            </a:r>
            <a:r>
              <a:rPr lang="it-IT" sz="1800" dirty="0">
                <a:solidFill>
                  <a:srgbClr val="FF0000"/>
                </a:solidFill>
              </a:rPr>
              <a:t>≥nV</a:t>
            </a:r>
            <a:r>
              <a:rPr lang="it-IT" sz="1800" baseline="-25000" dirty="0">
                <a:solidFill>
                  <a:srgbClr val="FF0000"/>
                </a:solidFill>
              </a:rPr>
              <a:t>2</a:t>
            </a:r>
            <a:r>
              <a:rPr lang="it-IT" sz="1800" baseline="30000" dirty="0">
                <a:solidFill>
                  <a:srgbClr val="FF0000"/>
                </a:solidFill>
              </a:rPr>
              <a:t>−</a:t>
            </a:r>
            <a:r>
              <a:rPr lang="it-IT" sz="1800" dirty="0">
                <a:solidFill>
                  <a:srgbClr val="FF0000"/>
                </a:solidFill>
              </a:rPr>
              <a:t>.(A</a:t>
            </a:r>
            <a:r>
              <a:rPr lang="it-IT" sz="1800" baseline="-25000" dirty="0">
                <a:solidFill>
                  <a:srgbClr val="FF0000"/>
                </a:solidFill>
              </a:rPr>
              <a:t>R</a:t>
            </a:r>
            <a:r>
              <a:rPr lang="it-IT" sz="1800" dirty="0">
                <a:solidFill>
                  <a:srgbClr val="FF0000"/>
                </a:solidFill>
              </a:rPr>
              <a:t>⊓∃V</a:t>
            </a:r>
            <a:r>
              <a:rPr lang="it-IT" sz="1800" baseline="-25000" dirty="0">
                <a:solidFill>
                  <a:srgbClr val="FF0000"/>
                </a:solidFill>
              </a:rPr>
              <a:t>1</a:t>
            </a:r>
            <a:r>
              <a:rPr lang="it-IT" sz="1800" dirty="0">
                <a:solidFill>
                  <a:srgbClr val="FF0000"/>
                </a:solidFill>
              </a:rPr>
              <a:t>.C)</a:t>
            </a:r>
          </a:p>
          <a:p>
            <a:r>
              <a:rPr lang="it-IT" sz="2000" dirty="0"/>
              <a:t>Step 3: </a:t>
            </a:r>
            <a:r>
              <a:rPr lang="it-IT" sz="2000" dirty="0" err="1"/>
              <a:t>Define</a:t>
            </a:r>
            <a:endParaRPr lang="it-IT" sz="2000" dirty="0"/>
          </a:p>
          <a:p>
            <a:pPr lvl="1"/>
            <a:r>
              <a:rPr lang="el-GR" sz="1600" dirty="0">
                <a:solidFill>
                  <a:srgbClr val="FF0000"/>
                </a:solidFill>
              </a:rPr>
              <a:t>Θ</a:t>
            </a:r>
            <a:r>
              <a:rPr lang="el-GR" sz="1600" baseline="-25000" dirty="0">
                <a:solidFill>
                  <a:srgbClr val="FF0000"/>
                </a:solidFill>
              </a:rPr>
              <a:t>1</a:t>
            </a:r>
            <a:r>
              <a:rPr lang="it-IT" sz="1600" dirty="0">
                <a:solidFill>
                  <a:srgbClr val="FF0000"/>
                </a:solidFill>
              </a:rPr>
              <a:t> = </a:t>
            </a:r>
            <a:r>
              <a:rPr lang="el-GR" sz="1600" dirty="0">
                <a:solidFill>
                  <a:srgbClr val="FF0000"/>
                </a:solidFill>
              </a:rPr>
              <a:t>∀(</a:t>
            </a:r>
            <a:r>
              <a:rPr lang="it-IT" sz="1600" dirty="0">
                <a:solidFill>
                  <a:srgbClr val="FF0000"/>
                </a:solidFill>
              </a:rPr>
              <a:t>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)</a:t>
            </a:r>
            <a:r>
              <a:rPr lang="it-IT" sz="1600" baseline="30000" dirty="0">
                <a:solidFill>
                  <a:srgbClr val="FF0000"/>
                </a:solidFill>
              </a:rPr>
              <a:t>∗</a:t>
            </a:r>
            <a:r>
              <a:rPr lang="it-IT" sz="1600" dirty="0">
                <a:solidFill>
                  <a:srgbClr val="FF0000"/>
                </a:solidFill>
              </a:rPr>
              <a:t>.(≤1V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dirty="0">
                <a:solidFill>
                  <a:srgbClr val="FF0000"/>
                </a:solidFill>
              </a:rPr>
              <a:t> ⊓ ≤ 1V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)</a:t>
            </a:r>
          </a:p>
          <a:p>
            <a:endParaRPr lang="it-IT" sz="2000" dirty="0"/>
          </a:p>
          <a:p>
            <a:endParaRPr lang="it-IT" sz="20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58AD45-1791-B249-B4B7-180D89267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21C0FDB-F3B1-1D46-AAE8-FEB096AAF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36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9FBB9-5169-CE4F-822C-DC738F8C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OF REIFICATION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D12891-8733-EF4B-88B6-14D1AAB8E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1800" dirty="0"/>
              <a:t>∃R.C⊔≤2R.C</a:t>
            </a:r>
          </a:p>
          <a:p>
            <a:r>
              <a:rPr lang="it-IT" sz="1800" dirty="0"/>
              <a:t>Step 1: </a:t>
            </a:r>
            <a:r>
              <a:rPr lang="it-IT" sz="1800" dirty="0" err="1"/>
              <a:t>You</a:t>
            </a:r>
            <a:r>
              <a:rPr lang="it-IT" sz="1800" dirty="0"/>
              <a:t> </a:t>
            </a:r>
            <a:r>
              <a:rPr lang="it-IT" sz="1800" dirty="0" err="1"/>
              <a:t>reify</a:t>
            </a:r>
            <a:r>
              <a:rPr lang="it-IT" sz="1800" dirty="0"/>
              <a:t> the </a:t>
            </a:r>
            <a:r>
              <a:rPr lang="it-IT" sz="1800" dirty="0" err="1"/>
              <a:t>roles</a:t>
            </a:r>
            <a:r>
              <a:rPr lang="it-IT" sz="1800" dirty="0"/>
              <a:t>. </a:t>
            </a:r>
            <a:r>
              <a:rPr lang="it-IT" sz="1800" dirty="0" err="1"/>
              <a:t>There's</a:t>
            </a:r>
            <a:r>
              <a:rPr lang="it-IT" sz="1800" dirty="0"/>
              <a:t> </a:t>
            </a:r>
            <a:r>
              <a:rPr lang="it-IT" sz="1800" dirty="0" err="1"/>
              <a:t>only</a:t>
            </a:r>
            <a:r>
              <a:rPr lang="it-IT" sz="1800" dirty="0"/>
              <a:t> </a:t>
            </a:r>
            <a:r>
              <a:rPr lang="it-IT" sz="1800" dirty="0" err="1"/>
              <a:t>R</a:t>
            </a:r>
            <a:r>
              <a:rPr lang="it-IT" sz="1800" dirty="0"/>
              <a:t>, so </a:t>
            </a:r>
            <a:r>
              <a:rPr lang="it-IT" sz="1800" dirty="0" err="1"/>
              <a:t>you</a:t>
            </a:r>
            <a:r>
              <a:rPr lang="it-IT" sz="1800" dirty="0"/>
              <a:t> introduce the concept A</a:t>
            </a:r>
            <a:r>
              <a:rPr lang="it-IT" sz="1800" baseline="-25000" dirty="0"/>
              <a:t>R</a:t>
            </a:r>
            <a:r>
              <a:rPr lang="it-IT" sz="1800" dirty="0"/>
              <a:t> and </a:t>
            </a:r>
            <a:r>
              <a:rPr lang="it-IT" sz="1800" dirty="0" err="1"/>
              <a:t>roles</a:t>
            </a:r>
            <a:r>
              <a:rPr lang="it-IT" sz="1800" dirty="0"/>
              <a:t> V</a:t>
            </a:r>
            <a:r>
              <a:rPr lang="it-IT" sz="1800" baseline="-25000" dirty="0"/>
              <a:t>1</a:t>
            </a:r>
            <a:r>
              <a:rPr lang="it-IT" sz="1800" dirty="0"/>
              <a:t> and V</a:t>
            </a:r>
            <a:r>
              <a:rPr lang="it-IT" sz="1800" baseline="-25000" dirty="0"/>
              <a:t>2</a:t>
            </a:r>
            <a:r>
              <a:rPr lang="it-IT" sz="1800" dirty="0"/>
              <a:t> for </a:t>
            </a:r>
            <a:r>
              <a:rPr lang="it-IT" sz="1800" dirty="0" err="1"/>
              <a:t>reification</a:t>
            </a:r>
            <a:r>
              <a:rPr lang="it-IT" sz="1800" dirty="0"/>
              <a:t>;</a:t>
            </a:r>
          </a:p>
          <a:p>
            <a:r>
              <a:rPr lang="it-IT" sz="1800" dirty="0"/>
              <a:t>Step 2: </a:t>
            </a:r>
            <a:r>
              <a:rPr lang="it-IT" sz="1800" dirty="0" err="1"/>
              <a:t>Reify</a:t>
            </a:r>
            <a:r>
              <a:rPr lang="it-IT" sz="1800" dirty="0"/>
              <a:t> the concepts</a:t>
            </a:r>
          </a:p>
          <a:p>
            <a:pPr lvl="1"/>
            <a:r>
              <a:rPr lang="it-IT" sz="1400" dirty="0"/>
              <a:t>∃(V</a:t>
            </a:r>
            <a:r>
              <a:rPr lang="it-IT" sz="1400" baseline="-25000" dirty="0"/>
              <a:t>1</a:t>
            </a:r>
            <a:r>
              <a:rPr lang="it-IT" sz="1400" baseline="30000" dirty="0"/>
              <a:t>−</a:t>
            </a:r>
            <a:r>
              <a:rPr lang="it-IT" sz="1400" dirty="0"/>
              <a:t>◦id(A</a:t>
            </a:r>
            <a:r>
              <a:rPr lang="it-IT" sz="1400" baseline="-25000" dirty="0"/>
              <a:t>R</a:t>
            </a:r>
            <a:r>
              <a:rPr lang="it-IT" sz="1400" dirty="0"/>
              <a:t>)◦V</a:t>
            </a:r>
            <a:r>
              <a:rPr lang="it-IT" sz="1400" baseline="-25000" dirty="0"/>
              <a:t>2</a:t>
            </a:r>
            <a:r>
              <a:rPr lang="it-IT" sz="1400" dirty="0"/>
              <a:t>).C</a:t>
            </a:r>
            <a:endParaRPr lang="it-IT" sz="1200" dirty="0"/>
          </a:p>
          <a:p>
            <a:pPr lvl="1"/>
            <a:r>
              <a:rPr lang="it-IT" sz="1600" dirty="0"/>
              <a:t>≤2V</a:t>
            </a:r>
            <a:r>
              <a:rPr lang="it-IT" sz="1600" baseline="-25000" dirty="0"/>
              <a:t>1</a:t>
            </a:r>
            <a:r>
              <a:rPr lang="it-IT" sz="1600" baseline="30000" dirty="0"/>
              <a:t>−</a:t>
            </a:r>
            <a:r>
              <a:rPr lang="it-IT" sz="1600" dirty="0"/>
              <a:t>.(A</a:t>
            </a:r>
            <a:r>
              <a:rPr lang="it-IT" sz="1600" baseline="-25000" dirty="0"/>
              <a:t>R</a:t>
            </a:r>
            <a:r>
              <a:rPr lang="it-IT" sz="1600" dirty="0"/>
              <a:t>⊓∃V</a:t>
            </a:r>
            <a:r>
              <a:rPr lang="it-IT" sz="1600" baseline="-25000" dirty="0"/>
              <a:t>2</a:t>
            </a:r>
            <a:r>
              <a:rPr lang="it-IT" sz="1600" dirty="0"/>
              <a:t>.C)</a:t>
            </a:r>
          </a:p>
          <a:p>
            <a:r>
              <a:rPr lang="it-IT" sz="1800" dirty="0"/>
              <a:t>Step 3: </a:t>
            </a:r>
            <a:r>
              <a:rPr lang="it-IT" sz="1800" dirty="0" err="1"/>
              <a:t>You</a:t>
            </a:r>
            <a:r>
              <a:rPr lang="it-IT" sz="1800" dirty="0"/>
              <a:t> introduce the </a:t>
            </a:r>
            <a:r>
              <a:rPr lang="it-IT" sz="1800" dirty="0" err="1"/>
              <a:t>restriction</a:t>
            </a:r>
            <a:r>
              <a:rPr lang="it-IT" sz="1800" dirty="0"/>
              <a:t> </a:t>
            </a:r>
          </a:p>
          <a:p>
            <a:pPr lvl="1"/>
            <a:r>
              <a:rPr lang="el-GR" sz="1600" dirty="0"/>
              <a:t>Θ</a:t>
            </a:r>
            <a:r>
              <a:rPr lang="el-GR" sz="1600" baseline="-25000" dirty="0"/>
              <a:t>1</a:t>
            </a:r>
            <a:r>
              <a:rPr lang="it-IT" sz="1600" dirty="0"/>
              <a:t> = </a:t>
            </a:r>
            <a:r>
              <a:rPr lang="el-GR" sz="1600" dirty="0"/>
              <a:t>∀(</a:t>
            </a:r>
            <a:r>
              <a:rPr lang="it-IT" sz="1600" dirty="0"/>
              <a:t>V</a:t>
            </a:r>
            <a:r>
              <a:rPr lang="it-IT" sz="1600" baseline="-25000" dirty="0"/>
              <a:t>1</a:t>
            </a:r>
            <a:r>
              <a:rPr lang="it-IT" sz="1600" dirty="0"/>
              <a:t>⊔V</a:t>
            </a:r>
            <a:r>
              <a:rPr lang="it-IT" sz="1600" baseline="-25000" dirty="0"/>
              <a:t>2</a:t>
            </a:r>
            <a:r>
              <a:rPr lang="it-IT" sz="1600" dirty="0"/>
              <a:t>⊔V</a:t>
            </a:r>
            <a:r>
              <a:rPr lang="it-IT" sz="1600" baseline="-25000" dirty="0"/>
              <a:t>1</a:t>
            </a:r>
            <a:r>
              <a:rPr lang="it-IT" sz="1600" baseline="30000" dirty="0"/>
              <a:t>−</a:t>
            </a:r>
            <a:r>
              <a:rPr lang="it-IT" sz="1600" dirty="0"/>
              <a:t>⊔V</a:t>
            </a:r>
            <a:r>
              <a:rPr lang="it-IT" sz="1600" baseline="-25000" dirty="0"/>
              <a:t>2</a:t>
            </a:r>
            <a:r>
              <a:rPr lang="it-IT" sz="1600" baseline="30000" dirty="0"/>
              <a:t>−</a:t>
            </a:r>
            <a:r>
              <a:rPr lang="it-IT" sz="1600" dirty="0"/>
              <a:t>)</a:t>
            </a:r>
            <a:r>
              <a:rPr lang="it-IT" sz="1600" baseline="30000" dirty="0"/>
              <a:t>∗</a:t>
            </a:r>
            <a:r>
              <a:rPr lang="it-IT" sz="1600" dirty="0"/>
              <a:t>.(≤1V</a:t>
            </a:r>
            <a:r>
              <a:rPr lang="it-IT" sz="1600" baseline="-25000" dirty="0"/>
              <a:t>1</a:t>
            </a:r>
            <a:r>
              <a:rPr lang="it-IT" sz="1600" dirty="0"/>
              <a:t> ⊓ ≤ 1V</a:t>
            </a:r>
            <a:r>
              <a:rPr lang="it-IT" sz="1600" baseline="-25000" dirty="0"/>
              <a:t>2</a:t>
            </a:r>
            <a:r>
              <a:rPr lang="it-IT" sz="1600" dirty="0"/>
              <a:t>)</a:t>
            </a:r>
          </a:p>
          <a:p>
            <a:r>
              <a:rPr lang="it-IT" sz="1800" dirty="0"/>
              <a:t>RESULT:</a:t>
            </a:r>
          </a:p>
          <a:p>
            <a:pPr lvl="1"/>
            <a:r>
              <a:rPr lang="it-IT" sz="1600" dirty="0"/>
              <a:t>∃R.C⊓≤2R.C	</a:t>
            </a:r>
            <a:r>
              <a:rPr lang="it-IT" sz="1600" dirty="0" err="1"/>
              <a:t>becomes</a:t>
            </a:r>
            <a:r>
              <a:rPr lang="it-IT" sz="1600" dirty="0"/>
              <a:t>		</a:t>
            </a:r>
          </a:p>
          <a:p>
            <a:pPr lvl="1"/>
            <a:r>
              <a:rPr lang="it-IT" sz="1600" dirty="0">
                <a:solidFill>
                  <a:srgbClr val="FF0000"/>
                </a:solidFill>
              </a:rPr>
              <a:t>∃(V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◦id(A</a:t>
            </a:r>
            <a:r>
              <a:rPr lang="it-IT" sz="1600" baseline="-25000" dirty="0">
                <a:solidFill>
                  <a:srgbClr val="FF0000"/>
                </a:solidFill>
              </a:rPr>
              <a:t>R</a:t>
            </a:r>
            <a:r>
              <a:rPr lang="it-IT" sz="1600" dirty="0">
                <a:solidFill>
                  <a:srgbClr val="FF0000"/>
                </a:solidFill>
              </a:rPr>
              <a:t>)◦V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).C⊔≤2V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.(A</a:t>
            </a:r>
            <a:r>
              <a:rPr lang="it-IT" sz="1600" baseline="-25000" dirty="0">
                <a:solidFill>
                  <a:srgbClr val="FF0000"/>
                </a:solidFill>
              </a:rPr>
              <a:t>R</a:t>
            </a:r>
            <a:r>
              <a:rPr lang="it-IT" sz="1600" dirty="0">
                <a:solidFill>
                  <a:srgbClr val="FF0000"/>
                </a:solidFill>
              </a:rPr>
              <a:t>⊓∃V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.C))⊓</a:t>
            </a:r>
            <a:r>
              <a:rPr lang="el-GR" sz="1600" dirty="0">
                <a:solidFill>
                  <a:srgbClr val="FF0000"/>
                </a:solidFill>
              </a:rPr>
              <a:t>∀(</a:t>
            </a:r>
            <a:r>
              <a:rPr lang="it-IT" sz="1600" dirty="0">
                <a:solidFill>
                  <a:srgbClr val="FF0000"/>
                </a:solidFill>
              </a:rPr>
              <a:t>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⊔V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baseline="30000" dirty="0">
                <a:solidFill>
                  <a:srgbClr val="FF0000"/>
                </a:solidFill>
              </a:rPr>
              <a:t>−</a:t>
            </a:r>
            <a:r>
              <a:rPr lang="it-IT" sz="1600" dirty="0">
                <a:solidFill>
                  <a:srgbClr val="FF0000"/>
                </a:solidFill>
              </a:rPr>
              <a:t>)</a:t>
            </a:r>
            <a:r>
              <a:rPr lang="it-IT" sz="1600" baseline="30000" dirty="0">
                <a:solidFill>
                  <a:srgbClr val="FF0000"/>
                </a:solidFill>
              </a:rPr>
              <a:t>∗</a:t>
            </a:r>
            <a:r>
              <a:rPr lang="it-IT" sz="1600" dirty="0">
                <a:solidFill>
                  <a:srgbClr val="FF0000"/>
                </a:solidFill>
              </a:rPr>
              <a:t>.(≤1V</a:t>
            </a:r>
            <a:r>
              <a:rPr lang="it-IT" sz="1600" baseline="-25000" dirty="0">
                <a:solidFill>
                  <a:srgbClr val="FF0000"/>
                </a:solidFill>
              </a:rPr>
              <a:t>1</a:t>
            </a:r>
            <a:r>
              <a:rPr lang="it-IT" sz="1600" dirty="0">
                <a:solidFill>
                  <a:srgbClr val="FF0000"/>
                </a:solidFill>
              </a:rPr>
              <a:t> ⊓ ≤ 1V</a:t>
            </a:r>
            <a:r>
              <a:rPr lang="it-IT" sz="1600" baseline="-25000" dirty="0">
                <a:solidFill>
                  <a:srgbClr val="FF0000"/>
                </a:solidFill>
              </a:rPr>
              <a:t>2</a:t>
            </a:r>
            <a:r>
              <a:rPr lang="it-IT" sz="1600" dirty="0">
                <a:solidFill>
                  <a:srgbClr val="FF0000"/>
                </a:solidFill>
              </a:rPr>
              <a:t>)</a:t>
            </a:r>
          </a:p>
          <a:p>
            <a:pPr lvl="1"/>
            <a:endParaRPr lang="it-IT" sz="1600" dirty="0"/>
          </a:p>
          <a:p>
            <a:pPr lvl="1"/>
            <a:endParaRPr lang="it-IT" sz="16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E685D0-E694-914C-8E25-19BBC8715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45EC82-31ED-3347-96B9-B1E15BB4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0958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26B25B-A1C5-B740-A9DA-120070EE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FUNCTIONAL REDUCTION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3C8F56-92E9-FC45-9FBA-81722D772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To </a:t>
            </a:r>
            <a:r>
              <a:rPr lang="it-IT" dirty="0" err="1"/>
              <a:t>map</a:t>
            </a:r>
            <a:r>
              <a:rPr lang="it-IT" dirty="0"/>
              <a:t> an ALCQIREG concept, </a:t>
            </a:r>
            <a:r>
              <a:rPr lang="it-IT" dirty="0" err="1"/>
              <a:t>we</a:t>
            </a:r>
            <a:r>
              <a:rPr lang="it-IT" dirty="0"/>
              <a:t> first </a:t>
            </a:r>
            <a:r>
              <a:rPr lang="it-IT" dirty="0" err="1"/>
              <a:t>proceed</a:t>
            </a:r>
            <a:r>
              <a:rPr lang="it-IT" dirty="0"/>
              <a:t> to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reification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to the </a:t>
            </a:r>
            <a:r>
              <a:rPr lang="it-IT" dirty="0" err="1"/>
              <a:t>reduction</a:t>
            </a:r>
            <a:r>
              <a:rPr lang="it-IT" dirty="0"/>
              <a:t> to </a:t>
            </a:r>
            <a:r>
              <a:rPr lang="it-IT" dirty="0" err="1"/>
              <a:t>F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then</a:t>
            </a:r>
            <a:r>
              <a:rPr lang="it-IT" dirty="0"/>
              <a:t> starts from the </a:t>
            </a:r>
            <a:r>
              <a:rPr lang="it-IT" dirty="0" err="1"/>
              <a:t>reified</a:t>
            </a:r>
            <a:r>
              <a:rPr lang="it-IT" dirty="0"/>
              <a:t> concept</a:t>
            </a:r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, </a:t>
            </a:r>
            <a:r>
              <a:rPr lang="it-IT" dirty="0" err="1"/>
              <a:t>therefore</a:t>
            </a:r>
            <a:r>
              <a:rPr lang="it-IT" dirty="0"/>
              <a:t>, </a:t>
            </a:r>
            <a:r>
              <a:rPr lang="it-IT" dirty="0" err="1"/>
              <a:t>rewrite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</a:t>
            </a:r>
            <a:r>
              <a:rPr lang="it-IT" dirty="0" err="1"/>
              <a:t>reified</a:t>
            </a:r>
            <a:r>
              <a:rPr lang="it-IT" dirty="0"/>
              <a:t> concept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el-GR" dirty="0"/>
              <a:t>ξ</a:t>
            </a:r>
            <a:r>
              <a:rPr lang="el-GR" baseline="-25000" dirty="0"/>
              <a:t>1</a:t>
            </a:r>
            <a:r>
              <a:rPr lang="el-GR" dirty="0"/>
              <a:t>(</a:t>
            </a:r>
            <a:r>
              <a:rPr lang="it-IT" dirty="0"/>
              <a:t>C) = </a:t>
            </a:r>
            <a:r>
              <a:rPr lang="el-GR" dirty="0"/>
              <a:t>ξ</a:t>
            </a:r>
            <a:r>
              <a:rPr lang="el-GR" baseline="-25000" dirty="0"/>
              <a:t>0</a:t>
            </a:r>
            <a:r>
              <a:rPr lang="el-GR" dirty="0"/>
              <a:t>(</a:t>
            </a:r>
            <a:r>
              <a:rPr lang="it-IT" dirty="0"/>
              <a:t>C) ⊓ </a:t>
            </a:r>
            <a:r>
              <a:rPr lang="el-GR" dirty="0"/>
              <a:t>Θ</a:t>
            </a:r>
            <a:r>
              <a:rPr lang="el-GR" baseline="-25000" dirty="0"/>
              <a:t>1</a:t>
            </a:r>
            <a:r>
              <a:rPr lang="it-IT" dirty="0"/>
              <a:t> in </a:t>
            </a:r>
            <a:r>
              <a:rPr lang="it-IT" dirty="0" err="1"/>
              <a:t>functional</a:t>
            </a:r>
            <a:r>
              <a:rPr lang="it-IT" dirty="0"/>
              <a:t> </a:t>
            </a:r>
            <a:r>
              <a:rPr lang="it-IT" dirty="0" err="1"/>
              <a:t>reduction</a:t>
            </a:r>
            <a:r>
              <a:rPr lang="it-IT" dirty="0"/>
              <a:t> </a:t>
            </a:r>
            <a:r>
              <a:rPr lang="el-GR" dirty="0"/>
              <a:t>ξ</a:t>
            </a:r>
            <a:r>
              <a:rPr lang="it-IT" baseline="-25000" dirty="0"/>
              <a:t>2</a:t>
            </a:r>
            <a:r>
              <a:rPr lang="el-GR" dirty="0"/>
              <a:t>(</a:t>
            </a:r>
            <a:r>
              <a:rPr lang="it-IT" dirty="0"/>
              <a:t>C) = </a:t>
            </a:r>
            <a:r>
              <a:rPr lang="el-GR" dirty="0"/>
              <a:t>ξ</a:t>
            </a:r>
            <a:r>
              <a:rPr lang="it-IT" baseline="-25000" dirty="0"/>
              <a:t>0</a:t>
            </a:r>
            <a:r>
              <a:rPr lang="it-IT" baseline="30000" dirty="0"/>
              <a:t>’</a:t>
            </a:r>
            <a:r>
              <a:rPr lang="el-GR" dirty="0"/>
              <a:t>(</a:t>
            </a:r>
            <a:r>
              <a:rPr lang="it-IT" dirty="0"/>
              <a:t>C) ⊓ </a:t>
            </a:r>
            <a:r>
              <a:rPr lang="el-GR" dirty="0"/>
              <a:t>Θ</a:t>
            </a:r>
            <a:r>
              <a:rPr lang="it-IT" baseline="-25000" dirty="0"/>
              <a:t>2</a:t>
            </a:r>
            <a:r>
              <a:rPr lang="it-IT" dirty="0"/>
              <a:t> 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E57283-6AD1-2840-9082-A63C35F6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5A8A330-3751-9241-9E07-DB721BC6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53334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4132DC-744D-CA42-88C1-660A6AC1D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8DEB4E-E9C0-3946-8AF4-B59F72D3A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With </a:t>
                </a:r>
                <a:r>
                  <a:rPr lang="it-IT" dirty="0" err="1"/>
                  <a:t>R</a:t>
                </a:r>
                <a:r>
                  <a:rPr lang="it-IT" baseline="30000" dirty="0" err="1"/>
                  <a:t>n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mean</a:t>
                </a:r>
                <a:r>
                  <a:rPr lang="it-IT" dirty="0"/>
                  <a:t> the </a:t>
                </a:r>
                <a:r>
                  <a:rPr lang="it-IT" dirty="0" err="1"/>
                  <a:t>repetition</a:t>
                </a:r>
                <a:r>
                  <a:rPr lang="it-IT" dirty="0"/>
                  <a:t> </a:t>
                </a:r>
                <a:r>
                  <a:rPr lang="it-IT" dirty="0" err="1"/>
                  <a:t>n</a:t>
                </a:r>
                <a:r>
                  <a:rPr lang="it-IT" dirty="0"/>
                  <a:t> times of the </a:t>
                </a:r>
                <a:r>
                  <a:rPr lang="it-IT" dirty="0" err="1"/>
                  <a:t>role</a:t>
                </a:r>
                <a:r>
                  <a:rPr lang="it-IT" dirty="0"/>
                  <a:t> </a:t>
                </a:r>
                <a:r>
                  <a:rPr lang="it-IT" dirty="0" err="1"/>
                  <a:t>R</a:t>
                </a:r>
                <a:endParaRPr lang="it-IT" dirty="0"/>
              </a:p>
              <a:p>
                <a:endParaRPr lang="it-IT" baseline="30000" dirty="0"/>
              </a:p>
              <a:p>
                <a:endParaRPr lang="it-IT" baseline="30000" dirty="0"/>
              </a:p>
              <a:p>
                <a:r>
                  <a:rPr lang="it-IT" dirty="0"/>
                  <a:t>With </a:t>
                </a:r>
                <a:r>
                  <a:rPr lang="it-IT" dirty="0" err="1"/>
                  <a:t>R</a:t>
                </a:r>
                <a:r>
                  <a:rPr lang="it-IT" baseline="30000" dirty="0"/>
                  <a:t>+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</a:t>
                </a:r>
                <a:r>
                  <a:rPr lang="it-IT" dirty="0" err="1"/>
                  <a:t>mean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it-IT" dirty="0"/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8DEB4E-E9C0-3946-8AF4-B59F72D3A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 r="-21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4782FCC-3B9B-D84B-A9E3-835E9636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24E8D9D-3187-D84A-81AF-904D5A93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645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EAE9F5-87A1-3947-8EC9-CD313C3C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REDUCTION OF </a:t>
            </a:r>
            <a:r>
              <a:rPr lang="el-GR" dirty="0"/>
              <a:t>ξ</a:t>
            </a:r>
            <a:r>
              <a:rPr lang="el-GR" baseline="-25000" dirty="0"/>
              <a:t>0</a:t>
            </a:r>
            <a:r>
              <a:rPr lang="el-GR" dirty="0"/>
              <a:t>(</a:t>
            </a:r>
            <a:r>
              <a:rPr lang="it-IT" dirty="0"/>
              <a:t>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3768606-3B23-F94E-A402-015F067F8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Any </a:t>
                </a:r>
                <a:r>
                  <a:rPr lang="it-IT" dirty="0" err="1"/>
                  <a:t>occurrence</a:t>
                </a:r>
                <a:r>
                  <a:rPr lang="it-IT" dirty="0"/>
                  <a:t> of V</a:t>
                </a:r>
                <a:r>
                  <a:rPr lang="it-IT" baseline="-25000" dirty="0"/>
                  <a:t>1</a:t>
                </a:r>
                <a:r>
                  <a:rPr lang="it-IT" dirty="0"/>
                  <a:t> or V</a:t>
                </a:r>
                <a:r>
                  <a:rPr lang="it-IT" baseline="-25000" dirty="0"/>
                  <a:t>2</a:t>
                </a:r>
                <a:r>
                  <a:rPr lang="it-IT" dirty="0"/>
                  <a:t> that does not appear in a qualified numerical restriction must be replaced by</a:t>
                </a:r>
                <a14:m>
                  <m:oMath xmlns:m="http://schemas.openxmlformats.org/officeDocument/2006/math">
                    <m:r>
                      <a:rPr lang="it-IT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it-IT" b="0" dirty="0"/>
                  <a:t> </a:t>
                </a:r>
                <a:r>
                  <a:rPr lang="it-IT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it-IT" b="0" dirty="0">
                    <a:solidFill>
                      <a:schemeClr val="tx1"/>
                    </a:solidFill>
                  </a:rPr>
                  <a:t>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nd</m:t>
                    </m:r>
                    <m:r>
                      <a:rPr lang="it-IT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it-IT" b="0" dirty="0">
                    <a:solidFill>
                      <a:srgbClr val="FF0000"/>
                    </a:solidFill>
                  </a:rPr>
                  <a:t> </a:t>
                </a:r>
                <a:r>
                  <a:rPr lang="it-IT" dirty="0"/>
                  <a:t>are new roles;</a:t>
                </a:r>
                <a:endParaRPr lang="it-IT" b="0" dirty="0"/>
              </a:p>
              <a:p>
                <a:endParaRPr lang="it-IT" b="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3768606-3B23-F94E-A402-015F067F8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9BE7E8-BE2E-984B-860D-C55AF4E3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61A950-4A13-7E40-BD73-AE64C642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770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1EDBE-3025-8046-8CAB-623BC1B9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REDUCTION OF </a:t>
            </a:r>
            <a:r>
              <a:rPr lang="el-GR" dirty="0"/>
              <a:t>ξ</a:t>
            </a:r>
            <a:r>
              <a:rPr lang="el-GR" baseline="-25000" dirty="0"/>
              <a:t>0</a:t>
            </a:r>
            <a:r>
              <a:rPr lang="el-GR" dirty="0"/>
              <a:t>(</a:t>
            </a:r>
            <a:r>
              <a:rPr lang="it-IT" dirty="0"/>
              <a:t>C)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8B0D526-F538-704A-A43D-0B718B0D5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Every Expression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Sup>
                      <m:sSubSup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dirty="0"/>
                  <a:t> si </a:t>
                </a:r>
                <a:r>
                  <a:rPr lang="it-IT" dirty="0" err="1"/>
                  <a:t>reduces</a:t>
                </a:r>
                <a:r>
                  <a:rPr lang="it-IT" dirty="0"/>
                  <a:t>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d>
                        <m:dPr>
                          <m:ctrlPr>
                            <a:rPr lang="it-I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it-IT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it-IT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𝑖𝑑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∘</m:t>
                                  </m:r>
                                  <m:r>
                                    <m:rPr>
                                      <m:nor/>
                                    </m:rPr>
                                    <a:rPr lang="it-IT" dirty="0">
                                      <a:solidFill>
                                        <a:srgbClr val="FF0000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  <m:sup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it-I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.¬</m:t>
                      </m:r>
                      <m:r>
                        <a:rPr lang="it-IT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it-IT" dirty="0">
                  <a:solidFill>
                    <a:srgbClr val="FF0000"/>
                  </a:solidFill>
                </a:endParaRPr>
              </a:p>
              <a:p>
                <a:r>
                  <a:rPr lang="it-IT" dirty="0"/>
                  <a:t>E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very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expression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reduces</a:t>
                </a:r>
                <a:r>
                  <a:rPr lang="it-IT" dirty="0"/>
                  <a:t>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d>
                        <m:dPr>
                          <m:ctrlP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  <m:sup>
                              <m: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∘</m:t>
                          </m:r>
                          <m:sSup>
                            <m:sSupPr>
                              <m:ctrlP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𝑖𝑑</m:t>
                                  </m:r>
                                  <m:d>
                                    <m:d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  <m:r>
                                    <a:rPr lang="it-IT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∘</m:t>
                                  </m:r>
                                  <m:r>
                                    <m:rPr>
                                      <m:nor/>
                                    </m:rPr>
                                    <a:rPr lang="it-IT" dirty="0">
                                      <a:solidFill>
                                        <a:srgbClr val="FF0000"/>
                                      </a:solidFill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𝑉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  <m:sup>
                                          <m:r>
                                            <a:rPr lang="it-IT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  <m:sup>
                                      <m:r>
                                        <a:rPr lang="it-IT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it-IT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it-IT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8B0D526-F538-704A-A43D-0B718B0D5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214CAC-AF47-D543-8BEB-0E771B21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3D6ADA-18A9-1245-88D6-CE17686F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79876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304203-2B43-CD44-BA16-42A0CA20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REDUCTION OF </a:t>
            </a:r>
            <a:r>
              <a:rPr lang="el-GR" dirty="0"/>
              <a:t>Θ</a:t>
            </a:r>
            <a:r>
              <a:rPr lang="el-GR" baseline="-25000" dirty="0"/>
              <a:t>1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CDDB60B-A79D-3D4A-AF1E-15DD679CE6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it-IT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∀</m:t>
                    </m:r>
                  </m:oMath>
                </a14:m>
                <a:r>
                  <a:rPr lang="it-IT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⨆</m:t>
                            </m:r>
                          </m:e>
                          <m:sub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=1,2</m:t>
                            </m:r>
                          </m:sub>
                        </m:sSub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it-IT" sz="28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p>
                          <m:sSupPr>
                            <m:ctrlP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28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2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it-IT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2800" dirty="0">
                    <a:solidFill>
                      <a:srgbClr val="FF0000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it-IT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b>
                      <m:sSubPr>
                        <m:ctrlPr>
                          <a:rPr lang="it-IT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it-IT" dirty="0" err="1"/>
                  <a:t>where</a:t>
                </a:r>
                <a:r>
                  <a:rPr lang="it-IT" dirty="0"/>
                  <a:t> for i=1,2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takes the form of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it-IT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sSub>
                      <m:sSubPr>
                        <m:ctrlP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it-IT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sSubSup>
                      <m:sSubSupPr>
                        <m:ctrlP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</m:oMath>
                </a14:m>
                <a:r>
                  <a:rPr lang="it-IT" sz="24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it-IT" sz="24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(∃</m:t>
                    </m:r>
                    <m:sSubSup>
                      <m:sSubSupPr>
                        <m:ctrlP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CDDB60B-A79D-3D4A-AF1E-15DD679CE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0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0FCBE3B-D48A-D445-9B6C-5DD0B41B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7D5DBFF-5454-9243-9F04-C7E8099B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9929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97D566-C3AA-A64D-A98E-72B1D69D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AD0247B-E4F0-2049-B012-96DE9FE0D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08025"/>
                <a:ext cx="8229600" cy="3727450"/>
              </a:xfrm>
            </p:spPr>
            <p:txBody>
              <a:bodyPr/>
              <a:lstStyle/>
              <a:p>
                <a:r>
                  <a:rPr lang="it-IT" sz="1800" dirty="0"/>
                  <a:t>∃R.C⊓≤2R.C	</a:t>
                </a:r>
              </a:p>
              <a:p>
                <a:r>
                  <a:rPr lang="it-IT" sz="1800" dirty="0"/>
                  <a:t>(</a:t>
                </a:r>
                <a:r>
                  <a:rPr lang="it-IT" sz="1800" dirty="0">
                    <a:solidFill>
                      <a:srgbClr val="FF0000"/>
                    </a:solidFill>
                  </a:rPr>
                  <a:t>∃(V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1800" baseline="30000" dirty="0">
                    <a:solidFill>
                      <a:srgbClr val="FF0000"/>
                    </a:solidFill>
                  </a:rPr>
                  <a:t>−</a:t>
                </a:r>
                <a:r>
                  <a:rPr lang="it-IT" sz="1800" dirty="0">
                    <a:solidFill>
                      <a:srgbClr val="FF0000"/>
                    </a:solidFill>
                  </a:rPr>
                  <a:t>◦id(A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R</a:t>
                </a:r>
                <a:r>
                  <a:rPr lang="it-IT" sz="1800" dirty="0">
                    <a:solidFill>
                      <a:srgbClr val="FF0000"/>
                    </a:solidFill>
                  </a:rPr>
                  <a:t>)◦V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1800" dirty="0">
                    <a:solidFill>
                      <a:srgbClr val="FF0000"/>
                    </a:solidFill>
                  </a:rPr>
                  <a:t>).C⊔≤2V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1800" baseline="30000" dirty="0">
                    <a:solidFill>
                      <a:srgbClr val="FF0000"/>
                    </a:solidFill>
                  </a:rPr>
                  <a:t>−</a:t>
                </a:r>
                <a:r>
                  <a:rPr lang="it-IT" sz="1800" dirty="0">
                    <a:solidFill>
                      <a:srgbClr val="FF0000"/>
                    </a:solidFill>
                  </a:rPr>
                  <a:t>.(A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R</a:t>
                </a:r>
                <a:r>
                  <a:rPr lang="it-IT" sz="1800" dirty="0">
                    <a:solidFill>
                      <a:srgbClr val="FF0000"/>
                    </a:solidFill>
                  </a:rPr>
                  <a:t>⊓∃V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1800" dirty="0">
                    <a:solidFill>
                      <a:srgbClr val="FF0000"/>
                    </a:solidFill>
                  </a:rPr>
                  <a:t>.C))</a:t>
                </a:r>
                <a:r>
                  <a:rPr lang="it-IT" sz="1800" dirty="0"/>
                  <a:t>) ⊓(</a:t>
                </a:r>
                <a:r>
                  <a:rPr lang="el-GR" sz="1800" dirty="0">
                    <a:solidFill>
                      <a:srgbClr val="FF0000"/>
                    </a:solidFill>
                  </a:rPr>
                  <a:t>∀(</a:t>
                </a:r>
                <a:r>
                  <a:rPr lang="it-IT" sz="1800" dirty="0">
                    <a:solidFill>
                      <a:srgbClr val="FF0000"/>
                    </a:solidFill>
                  </a:rPr>
                  <a:t>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1800" dirty="0">
                    <a:solidFill>
                      <a:srgbClr val="FF0000"/>
                    </a:solidFill>
                  </a:rPr>
                  <a:t>⊔V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1800" dirty="0">
                    <a:solidFill>
                      <a:srgbClr val="FF0000"/>
                    </a:solidFill>
                  </a:rPr>
                  <a:t>⊔V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1800" baseline="30000" dirty="0">
                    <a:solidFill>
                      <a:srgbClr val="FF0000"/>
                    </a:solidFill>
                  </a:rPr>
                  <a:t>−</a:t>
                </a:r>
                <a:r>
                  <a:rPr lang="it-IT" sz="1800" dirty="0">
                    <a:solidFill>
                      <a:srgbClr val="FF0000"/>
                    </a:solidFill>
                  </a:rPr>
                  <a:t>⊔V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1800" baseline="30000" dirty="0">
                    <a:solidFill>
                      <a:srgbClr val="FF0000"/>
                    </a:solidFill>
                  </a:rPr>
                  <a:t>−</a:t>
                </a:r>
                <a:r>
                  <a:rPr lang="it-IT" sz="1800" dirty="0">
                    <a:solidFill>
                      <a:srgbClr val="FF0000"/>
                    </a:solidFill>
                  </a:rPr>
                  <a:t>)</a:t>
                </a:r>
                <a:r>
                  <a:rPr lang="it-IT" sz="1800" baseline="30000" dirty="0">
                    <a:solidFill>
                      <a:srgbClr val="FF0000"/>
                    </a:solidFill>
                  </a:rPr>
                  <a:t>∗</a:t>
                </a:r>
                <a:r>
                  <a:rPr lang="it-IT" sz="1800" dirty="0">
                    <a:solidFill>
                      <a:srgbClr val="FF0000"/>
                    </a:solidFill>
                  </a:rPr>
                  <a:t>.(≤1V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1800" dirty="0">
                    <a:solidFill>
                      <a:srgbClr val="FF0000"/>
                    </a:solidFill>
                  </a:rPr>
                  <a:t> ⊓ ≤ 1V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1800" dirty="0">
                    <a:solidFill>
                      <a:srgbClr val="FF0000"/>
                    </a:solidFill>
                  </a:rPr>
                  <a:t>)</a:t>
                </a:r>
                <a:r>
                  <a:rPr lang="it-IT" sz="1800" dirty="0"/>
                  <a:t>)</a:t>
                </a:r>
              </a:p>
              <a:p>
                <a:pPr marL="0" indent="0">
                  <a:buNone/>
                </a:pPr>
                <a:endParaRPr lang="it-IT" sz="1800" dirty="0"/>
              </a:p>
              <a:p>
                <a:endParaRPr lang="it-IT" sz="1800" dirty="0"/>
              </a:p>
              <a:p>
                <a:endParaRPr lang="it-IT" sz="1800" dirty="0"/>
              </a:p>
              <a:p>
                <a:r>
                  <a:rPr lang="it-IT" sz="1800" dirty="0"/>
                  <a:t>Introducing Functional Roles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it-IT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Sup>
                      <m:sSubSup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it-IT" sz="1800" dirty="0"/>
              </a:p>
              <a:p>
                <a:r>
                  <a:rPr lang="it-IT" sz="1800" dirty="0" err="1"/>
                  <a:t>We</a:t>
                </a:r>
                <a:r>
                  <a:rPr lang="it-IT" sz="1800" dirty="0"/>
                  <a:t> reshapeV</a:t>
                </a:r>
                <a:r>
                  <a:rPr lang="it-IT" sz="1800" baseline="-25000" dirty="0"/>
                  <a:t>1</a:t>
                </a:r>
                <a:r>
                  <a:rPr lang="it-IT" sz="1800" dirty="0"/>
                  <a:t> e V</a:t>
                </a:r>
                <a:r>
                  <a:rPr lang="it-IT" sz="1800" baseline="-25000" dirty="0"/>
                  <a:t>2</a:t>
                </a:r>
                <a:r>
                  <a:rPr lang="it-IT" sz="1800" dirty="0"/>
                  <a:t> in </a:t>
                </a:r>
                <a:r>
                  <a:rPr lang="it-IT" sz="1800" dirty="0" err="1"/>
                  <a:t>all</a:t>
                </a:r>
                <a:r>
                  <a:rPr lang="it-IT" sz="1800" dirty="0"/>
                  <a:t> </a:t>
                </a:r>
                <a:r>
                  <a:rPr lang="it-IT" sz="1800" dirty="0" err="1"/>
                  <a:t>occurrences</a:t>
                </a:r>
                <a:r>
                  <a:rPr lang="it-IT" sz="1800" dirty="0"/>
                  <a:t> in </a:t>
                </a:r>
                <a:r>
                  <a:rPr lang="el-GR" sz="1800" dirty="0"/>
                  <a:t>ξ</a:t>
                </a:r>
                <a:r>
                  <a:rPr lang="el-GR" sz="1800" baseline="-25000" dirty="0"/>
                  <a:t>0</a:t>
                </a:r>
                <a:r>
                  <a:rPr lang="el-GR" sz="1800" dirty="0"/>
                  <a:t>(</a:t>
                </a:r>
                <a:r>
                  <a:rPr lang="it-IT" sz="1800" dirty="0"/>
                  <a:t>C) </a:t>
                </a:r>
                <a:r>
                  <a:rPr lang="it-IT" sz="1800" dirty="0" err="1"/>
                  <a:t>that</a:t>
                </a:r>
                <a:r>
                  <a:rPr lang="it-IT" sz="1800" dirty="0"/>
                  <a:t> do </a:t>
                </a:r>
                <a:r>
                  <a:rPr lang="it-IT" sz="1800" dirty="0" err="1"/>
                  <a:t>not</a:t>
                </a:r>
                <a:r>
                  <a:rPr lang="it-IT" sz="1800" dirty="0"/>
                  <a:t> involve </a:t>
                </a:r>
                <a:r>
                  <a:rPr lang="it-IT" sz="1800" dirty="0" err="1"/>
                  <a:t>numeral</a:t>
                </a:r>
                <a:r>
                  <a:rPr lang="it-IT" sz="1800" dirty="0"/>
                  <a:t> </a:t>
                </a:r>
                <a:r>
                  <a:rPr lang="it-IT" sz="1800" dirty="0" err="1"/>
                  <a:t>restrictions</a:t>
                </a:r>
                <a:r>
                  <a:rPr lang="it-IT" sz="1800" dirty="0"/>
                  <a:t> (so </a:t>
                </a:r>
                <a:r>
                  <a:rPr lang="it-IT" sz="1800" dirty="0" err="1"/>
                  <a:t>not</a:t>
                </a:r>
                <a:r>
                  <a:rPr lang="it-IT" sz="1800" dirty="0"/>
                  <a:t> in </a:t>
                </a:r>
                <a:r>
                  <a:rPr lang="it-IT" sz="1800" dirty="0">
                    <a:solidFill>
                      <a:schemeClr val="tx1"/>
                    </a:solidFill>
                  </a:rPr>
                  <a:t>≤2V</a:t>
                </a:r>
                <a:r>
                  <a:rPr lang="it-IT" sz="1800" baseline="-25000" dirty="0">
                    <a:solidFill>
                      <a:schemeClr val="tx1"/>
                    </a:solidFill>
                  </a:rPr>
                  <a:t>1</a:t>
                </a:r>
                <a:r>
                  <a:rPr lang="it-IT" sz="1800" baseline="30000" dirty="0">
                    <a:solidFill>
                      <a:schemeClr val="tx1"/>
                    </a:solidFill>
                  </a:rPr>
                  <a:t>−</a:t>
                </a:r>
                <a:r>
                  <a:rPr lang="it-IT" sz="1800" dirty="0">
                    <a:solidFill>
                      <a:schemeClr val="tx1"/>
                    </a:solidFill>
                  </a:rPr>
                  <a:t>.(A</a:t>
                </a:r>
                <a:r>
                  <a:rPr lang="it-IT" sz="1800" baseline="-25000" dirty="0">
                    <a:solidFill>
                      <a:schemeClr val="tx1"/>
                    </a:solidFill>
                  </a:rPr>
                  <a:t>R</a:t>
                </a:r>
                <a:r>
                  <a:rPr lang="it-IT" sz="1800" dirty="0">
                    <a:solidFill>
                      <a:schemeClr val="tx1"/>
                    </a:solidFill>
                  </a:rPr>
                  <a:t>⊓∃V</a:t>
                </a:r>
                <a:r>
                  <a:rPr lang="it-IT" sz="1800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it-IT" sz="1800" dirty="0">
                    <a:solidFill>
                      <a:schemeClr val="tx1"/>
                    </a:solidFill>
                  </a:rPr>
                  <a:t>.C)) </a:t>
                </a:r>
                <a:r>
                  <a:rPr lang="it-IT" sz="1800" dirty="0"/>
                  <a:t>by </a:t>
                </a:r>
                <a:r>
                  <a:rPr lang="it-IT" sz="1800" dirty="0" err="1"/>
                  <a:t>means</a:t>
                </a:r>
                <a:r>
                  <a:rPr lang="it-IT" sz="1800" dirty="0"/>
                  <a:t> of the rule </a:t>
                </a:r>
                <a:r>
                  <a:rPr lang="it-IT" sz="1800" dirty="0" err="1"/>
                  <a:t>that</a:t>
                </a:r>
                <a:r>
                  <a:rPr lang="it-IT" sz="1800" dirty="0"/>
                  <a:t> a </a:t>
                </a:r>
                <a:r>
                  <a:rPr lang="it-IT" sz="1800" dirty="0">
                    <a:solidFill>
                      <a:schemeClr val="tx1"/>
                    </a:solidFill>
                  </a:rPr>
                  <a:t>V</a:t>
                </a:r>
                <a:r>
                  <a:rPr lang="it-IT" sz="1800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it-IT" sz="1800" dirty="0">
                    <a:solidFill>
                      <a:schemeClr val="tx1"/>
                    </a:solidFill>
                  </a:rPr>
                  <a:t> </a:t>
                </a:r>
                <a:r>
                  <a:rPr lang="it-IT" sz="1800" dirty="0"/>
                  <a:t>Needs to be replaced</a:t>
                </a:r>
                <a14:m>
                  <m:oMath xmlns:m="http://schemas.openxmlformats.org/officeDocument/2006/math">
                    <m:r>
                      <a:rPr lang="it-IT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it-IT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it-IT" sz="1800" dirty="0">
                    <a:solidFill>
                      <a:schemeClr val="tx1"/>
                    </a:solidFill>
                  </a:rPr>
                  <a:t>  </a:t>
                </a:r>
                <a:r>
                  <a:rPr lang="it-IT" sz="1800" dirty="0"/>
                  <a:t>and in the case of a double inversion, the natural is left</a:t>
                </a:r>
                <a:endParaRPr lang="it-IT" sz="1800" dirty="0">
                  <a:solidFill>
                    <a:schemeClr val="tx1"/>
                  </a:solidFill>
                </a:endParaRPr>
              </a:p>
              <a:p>
                <a:endParaRPr lang="it-IT" sz="1800" dirty="0"/>
              </a:p>
              <a:p>
                <a:r>
                  <a:rPr lang="it-IT" sz="1800" dirty="0"/>
                  <a:t>(</a:t>
                </a:r>
                <a:r>
                  <a:rPr lang="it-IT" sz="1800" dirty="0">
                    <a:solidFill>
                      <a:srgbClr val="FF0000"/>
                    </a:solidFill>
                  </a:rPr>
                  <a:t>∃(</a:t>
                </a:r>
                <a14:m>
                  <m:oMath xmlns:m="http://schemas.openxmlformats.org/officeDocument/2006/math">
                    <m:r>
                      <a:rPr lang="it-IT" sz="18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it-IT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it-I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it-IT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800" dirty="0">
                    <a:solidFill>
                      <a:srgbClr val="FF0000"/>
                    </a:solidFill>
                  </a:rPr>
                  <a:t>◦id(A</a:t>
                </a:r>
                <a:r>
                  <a:rPr lang="it-IT" sz="1800" baseline="-25000" dirty="0">
                    <a:solidFill>
                      <a:srgbClr val="FF0000"/>
                    </a:solidFill>
                  </a:rPr>
                  <a:t>R</a:t>
                </a:r>
                <a:r>
                  <a:rPr lang="it-IT" sz="1800" dirty="0">
                    <a:solidFill>
                      <a:srgbClr val="FF0000"/>
                    </a:solidFill>
                  </a:rPr>
                  <a:t>)◦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it-I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8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8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it-IT" sz="1800" dirty="0">
                    <a:solidFill>
                      <a:srgbClr val="FF0000"/>
                    </a:solidFill>
                  </a:rPr>
                  <a:t>).C</a:t>
                </a:r>
                <a:endParaRPr lang="it-IT" sz="1800" dirty="0"/>
              </a:p>
              <a:p>
                <a:endParaRPr lang="it-IT" sz="1800" baseline="-25000" dirty="0"/>
              </a:p>
              <a:p>
                <a:endParaRPr lang="it-IT" sz="18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FAD0247B-E4F0-2049-B012-96DE9FE0D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08025"/>
                <a:ext cx="8229600" cy="3727450"/>
              </a:xfrm>
              <a:blipFill>
                <a:blip r:embed="rId3"/>
                <a:stretch>
                  <a:fillRect l="-463" t="-678" r="-617" b="-6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CDE623-274E-6C47-9CDD-E7D9847D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026739-5860-9841-B2B7-73931A25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15</a:t>
            </a:fld>
            <a:endParaRPr lang="it-IT" altLang="it-IT" dirty="0"/>
          </a:p>
        </p:txBody>
      </p:sp>
      <p:sp>
        <p:nvSpPr>
          <p:cNvPr id="8" name="Parentesi graffa aperta 7">
            <a:extLst>
              <a:ext uri="{FF2B5EF4-FFF2-40B4-BE49-F238E27FC236}">
                <a16:creationId xmlns:a16="http://schemas.microsoft.com/office/drawing/2014/main" id="{73D65B38-889F-4D4F-8AC1-E3BB524B4562}"/>
              </a:ext>
            </a:extLst>
          </p:cNvPr>
          <p:cNvSpPr/>
          <p:nvPr/>
        </p:nvSpPr>
        <p:spPr>
          <a:xfrm rot="16200000">
            <a:off x="2505321" y="-47052"/>
            <a:ext cx="323193" cy="354215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Parentesi graffa aperta 8">
            <a:extLst>
              <a:ext uri="{FF2B5EF4-FFF2-40B4-BE49-F238E27FC236}">
                <a16:creationId xmlns:a16="http://schemas.microsoft.com/office/drawing/2014/main" id="{52B2EB84-E75C-1E45-AAAC-C3FF69117635}"/>
              </a:ext>
            </a:extLst>
          </p:cNvPr>
          <p:cNvSpPr/>
          <p:nvPr/>
        </p:nvSpPr>
        <p:spPr>
          <a:xfrm rot="16200000">
            <a:off x="6203732" y="64703"/>
            <a:ext cx="323193" cy="33186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D948EA-A99A-B24F-86A3-C605455EEFFF}"/>
              </a:ext>
            </a:extLst>
          </p:cNvPr>
          <p:cNvSpPr/>
          <p:nvPr/>
        </p:nvSpPr>
        <p:spPr>
          <a:xfrm>
            <a:off x="2326118" y="2036411"/>
            <a:ext cx="681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/>
              <a:t>ξ</a:t>
            </a:r>
            <a:r>
              <a:rPr lang="el-GR" baseline="-25000" dirty="0"/>
              <a:t>0</a:t>
            </a:r>
            <a:r>
              <a:rPr lang="el-GR" dirty="0"/>
              <a:t>(</a:t>
            </a:r>
            <a:r>
              <a:rPr lang="it-IT" dirty="0"/>
              <a:t>C)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9E19F68-7820-B14F-A75E-80AC76C8B431}"/>
              </a:ext>
            </a:extLst>
          </p:cNvPr>
          <p:cNvSpPr/>
          <p:nvPr/>
        </p:nvSpPr>
        <p:spPr>
          <a:xfrm>
            <a:off x="6188979" y="2036411"/>
            <a:ext cx="431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/>
              <a:t>Θ</a:t>
            </a:r>
            <a:r>
              <a:rPr lang="el-GR" baseline="-25000" dirty="0"/>
              <a:t>1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4652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5917-F4C3-7D45-BAD3-0CBCA819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DFF5D57-0029-684E-872C-7A7C13A7A6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sz="2000" dirty="0"/>
                  <a:t>In </a:t>
                </a:r>
                <a:r>
                  <a:rPr lang="it-IT" sz="2000" dirty="0" err="1"/>
                  <a:t>qualified</a:t>
                </a:r>
                <a:r>
                  <a:rPr lang="it-IT" sz="2000" dirty="0"/>
                  <a:t> </a:t>
                </a:r>
                <a:r>
                  <a:rPr lang="it-IT" sz="2000" dirty="0" err="1"/>
                  <a:t>numeric</a:t>
                </a:r>
                <a:r>
                  <a:rPr lang="it-IT" sz="2000" dirty="0"/>
                  <a:t> </a:t>
                </a:r>
                <a:r>
                  <a:rPr lang="it-IT" sz="2000" dirty="0" err="1"/>
                  <a:t>restrictions</a:t>
                </a:r>
                <a:r>
                  <a:rPr lang="it-IT" sz="2000" dirty="0"/>
                  <a:t>, the </a:t>
                </a:r>
                <a:r>
                  <a:rPr lang="it-IT" sz="2000" dirty="0" err="1"/>
                  <a:t>two</a:t>
                </a:r>
                <a:r>
                  <a:rPr lang="it-IT" sz="2000" dirty="0"/>
                  <a:t> composite </a:t>
                </a:r>
                <a:r>
                  <a:rPr lang="it-IT" sz="2000" dirty="0" err="1"/>
                  <a:t>rewrite</a:t>
                </a:r>
                <a:r>
                  <a:rPr lang="it-IT" sz="2000" dirty="0"/>
                  <a:t> rules </a:t>
                </a:r>
                <a:r>
                  <a:rPr lang="it-IT" sz="2000" dirty="0" err="1"/>
                  <a:t>apply</a:t>
                </a:r>
                <a:r>
                  <a:rPr lang="it-IT" sz="2000" dirty="0"/>
                  <a:t> for</a:t>
                </a:r>
                <a:endParaRPr lang="it-IT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Sup>
                      <m:sSubSupPr>
                        <m:ctrlP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sz="1600" dirty="0"/>
                  <a:t> da riscrivere in </a:t>
                </a:r>
                <a14:m>
                  <m:oMath xmlns:m="http://schemas.openxmlformats.org/officeDocument/2006/math"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𝑖𝑑</m:t>
                                </m:r>
                                <m:d>
                                  <m:d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>
                                    <a:solidFill>
                                      <a:srgbClr val="FF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.¬</m:t>
                    </m:r>
                    <m:r>
                      <a:rPr lang="it-IT" sz="16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it-IT" sz="16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dirty="0"/>
                  <a:t>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sSubSup>
                      <m:sSubSupPr>
                        <m:ctrlP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it-IT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sz="1600" dirty="0"/>
                  <a:t> da riscrivere in   </a:t>
                </a:r>
                <a14:m>
                  <m:oMath xmlns:m="http://schemas.openxmlformats.org/officeDocument/2006/math"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d>
                      <m:d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𝑖𝑑</m:t>
                                </m:r>
                                <m:d>
                                  <m:d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d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>
                                    <a:solidFill>
                                      <a:srgbClr val="FF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sz="1600" dirty="0">
                    <a:solidFill>
                      <a:srgbClr val="FF0000"/>
                    </a:solidFill>
                  </a:rPr>
                  <a:t> </a:t>
                </a:r>
              </a:p>
              <a:p>
                <a:pPr lvl="1"/>
                <a:endParaRPr lang="it-IT" sz="1600" dirty="0"/>
              </a:p>
              <a:p>
                <a:r>
                  <a:rPr lang="it-IT" sz="2000" dirty="0" err="1"/>
                  <a:t>Thus</a:t>
                </a:r>
                <a:r>
                  <a:rPr lang="it-IT" sz="2000" dirty="0"/>
                  <a:t>: </a:t>
                </a:r>
                <a:r>
                  <a:rPr lang="it-IT" sz="2000" dirty="0">
                    <a:solidFill>
                      <a:srgbClr val="FF0000"/>
                    </a:solidFill>
                  </a:rPr>
                  <a:t>≤2V</a:t>
                </a:r>
                <a:r>
                  <a:rPr lang="it-IT" sz="2000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it-IT" sz="2000" baseline="30000" dirty="0">
                    <a:solidFill>
                      <a:srgbClr val="FF0000"/>
                    </a:solidFill>
                  </a:rPr>
                  <a:t>−</a:t>
                </a:r>
                <a:r>
                  <a:rPr lang="it-IT" sz="2000" dirty="0">
                    <a:solidFill>
                      <a:srgbClr val="FF0000"/>
                    </a:solidFill>
                  </a:rPr>
                  <a:t>.(A</a:t>
                </a:r>
                <a:r>
                  <a:rPr lang="it-IT" sz="2000" baseline="-25000" dirty="0">
                    <a:solidFill>
                      <a:srgbClr val="FF0000"/>
                    </a:solidFill>
                  </a:rPr>
                  <a:t>R</a:t>
                </a:r>
                <a:r>
                  <a:rPr lang="it-IT" sz="2000" dirty="0">
                    <a:solidFill>
                      <a:srgbClr val="FF0000"/>
                    </a:solidFill>
                  </a:rPr>
                  <a:t>⊓∃V</a:t>
                </a:r>
                <a:r>
                  <a:rPr lang="it-IT" sz="2000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it-IT" sz="2000" dirty="0">
                    <a:solidFill>
                      <a:srgbClr val="FF0000"/>
                    </a:solidFill>
                  </a:rPr>
                  <a:t>.C)) </a:t>
                </a:r>
                <a:r>
                  <a:rPr lang="it-IT" sz="2000" dirty="0" err="1"/>
                  <a:t>becomes</a:t>
                </a:r>
                <a:endParaRPr lang="it-IT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𝑖𝑑</m:t>
                                </m:r>
                                <m:d>
                                  <m:dPr>
                                    <m:ctrlPr>
                                      <a:rPr lang="it-IT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baseline="-250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⊓∃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baseline="-250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.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C</m:t>
                                    </m:r>
                                  </m:e>
                                </m:d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>
                                    <a:solidFill>
                                      <a:srgbClr val="FF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it-IT" sz="160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it-IT" sz="1600" b="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.¬</m:t>
                    </m:r>
                    <m:r>
                      <a:rPr lang="it-IT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it-IT" sz="1600" baseline="-25000" dirty="0">
                        <a:solidFill>
                          <a:srgbClr val="FF0000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⊓∃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it-IT" sz="1600" baseline="-25000" dirty="0">
                        <a:solidFill>
                          <a:srgbClr val="FF0000"/>
                        </a:solidFill>
                      </a:rPr>
                      <m:t>2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.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C</m:t>
                    </m:r>
                    <m:r>
                      <m:rPr>
                        <m:nor/>
                      </m:rPr>
                      <a:rPr lang="it-IT" sz="1600" b="0" i="0" dirty="0" smtClean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r>
                  <a:rPr lang="it-IT" sz="1600" dirty="0"/>
                  <a:t> where V2 must also be rewritten, and therefore definitively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𝑖𝑑</m:t>
                                </m:r>
                                <m:d>
                                  <m:d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A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baseline="-250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⊓∃</m:t>
                                    </m:r>
                                    <m:sSup>
                                      <m:sSupPr>
                                        <m:ctrlP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sz="160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it-IT" sz="16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it-IT" sz="16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𝑉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sz="1600" b="0" i="1" smtClean="0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∘</m:t>
                                        </m:r>
                                        <m:sSup>
                                          <m:sSupPr>
                                            <m:ctrlP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it-IT" sz="16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it-IT" sz="16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𝐹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it-IT" sz="1600" i="1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it-IT" sz="1600" i="1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𝑉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it-IT" sz="1600" b="0" i="1" smtClean="0">
                                                        <a:solidFill>
                                                          <a:srgbClr val="FF0000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  <m:sup>
                                                <m:r>
                                                  <a:rPr lang="it-IT" sz="16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</m:sup>
                                        </m:s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</m:sup>
                                    </m:sSup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.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sz="1600" dirty="0">
                                        <a:solidFill>
                                          <a:srgbClr val="FF0000"/>
                                        </a:solidFill>
                                      </a:rPr>
                                      <m:t>C</m:t>
                                    </m:r>
                                  </m:e>
                                </m:d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∘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>
                                    <a:solidFill>
                                      <a:srgbClr val="FF0000"/>
                                    </a:solidFill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it-IT" sz="16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r>
                                          <a:rPr lang="it-IT" sz="16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.¬(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A</m:t>
                    </m:r>
                    <m:r>
                      <m:rPr>
                        <m:nor/>
                      </m:rPr>
                      <a:rPr lang="it-IT" sz="1600" baseline="-25000" dirty="0">
                        <a:solidFill>
                          <a:srgbClr val="FF0000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⊓∃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.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C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</a:rPr>
                      <m:t>)</m:t>
                    </m:r>
                  </m:oMath>
                </a14:m>
                <a:endParaRPr lang="it-IT" sz="1600" dirty="0"/>
              </a:p>
              <a:p>
                <a:endParaRPr lang="it-IT" sz="20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DFF5D57-0029-684E-872C-7A7C13A7A6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1020" r="-6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DBC7F-2A5B-704F-956B-4035C0CB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A9F0D6-89D0-8C43-BEEA-C91440DB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86521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EBB63-D0DF-6F40-ACC9-C75C0CF8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8B5CC2F-59C5-774E-8929-EF86EFED3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it-IT" sz="2000" dirty="0" smtClean="0"/>
                          <m:t>Finally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, 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let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′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s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 </m:t>
                        </m:r>
                        <m:r>
                          <m:rPr>
                            <m:nor/>
                          </m:rPr>
                          <a:rPr lang="it-IT" sz="2000" dirty="0" smtClean="0"/>
                          <m:t>rewrite</m:t>
                        </m:r>
                        <m:r>
                          <m:rPr>
                            <m:nor/>
                          </m:rPr>
                          <a:rPr lang="it-IT" sz="2000" b="0" i="0" dirty="0" smtClean="0"/>
                          <m:t> </m:t>
                        </m:r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it-IT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it-IT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it-IT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t-IT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it-IT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∀</m:t>
                    </m:r>
                  </m:oMath>
                </a14:m>
                <a:r>
                  <a:rPr lang="it-IT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⨆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=1,2</m:t>
                            </m:r>
                          </m:sub>
                        </m:sSub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it-IT" sz="20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p>
                          <m:sSup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rgbClr val="FF0000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it-IT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b>
                      <m:sSubPr>
                        <m:ctrlPr>
                          <a:rPr lang="it-IT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0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000" dirty="0"/>
                  <a:t> </a:t>
                </a:r>
                <a:r>
                  <a:rPr lang="it-IT" sz="2000" dirty="0" err="1"/>
                  <a:t>valuied</a:t>
                </a:r>
                <a:r>
                  <a:rPr lang="it-IT" sz="2000" dirty="0"/>
                  <a:t> to</a:t>
                </a:r>
                <a:br>
                  <a:rPr lang="it-IT" sz="2000" dirty="0"/>
                </a:br>
                <a14:m>
                  <m:oMath xmlns:m="http://schemas.openxmlformats.org/officeDocument/2006/math"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sSub>
                      <m:sSub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bSup>
                      <m:sSub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</m:oMath>
                </a14:m>
                <a:r>
                  <a:rPr lang="it-IT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it-IT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⊓¬(∃</m:t>
                    </m:r>
                    <m:sSubSup>
                      <m:sSub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it-IT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∀(</m:t>
                        </m:r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it-IT" sz="16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dirty="0">
                    <a:solidFill>
                      <a:srgbClr val="FF0000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it-IT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sSub>
                      <m:sSub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⊓¬(∃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)⊓(≤1</m:t>
                    </m:r>
                    <m:sSub>
                      <m:sSub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⊓¬(∃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it-IT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1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sz="1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⊔</m:t>
                      </m:r>
                    </m:oMath>
                  </m:oMathPara>
                </a14:m>
                <a:endParaRPr lang="it-IT" sz="16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it-IT" sz="16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(∀(</m:t>
                        </m:r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it-IT" sz="1600" dirty="0">
                            <a:solidFill>
                              <a:srgbClr val="FF0000"/>
                            </a:solidFill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⨆</m:t>
                        </m:r>
                        <m:sSup>
                          <m:s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it-IT" sz="16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6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it-IT" sz="16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1600" dirty="0">
                    <a:solidFill>
                      <a:srgbClr val="FF0000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it-IT" sz="1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sSub>
                      <m:sSub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⊓¬(∃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)⊓(≤1</m:t>
                    </m:r>
                    <m:sSub>
                      <m:sSub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m:rPr>
                        <m:nor/>
                      </m:rPr>
                      <a:rPr lang="it-IT" sz="1600" dirty="0">
                        <a:solidFill>
                          <a:srgbClr val="FF0000"/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⊓≤1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⊓¬(∃</m:t>
                    </m:r>
                    <m:sSubSup>
                      <m:sSub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⊓</m:t>
                    </m:r>
                    <m:sSup>
                      <m:sSupPr>
                        <m:ctrlP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it-IT" sz="16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  <m:sup>
                            <m:r>
                              <a:rPr lang="it-IT" sz="1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  <m:sup>
                        <m:r>
                          <a:rPr lang="it-IT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it-IT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it-IT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8B5CC2F-59C5-774E-8929-EF86EFED3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68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8199EA-DFF2-6B4C-A828-8D117C27E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E7AAEE-C1DA-9A42-BA39-9475F669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21808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19B10F-52DE-FE45-87E7-06C0C58B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ALCFI</a:t>
            </a:r>
            <a:r>
              <a:rPr lang="it-IT" baseline="-25000" dirty="0"/>
              <a:t>REG</a:t>
            </a:r>
            <a:r>
              <a:rPr lang="it-IT" dirty="0"/>
              <a:t> CONCEPT TRANSFORMATION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EA8CE9-D2D0-0448-B3B0-F2E42EED7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We</a:t>
            </a:r>
            <a:r>
              <a:rPr lang="it-IT" sz="2800" dirty="0"/>
              <a:t> are </a:t>
            </a:r>
            <a:r>
              <a:rPr lang="it-IT" sz="2800" dirty="0" err="1"/>
              <a:t>now</a:t>
            </a:r>
            <a:r>
              <a:rPr lang="it-IT" sz="2800" dirty="0"/>
              <a:t> </a:t>
            </a:r>
            <a:r>
              <a:rPr lang="it-IT" sz="2800" dirty="0" err="1"/>
              <a:t>translating</a:t>
            </a:r>
            <a:r>
              <a:rPr lang="it-IT" sz="2800" dirty="0"/>
              <a:t> ALCFI</a:t>
            </a:r>
            <a:r>
              <a:rPr lang="it-IT" sz="2800" baseline="-25000" dirty="0"/>
              <a:t>REG</a:t>
            </a:r>
            <a:r>
              <a:rPr lang="it-IT" sz="2800" dirty="0"/>
              <a:t> in a 2ATA</a:t>
            </a:r>
          </a:p>
          <a:p>
            <a:r>
              <a:rPr lang="it-IT" sz="2800" dirty="0"/>
              <a:t>The </a:t>
            </a:r>
            <a:r>
              <a:rPr lang="it-IT" sz="2800" dirty="0" err="1"/>
              <a:t>method</a:t>
            </a:r>
            <a:r>
              <a:rPr lang="it-IT" sz="2800" dirty="0"/>
              <a:t> </a:t>
            </a:r>
            <a:r>
              <a:rPr lang="it-IT" sz="2800" dirty="0" err="1"/>
              <a:t>requires</a:t>
            </a:r>
            <a:r>
              <a:rPr lang="it-IT" sz="2800" dirty="0"/>
              <a:t> some steps:</a:t>
            </a:r>
          </a:p>
          <a:p>
            <a:pPr lvl="1"/>
            <a:r>
              <a:rPr lang="it-IT" sz="2400" dirty="0" err="1"/>
              <a:t>Introduction</a:t>
            </a:r>
            <a:r>
              <a:rPr lang="it-IT" sz="2400" dirty="0"/>
              <a:t> of the concept of </a:t>
            </a:r>
            <a:r>
              <a:rPr lang="it-IT" sz="2400" i="1" dirty="0"/>
              <a:t>Fischer-</a:t>
            </a:r>
            <a:r>
              <a:rPr lang="it-IT" sz="2400" i="1" dirty="0" err="1"/>
              <a:t>Ladner</a:t>
            </a:r>
            <a:r>
              <a:rPr lang="it-IT" sz="2400" i="1" dirty="0"/>
              <a:t> </a:t>
            </a:r>
            <a:r>
              <a:rPr lang="it-IT" sz="2400" i="1" dirty="0" err="1"/>
              <a:t>Closure</a:t>
            </a:r>
            <a:endParaRPr lang="it-IT" sz="2400" dirty="0"/>
          </a:p>
          <a:p>
            <a:pPr lvl="1"/>
            <a:r>
              <a:rPr lang="it-IT" sz="2400" dirty="0"/>
              <a:t>Construction of infinite </a:t>
            </a:r>
            <a:r>
              <a:rPr lang="it-IT" sz="2400" dirty="0" err="1"/>
              <a:t>trees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i="1" dirty="0" err="1"/>
              <a:t>semantics</a:t>
            </a:r>
            <a:r>
              <a:rPr lang="it-IT" sz="2400" i="1" dirty="0"/>
              <a:t> </a:t>
            </a:r>
            <a:r>
              <a:rPr lang="it-IT" sz="2400" dirty="0"/>
              <a:t>of a concept</a:t>
            </a:r>
          </a:p>
          <a:p>
            <a:pPr lvl="1"/>
            <a:r>
              <a:rPr lang="it-IT" sz="2400" dirty="0"/>
              <a:t>States of 2ATA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derived</a:t>
            </a:r>
            <a:r>
              <a:rPr lang="it-IT" sz="2400" dirty="0"/>
              <a:t> from ALCFI</a:t>
            </a:r>
            <a:r>
              <a:rPr lang="it-IT" sz="2400" baseline="-25000" dirty="0"/>
              <a:t>REG</a:t>
            </a:r>
            <a:r>
              <a:rPr lang="it-IT" sz="2400" dirty="0"/>
              <a:t> </a:t>
            </a:r>
          </a:p>
          <a:p>
            <a:pPr lvl="1"/>
            <a:r>
              <a:rPr lang="it-IT" sz="2400" dirty="0"/>
              <a:t>Construction of ALCFI</a:t>
            </a:r>
            <a:r>
              <a:rPr lang="it-IT" sz="2400" baseline="-25000" dirty="0"/>
              <a:t>REG</a:t>
            </a:r>
            <a:r>
              <a:rPr lang="it-IT" sz="2400" dirty="0"/>
              <a:t> </a:t>
            </a:r>
            <a:r>
              <a:rPr lang="it-IT" sz="2400" dirty="0" err="1"/>
              <a:t>transitions</a:t>
            </a:r>
            <a:endParaRPr lang="it-IT" sz="24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0AD69E-85B5-8741-8393-E361E35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C8D0079-229C-D445-B6E4-2E27821D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65375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5DF638-8DFB-3B48-8EA7-8E404947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FISCHER-LADNER CLOSURE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F0D08C-4D2A-3041-A479-A294C312D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Introduced</a:t>
            </a:r>
            <a:r>
              <a:rPr lang="it-IT" dirty="0"/>
              <a:t> for PDL (</a:t>
            </a:r>
            <a:r>
              <a:rPr lang="it-IT" dirty="0" err="1"/>
              <a:t>Propositional</a:t>
            </a:r>
            <a:r>
              <a:rPr lang="it-IT" dirty="0"/>
              <a:t> Dynamic </a:t>
            </a:r>
            <a:r>
              <a:rPr lang="it-IT" dirty="0" err="1"/>
              <a:t>Logic</a:t>
            </a:r>
            <a:r>
              <a:rPr lang="it-IT" dirty="0"/>
              <a:t>)</a:t>
            </a:r>
          </a:p>
          <a:p>
            <a:r>
              <a:rPr lang="it-IT" dirty="0" err="1"/>
              <a:t>Analogous</a:t>
            </a:r>
            <a:r>
              <a:rPr lang="it-IT" dirty="0"/>
              <a:t> for ALCFI</a:t>
            </a:r>
            <a:r>
              <a:rPr lang="it-IT" baseline="-25000" dirty="0"/>
              <a:t>REG</a:t>
            </a:r>
            <a:endParaRPr lang="it-IT" dirty="0"/>
          </a:p>
          <a:p>
            <a:r>
              <a:rPr lang="it-IT" dirty="0"/>
              <a:t>Can be </a:t>
            </a:r>
            <a:r>
              <a:rPr lang="it-IT" dirty="0" err="1"/>
              <a:t>obtained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for converse-PDL and ALCFI</a:t>
            </a:r>
            <a:r>
              <a:rPr lang="it-IT" baseline="-25000" dirty="0"/>
              <a:t>REG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ACC5A0-2A13-AD49-BA44-4E920AC3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D447A3-BBB4-C24C-8B30-3E1DCC40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16046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E28D93-52AF-F145-9702-5C478A36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 FOR CALCULATING FLC IN ALCFI</a:t>
            </a:r>
            <a:r>
              <a:rPr lang="it-IT" baseline="-25000" dirty="0"/>
              <a:t>REG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F09B83-3805-AB46-9108-A892060FE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678246"/>
          </a:xfrm>
        </p:spPr>
        <p:txBody>
          <a:bodyPr/>
          <a:lstStyle/>
          <a:p>
            <a:r>
              <a:rPr lang="it-IT" dirty="0" err="1"/>
              <a:t>Correspondence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47837A-F430-4C4D-9E89-F03C18D8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D1A5B2-16E8-F845-BD90-3999E340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CF1B807-0F72-634E-A91A-81A9409E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34" y="1871177"/>
            <a:ext cx="7118131" cy="211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00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A3965E-AD16-824E-B1B9-C0AB3469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CLOSURE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F8FD9-256B-A145-9FD6-04390BC07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Every</a:t>
            </a:r>
            <a:r>
              <a:rPr lang="it-IT" dirty="0"/>
              <a:t> concept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ALCFI</a:t>
            </a:r>
            <a:r>
              <a:rPr lang="it-IT" baseline="-25000" dirty="0"/>
              <a:t>REG</a:t>
            </a:r>
            <a:r>
              <a:rPr lang="it-IT" dirty="0"/>
              <a:t>-SAT </a:t>
            </a:r>
            <a:r>
              <a:rPr lang="it-IT" dirty="0" err="1"/>
              <a:t>has</a:t>
            </a:r>
            <a:r>
              <a:rPr lang="it-IT" dirty="0"/>
              <a:t> a model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infinite </a:t>
            </a:r>
            <a:r>
              <a:rPr lang="it-IT" dirty="0" err="1"/>
              <a:t>tree</a:t>
            </a:r>
            <a:r>
              <a:rPr lang="it-IT" dirty="0"/>
              <a:t> with limited </a:t>
            </a:r>
            <a:r>
              <a:rPr lang="it-IT" dirty="0" err="1"/>
              <a:t>fanout</a:t>
            </a:r>
            <a:r>
              <a:rPr lang="it-IT" dirty="0"/>
              <a:t> </a:t>
            </a:r>
            <a:r>
              <a:rPr lang="it-IT" dirty="0" err="1"/>
              <a:t>corresponding</a:t>
            </a:r>
            <a:r>
              <a:rPr lang="it-IT" dirty="0"/>
              <a:t> to double of the size of </a:t>
            </a:r>
            <a:r>
              <a:rPr lang="it-IT" dirty="0" err="1"/>
              <a:t>its</a:t>
            </a:r>
            <a:r>
              <a:rPr lang="it-IT" dirty="0"/>
              <a:t> FLC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5A486F-0871-3F49-BE32-2CE2858A8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26B694-2591-814A-BC07-791449085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04192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6486DB-F143-244D-87C1-46A81F31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FISCHER-LADNER CLOSURE 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59F025-F339-B74D-800A-F977BC22F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8229600" cy="552122"/>
          </a:xfrm>
        </p:spPr>
        <p:txBody>
          <a:bodyPr/>
          <a:lstStyle/>
          <a:p>
            <a:r>
              <a:rPr lang="it-IT" dirty="0"/>
              <a:t>∃S.C⊔∀</a:t>
            </a:r>
            <a:r>
              <a:rPr lang="it-IT" dirty="0" err="1"/>
              <a:t>R</a:t>
            </a:r>
            <a:r>
              <a:rPr lang="it-IT" dirty="0"/>
              <a:t>*.(A⊓∃</a:t>
            </a:r>
            <a:r>
              <a:rPr lang="it-IT" dirty="0" err="1"/>
              <a:t>R</a:t>
            </a:r>
            <a:r>
              <a:rPr lang="it-IT" dirty="0"/>
              <a:t>*.¬C)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6F49C7-08B0-334A-BCB6-F4B98626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96CD54-598C-CE4F-AF0B-59B36F641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86096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960A16-5ABA-E44C-9BCA-4FF01B35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2ATA RECOGNITION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3345F43-6F20-7040-A13A-16B8BD455B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 err="1"/>
                  <a:t>Let</a:t>
                </a:r>
                <a:r>
                  <a:rPr lang="it-IT" dirty="0"/>
                  <a:t> </a:t>
                </a:r>
                <a:r>
                  <a:rPr lang="it-IT" dirty="0" err="1"/>
                  <a:t>us</a:t>
                </a:r>
                <a:r>
                  <a:rPr lang="it-IT" dirty="0"/>
                  <a:t> </a:t>
                </a:r>
                <a:r>
                  <a:rPr lang="it-IT" dirty="0" err="1"/>
                  <a:t>define</a:t>
                </a:r>
                <a:endParaRPr lang="it-IT" dirty="0"/>
              </a:p>
              <a:p>
                <a:pPr lvl="1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it-IT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it-IT" dirty="0">
                    <a:ea typeface="Cambria Math" panose="02040503050406030204" pitchFamily="18" charset="0"/>
                  </a:rPr>
                  <a:t>where</a:t>
                </a:r>
                <a:r>
                  <a:rPr lang="it-IT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it-IT" dirty="0" err="1">
                    <a:ea typeface="Cambria Math" panose="02040503050406030204" pitchFamily="18" charset="0"/>
                  </a:rPr>
                  <a:t>sare</a:t>
                </a:r>
                <a:r>
                  <a:rPr lang="it-IT" dirty="0">
                    <a:ea typeface="Cambria Math" panose="02040503050406030204" pitchFamily="18" charset="0"/>
                  </a:rPr>
                  <a:t> the </a:t>
                </a:r>
                <a:r>
                  <a:rPr lang="it-IT" dirty="0" err="1">
                    <a:ea typeface="Cambria Math" panose="02040503050406030204" pitchFamily="18" charset="0"/>
                  </a:rPr>
                  <a:t>atomic</a:t>
                </a:r>
                <a:r>
                  <a:rPr lang="it-IT" dirty="0">
                    <a:ea typeface="Cambria Math" panose="02040503050406030204" pitchFamily="18" charset="0"/>
                  </a:rPr>
                  <a:t> concepts </a:t>
                </a:r>
                <a:r>
                  <a:rPr lang="it-IT" dirty="0" err="1">
                    <a:ea typeface="Cambria Math" panose="02040503050406030204" pitchFamily="18" charset="0"/>
                  </a:rPr>
                  <a:t>appearing</a:t>
                </a:r>
                <a:r>
                  <a:rPr lang="it-IT" dirty="0">
                    <a:ea typeface="Cambria Math" panose="02040503050406030204" pitchFamily="18" charset="0"/>
                  </a:rPr>
                  <a:t> in 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ℬ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}"/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>
                    <a:ea typeface="Cambria Math" panose="02040503050406030204" pitchFamily="18" charset="0"/>
                  </a:rPr>
                  <a:t> are the </a:t>
                </a:r>
                <a:r>
                  <a:rPr lang="it-IT" dirty="0" err="1">
                    <a:ea typeface="Cambria Math" panose="02040503050406030204" pitchFamily="18" charset="0"/>
                  </a:rPr>
                  <a:t>atomic</a:t>
                </a:r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:r>
                  <a:rPr lang="it-IT" dirty="0" err="1">
                    <a:ea typeface="Cambria Math" panose="02040503050406030204" pitchFamily="18" charset="0"/>
                  </a:rPr>
                  <a:t>roles</a:t>
                </a:r>
                <a:r>
                  <a:rPr lang="it-IT" dirty="0">
                    <a:ea typeface="Cambria Math" panose="02040503050406030204" pitchFamily="18" charset="0"/>
                  </a:rPr>
                  <a:t> </a:t>
                </a:r>
                <a:r>
                  <a:rPr lang="it-IT" dirty="0" err="1">
                    <a:ea typeface="Cambria Math" panose="02040503050406030204" pitchFamily="18" charset="0"/>
                  </a:rPr>
                  <a:t>appearing</a:t>
                </a:r>
                <a:r>
                  <a:rPr lang="it-IT" dirty="0">
                    <a:ea typeface="Cambria Math" panose="02040503050406030204" pitchFamily="18" charset="0"/>
                  </a:rPr>
                  <a:t> in C 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3345F43-6F20-7040-A13A-16B8BD455B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94073E-D248-E849-9E1A-B619E5DC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ECCA4-18C0-9B41-B750-1B245940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17152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445D92-4C8B-5844-8853-CD9D38FC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LABELLING INFINITE TREES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EE3535-9D00-B448-9A8D-334BAF9A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La base del metodo è che l’automa che costruiamo verifichi il concetto C alla radice dell’albero</a:t>
            </a:r>
          </a:p>
          <a:p>
            <a:r>
              <a:rPr lang="it-IT" sz="2400" dirty="0"/>
              <a:t>In ogni nodo dell’albero rappresenteremo due informazioni</a:t>
            </a:r>
          </a:p>
          <a:p>
            <a:pPr lvl="1"/>
            <a:r>
              <a:rPr lang="it-IT" sz="2000" dirty="0"/>
              <a:t>I concetti atomici veri in quel nodo</a:t>
            </a:r>
          </a:p>
          <a:p>
            <a:pPr lvl="1"/>
            <a:r>
              <a:rPr lang="it-IT" sz="2000" dirty="0"/>
              <a:t>Il ruolo atomico con cui siamo arrivati in quel nodo dal predecessore (a parte ovviamente la radice dell’albero)</a:t>
            </a:r>
          </a:p>
          <a:p>
            <a:pPr lvl="1"/>
            <a:r>
              <a:rPr lang="it-IT" sz="2000" dirty="0"/>
              <a:t>L’etichetta della radice sarà quindi il concetto da riconoscere ed un ruolo fittizio (</a:t>
            </a:r>
            <a:r>
              <a:rPr lang="it-IT" sz="2000" dirty="0" err="1"/>
              <a:t>P</a:t>
            </a:r>
            <a:r>
              <a:rPr lang="it-IT" sz="2000" baseline="-25000" dirty="0" err="1"/>
              <a:t>dum</a:t>
            </a:r>
            <a:r>
              <a:rPr lang="it-IT" sz="2000" dirty="0"/>
              <a:t>) usato per dire che giungiamo in quel nodo dal vuoto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DDFFAF-9B5F-6048-B9E3-E26FC2AD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92B7AE-FE68-6240-BDF4-7D9CE91B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28568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06FE26-0354-914C-8CE4-407C44192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D15F38-D8D0-484D-B513-ED15D1AE7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By </a:t>
            </a:r>
            <a:r>
              <a:rPr lang="it-IT" dirty="0" err="1"/>
              <a:t>nnf</a:t>
            </a:r>
            <a:r>
              <a:rPr lang="it-IT" dirty="0"/>
              <a:t>(C)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mean</a:t>
            </a:r>
            <a:r>
              <a:rPr lang="it-IT" dirty="0"/>
              <a:t> the negative </a:t>
            </a:r>
            <a:r>
              <a:rPr lang="it-IT" dirty="0" err="1"/>
              <a:t>normal</a:t>
            </a:r>
            <a:r>
              <a:rPr lang="it-IT" dirty="0"/>
              <a:t> form of C (with </a:t>
            </a:r>
            <a:r>
              <a:rPr lang="it-IT" i="1" dirty="0" err="1"/>
              <a:t>innermost</a:t>
            </a:r>
            <a:r>
              <a:rPr lang="it-IT" i="1" dirty="0"/>
              <a:t> </a:t>
            </a:r>
            <a:r>
              <a:rPr lang="it-IT" dirty="0" err="1"/>
              <a:t>negations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 err="1"/>
              <a:t>CL</a:t>
            </a:r>
            <a:r>
              <a:rPr lang="it-IT" baseline="-25000" dirty="0" err="1"/>
              <a:t>nnf</a:t>
            </a:r>
            <a:r>
              <a:rPr lang="it-IT" dirty="0"/>
              <a:t>(C) </a:t>
            </a:r>
            <a:r>
              <a:rPr lang="it-IT" dirty="0" err="1"/>
              <a:t>is</a:t>
            </a:r>
            <a:r>
              <a:rPr lang="it-IT" dirty="0"/>
              <a:t> the set of </a:t>
            </a:r>
            <a:r>
              <a:rPr lang="it-IT" dirty="0" err="1"/>
              <a:t>nnf</a:t>
            </a:r>
            <a:r>
              <a:rPr lang="it-IT" dirty="0"/>
              <a:t> of the </a:t>
            </a:r>
            <a:r>
              <a:rPr lang="it-IT" dirty="0" err="1"/>
              <a:t>elements</a:t>
            </a:r>
            <a:r>
              <a:rPr lang="it-IT" dirty="0"/>
              <a:t> in the  Fischer-</a:t>
            </a:r>
            <a:r>
              <a:rPr lang="it-IT" dirty="0" err="1"/>
              <a:t>Ladner</a:t>
            </a:r>
            <a:r>
              <a:rPr lang="it-IT" dirty="0"/>
              <a:t> </a:t>
            </a:r>
            <a:r>
              <a:rPr lang="it-IT" dirty="0" err="1"/>
              <a:t>closure</a:t>
            </a:r>
            <a:r>
              <a:rPr lang="it-IT" dirty="0"/>
              <a:t> of C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B23849-4B04-4248-807D-1089F5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EF6C67-8FE3-FE47-A549-490CA54A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7595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F91CDE-2B70-384B-AD9F-1EC6A795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CONSTRUCTION OF THE 2ATA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A2BB6E-FCE6-AE47-9B3A-8CC40A6413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 err="1"/>
                  <a:t>Let</a:t>
                </a:r>
                <a:r>
                  <a:rPr lang="it-IT" dirty="0"/>
                  <a:t> C</a:t>
                </a:r>
                <a:r>
                  <a:rPr lang="it-IT" baseline="-25000" dirty="0"/>
                  <a:t>0</a:t>
                </a:r>
                <a:r>
                  <a:rPr lang="it-IT" dirty="0"/>
                  <a:t> be a concept of ALCFI</a:t>
                </a:r>
                <a:r>
                  <a:rPr lang="it-IT" baseline="-25000" dirty="0"/>
                  <a:t>REG </a:t>
                </a:r>
                <a:r>
                  <a:rPr lang="it-IT" dirty="0" err="1"/>
                  <a:t>where</a:t>
                </a:r>
                <a:r>
                  <a:rPr lang="it-IT" dirty="0"/>
                  <a:t> the 2ATA </a:t>
                </a:r>
                <a:r>
                  <a:rPr lang="it-IT" dirty="0" err="1"/>
                  <a:t>automaton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recognizes</a:t>
                </a:r>
                <a:r>
                  <a:rPr lang="it-IT" dirty="0"/>
                  <a:t> </a:t>
                </a:r>
                <a:r>
                  <a:rPr lang="it-IT" dirty="0" err="1"/>
                  <a:t>all</a:t>
                </a:r>
                <a:r>
                  <a:rPr lang="it-IT" dirty="0"/>
                  <a:t> the </a:t>
                </a:r>
                <a:r>
                  <a:rPr lang="it-IT" dirty="0" err="1"/>
                  <a:t>only</a:t>
                </a:r>
                <a:r>
                  <a:rPr lang="it-IT" dirty="0"/>
                  <a:t> the </a:t>
                </a:r>
                <a:r>
                  <a:rPr lang="it-IT" dirty="0" err="1"/>
                  <a:t>trees</a:t>
                </a:r>
                <a:r>
                  <a:rPr lang="it-IT" dirty="0"/>
                  <a:t> </a:t>
                </a:r>
                <a:r>
                  <a:rPr lang="it-IT" dirty="0" err="1"/>
                  <a:t>that</a:t>
                </a:r>
                <a:r>
                  <a:rPr lang="it-IT" dirty="0"/>
                  <a:t> are models for C</a:t>
                </a:r>
                <a:r>
                  <a:rPr lang="it-IT" baseline="-25000" dirty="0"/>
                  <a:t>0</a:t>
                </a:r>
                <a:r>
                  <a:rPr lang="it-IT" dirty="0"/>
                  <a:t>, </a:t>
                </a:r>
                <a:r>
                  <a:rPr lang="it-IT" dirty="0" err="1"/>
                  <a:t>denoted</a:t>
                </a:r>
                <a:r>
                  <a:rPr lang="it-IT" dirty="0"/>
                  <a:t> by</a:t>
                </a:r>
              </a:p>
              <a:p>
                <a:endParaRPr lang="it-IT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sSub>
                            <m:sSub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𝑖𝑛𝑖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A2BB6E-FCE6-AE47-9B3A-8CC40A641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 r="-29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956FA76-01CA-F14F-BA8C-16FD9DB5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15A15EF-A020-FA4C-813F-D3ED57FE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80845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3B7FD9-C2E0-BF41-AAE4-11BB0427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2ATA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61CEF41-5708-224F-BB78-D855F23415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𝑑𝑢𝑚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/>
              </a:p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𝐶𝐿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𝑛𝑛𝑓</m:t>
                        </m:r>
                      </m:sub>
                    </m:sSub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,¬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ℬ</m:t>
                        </m:r>
                      </m:e>
                    </m:d>
                  </m:oMath>
                </a14:m>
                <a:endParaRPr lang="it-IT" b="0" dirty="0">
                  <a:ea typeface="Cambria Math" panose="02040503050406030204" pitchFamily="18" charset="0"/>
                </a:endParaRPr>
              </a:p>
              <a:p>
                <a:endParaRPr lang="it-IT" dirty="0">
                  <a:ea typeface="Cambria Math" panose="02040503050406030204" pitchFamily="18" charset="0"/>
                </a:endParaRPr>
              </a:p>
              <a:p>
                <a:endParaRPr lang="it-IT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61CEF41-5708-224F-BB78-D855F2341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0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8CF8BF-A220-5F43-8312-14AE7B25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12C392-F46A-804B-BA8F-156DD02A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3824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8385C0-654A-0749-B20C-5ED1BF89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1DCC3A4-A525-B44E-ACC2-082EE69680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Start</a:t>
                </a:r>
              </a:p>
              <a:p>
                <a:pPr lvl="1"/>
                <a:r>
                  <a:rPr lang="it-IT" dirty="0" err="1"/>
                  <a:t>Initial</a:t>
                </a:r>
                <a:r>
                  <a:rPr lang="it-IT" dirty="0"/>
                  <a:t> state, head on the root:</a:t>
                </a:r>
                <a:endParaRPr lang="it-IT" baseline="-25000" dirty="0"/>
              </a:p>
              <a:p>
                <a:pPr lvl="2"/>
                <a:r>
                  <a:rPr lang="it-IT" dirty="0"/>
                  <a:t>For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el-GR" dirty="0"/>
                  <a:t>α</a:t>
                </a:r>
                <a:r>
                  <a:rPr lang="it-IT" dirty="0"/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it-IT" dirty="0"/>
                  <a:t> </a:t>
                </a:r>
              </a:p>
              <a:p>
                <a:pPr lvl="2"/>
                <a:r>
                  <a:rPr lang="el-GR" dirty="0"/>
                  <a:t>δ(</a:t>
                </a:r>
                <a:r>
                  <a:rPr lang="it-IT" dirty="0" err="1"/>
                  <a:t>s</a:t>
                </a:r>
                <a:r>
                  <a:rPr lang="it-IT" baseline="-25000" dirty="0" err="1"/>
                  <a:t>ini</a:t>
                </a:r>
                <a:r>
                  <a:rPr lang="it-IT" dirty="0"/>
                  <a:t>,(</a:t>
                </a:r>
                <a:r>
                  <a:rPr lang="el-GR" dirty="0"/>
                  <a:t>α,</a:t>
                </a:r>
                <a:r>
                  <a:rPr lang="it-IT" dirty="0" err="1"/>
                  <a:t>P</a:t>
                </a:r>
                <a:r>
                  <a:rPr lang="it-IT" baseline="-25000" dirty="0" err="1"/>
                  <a:t>dum</a:t>
                </a:r>
                <a:r>
                  <a:rPr lang="it-IT" dirty="0"/>
                  <a:t>)) = (0,nnf(C</a:t>
                </a:r>
                <a:r>
                  <a:rPr lang="it-IT" baseline="-25000" dirty="0"/>
                  <a:t>0</a:t>
                </a:r>
                <a:r>
                  <a:rPr lang="it-IT" dirty="0"/>
                  <a:t>))</a:t>
                </a:r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1DCC3A4-A525-B44E-ACC2-082EE69680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45F33C-6587-1B4C-85F8-3E255D0B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049A48-ECEE-F34E-BFF8-416E4AB9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1597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D8D0B-5A1D-5A49-9CE7-E8CF38B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ELEMENTARY CONCEPT TRANSITIONS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180543-67BE-D94E-AF42-48D1F4414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For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each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atomic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concept A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that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appears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in a concept </a:t>
            </a:r>
            <a:r>
              <a:rPr lang="it-IT" dirty="0"/>
              <a:t>C</a:t>
            </a:r>
            <a:r>
              <a:rPr lang="it-IT" baseline="-25000" dirty="0"/>
              <a:t>0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, and for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each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element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</a:t>
            </a:r>
            <a:r>
              <a:rPr lang="it-IT" dirty="0"/>
              <a:t>(𝝰,</a:t>
            </a:r>
            <a:r>
              <a:rPr lang="it-IT" dirty="0" err="1"/>
              <a:t>q</a:t>
            </a:r>
            <a:r>
              <a:rPr lang="it-IT" dirty="0"/>
              <a:t>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Segoe UI Web (West European)"/>
              </a:rPr>
              <a:t> of the input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Segoe UI Web (West European)"/>
              </a:rPr>
              <a:t>alphabet</a:t>
            </a:r>
            <a:r>
              <a:rPr lang="it-IT" dirty="0"/>
              <a:t>, </a:t>
            </a:r>
          </a:p>
          <a:p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E2FDF2-1018-D441-9C36-7D3C912F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511CE8-C8E7-5E49-9A59-706A50E9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29</a:t>
            </a:fld>
            <a:endParaRPr lang="it-IT" alt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1673C50-C962-B140-A38A-B1C2F5CF1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0" y="2462705"/>
            <a:ext cx="6032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33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D8D0B-5A1D-5A49-9CE7-E8CF38B8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ROLE ELEMENTARY TRANSITIONS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180543-67BE-D94E-AF42-48D1F4414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atomic</a:t>
            </a:r>
            <a:r>
              <a:rPr lang="it-IT" dirty="0"/>
              <a:t> </a:t>
            </a:r>
            <a:r>
              <a:rPr lang="it-IT" dirty="0" err="1"/>
              <a:t>role</a:t>
            </a:r>
            <a:r>
              <a:rPr lang="it-IT" dirty="0"/>
              <a:t> </a:t>
            </a:r>
            <a:r>
              <a:rPr lang="it-IT" dirty="0" err="1"/>
              <a:t>Q</a:t>
            </a:r>
            <a:r>
              <a:rPr lang="it-IT" dirty="0"/>
              <a:t> </a:t>
            </a:r>
            <a:r>
              <a:rPr lang="it-IT" dirty="0" err="1"/>
              <a:t>appearing</a:t>
            </a:r>
            <a:r>
              <a:rPr lang="it-IT" dirty="0"/>
              <a:t> in a concept C</a:t>
            </a:r>
            <a:r>
              <a:rPr lang="it-IT" baseline="-25000" dirty="0"/>
              <a:t>0</a:t>
            </a:r>
            <a:r>
              <a:rPr lang="it-IT" dirty="0"/>
              <a:t>, and for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 (𝝰,</a:t>
            </a:r>
            <a:r>
              <a:rPr lang="it-IT" dirty="0" err="1"/>
              <a:t>q</a:t>
            </a:r>
            <a:r>
              <a:rPr lang="it-IT" dirty="0"/>
              <a:t>) of the input </a:t>
            </a:r>
            <a:r>
              <a:rPr lang="it-IT"/>
              <a:t>alphabet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3E2FDF2-1018-D441-9C36-7D3C912F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511CE8-C8E7-5E49-9A59-706A50E9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30</a:t>
            </a:fld>
            <a:endParaRPr lang="it-IT" alt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3D6EDB3-C752-1D4B-A6A0-AA81CA58D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2460625"/>
            <a:ext cx="60198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013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29AA9C-DF9F-E146-A1A4-90B445E6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COMPUND TRANSITIONS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3A80ECC-A087-8B41-9A69-141BE979FC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358" y="866775"/>
            <a:ext cx="6393284" cy="372745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97420F-3838-F94E-A85A-6CA74A2F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A582D9-2029-A14E-AF92-8D3FBAA6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197404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EFA46-C1AF-EC48-8BD1-5B4CE0B5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TRANSITIONS ON FUNCTIONAL RESTRICTIONS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EBC7F2E-72DF-8C46-AE9C-5AB663A48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F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every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𝑐𝑜𝑛𝑐𝑒𝑝𝑡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≤1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it-IT" dirty="0"/>
                  <a:t>and </a:t>
                </a:r>
                <a:r>
                  <a:rPr lang="it-IT" dirty="0" err="1"/>
                  <a:t>element</a:t>
                </a:r>
                <a:r>
                  <a:rPr lang="it-IT" dirty="0"/>
                  <a:t> 𝝈 of the </a:t>
                </a:r>
                <a:r>
                  <a:rPr lang="it-IT" dirty="0" err="1"/>
                  <a:t>alphabet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EBC7F2E-72DF-8C46-AE9C-5AB663A48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612B17-724F-F149-88FE-DBB305D2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9B0D52-4A0E-744B-9040-3C08E902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32</a:t>
            </a:fld>
            <a:endParaRPr lang="it-IT" alt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D6710B4-97D9-DD4F-8D54-908D8A2D8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1841500"/>
            <a:ext cx="89154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96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EB73FA-B65A-A14F-84C7-425C865D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TRANSITIONS ON NEGATED FUNCTIONAL RESTRICTIONS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6BB1BB2-739A-104C-BB75-C333B7BBE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For </a:t>
                </a:r>
                <a:r>
                  <a:rPr lang="it-IT" dirty="0" err="1"/>
                  <a:t>any</a:t>
                </a:r>
                <a:r>
                  <a:rPr lang="it-IT" dirty="0"/>
                  <a:t> concept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it-IT" dirty="0"/>
                  <a:t>and </a:t>
                </a:r>
                <a:r>
                  <a:rPr lang="it-IT" dirty="0" err="1"/>
                  <a:t>element</a:t>
                </a:r>
                <a:r>
                  <a:rPr lang="it-IT" dirty="0"/>
                  <a:t> 𝝈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6BB1BB2-739A-104C-BB75-C333B7BBE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17CD5E-098C-7D40-A615-D8F5DCE1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CD57E5-77FF-4E4E-AF7B-6D680F4D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33</a:t>
            </a:fld>
            <a:endParaRPr lang="it-IT" alt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FFF5206-EC39-D540-9C8A-F20E6D6FE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171700"/>
            <a:ext cx="7518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63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73FE6E-DABA-4942-863B-3A529EA4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FINAL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5A7AB5C-6159-684B-803B-CB3C64961B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p>
                      <m:sSupPr>
                        <m:ctrlPr>
                          <a:rPr lang="it-IT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it-IT" dirty="0"/>
                  <a:t> in the Fischer-</a:t>
                </a:r>
                <a:r>
                  <a:rPr lang="it-IT" dirty="0" err="1"/>
                  <a:t>Ladner</a:t>
                </a:r>
                <a:r>
                  <a:rPr lang="it-IT" dirty="0"/>
                  <a:t> </a:t>
                </a:r>
                <a:r>
                  <a:rPr lang="it-IT" dirty="0" err="1"/>
                  <a:t>closure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5A7AB5C-6159-684B-803B-CB3C64961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23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686913-5BEE-1543-B537-AAFABC8F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51920C-016A-4D4F-ADF5-7009E43B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31304888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80193</TotalTime>
  <Words>1638</Words>
  <Application>Microsoft Macintosh PowerPoint</Application>
  <PresentationFormat>Presentazione su schermo (16:9)</PresentationFormat>
  <Paragraphs>217</Paragraphs>
  <Slides>34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Segoe UI Web (West European)</vt:lpstr>
      <vt:lpstr>Tahoma</vt:lpstr>
      <vt:lpstr>ESD_new_GP</vt:lpstr>
      <vt:lpstr>KNOWLEDGE REPRESENTATION</vt:lpstr>
      <vt:lpstr>UNIT 4</vt:lpstr>
      <vt:lpstr>AGENDA</vt:lpstr>
      <vt:lpstr>ALCFIREG</vt:lpstr>
      <vt:lpstr>REPRESENTATION OF Q IN ALCFIREG</vt:lpstr>
      <vt:lpstr>ROLE REIFICATION</vt:lpstr>
      <vt:lpstr>REIFICATION OF CONCEPTS</vt:lpstr>
      <vt:lpstr>STEP-BY-STEP REIFICATION</vt:lpstr>
      <vt:lpstr>EXAMPLE OF REIFICATION</vt:lpstr>
      <vt:lpstr>FUNCTIONAL REDUCTION</vt:lpstr>
      <vt:lpstr>NOTATION</vt:lpstr>
      <vt:lpstr>REDUCTION OF ξ0(C)</vt:lpstr>
      <vt:lpstr>REDUCTION OF ξ0(C) (ctd)</vt:lpstr>
      <vt:lpstr>REDUCTION OF Θ1</vt:lpstr>
      <vt:lpstr>EXAMPLE</vt:lpstr>
      <vt:lpstr>EXAMPLE (ctd)</vt:lpstr>
      <vt:lpstr>EXAMPLE (ctd)</vt:lpstr>
      <vt:lpstr>ALCFIREG CONCEPT TRANSFORMATION</vt:lpstr>
      <vt:lpstr>FISCHER-LADNER CLOSURE</vt:lpstr>
      <vt:lpstr>METHOD FOR CALCULATING FLC IN ALCFIREG</vt:lpstr>
      <vt:lpstr>CLOSURE</vt:lpstr>
      <vt:lpstr>FISCHER-LADNER CLOSURE EXAMPLE</vt:lpstr>
      <vt:lpstr>2ATA RECOGNITION</vt:lpstr>
      <vt:lpstr>LABELLING INFINITE TREES</vt:lpstr>
      <vt:lpstr>NOTATION</vt:lpstr>
      <vt:lpstr>CONSTRUCTION OF THE 2ATA</vt:lpstr>
      <vt:lpstr>2ATA (ctd)</vt:lpstr>
      <vt:lpstr>START</vt:lpstr>
      <vt:lpstr>ELEMENTARY CONCEPT TRANSITIONS</vt:lpstr>
      <vt:lpstr>ROLE ELEMENTARY TRANSITIONS</vt:lpstr>
      <vt:lpstr>COMPUND TRANSITIONS</vt:lpstr>
      <vt:lpstr>TRANSITIONS ON FUNCTIONAL RESTRICTIONS</vt:lpstr>
      <vt:lpstr>TRANSITIONS ON NEGATED FUNCTIONAL RESTRICTIONS</vt:lpstr>
      <vt:lpstr>FINAL STATES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423</cp:revision>
  <dcterms:created xsi:type="dcterms:W3CDTF">2019-02-11T14:27:15Z</dcterms:created>
  <dcterms:modified xsi:type="dcterms:W3CDTF">2025-08-15T08:49:09Z</dcterms:modified>
</cp:coreProperties>
</file>