
<file path=[Content_Types].xml><?xml version="1.0" encoding="utf-8"?>
<Types xmlns="http://schemas.openxmlformats.org/package/2006/content-types">
  <Default Extension="bin" ContentType="audio/unknown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759" r:id="rId1"/>
  </p:sldMasterIdLst>
  <p:notesMasterIdLst>
    <p:notesMasterId r:id="rId48"/>
  </p:notesMasterIdLst>
  <p:handoutMasterIdLst>
    <p:handoutMasterId r:id="rId49"/>
  </p:handoutMasterIdLst>
  <p:sldIdLst>
    <p:sldId id="257" r:id="rId2"/>
    <p:sldId id="287" r:id="rId3"/>
    <p:sldId id="289" r:id="rId4"/>
    <p:sldId id="291" r:id="rId5"/>
    <p:sldId id="292" r:id="rId6"/>
    <p:sldId id="290" r:id="rId7"/>
    <p:sldId id="293" r:id="rId8"/>
    <p:sldId id="294" r:id="rId9"/>
    <p:sldId id="296" r:id="rId10"/>
    <p:sldId id="297" r:id="rId11"/>
    <p:sldId id="298" r:id="rId12"/>
    <p:sldId id="299" r:id="rId13"/>
    <p:sldId id="300" r:id="rId14"/>
    <p:sldId id="295" r:id="rId15"/>
    <p:sldId id="301" r:id="rId16"/>
    <p:sldId id="302" r:id="rId17"/>
    <p:sldId id="303" r:id="rId18"/>
    <p:sldId id="304" r:id="rId19"/>
    <p:sldId id="305" r:id="rId20"/>
    <p:sldId id="306" r:id="rId21"/>
    <p:sldId id="273" r:id="rId22"/>
    <p:sldId id="274" r:id="rId23"/>
    <p:sldId id="275" r:id="rId24"/>
    <p:sldId id="276" r:id="rId25"/>
    <p:sldId id="278" r:id="rId26"/>
    <p:sldId id="279" r:id="rId27"/>
    <p:sldId id="277" r:id="rId28"/>
    <p:sldId id="307" r:id="rId29"/>
    <p:sldId id="308" r:id="rId30"/>
    <p:sldId id="309" r:id="rId31"/>
    <p:sldId id="310" r:id="rId32"/>
    <p:sldId id="311" r:id="rId33"/>
    <p:sldId id="312" r:id="rId34"/>
    <p:sldId id="313" r:id="rId35"/>
    <p:sldId id="316" r:id="rId36"/>
    <p:sldId id="317" r:id="rId37"/>
    <p:sldId id="314" r:id="rId38"/>
    <p:sldId id="315" r:id="rId39"/>
    <p:sldId id="320" r:id="rId40"/>
    <p:sldId id="321" r:id="rId41"/>
    <p:sldId id="322" r:id="rId42"/>
    <p:sldId id="319" r:id="rId43"/>
    <p:sldId id="323" r:id="rId44"/>
    <p:sldId id="318" r:id="rId45"/>
    <p:sldId id="324" r:id="rId46"/>
    <p:sldId id="325" r:id="rId47"/>
  </p:sldIdLst>
  <p:sldSz cx="9144000" cy="5143500" type="screen16x9"/>
  <p:notesSz cx="6858000" cy="9144000"/>
  <p:defaultTextStyle>
    <a:defPPr>
      <a:defRPr lang="nl-NL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MS PGothic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MS PGothic" panose="020B0600070205080204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MS PGothic" panose="020B0600070205080204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MS PGothic" panose="020B0600070205080204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MS PGothic" panose="020B0600070205080204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MS PGothic" panose="020B0600070205080204" pitchFamily="34" charset="-128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0BBC78E2-DF3B-4DCE-83BB-1269F2F94E16}">
          <p14:sldIdLst>
            <p14:sldId id="257"/>
            <p14:sldId id="287"/>
            <p14:sldId id="289"/>
            <p14:sldId id="291"/>
            <p14:sldId id="292"/>
            <p14:sldId id="290"/>
            <p14:sldId id="293"/>
            <p14:sldId id="294"/>
            <p14:sldId id="296"/>
            <p14:sldId id="297"/>
            <p14:sldId id="298"/>
            <p14:sldId id="299"/>
            <p14:sldId id="300"/>
            <p14:sldId id="295"/>
            <p14:sldId id="301"/>
            <p14:sldId id="302"/>
            <p14:sldId id="303"/>
            <p14:sldId id="304"/>
            <p14:sldId id="305"/>
            <p14:sldId id="306"/>
            <p14:sldId id="273"/>
            <p14:sldId id="274"/>
            <p14:sldId id="275"/>
            <p14:sldId id="276"/>
            <p14:sldId id="278"/>
            <p14:sldId id="279"/>
            <p14:sldId id="277"/>
            <p14:sldId id="307"/>
            <p14:sldId id="308"/>
            <p14:sldId id="309"/>
            <p14:sldId id="310"/>
            <p14:sldId id="311"/>
            <p14:sldId id="312"/>
            <p14:sldId id="313"/>
            <p14:sldId id="316"/>
            <p14:sldId id="317"/>
            <p14:sldId id="314"/>
            <p14:sldId id="315"/>
            <p14:sldId id="320"/>
            <p14:sldId id="321"/>
            <p14:sldId id="322"/>
            <p14:sldId id="319"/>
            <p14:sldId id="323"/>
            <p14:sldId id="318"/>
            <p14:sldId id="324"/>
            <p14:sldId id="325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  <p15:guide id="3" orient="horz" pos="1665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stefano" initials="s" lastIdx="2" clrIdx="0"/>
  <p:cmAuthor id="1" name="Matteo Cristani" initials="MC" lastIdx="1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00000"/>
    <a:srgbClr val="640000"/>
    <a:srgbClr val="8C3836"/>
    <a:srgbClr val="FFFF99"/>
    <a:srgbClr val="AA00AA"/>
    <a:srgbClr val="98BDD6"/>
    <a:srgbClr val="287ECB"/>
    <a:srgbClr val="F0BC51"/>
    <a:srgbClr val="D1634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8FD4443E-F989-4FC4-A0C8-D5A2AF1F390B}" styleName="Dark Style 1 - Accent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929F9F4-4A8F-4326-A1B4-22849713DDAB}" styleName="Dark Style 1 - Acc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5C22544A-7EE6-4342-B048-85BDC9FD1C3A}" styleName="Stile medio 2 - Color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Stile medio 2 - Colore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530" autoAdjust="0"/>
    <p:restoredTop sz="86735"/>
  </p:normalViewPr>
  <p:slideViewPr>
    <p:cSldViewPr snapToGrid="0">
      <p:cViewPr varScale="1">
        <p:scale>
          <a:sx n="75" d="100"/>
          <a:sy n="75" d="100"/>
        </p:scale>
        <p:origin x="168" y="1232"/>
      </p:cViewPr>
      <p:guideLst>
        <p:guide orient="horz" pos="1620"/>
        <p:guide pos="2880"/>
        <p:guide orient="horz" pos="1665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-9928"/>
    </p:cViewPr>
  </p:sorter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commentAuthors" Target="commentAuthor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184E245-B5A0-47D5-87CC-147578DADA4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Tahoma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BBE7327-C872-472C-88D2-681BC8B0B85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/>
            </a:lvl1pPr>
          </a:lstStyle>
          <a:p>
            <a:pPr>
              <a:defRPr/>
            </a:pPr>
            <a:fld id="{C790A485-6416-43AD-8EA8-9AB4021210E8}" type="datetimeFigureOut">
              <a:rPr lang="en-US" altLang="it-IT"/>
              <a:pPr>
                <a:defRPr/>
              </a:pPr>
              <a:t>8/17/25</a:t>
            </a:fld>
            <a:endParaRPr lang="en-US" altLang="it-IT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3062B19-2075-46D4-90D4-88B66BAEC41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Tahoma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B50A42C-D4BA-4B57-8810-2714EF7E80A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/>
            </a:lvl1pPr>
          </a:lstStyle>
          <a:p>
            <a:pPr>
              <a:defRPr/>
            </a:pPr>
            <a:fld id="{304743EB-F053-4EB0-B667-D66F0FE415E3}" type="slidenum">
              <a:rPr lang="en-US" altLang="it-IT"/>
              <a:pPr>
                <a:defRPr/>
              </a:pPr>
              <a:t>‹N›</a:t>
            </a:fld>
            <a:endParaRPr lang="en-US" altLang="it-IT"/>
          </a:p>
        </p:txBody>
      </p:sp>
    </p:spTree>
    <p:extLst>
      <p:ext uri="{BB962C8B-B14F-4D97-AF65-F5344CB8AC3E}">
        <p14:creationId xmlns:p14="http://schemas.microsoft.com/office/powerpoint/2010/main" val="152446904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E71CFC63-76EE-4C9F-A897-82314CDCE8F4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195" name="Rectangle 3">
            <a:extLst>
              <a:ext uri="{FF2B5EF4-FFF2-40B4-BE49-F238E27FC236}">
                <a16:creationId xmlns:a16="http://schemas.microsoft.com/office/drawing/2014/main" id="{A9A7D3CE-DD5A-4884-90F5-F968DA0A7280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6628" name="Rectangle 4">
            <a:extLst>
              <a:ext uri="{FF2B5EF4-FFF2-40B4-BE49-F238E27FC236}">
                <a16:creationId xmlns:a16="http://schemas.microsoft.com/office/drawing/2014/main" id="{4804E0D8-8B5E-4615-B9C4-D99DA5FC313A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197" name="Rectangle 5">
            <a:extLst>
              <a:ext uri="{FF2B5EF4-FFF2-40B4-BE49-F238E27FC236}">
                <a16:creationId xmlns:a16="http://schemas.microsoft.com/office/drawing/2014/main" id="{3926CD4B-EA52-4A35-ACD1-53E31ED8E8E1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nl-NL" noProof="0"/>
              <a:t>Click to edit Master text styles</a:t>
            </a:r>
          </a:p>
          <a:p>
            <a:pPr lvl="1"/>
            <a:r>
              <a:rPr lang="nl-NL" noProof="0"/>
              <a:t>Second level</a:t>
            </a:r>
          </a:p>
          <a:p>
            <a:pPr lvl="2"/>
            <a:r>
              <a:rPr lang="nl-NL" noProof="0"/>
              <a:t>Third level</a:t>
            </a:r>
          </a:p>
          <a:p>
            <a:pPr lvl="3"/>
            <a:r>
              <a:rPr lang="nl-NL" noProof="0"/>
              <a:t>Fourth level</a:t>
            </a:r>
          </a:p>
          <a:p>
            <a:pPr lvl="4"/>
            <a:r>
              <a:rPr lang="nl-NL" noProof="0"/>
              <a:t>Fifth level</a:t>
            </a:r>
          </a:p>
        </p:txBody>
      </p:sp>
      <p:sp>
        <p:nvSpPr>
          <p:cNvPr id="8198" name="Rectangle 6">
            <a:extLst>
              <a:ext uri="{FF2B5EF4-FFF2-40B4-BE49-F238E27FC236}">
                <a16:creationId xmlns:a16="http://schemas.microsoft.com/office/drawing/2014/main" id="{C34C6D3B-D2DB-4D5F-B47B-BAC5A6830E3C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199" name="Rectangle 7">
            <a:extLst>
              <a:ext uri="{FF2B5EF4-FFF2-40B4-BE49-F238E27FC236}">
                <a16:creationId xmlns:a16="http://schemas.microsoft.com/office/drawing/2014/main" id="{A0687926-11A6-4219-AC1F-0E059A65D58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615E51E3-9A27-4F9D-92A0-CC2B6D7DC9D8}" type="slidenum">
              <a:rPr lang="nl-NL" altLang="it-IT"/>
              <a:pPr>
                <a:defRPr/>
              </a:pPr>
              <a:t>‹N›</a:t>
            </a:fld>
            <a:endParaRPr lang="nl-NL" altLang="it-IT"/>
          </a:p>
        </p:txBody>
      </p:sp>
    </p:spTree>
    <p:extLst>
      <p:ext uri="{BB962C8B-B14F-4D97-AF65-F5344CB8AC3E}">
        <p14:creationId xmlns:p14="http://schemas.microsoft.com/office/powerpoint/2010/main" val="3938765358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MS PGothic" panose="020B0600070205080204" pitchFamily="34" charset="-128"/>
        <a:cs typeface="ＭＳ Ｐゴシック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MS PGothic" panose="020B0600070205080204" pitchFamily="34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7">
            <a:extLst>
              <a:ext uri="{FF2B5EF4-FFF2-40B4-BE49-F238E27FC236}">
                <a16:creationId xmlns:a16="http://schemas.microsoft.com/office/drawing/2014/main" id="{7C57EF8F-8361-448B-B33D-B27F754A853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0DD545CD-AACE-464A-8873-AFDA579DE3B8}" type="slidenum">
              <a:rPr lang="nl-NL" altLang="it-IT">
                <a:latin typeface="Arial" panose="020B0604020202020204" pitchFamily="34" charset="0"/>
              </a:rPr>
              <a:pPr/>
              <a:t>1</a:t>
            </a:fld>
            <a:endParaRPr lang="nl-NL" altLang="it-IT">
              <a:latin typeface="Arial" panose="020B0604020202020204" pitchFamily="34" charset="0"/>
            </a:endParaRPr>
          </a:p>
        </p:txBody>
      </p:sp>
      <p:sp>
        <p:nvSpPr>
          <p:cNvPr id="29699" name="Rectangle 2">
            <a:extLst>
              <a:ext uri="{FF2B5EF4-FFF2-40B4-BE49-F238E27FC236}">
                <a16:creationId xmlns:a16="http://schemas.microsoft.com/office/drawing/2014/main" id="{7461A36A-26A4-442B-A193-C48F58FB7FD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9575" y="703263"/>
            <a:ext cx="6046788" cy="3402012"/>
          </a:xfrm>
          <a:ln/>
        </p:spPr>
      </p:sp>
      <p:sp>
        <p:nvSpPr>
          <p:cNvPr id="29700" name="Rectangle 3">
            <a:extLst>
              <a:ext uri="{FF2B5EF4-FFF2-40B4-BE49-F238E27FC236}">
                <a16:creationId xmlns:a16="http://schemas.microsoft.com/office/drawing/2014/main" id="{393DB840-CA14-4E5B-BB44-138D926D3BA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5988" y="4340225"/>
            <a:ext cx="5026025" cy="411638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7047" tIns="38524" rIns="77047" bIns="38524"/>
          <a:lstStyle/>
          <a:p>
            <a:pPr eaLnBrk="1" hangingPunct="1"/>
            <a:endParaRPr lang="en-US" altLang="it-IT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bin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685800" y="1597821"/>
            <a:ext cx="7772400" cy="1102519"/>
          </a:xfrm>
        </p:spPr>
        <p:txBody>
          <a:bodyPr/>
          <a:lstStyle>
            <a:lvl1pPr>
              <a:defRPr>
                <a:solidFill>
                  <a:srgbClr val="800000"/>
                </a:solidFill>
              </a:defRPr>
            </a:lvl1pPr>
          </a:lstStyle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it-IT"/>
              <a:t>Fare clic per modificare lo stile del sottotitolo dello schema</a:t>
            </a:r>
            <a:endParaRPr lang="en-US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058F5CD9-6EAF-4B8B-9A4D-446D9D8220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>
                <a:solidFill>
                  <a:srgbClr val="800000"/>
                </a:solidFill>
              </a:defRPr>
            </a:lvl1pPr>
          </a:lstStyle>
          <a:p>
            <a:pPr>
              <a:defRPr/>
            </a:pPr>
            <a:r>
              <a:rPr lang="it-IT" altLang="it-IT"/>
              <a:t>Introduction to KR</a:t>
            </a:r>
            <a:endParaRPr lang="it-IT" alt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CCF5EC06-D9EF-421D-B636-55F4AACA08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800000"/>
                </a:solidFill>
              </a:defRPr>
            </a:lvl1pPr>
          </a:lstStyle>
          <a:p>
            <a:pPr>
              <a:defRPr/>
            </a:pPr>
            <a:r>
              <a:rPr lang="en-US"/>
              <a:t>KNOWLEDGE REPRESENTATION</a:t>
            </a:r>
            <a:endParaRPr lang="en-US" dirty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FBED50A0-78C5-42A3-8B38-E1A9DBE8C2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>
                <a:solidFill>
                  <a:srgbClr val="800000"/>
                </a:solidFill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1EE87F2A-AB2C-4D87-BCA6-9B3A24192F3A}" type="slidenum">
              <a:rPr lang="it-IT" altLang="it-IT" smtClean="0"/>
              <a:pPr>
                <a:defRPr/>
              </a:pPr>
              <a:t>‹N›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33710302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>
                <a:solidFill>
                  <a:srgbClr val="800000"/>
                </a:solidFill>
              </a:defRPr>
            </a:lvl1pPr>
          </a:lstStyle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Modifica gli stili del testo dello schema
Secondo livello
Terzo livello
Quarto livello
Quinto livello</a:t>
            </a:r>
            <a:endParaRPr lang="en-US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53EF3F9C-540B-468D-B525-7A1FFFBD55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>
                <a:solidFill>
                  <a:srgbClr val="800000"/>
                </a:solidFill>
              </a:defRPr>
            </a:lvl1pPr>
          </a:lstStyle>
          <a:p>
            <a:pPr>
              <a:defRPr/>
            </a:pPr>
            <a:r>
              <a:rPr lang="it-IT" altLang="it-IT"/>
              <a:t>Introduction to KR</a:t>
            </a:r>
            <a:endParaRPr lang="it-IT" alt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9FAC2101-7C3D-43D9-B409-B7ABFD7501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800000"/>
                </a:solidFill>
              </a:defRPr>
            </a:lvl1pPr>
          </a:lstStyle>
          <a:p>
            <a:pPr>
              <a:defRPr/>
            </a:pPr>
            <a:r>
              <a:rPr lang="en-US"/>
              <a:t>KNOWLEDGE REPRESENTATION</a:t>
            </a:r>
            <a:endParaRPr lang="en-US" dirty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8E01E8D0-7250-4243-89B8-07E48DFA9A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>
                <a:solidFill>
                  <a:srgbClr val="800000"/>
                </a:solidFill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43CD341D-7438-4FA4-973F-6F9EECBD14B9}" type="slidenum">
              <a:rPr lang="it-IT" altLang="it-IT" smtClean="0"/>
              <a:pPr>
                <a:defRPr/>
              </a:pPr>
              <a:t>‹N›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29858566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200" b="1" cap="small" baseline="0">
                <a:solidFill>
                  <a:srgbClr val="800000"/>
                </a:solidFill>
              </a:defRPr>
            </a:lvl1pPr>
          </a:lstStyle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Modifica gli stili del testo dello schema
Secondo livello
Terzo livello
Quarto livello
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D1FC1CC5-72B4-4175-96AC-0AAB76C5D9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 lang="it-IT" altLang="it-IT"/>
              <a:t>Introduction to KR</a:t>
            </a:r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AFD2EC85-D444-4CAE-8A7C-2318EECBC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 lang="it-IT"/>
              <a:t>KNOWLEDGE REPRESENTATION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AC7C0FDD-1C9E-4F9B-802B-D0D0B256B1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>
                <a:solidFill>
                  <a:srgbClr val="FFFFFF"/>
                </a:solidFill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6FA0980B-2DE9-40AD-8A4E-40673DB95E95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32689803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Contenu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800000"/>
                </a:solidFill>
              </a:defRPr>
            </a:lvl1pPr>
          </a:lstStyle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/>
              <a:t>Modifica gli stili del testo dello schema
Secondo livello
Terzo livello
Quarto livello
Quinto livello</a:t>
            </a:r>
            <a:endParaRPr lang="en-US"/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/>
              <a:t>Modifica gli stili del testo dello schema
Secondo livello
Terzo livello
Quarto livello
Quinto livello</a:t>
            </a:r>
            <a:endParaRPr lang="en-US"/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4BDFE60E-FCA5-4468-A238-A20DBCFC18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defTabSz="457200" eaLnBrk="1" hangingPunct="1">
              <a:defRPr smtClean="0">
                <a:solidFill>
                  <a:srgbClr val="800000"/>
                </a:solidFill>
              </a:defRPr>
            </a:lvl1pPr>
          </a:lstStyle>
          <a:p>
            <a:pPr>
              <a:defRPr/>
            </a:pPr>
            <a:r>
              <a:rPr lang="it-IT" altLang="it-IT"/>
              <a:t>Introduction to KR</a:t>
            </a:r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30C1C83E-6933-48CB-81DB-2D6C24A082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defTabSz="457200" eaLnBrk="1" fontAlgn="auto" hangingPunct="1">
              <a:spcBef>
                <a:spcPts val="0"/>
              </a:spcBef>
              <a:spcAft>
                <a:spcPts val="0"/>
              </a:spcAft>
              <a:defRPr>
                <a:solidFill>
                  <a:srgbClr val="800000"/>
                </a:solidFill>
              </a:defRPr>
            </a:lvl1pPr>
          </a:lstStyle>
          <a:p>
            <a:pPr>
              <a:defRPr/>
            </a:pPr>
            <a:r>
              <a:rPr lang="it-IT"/>
              <a:t>KNOWLEDGE REPRESENTATION</a:t>
            </a:r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38580F37-86A5-4A66-88A3-29B44267A8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defTabSz="457200" eaLnBrk="1" hangingPunct="1">
              <a:defRPr smtClean="0">
                <a:solidFill>
                  <a:srgbClr val="800000"/>
                </a:solidFill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D754FAF7-AB3B-4F7E-9E4D-EFD1BDE13684}" type="slidenum">
              <a:rPr lang="it-IT" altLang="it-IT" smtClean="0"/>
              <a:pPr>
                <a:defRPr/>
              </a:pPr>
              <a:t>‹N›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10439691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800000"/>
                </a:solidFill>
              </a:defRPr>
            </a:lvl1pPr>
          </a:lstStyle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Modifica gli stili del testo dello schema
Secondo livello
Terzo livello
Quarto livello
Quinto livello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/>
              <a:t>Modifica gli stili del testo dello schema
Secondo livello
Terzo livello
Quarto livello
Quinto livello</a:t>
            </a:r>
            <a:endParaRPr lang="en-US"/>
          </a:p>
        </p:txBody>
      </p:sp>
      <p:sp>
        <p:nvSpPr>
          <p:cNvPr id="5" name="Segnaposto testo 4"/>
          <p:cNvSpPr>
            <a:spLocks noGrp="1"/>
          </p:cNvSpPr>
          <p:nvPr>
            <p:ph type="body" sz="quarter" idx="3"/>
          </p:nvPr>
        </p:nvSpPr>
        <p:spPr>
          <a:xfrm>
            <a:off x="4645030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Modifica gli stili del testo dello schema
Secondo livello
Terzo livello
Quarto livello
Quinto livello</a:t>
            </a:r>
          </a:p>
        </p:txBody>
      </p:sp>
      <p:sp>
        <p:nvSpPr>
          <p:cNvPr id="6" name="Segnaposto contenuto 5"/>
          <p:cNvSpPr>
            <a:spLocks noGrp="1"/>
          </p:cNvSpPr>
          <p:nvPr>
            <p:ph sz="quarter" idx="4"/>
          </p:nvPr>
        </p:nvSpPr>
        <p:spPr>
          <a:xfrm>
            <a:off x="4645030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/>
              <a:t>Modifica gli stili del testo dello schema
Secondo livello
Terzo livello
Quarto livello
Quinto livello</a:t>
            </a:r>
            <a:endParaRPr lang="en-US"/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9C22FEF5-9EB2-453F-A5FE-EAB3C53E95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>
                <a:solidFill>
                  <a:srgbClr val="800000"/>
                </a:solidFill>
              </a:defRPr>
            </a:lvl1pPr>
          </a:lstStyle>
          <a:p>
            <a:pPr>
              <a:defRPr/>
            </a:pPr>
            <a:r>
              <a:rPr lang="it-IT" altLang="it-IT"/>
              <a:t>Introduction to KR</a:t>
            </a:r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58A33CE7-8F18-4DB0-B6A3-7B697BF445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800000"/>
                </a:solidFill>
              </a:defRPr>
            </a:lvl1pPr>
          </a:lstStyle>
          <a:p>
            <a:pPr>
              <a:defRPr/>
            </a:pPr>
            <a:r>
              <a:rPr lang="it-IT"/>
              <a:t>KNOWLEDGE REPRESENTATION</a:t>
            </a:r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DF4923DE-6083-4153-995D-8F0374F86C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>
                <a:solidFill>
                  <a:srgbClr val="800000"/>
                </a:solidFill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1D30E12C-3274-4FAB-BA9C-E68E77B0C14D}" type="slidenum">
              <a:rPr lang="it-IT" altLang="it-IT" smtClean="0"/>
              <a:pPr>
                <a:defRPr/>
              </a:pPr>
              <a:t>‹N›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16185744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800000"/>
                </a:solidFill>
              </a:defRPr>
            </a:lvl1pPr>
          </a:lstStyle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5501FED8-2700-48C7-87EB-F70A681723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>
                <a:solidFill>
                  <a:srgbClr val="800000"/>
                </a:solidFill>
              </a:defRPr>
            </a:lvl1pPr>
          </a:lstStyle>
          <a:p>
            <a:pPr>
              <a:defRPr/>
            </a:pPr>
            <a:r>
              <a:rPr lang="it-IT" altLang="it-IT"/>
              <a:t>Introduction to KR</a:t>
            </a:r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C9426F0B-8BC6-4ADE-A8A8-5385F5179F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800000"/>
                </a:solidFill>
              </a:defRPr>
            </a:lvl1pPr>
          </a:lstStyle>
          <a:p>
            <a:pPr>
              <a:defRPr/>
            </a:pPr>
            <a:r>
              <a:rPr lang="it-IT"/>
              <a:t>KNOWLEDGE REPRESENTATION</a:t>
            </a:r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B7582239-C1BB-485A-9FEE-F41A21AB9B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>
                <a:solidFill>
                  <a:srgbClr val="800000"/>
                </a:solidFill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ADF7909B-0F24-4DCB-B54E-6ED0CFB1C016}" type="slidenum">
              <a:rPr lang="it-IT" altLang="it-IT" smtClean="0"/>
              <a:pPr>
                <a:defRPr/>
              </a:pPr>
              <a:t>‹N›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23318243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71FE9452-6A85-432A-9499-56CE62AA34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defTabSz="457200" eaLnBrk="1" hangingPunct="1">
              <a:defRPr smtClean="0">
                <a:solidFill>
                  <a:srgbClr val="800000"/>
                </a:solidFill>
              </a:defRPr>
            </a:lvl1pPr>
          </a:lstStyle>
          <a:p>
            <a:pPr>
              <a:defRPr/>
            </a:pPr>
            <a:r>
              <a:rPr lang="it-IT" altLang="it-IT"/>
              <a:t>Introduction to KR</a:t>
            </a:r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640F88F0-4AAD-4067-8504-06A96A4C41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defTabSz="457200" eaLnBrk="1" fontAlgn="auto" hangingPunct="1">
              <a:spcBef>
                <a:spcPts val="0"/>
              </a:spcBef>
              <a:spcAft>
                <a:spcPts val="0"/>
              </a:spcAft>
              <a:defRPr>
                <a:solidFill>
                  <a:srgbClr val="800000"/>
                </a:solidFill>
              </a:defRPr>
            </a:lvl1pPr>
          </a:lstStyle>
          <a:p>
            <a:pPr>
              <a:defRPr/>
            </a:pPr>
            <a:r>
              <a:rPr lang="it-IT"/>
              <a:t>KNOWLEDGE REPRESENTATION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E10A01D4-5A85-4F93-84CF-2B84CC80E6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defTabSz="457200" eaLnBrk="1" hangingPunct="1">
              <a:defRPr smtClean="0">
                <a:solidFill>
                  <a:srgbClr val="800000"/>
                </a:solidFill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52D64222-F0E5-4BFA-B141-DC6F71D62566}" type="slidenum">
              <a:rPr lang="it-IT" altLang="it-IT" smtClean="0"/>
              <a:pPr>
                <a:defRPr/>
              </a:pPr>
              <a:t>‹N›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466681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57205" y="204787"/>
            <a:ext cx="3008313" cy="871538"/>
          </a:xfrm>
        </p:spPr>
        <p:txBody>
          <a:bodyPr anchor="b"/>
          <a:lstStyle>
            <a:lvl1pPr algn="l">
              <a:defRPr sz="2000" b="1">
                <a:solidFill>
                  <a:srgbClr val="800000"/>
                </a:solidFill>
              </a:defRPr>
            </a:lvl1pPr>
          </a:lstStyle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3575050" y="204790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Modifica gli stili del testo dello schema
Secondo livello
Terzo livello
Quarto livello
Quinto livello</a:t>
            </a:r>
            <a:endParaRPr lang="en-US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457205" y="1076328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Modifica gli stili del testo dello schema
Secondo livello
Terzo livello
Quarto livello
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F6507EE9-0CDC-4148-8A28-DB77BBCD05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 lang="it-IT" altLang="it-IT"/>
              <a:t>Introduction to KR</a:t>
            </a:r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6722D2B5-089D-434E-80AE-5C832BCCC4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 lang="it-IT"/>
              <a:t>KNOWLEDGE REPRESENTATION</a:t>
            </a:r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272FBC73-D206-45C1-96E4-53614CD92D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>
                <a:solidFill>
                  <a:srgbClr val="FFFFFF"/>
                </a:solidFill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D8476B2D-B94D-4307-9644-89F667858B30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36199646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1792288" y="3600451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egnaposto immagine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it-IT" noProof="0"/>
              <a:t>Fare clic sull'icona per inserire un'immagine</a:t>
            </a:r>
            <a:endParaRPr lang="en-US" noProof="0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1792288" y="4025505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Modifica gli stili del testo dello schema
Secondo livello
Terzo livello
Quarto livello
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960E7B81-0415-45FD-AB81-D333AF2D05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 lang="it-IT" altLang="it-IT"/>
              <a:t>Introduction to KR</a:t>
            </a:r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93E77243-2F71-42BE-B622-2FC4DE67B6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 lang="it-IT"/>
              <a:t>KNOWLEDGE REPRESENTATION</a:t>
            </a:r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4516188A-68ED-4AC6-B692-6ABAE89F00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>
                <a:solidFill>
                  <a:srgbClr val="FFFFFF"/>
                </a:solidFill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96B338B3-9BD9-4219-AABA-FCF7A675F8C6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3808167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800000"/>
                </a:solidFill>
              </a:defRPr>
            </a:lvl1pPr>
          </a:lstStyle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Modifica gli stili del testo dello schema
Secondo livello
Terzo livello
Quarto livello
Quinto livello</a:t>
            </a:r>
            <a:endParaRPr lang="en-US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F836C99A-F6EA-44E5-B86D-8086FD21BB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 lang="it-IT" altLang="it-IT"/>
              <a:t>Introduction to KR</a:t>
            </a:r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FA73AB2F-0E00-4C92-A508-186E6FD6C6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 lang="it-IT"/>
              <a:t>KNOWLEDGE REPRESENTATION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42268B54-0662-4EE2-B3E9-264D1DF0D0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>
                <a:solidFill>
                  <a:srgbClr val="FFFFFF"/>
                </a:solidFill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9F91C6E6-09D2-40BD-91F2-E474F31023E0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33557252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olo verticale e tes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/>
          <p:cNvSpPr>
            <a:spLocks noGrp="1"/>
          </p:cNvSpPr>
          <p:nvPr>
            <p:ph type="title" orient="vert"/>
          </p:nvPr>
        </p:nvSpPr>
        <p:spPr>
          <a:xfrm>
            <a:off x="6629400" y="205980"/>
            <a:ext cx="2057400" cy="4388644"/>
          </a:xfrm>
        </p:spPr>
        <p:txBody>
          <a:bodyPr vert="eaVert"/>
          <a:lstStyle>
            <a:lvl1pPr>
              <a:defRPr>
                <a:solidFill>
                  <a:srgbClr val="800000"/>
                </a:solidFill>
              </a:defRPr>
            </a:lvl1pPr>
          </a:lstStyle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>
          <a:xfrm>
            <a:off x="457200" y="205980"/>
            <a:ext cx="6019800" cy="4388644"/>
          </a:xfrm>
        </p:spPr>
        <p:txBody>
          <a:bodyPr vert="eaVert"/>
          <a:lstStyle/>
          <a:p>
            <a:pPr lvl="0"/>
            <a:r>
              <a:rPr lang="it-IT"/>
              <a:t>Modifica gli stili del testo dello schema
Secondo livello
Terzo livello
Quarto livello
Quinto livello</a:t>
            </a:r>
            <a:endParaRPr lang="en-US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81144EC7-064D-4629-A13E-BC17C0C7C7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defTabSz="457200" eaLnBrk="1" hangingPunct="1">
              <a:defRPr smtClean="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 lang="it-IT" altLang="it-IT"/>
              <a:t>Introduction to KR</a:t>
            </a:r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1DBA2179-2FC3-4FAD-8BB0-1E9D316AFE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defTabSz="457200" eaLnBrk="1" fontAlgn="auto" hangingPunct="1">
              <a:spcBef>
                <a:spcPts val="0"/>
              </a:spcBef>
              <a:spcAft>
                <a:spcPts val="0"/>
              </a:spcAft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 lang="it-IT"/>
              <a:t>KNOWLEDGE REPRESENTATION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DAA0186A-B7F0-4F3A-A07F-0F1394DB09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defTabSz="457200" eaLnBrk="1" hangingPunct="1">
              <a:defRPr smtClean="0">
                <a:solidFill>
                  <a:srgbClr val="FFFFFF"/>
                </a:solidFill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D87B9D4D-E2B4-4C02-A143-BFB594918081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159109502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dgm">
  <p:cSld name="Title and Diagram or Organization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7500" y="495300"/>
            <a:ext cx="8637588" cy="61793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martArt Placeholder 2"/>
          <p:cNvSpPr>
            <a:spLocks noGrp="1"/>
          </p:cNvSpPr>
          <p:nvPr>
            <p:ph type="dgm" idx="1"/>
          </p:nvPr>
        </p:nvSpPr>
        <p:spPr>
          <a:xfrm>
            <a:off x="328613" y="1456135"/>
            <a:ext cx="8208962" cy="3086100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7CE44C37-FFE7-844F-95C7-6D1575D05FB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it-IT"/>
              <a:t>Introduction to KR</a:t>
            </a:r>
            <a:endParaRPr lang="en-GB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517AEF9C-0663-D249-BEFB-11BA36C5E75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KNOWLEDGE REPRESENTATION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9CC979E5-53E4-1242-99E1-80BFE7EB007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>
            <a:lvl1pPr>
              <a:defRPr/>
            </a:lvl1pPr>
          </a:lstStyle>
          <a:p>
            <a:fld id="{D88B0945-733E-0A44-92BE-DC0150C935E3}" type="slidenum">
              <a:rPr lang="en-GB" altLang="it-IT"/>
              <a:pPr/>
              <a:t>‹N›</a:t>
            </a:fld>
            <a:endParaRPr lang="en-GB" altLang="it-IT"/>
          </a:p>
        </p:txBody>
      </p:sp>
    </p:spTree>
    <p:extLst>
      <p:ext uri="{BB962C8B-B14F-4D97-AF65-F5344CB8AC3E}">
        <p14:creationId xmlns:p14="http://schemas.microsoft.com/office/powerpoint/2010/main" val="560343976"/>
      </p:ext>
    </p:extLst>
  </p:cSld>
  <p:clrMapOvr>
    <a:masterClrMapping/>
  </p:clrMapOvr>
  <p:transition spd="med">
    <p:randomBar dir="vert"/>
    <p:sndAc>
      <p:stSnd>
        <p:snd r:embed="rId1" name="camera.wav"/>
      </p:stSnd>
    </p:sndAc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Connettore 1 8">
            <a:extLst>
              <a:ext uri="{FF2B5EF4-FFF2-40B4-BE49-F238E27FC236}">
                <a16:creationId xmlns:a16="http://schemas.microsoft.com/office/drawing/2014/main" id="{3E4D53D9-0413-4E98-B30A-0911779B1CD8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0" y="136525"/>
            <a:ext cx="7924800" cy="0"/>
          </a:xfrm>
          <a:prstGeom prst="line">
            <a:avLst/>
          </a:prstGeom>
          <a:noFill/>
          <a:ln w="25400">
            <a:solidFill>
              <a:srgbClr val="953735"/>
            </a:solidFill>
            <a:round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051" name="Segnaposto titolo 1">
            <a:extLst>
              <a:ext uri="{FF2B5EF4-FFF2-40B4-BE49-F238E27FC236}">
                <a16:creationId xmlns:a16="http://schemas.microsoft.com/office/drawing/2014/main" id="{AA9ADE31-466F-4A6E-B2C5-67CEBCE01D34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9525"/>
            <a:ext cx="8229600" cy="857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it-IT" altLang="it-IT"/>
              <a:t>Fare clic per modificare stile</a:t>
            </a:r>
            <a:endParaRPr lang="en-US" altLang="it-IT"/>
          </a:p>
        </p:txBody>
      </p:sp>
      <p:sp>
        <p:nvSpPr>
          <p:cNvPr id="2052" name="Segnaposto testo 2">
            <a:extLst>
              <a:ext uri="{FF2B5EF4-FFF2-40B4-BE49-F238E27FC236}">
                <a16:creationId xmlns:a16="http://schemas.microsoft.com/office/drawing/2014/main" id="{11430D93-9A39-4E38-B62A-1CFA666B51B8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866775"/>
            <a:ext cx="8229600" cy="3727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it-IT" altLang="it-IT" dirty="0"/>
              <a:t>Fare clic per modificare gli stili del testo dello schema</a:t>
            </a:r>
          </a:p>
          <a:p>
            <a:pPr lvl="1"/>
            <a:r>
              <a:rPr lang="it-IT" altLang="it-IT" dirty="0"/>
              <a:t>Secondo livello</a:t>
            </a:r>
          </a:p>
          <a:p>
            <a:pPr lvl="2"/>
            <a:r>
              <a:rPr lang="it-IT" altLang="it-IT" dirty="0"/>
              <a:t>Terzo livello</a:t>
            </a:r>
          </a:p>
          <a:p>
            <a:pPr lvl="3"/>
            <a:r>
              <a:rPr lang="it-IT" altLang="it-IT" dirty="0"/>
              <a:t>Quarto livello</a:t>
            </a:r>
          </a:p>
          <a:p>
            <a:pPr lvl="4"/>
            <a:r>
              <a:rPr lang="it-IT" altLang="it-IT" dirty="0"/>
              <a:t>Quinto livello</a:t>
            </a:r>
            <a:endParaRPr lang="en-US" altLang="it-IT" dirty="0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E59039C1-3D31-4618-812B-62486E9A9CB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 smtClean="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r>
              <a:rPr lang="it-IT" altLang="it-IT"/>
              <a:t>Introduction to KR</a:t>
            </a:r>
            <a:endParaRPr lang="en-US" alt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99C481AF-DC48-4A15-B780-A6FE13CE1F1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r>
              <a:rPr lang="en-US"/>
              <a:t>KNOWLEDGE REPRESENTATION</a:t>
            </a:r>
            <a:endParaRPr lang="en-US" dirty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0915BA29-28F1-45BD-95D4-7D70F8E1C1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 smtClean="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07703C53-5324-49A8-8F9E-1D23D9472D20}" type="slidenum">
              <a:rPr lang="en-US" altLang="it-IT"/>
              <a:pPr>
                <a:defRPr/>
              </a:pPr>
              <a:t>‹N›</a:t>
            </a:fld>
            <a:endParaRPr lang="en-US" altLang="it-IT"/>
          </a:p>
        </p:txBody>
      </p:sp>
      <p:pic>
        <p:nvPicPr>
          <p:cNvPr id="3" name="Immagine 2">
            <a:extLst>
              <a:ext uri="{FF2B5EF4-FFF2-40B4-BE49-F238E27FC236}">
                <a16:creationId xmlns:a16="http://schemas.microsoft.com/office/drawing/2014/main" id="{9943039F-1152-7640-A8B6-3592FA14B476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8035975" y="18703"/>
            <a:ext cx="1108025" cy="392045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36" r:id="rId1"/>
    <p:sldLayoutId id="2147484037" r:id="rId2"/>
    <p:sldLayoutId id="2147484038" r:id="rId3"/>
    <p:sldLayoutId id="2147484039" r:id="rId4"/>
    <p:sldLayoutId id="2147484040" r:id="rId5"/>
    <p:sldLayoutId id="2147484041" r:id="rId6"/>
    <p:sldLayoutId id="2147484042" r:id="rId7"/>
    <p:sldLayoutId id="2147484043" r:id="rId8"/>
    <p:sldLayoutId id="2147484044" r:id="rId9"/>
    <p:sldLayoutId id="2147484045" r:id="rId10"/>
    <p:sldLayoutId id="2147484046" r:id="rId11"/>
    <p:sldLayoutId id="2147484047" r:id="rId12"/>
  </p:sldLayoutIdLst>
  <p:hf hdr="0"/>
  <p:txStyles>
    <p:titleStyle>
      <a:lvl1pPr algn="ctr" defTabSz="457200" rtl="0" eaLnBrk="1" fontAlgn="base" hangingPunct="1">
        <a:spcBef>
          <a:spcPct val="0"/>
        </a:spcBef>
        <a:spcAft>
          <a:spcPct val="0"/>
        </a:spcAft>
        <a:defRPr sz="4400" kern="1200">
          <a:solidFill>
            <a:srgbClr val="800000"/>
          </a:solidFill>
          <a:latin typeface="+mj-lt"/>
          <a:ea typeface="MS PGothic" panose="020B0600070205080204" pitchFamily="34" charset="-128"/>
          <a:cs typeface="ＭＳ Ｐゴシック" charset="0"/>
        </a:defRPr>
      </a:lvl1pPr>
      <a:lvl2pPr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rgbClr val="800000"/>
          </a:solidFill>
          <a:latin typeface="Calibri" charset="0"/>
          <a:ea typeface="MS PGothic" panose="020B0600070205080204" pitchFamily="34" charset="-128"/>
          <a:cs typeface="ＭＳ Ｐゴシック" charset="0"/>
        </a:defRPr>
      </a:lvl2pPr>
      <a:lvl3pPr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rgbClr val="800000"/>
          </a:solidFill>
          <a:latin typeface="Calibri" charset="0"/>
          <a:ea typeface="MS PGothic" panose="020B0600070205080204" pitchFamily="34" charset="-128"/>
          <a:cs typeface="ＭＳ Ｐゴシック" charset="0"/>
        </a:defRPr>
      </a:lvl3pPr>
      <a:lvl4pPr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rgbClr val="800000"/>
          </a:solidFill>
          <a:latin typeface="Calibri" charset="0"/>
          <a:ea typeface="MS PGothic" panose="020B0600070205080204" pitchFamily="34" charset="-128"/>
          <a:cs typeface="ＭＳ Ｐゴシック" charset="0"/>
        </a:defRPr>
      </a:lvl4pPr>
      <a:lvl5pPr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rgbClr val="800000"/>
          </a:solidFill>
          <a:latin typeface="Calibri" charset="0"/>
          <a:ea typeface="MS PGothic" panose="020B0600070205080204" pitchFamily="34" charset="-128"/>
          <a:cs typeface="ＭＳ Ｐゴシック" charset="0"/>
        </a:defRPr>
      </a:lvl5pPr>
      <a:lvl6pPr marL="457200"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rgbClr val="800000"/>
          </a:solidFill>
          <a:latin typeface="Calibri" charset="0"/>
          <a:ea typeface="ＭＳ Ｐゴシック" charset="0"/>
          <a:cs typeface="ＭＳ Ｐゴシック" charset="0"/>
        </a:defRPr>
      </a:lvl6pPr>
      <a:lvl7pPr marL="914400"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rgbClr val="800000"/>
          </a:solidFill>
          <a:latin typeface="Calibri" charset="0"/>
          <a:ea typeface="ＭＳ Ｐゴシック" charset="0"/>
          <a:cs typeface="ＭＳ Ｐゴシック" charset="0"/>
        </a:defRPr>
      </a:lvl7pPr>
      <a:lvl8pPr marL="1371600"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rgbClr val="800000"/>
          </a:solidFill>
          <a:latin typeface="Calibri" charset="0"/>
          <a:ea typeface="ＭＳ Ｐゴシック" charset="0"/>
          <a:cs typeface="ＭＳ Ｐゴシック" charset="0"/>
        </a:defRPr>
      </a:lvl8pPr>
      <a:lvl9pPr marL="1828800"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rgbClr val="800000"/>
          </a:solidFill>
          <a:latin typeface="Calibri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MS PGothic" panose="020B0600070205080204" pitchFamily="34" charset="-128"/>
          <a:cs typeface="ＭＳ Ｐゴシック" charset="0"/>
        </a:defRPr>
      </a:lvl1pPr>
      <a:lvl2pPr marL="742950" indent="-28575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2pPr>
      <a:lvl3pPr marL="11430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3pPr>
      <a:lvl4pPr marL="16002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4pPr>
      <a:lvl5pPr marL="20574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://www.cs.man.ac.uk/~ezolin/dl/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>
            <a:extLst>
              <a:ext uri="{FF2B5EF4-FFF2-40B4-BE49-F238E27FC236}">
                <a16:creationId xmlns:a16="http://schemas.microsoft.com/office/drawing/2014/main" id="{495ECE64-F2A7-4B42-9294-67E7C03112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38128" y="4092351"/>
            <a:ext cx="3348038" cy="622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7866" tIns="33338" rIns="67866" bIns="33338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it-IT" sz="1800" dirty="0">
                <a:latin typeface="Tahoma" panose="020B0604030504040204" pitchFamily="34" charset="0"/>
              </a:rPr>
              <a:t>Computer Science Department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it-IT" sz="1800" dirty="0">
                <a:latin typeface="Tahoma" panose="020B0604030504040204" pitchFamily="34" charset="0"/>
              </a:rPr>
              <a:t>University of Verona - Italy</a:t>
            </a:r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B34E587E-09E1-4E74-AE2B-B98A49061505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93216" y="843558"/>
            <a:ext cx="7772400" cy="2088232"/>
          </a:xfrm>
          <a:effectLst>
            <a:outerShdw blurRad="63500" dist="81320" dir="2319588" algn="ctr" rotWithShape="0">
              <a:schemeClr val="bg2">
                <a:alpha val="74997"/>
              </a:schemeClr>
            </a:outerShdw>
          </a:effectLst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600" b="1" dirty="0">
                <a:ea typeface="+mj-ea"/>
                <a:cs typeface="+mj-cs"/>
              </a:rPr>
              <a:t>Unit 2: Reasoning in AL and ALN</a:t>
            </a:r>
            <a:endParaRPr lang="en-US" sz="3600" dirty="0">
              <a:ea typeface="+mj-ea"/>
              <a:cs typeface="+mj-cs"/>
            </a:endParaRPr>
          </a:p>
        </p:txBody>
      </p:sp>
      <p:pic>
        <p:nvPicPr>
          <p:cNvPr id="28677" name="Immagine 25" descr="univr-color.gif">
            <a:extLst>
              <a:ext uri="{FF2B5EF4-FFF2-40B4-BE49-F238E27FC236}">
                <a16:creationId xmlns:a16="http://schemas.microsoft.com/office/drawing/2014/main" id="{0F2A3EAB-47C4-4463-9952-A31D235A5E5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67141" y="3805014"/>
            <a:ext cx="109855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8678" name="CasellaDiTesto 1">
            <a:extLst>
              <a:ext uri="{FF2B5EF4-FFF2-40B4-BE49-F238E27FC236}">
                <a16:creationId xmlns:a16="http://schemas.microsoft.com/office/drawing/2014/main" id="{7FE76117-C115-45E9-82F7-562E82BF0E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04213" y="2008188"/>
            <a:ext cx="18415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it-IT" sz="1800" dirty="0">
              <a:latin typeface="Tahoma" panose="020B060403050404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olo 6">
            <a:extLst>
              <a:ext uri="{FF2B5EF4-FFF2-40B4-BE49-F238E27FC236}">
                <a16:creationId xmlns:a16="http://schemas.microsoft.com/office/drawing/2014/main" id="{ACDFC462-06ED-DF60-5190-18A435C857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Computing </a:t>
            </a:r>
            <a:r>
              <a:rPr lang="it-IT" dirty="0" err="1"/>
              <a:t>subsumption</a:t>
            </a:r>
            <a:endParaRPr lang="it-IT" dirty="0"/>
          </a:p>
        </p:txBody>
      </p:sp>
      <p:sp>
        <p:nvSpPr>
          <p:cNvPr id="8" name="Segnaposto testo 7">
            <a:extLst>
              <a:ext uri="{FF2B5EF4-FFF2-40B4-BE49-F238E27FC236}">
                <a16:creationId xmlns:a16="http://schemas.microsoft.com/office/drawing/2014/main" id="{C081B81A-C255-BFB7-FD6F-465D237229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/>
              <a:t>Unit 2 – </a:t>
            </a:r>
            <a:r>
              <a:rPr lang="it-IT" dirty="0" err="1"/>
              <a:t>Lecture</a:t>
            </a:r>
            <a:r>
              <a:rPr lang="it-IT" dirty="0"/>
              <a:t> 2.2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77E0AE89-6CC4-C2D7-3FE0-F95B9537A1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it-IT" altLang="it-IT"/>
              <a:t>Introduction to KR</a:t>
            </a:r>
            <a:endParaRPr lang="it-IT" alt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C73A16DA-CF2B-B592-926E-E8772A0DEC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KNOWLEDGE REPRESENTATION</a:t>
            </a:r>
            <a:endParaRPr lang="en-US" dirty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B70DA911-FAC2-47CD-479F-AEA42CCD8A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CD341D-7438-4FA4-973F-6F9EECBD14B9}" type="slidenum">
              <a:rPr lang="it-IT" altLang="it-IT" smtClean="0"/>
              <a:pPr>
                <a:defRPr/>
              </a:pPr>
              <a:t>2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32811741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olo 6">
            <a:extLst>
              <a:ext uri="{FF2B5EF4-FFF2-40B4-BE49-F238E27FC236}">
                <a16:creationId xmlns:a16="http://schemas.microsoft.com/office/drawing/2014/main" id="{E6C00DD5-9739-8F4B-BD61-186CADD4D3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AGENDA</a:t>
            </a:r>
          </a:p>
        </p:txBody>
      </p:sp>
      <p:sp>
        <p:nvSpPr>
          <p:cNvPr id="8" name="Segnaposto contenuto 7">
            <a:extLst>
              <a:ext uri="{FF2B5EF4-FFF2-40B4-BE49-F238E27FC236}">
                <a16:creationId xmlns:a16="http://schemas.microsoft.com/office/drawing/2014/main" id="{153FF3DC-6184-5941-9F7D-B4A07BEF0E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/>
              <a:t>The </a:t>
            </a:r>
            <a:r>
              <a:rPr lang="it-IT" dirty="0" err="1"/>
              <a:t>subsumption</a:t>
            </a:r>
            <a:r>
              <a:rPr lang="it-IT" dirty="0"/>
              <a:t> </a:t>
            </a:r>
            <a:r>
              <a:rPr lang="it-IT" dirty="0" err="1"/>
              <a:t>problem</a:t>
            </a:r>
            <a:endParaRPr lang="it-IT" dirty="0"/>
          </a:p>
          <a:p>
            <a:r>
              <a:rPr lang="it-IT" dirty="0"/>
              <a:t>T-box tasks</a:t>
            </a:r>
          </a:p>
          <a:p>
            <a:r>
              <a:rPr lang="it-IT" dirty="0"/>
              <a:t>A-box tasks</a:t>
            </a:r>
          </a:p>
          <a:p>
            <a:r>
              <a:rPr lang="it-IT" dirty="0"/>
              <a:t>Compound tasks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B976194E-917B-E94B-A559-3F44EF7C4A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it-IT" altLang="it-IT"/>
              <a:t>Introduction to KR</a:t>
            </a:r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88AE3703-A676-9D4E-93BC-21794BD514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it-IT"/>
              <a:t>KNOWLEDGE REPRESENTATION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C8553403-EEFA-344A-B2E0-EB273763FB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FA0980B-2DE9-40AD-8A4E-40673DB95E95}" type="slidenum">
              <a:rPr lang="it-IT" altLang="it-IT" smtClean="0"/>
              <a:pPr>
                <a:defRPr/>
              </a:pPr>
              <a:t>3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27731894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94A4E8C-9A15-0048-69E4-119C015008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Expression</a:t>
            </a:r>
            <a:r>
              <a:rPr lang="it-IT" dirty="0"/>
              <a:t> tasks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C6F3705-8C01-178E-99EF-583A229BEA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/>
              <a:t>In general </a:t>
            </a:r>
            <a:r>
              <a:rPr lang="it-IT" dirty="0" err="1"/>
              <a:t>we</a:t>
            </a:r>
            <a:r>
              <a:rPr lang="it-IT" dirty="0"/>
              <a:t> are </a:t>
            </a:r>
            <a:r>
              <a:rPr lang="it-IT" dirty="0" err="1"/>
              <a:t>interested</a:t>
            </a:r>
            <a:r>
              <a:rPr lang="it-IT" dirty="0"/>
              <a:t> in solving </a:t>
            </a:r>
            <a:r>
              <a:rPr lang="it-IT" b="1" dirty="0" err="1"/>
              <a:t>specific</a:t>
            </a:r>
            <a:r>
              <a:rPr lang="it-IT" b="1" dirty="0"/>
              <a:t> </a:t>
            </a:r>
            <a:r>
              <a:rPr lang="it-IT" b="1" dirty="0" err="1"/>
              <a:t>reasoning</a:t>
            </a:r>
            <a:r>
              <a:rPr lang="it-IT" b="1" dirty="0"/>
              <a:t> tasks</a:t>
            </a:r>
            <a:r>
              <a:rPr lang="it-IT" dirty="0"/>
              <a:t> more </a:t>
            </a:r>
            <a:r>
              <a:rPr lang="it-IT" dirty="0" err="1"/>
              <a:t>than</a:t>
            </a:r>
            <a:r>
              <a:rPr lang="it-IT" dirty="0"/>
              <a:t> just </a:t>
            </a:r>
            <a:r>
              <a:rPr lang="it-IT" dirty="0" err="1"/>
              <a:t>universal</a:t>
            </a:r>
            <a:r>
              <a:rPr lang="it-IT" dirty="0"/>
              <a:t> tasks</a:t>
            </a:r>
          </a:p>
          <a:p>
            <a:pPr lvl="1"/>
            <a:r>
              <a:rPr lang="it-IT" dirty="0" err="1"/>
              <a:t>Is</a:t>
            </a:r>
            <a:r>
              <a:rPr lang="it-IT" dirty="0"/>
              <a:t> concept A SAT?</a:t>
            </a:r>
          </a:p>
          <a:p>
            <a:pPr lvl="1"/>
            <a:r>
              <a:rPr lang="it-IT" dirty="0" err="1"/>
              <a:t>Is</a:t>
            </a:r>
            <a:r>
              <a:rPr lang="it-IT" dirty="0"/>
              <a:t> concept A UNSAT?</a:t>
            </a:r>
          </a:p>
          <a:p>
            <a:pPr lvl="1"/>
            <a:r>
              <a:rPr lang="it-IT" dirty="0" err="1"/>
              <a:t>Is</a:t>
            </a:r>
            <a:r>
              <a:rPr lang="it-IT" dirty="0"/>
              <a:t> concept A a </a:t>
            </a:r>
            <a:r>
              <a:rPr lang="it-IT" dirty="0" err="1"/>
              <a:t>subconcept</a:t>
            </a:r>
            <a:r>
              <a:rPr lang="it-IT" dirty="0"/>
              <a:t> of concept B?</a:t>
            </a:r>
          </a:p>
          <a:p>
            <a:pPr lvl="1"/>
            <a:r>
              <a:rPr lang="it-IT" dirty="0"/>
              <a:t>Are concept A and B </a:t>
            </a:r>
            <a:r>
              <a:rPr lang="it-IT" dirty="0" err="1"/>
              <a:t>equivalent</a:t>
            </a:r>
            <a:r>
              <a:rPr lang="it-IT" dirty="0"/>
              <a:t>?</a:t>
            </a:r>
          </a:p>
          <a:p>
            <a:pPr lvl="1"/>
            <a:r>
              <a:rPr lang="it-IT" dirty="0"/>
              <a:t>Are concept A and B </a:t>
            </a:r>
            <a:r>
              <a:rPr lang="it-IT" dirty="0" err="1"/>
              <a:t>disjoint</a:t>
            </a:r>
            <a:r>
              <a:rPr lang="it-IT" dirty="0"/>
              <a:t>?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F775EF59-367E-0BF2-2C5F-356F0AAA23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it-IT" altLang="it-IT"/>
              <a:t>Introduction to KR</a:t>
            </a:r>
            <a:endParaRPr lang="it-IT" alt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FAE42AC5-7505-6757-657D-48DD298D9F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KNOWLEDGE REPRESENTATION</a:t>
            </a:r>
            <a:endParaRPr lang="en-US" dirty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DFD4CE2D-2961-C665-AAF7-0C998AA6CB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CD341D-7438-4FA4-973F-6F9EECBD14B9}" type="slidenum">
              <a:rPr lang="it-IT" altLang="it-IT" smtClean="0"/>
              <a:pPr>
                <a:defRPr/>
              </a:pPr>
              <a:t>4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38818520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D33209B-DE08-F216-FEE5-D9D696FBCD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General </a:t>
            </a:r>
            <a:r>
              <a:rPr lang="it-IT" dirty="0" err="1"/>
              <a:t>equivalence</a:t>
            </a:r>
            <a:r>
              <a:rPr lang="it-IT" dirty="0"/>
              <a:t> </a:t>
            </a:r>
            <a:r>
              <a:rPr lang="it-IT" dirty="0" err="1"/>
              <a:t>notion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11ABCD3F-04D2-47C5-C3E0-39DD821141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sz="2400" dirty="0" err="1"/>
              <a:t>It</a:t>
            </a:r>
            <a:r>
              <a:rPr lang="it-IT" sz="2400" dirty="0"/>
              <a:t> </a:t>
            </a:r>
            <a:r>
              <a:rPr lang="it-IT" sz="2400" dirty="0" err="1"/>
              <a:t>is</a:t>
            </a:r>
            <a:r>
              <a:rPr lang="it-IT" sz="2400" dirty="0"/>
              <a:t> easy to </a:t>
            </a:r>
            <a:r>
              <a:rPr lang="it-IT" sz="2400" dirty="0" err="1"/>
              <a:t>devise</a:t>
            </a:r>
            <a:r>
              <a:rPr lang="it-IT" sz="2400" dirty="0"/>
              <a:t> the following </a:t>
            </a:r>
            <a:r>
              <a:rPr lang="it-IT" sz="2400" dirty="0" err="1"/>
              <a:t>logic</a:t>
            </a:r>
            <a:r>
              <a:rPr lang="it-IT" sz="2400" dirty="0"/>
              <a:t> </a:t>
            </a:r>
            <a:r>
              <a:rPr lang="it-IT" sz="2400" dirty="0" err="1"/>
              <a:t>equivalence</a:t>
            </a:r>
            <a:endParaRPr lang="it-IT" sz="2400" dirty="0"/>
          </a:p>
          <a:p>
            <a:pPr lvl="1"/>
            <a:r>
              <a:rPr lang="it-IT" sz="2000" dirty="0"/>
              <a:t>SAT can be </a:t>
            </a:r>
            <a:r>
              <a:rPr lang="it-IT" sz="2000" dirty="0" err="1"/>
              <a:t>used</a:t>
            </a:r>
            <a:r>
              <a:rPr lang="it-IT" sz="2000" dirty="0"/>
              <a:t> to solve UNSAT. </a:t>
            </a:r>
            <a:r>
              <a:rPr lang="it-IT" sz="2000" dirty="0" err="1"/>
              <a:t>If</a:t>
            </a:r>
            <a:r>
              <a:rPr lang="it-IT" sz="2000" dirty="0"/>
              <a:t> </a:t>
            </a:r>
            <a:r>
              <a:rPr lang="it-IT" sz="2000" dirty="0" err="1"/>
              <a:t>you</a:t>
            </a:r>
            <a:r>
              <a:rPr lang="it-IT" sz="2000" dirty="0"/>
              <a:t> </a:t>
            </a:r>
            <a:r>
              <a:rPr lang="it-IT" sz="2000" dirty="0" err="1"/>
              <a:t>ask</a:t>
            </a:r>
            <a:r>
              <a:rPr lang="it-IT" sz="2000" dirty="0"/>
              <a:t> a system to </a:t>
            </a:r>
            <a:r>
              <a:rPr lang="it-IT" sz="2000" dirty="0" err="1"/>
              <a:t>answer</a:t>
            </a:r>
            <a:r>
              <a:rPr lang="it-IT" sz="2000" dirty="0"/>
              <a:t> to «</a:t>
            </a:r>
            <a:r>
              <a:rPr lang="it-IT" sz="2000" dirty="0" err="1"/>
              <a:t>Is</a:t>
            </a:r>
            <a:r>
              <a:rPr lang="it-IT" sz="2000" dirty="0"/>
              <a:t> A a SAT concept», the </a:t>
            </a:r>
            <a:r>
              <a:rPr lang="it-IT" sz="2000" dirty="0" err="1"/>
              <a:t>answer</a:t>
            </a:r>
            <a:r>
              <a:rPr lang="it-IT" sz="2000" dirty="0"/>
              <a:t> NO </a:t>
            </a:r>
            <a:r>
              <a:rPr lang="it-IT" sz="2000" dirty="0" err="1"/>
              <a:t>has</a:t>
            </a:r>
            <a:r>
              <a:rPr lang="it-IT" sz="2000" dirty="0"/>
              <a:t> to be </a:t>
            </a:r>
            <a:r>
              <a:rPr lang="it-IT" sz="2000" dirty="0" err="1"/>
              <a:t>interpreted</a:t>
            </a:r>
            <a:r>
              <a:rPr lang="it-IT" sz="2000" dirty="0"/>
              <a:t> </a:t>
            </a:r>
            <a:r>
              <a:rPr lang="it-IT" sz="2000" dirty="0" err="1"/>
              <a:t>as</a:t>
            </a:r>
            <a:r>
              <a:rPr lang="it-IT" sz="2000" dirty="0"/>
              <a:t> the </a:t>
            </a:r>
            <a:r>
              <a:rPr lang="it-IT" sz="2000" dirty="0" err="1"/>
              <a:t>solution</a:t>
            </a:r>
            <a:r>
              <a:rPr lang="it-IT" sz="2000" dirty="0"/>
              <a:t> to the UNSAT </a:t>
            </a:r>
            <a:r>
              <a:rPr lang="it-IT" sz="2000" dirty="0" err="1"/>
              <a:t>problem</a:t>
            </a:r>
            <a:endParaRPr lang="it-IT" sz="2000" dirty="0"/>
          </a:p>
          <a:p>
            <a:pPr lvl="1"/>
            <a:r>
              <a:rPr lang="it-IT" sz="2000" dirty="0"/>
              <a:t>UNSAT can be </a:t>
            </a:r>
            <a:r>
              <a:rPr lang="it-IT" sz="2000" dirty="0" err="1"/>
              <a:t>used</a:t>
            </a:r>
            <a:r>
              <a:rPr lang="it-IT" sz="2000" dirty="0"/>
              <a:t> to solve SAT. </a:t>
            </a:r>
          </a:p>
          <a:p>
            <a:pPr lvl="1"/>
            <a:r>
              <a:rPr lang="it-IT" sz="2000" dirty="0" err="1"/>
              <a:t>Therefore</a:t>
            </a:r>
            <a:r>
              <a:rPr lang="it-IT" sz="2000" dirty="0"/>
              <a:t> SAT and UNSAT are </a:t>
            </a:r>
            <a:r>
              <a:rPr lang="it-IT" sz="2000" i="1" dirty="0" err="1"/>
              <a:t>equivalently</a:t>
            </a:r>
            <a:r>
              <a:rPr lang="it-IT" sz="2000" i="1" dirty="0"/>
              <a:t> </a:t>
            </a:r>
            <a:r>
              <a:rPr lang="it-IT" sz="2000" i="1" dirty="0" err="1"/>
              <a:t>computable</a:t>
            </a:r>
            <a:endParaRPr lang="it-IT" sz="2000" dirty="0"/>
          </a:p>
          <a:p>
            <a:pPr lvl="1"/>
            <a:r>
              <a:rPr lang="it-IT" sz="2000" dirty="0" err="1"/>
              <a:t>This</a:t>
            </a:r>
            <a:r>
              <a:rPr lang="it-IT" sz="2000" dirty="0"/>
              <a:t>, </a:t>
            </a:r>
            <a:r>
              <a:rPr lang="it-IT" sz="2000" dirty="0" err="1"/>
              <a:t>however</a:t>
            </a:r>
            <a:r>
              <a:rPr lang="it-IT" sz="2000" dirty="0"/>
              <a:t>, </a:t>
            </a:r>
            <a:r>
              <a:rPr lang="it-IT" sz="2000" dirty="0" err="1"/>
              <a:t>does</a:t>
            </a:r>
            <a:r>
              <a:rPr lang="it-IT" sz="2000" dirty="0"/>
              <a:t> </a:t>
            </a:r>
            <a:r>
              <a:rPr lang="it-IT" sz="2000" dirty="0" err="1"/>
              <a:t>not</a:t>
            </a:r>
            <a:r>
              <a:rPr lang="it-IT" sz="2000" dirty="0"/>
              <a:t> </a:t>
            </a:r>
            <a:r>
              <a:rPr lang="it-IT" sz="2000" dirty="0" err="1"/>
              <a:t>mean</a:t>
            </a:r>
            <a:r>
              <a:rPr lang="it-IT" sz="2000" dirty="0"/>
              <a:t> </a:t>
            </a:r>
            <a:r>
              <a:rPr lang="it-IT" sz="2000" dirty="0" err="1"/>
              <a:t>that</a:t>
            </a:r>
            <a:r>
              <a:rPr lang="it-IT" sz="2000" dirty="0"/>
              <a:t> </a:t>
            </a:r>
            <a:r>
              <a:rPr lang="it-IT" sz="2000" dirty="0" err="1"/>
              <a:t>they</a:t>
            </a:r>
            <a:r>
              <a:rPr lang="it-IT" sz="2000" dirty="0"/>
              <a:t> are </a:t>
            </a:r>
            <a:r>
              <a:rPr lang="it-IT" sz="2000" i="1" dirty="0" err="1"/>
              <a:t>computationally</a:t>
            </a:r>
            <a:r>
              <a:rPr lang="it-IT" sz="2000" i="1" dirty="0"/>
              <a:t> </a:t>
            </a:r>
            <a:r>
              <a:rPr lang="it-IT" sz="2000" i="1" dirty="0" err="1"/>
              <a:t>equivalent</a:t>
            </a:r>
            <a:endParaRPr lang="it-IT" sz="2000" dirty="0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0B4F8FFD-F33B-AA35-CFEB-4B6D6A1B96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it-IT" altLang="it-IT"/>
              <a:t>Introduction to KR</a:t>
            </a:r>
            <a:endParaRPr lang="it-IT" alt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4877B85-E330-0A39-34FB-BBBF71719D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KNOWLEDGE REPRESENTATION</a:t>
            </a:r>
            <a:endParaRPr lang="en-US" dirty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6EDB80C9-DD87-4E15-3F9A-C29F4A074A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CD341D-7438-4FA4-973F-6F9EECBD14B9}" type="slidenum">
              <a:rPr lang="it-IT" altLang="it-IT" smtClean="0"/>
              <a:pPr>
                <a:defRPr/>
              </a:pPr>
              <a:t>5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27492139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100EB78-A6A7-EAB3-950B-8DEF36553A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Subsumption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F1AB254E-FA75-1870-D215-E2DBC76002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/>
              <a:t>The </a:t>
            </a:r>
            <a:r>
              <a:rPr lang="it-IT" dirty="0" err="1"/>
              <a:t>problem</a:t>
            </a:r>
            <a:r>
              <a:rPr lang="it-IT" dirty="0"/>
              <a:t> of </a:t>
            </a:r>
            <a:r>
              <a:rPr lang="it-IT" dirty="0" err="1"/>
              <a:t>subsumption</a:t>
            </a:r>
            <a:r>
              <a:rPr lang="it-IT" dirty="0"/>
              <a:t> </a:t>
            </a:r>
            <a:r>
              <a:rPr lang="it-IT" dirty="0" err="1"/>
              <a:t>is</a:t>
            </a:r>
            <a:r>
              <a:rPr lang="it-IT" dirty="0"/>
              <a:t> the following:</a:t>
            </a:r>
          </a:p>
          <a:p>
            <a:pPr lvl="1"/>
            <a:r>
              <a:rPr lang="it-IT" dirty="0"/>
              <a:t>Can the concept A be </a:t>
            </a:r>
            <a:r>
              <a:rPr lang="it-IT" dirty="0" err="1"/>
              <a:t>generalised</a:t>
            </a:r>
            <a:r>
              <a:rPr lang="it-IT" dirty="0"/>
              <a:t> </a:t>
            </a:r>
            <a:r>
              <a:rPr lang="it-IT" dirty="0" err="1"/>
              <a:t>into</a:t>
            </a:r>
            <a:r>
              <a:rPr lang="it-IT" dirty="0"/>
              <a:t> the concept B?</a:t>
            </a:r>
          </a:p>
          <a:p>
            <a:r>
              <a:rPr lang="it-IT" dirty="0" err="1"/>
              <a:t>This</a:t>
            </a:r>
            <a:r>
              <a:rPr lang="it-IT" dirty="0"/>
              <a:t> </a:t>
            </a:r>
            <a:r>
              <a:rPr lang="it-IT" dirty="0" err="1"/>
              <a:t>problem</a:t>
            </a:r>
            <a:r>
              <a:rPr lang="it-IT" dirty="0"/>
              <a:t> </a:t>
            </a:r>
            <a:r>
              <a:rPr lang="it-IT" dirty="0" err="1"/>
              <a:t>is</a:t>
            </a:r>
            <a:r>
              <a:rPr lang="it-IT" dirty="0"/>
              <a:t> ONE of the </a:t>
            </a:r>
            <a:r>
              <a:rPr lang="it-IT" dirty="0" err="1"/>
              <a:t>basics</a:t>
            </a:r>
            <a:r>
              <a:rPr lang="it-IT" dirty="0"/>
              <a:t> in DL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647EE535-B757-30D4-50DE-3C990A8CC2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it-IT" altLang="it-IT"/>
              <a:t>Introduction to KR</a:t>
            </a:r>
            <a:endParaRPr lang="it-IT" alt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470B6247-C567-ABAB-BD2C-2D39D0B318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KNOWLEDGE REPRESENTATION</a:t>
            </a:r>
            <a:endParaRPr lang="en-US" dirty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F32DAE22-0231-34CA-1607-4A52EBC38D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CD341D-7438-4FA4-973F-6F9EECBD14B9}" type="slidenum">
              <a:rPr lang="it-IT" altLang="it-IT" smtClean="0"/>
              <a:pPr>
                <a:defRPr/>
              </a:pPr>
              <a:t>6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13986263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4613A48-DB99-C94B-09A9-6767EB7436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General </a:t>
            </a:r>
            <a:r>
              <a:rPr lang="it-IT" dirty="0" err="1"/>
              <a:t>equivalences</a:t>
            </a:r>
            <a:r>
              <a:rPr lang="it-IT" dirty="0"/>
              <a:t> </a:t>
            </a:r>
            <a:r>
              <a:rPr lang="it-IT" dirty="0" err="1"/>
              <a:t>revisited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013B1EEC-22BC-288F-BAA9-FB6FE603B3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 err="1"/>
              <a:t>Let</a:t>
            </a:r>
            <a:r>
              <a:rPr lang="it-IT" dirty="0"/>
              <a:t> </a:t>
            </a:r>
            <a:r>
              <a:rPr lang="it-IT" dirty="0" err="1"/>
              <a:t>us</a:t>
            </a:r>
            <a:r>
              <a:rPr lang="it-IT" dirty="0"/>
              <a:t> assume </a:t>
            </a:r>
            <a:r>
              <a:rPr lang="it-IT" dirty="0" err="1"/>
              <a:t>that</a:t>
            </a:r>
            <a:r>
              <a:rPr lang="it-IT" dirty="0"/>
              <a:t> </a:t>
            </a:r>
            <a:r>
              <a:rPr lang="it-IT" dirty="0" err="1"/>
              <a:t>we</a:t>
            </a:r>
            <a:r>
              <a:rPr lang="it-IT" dirty="0"/>
              <a:t> can solve </a:t>
            </a:r>
            <a:r>
              <a:rPr lang="it-IT" dirty="0" err="1"/>
              <a:t>subsumption</a:t>
            </a:r>
            <a:r>
              <a:rPr lang="it-IT" dirty="0"/>
              <a:t> in a </a:t>
            </a:r>
            <a:r>
              <a:rPr lang="it-IT" dirty="0" err="1"/>
              <a:t>logical</a:t>
            </a:r>
            <a:r>
              <a:rPr lang="it-IT" dirty="0"/>
              <a:t> system</a:t>
            </a:r>
          </a:p>
          <a:p>
            <a:r>
              <a:rPr lang="it-IT" dirty="0"/>
              <a:t>Can </a:t>
            </a:r>
            <a:r>
              <a:rPr lang="it-IT" dirty="0" err="1"/>
              <a:t>we</a:t>
            </a:r>
            <a:r>
              <a:rPr lang="it-IT" dirty="0"/>
              <a:t> solve SAT by </a:t>
            </a:r>
            <a:r>
              <a:rPr lang="it-IT" dirty="0" err="1"/>
              <a:t>using</a:t>
            </a:r>
            <a:r>
              <a:rPr lang="it-IT" dirty="0"/>
              <a:t> </a:t>
            </a:r>
            <a:r>
              <a:rPr lang="it-IT" dirty="0" err="1"/>
              <a:t>subsumption</a:t>
            </a:r>
            <a:r>
              <a:rPr lang="it-IT" dirty="0"/>
              <a:t>? Or UNSAT? </a:t>
            </a:r>
          </a:p>
          <a:p>
            <a:r>
              <a:rPr lang="it-IT" dirty="0" err="1"/>
              <a:t>What</a:t>
            </a:r>
            <a:r>
              <a:rPr lang="it-IT" dirty="0"/>
              <a:t> </a:t>
            </a:r>
            <a:r>
              <a:rPr lang="it-IT" dirty="0" err="1"/>
              <a:t>about</a:t>
            </a:r>
            <a:r>
              <a:rPr lang="it-IT" dirty="0"/>
              <a:t> the opposite?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F98AFB2B-91DC-4FFA-D020-7079755F6B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it-IT" altLang="it-IT"/>
              <a:t>Introduction to KR</a:t>
            </a:r>
            <a:endParaRPr lang="it-IT" alt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74201103-0753-FC2A-E909-47BAA1D610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KNOWLEDGE REPRESENTATION</a:t>
            </a:r>
            <a:endParaRPr lang="en-US" dirty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8A7F8793-1BCA-820D-9684-8478DD761B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CD341D-7438-4FA4-973F-6F9EECBD14B9}" type="slidenum">
              <a:rPr lang="it-IT" altLang="it-IT" smtClean="0"/>
              <a:pPr>
                <a:defRPr/>
              </a:pPr>
              <a:t>7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6474911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B2F8364-A0A0-C7DB-DE84-969F70D06F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General </a:t>
            </a:r>
            <a:r>
              <a:rPr lang="it-IT" dirty="0" err="1"/>
              <a:t>equivalences</a:t>
            </a:r>
            <a:r>
              <a:rPr lang="it-IT" dirty="0"/>
              <a:t> </a:t>
            </a:r>
            <a:r>
              <a:rPr lang="it-IT" dirty="0" err="1"/>
              <a:t>revisited</a:t>
            </a:r>
            <a:r>
              <a:rPr lang="it-IT" dirty="0"/>
              <a:t> (</a:t>
            </a:r>
            <a:r>
              <a:rPr lang="it-IT" dirty="0" err="1"/>
              <a:t>ctd</a:t>
            </a:r>
            <a:r>
              <a:rPr lang="it-IT" dirty="0"/>
              <a:t>)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906F6011-7E99-FC51-C4A1-A80B70613C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sz="2800" dirty="0"/>
              <a:t>A </a:t>
            </a:r>
            <a:r>
              <a:rPr lang="it-IT" sz="2800" dirty="0">
                <a:latin typeface="Calibri" panose="020F0502020204030204" pitchFamily="34" charset="0"/>
                <a:cs typeface="Calibri" panose="020F0502020204030204" pitchFamily="34" charset="0"/>
              </a:rPr>
              <a:t>⊑ ⊥ </a:t>
            </a:r>
            <a:r>
              <a:rPr lang="it-IT" sz="2800" dirty="0" err="1">
                <a:latin typeface="Calibri" panose="020F0502020204030204" pitchFamily="34" charset="0"/>
                <a:cs typeface="Calibri" panose="020F0502020204030204" pitchFamily="34" charset="0"/>
              </a:rPr>
              <a:t>means</a:t>
            </a:r>
            <a:r>
              <a:rPr lang="it-IT" sz="2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it-IT" sz="2800" dirty="0" err="1">
                <a:latin typeface="Calibri" panose="020F0502020204030204" pitchFamily="34" charset="0"/>
                <a:cs typeface="Calibri" panose="020F0502020204030204" pitchFamily="34" charset="0"/>
              </a:rPr>
              <a:t>that</a:t>
            </a:r>
            <a:r>
              <a:rPr lang="it-IT" sz="2800" dirty="0">
                <a:latin typeface="Calibri" panose="020F0502020204030204" pitchFamily="34" charset="0"/>
                <a:cs typeface="Calibri" panose="020F0502020204030204" pitchFamily="34" charset="0"/>
              </a:rPr>
              <a:t> A </a:t>
            </a:r>
            <a:r>
              <a:rPr lang="it-IT" sz="2800" dirty="0" err="1">
                <a:latin typeface="Calibri" panose="020F0502020204030204" pitchFamily="34" charset="0"/>
                <a:cs typeface="Calibri" panose="020F0502020204030204" pitchFamily="34" charset="0"/>
              </a:rPr>
              <a:t>is</a:t>
            </a:r>
            <a:r>
              <a:rPr lang="it-IT" sz="2800" dirty="0">
                <a:latin typeface="Calibri" panose="020F0502020204030204" pitchFamily="34" charset="0"/>
                <a:cs typeface="Calibri" panose="020F0502020204030204" pitchFamily="34" charset="0"/>
              </a:rPr>
              <a:t> UNSAT, </a:t>
            </a:r>
            <a:r>
              <a:rPr lang="it-IT" sz="2800" dirty="0" err="1">
                <a:latin typeface="Calibri" panose="020F0502020204030204" pitchFamily="34" charset="0"/>
                <a:cs typeface="Calibri" panose="020F0502020204030204" pitchFamily="34" charset="0"/>
              </a:rPr>
              <a:t>therefore</a:t>
            </a:r>
            <a:r>
              <a:rPr lang="it-IT" sz="2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it-IT" sz="2800" dirty="0" err="1">
                <a:latin typeface="Calibri" panose="020F0502020204030204" pitchFamily="34" charset="0"/>
                <a:cs typeface="Calibri" panose="020F0502020204030204" pitchFamily="34" charset="0"/>
              </a:rPr>
              <a:t>we</a:t>
            </a:r>
            <a:r>
              <a:rPr lang="it-IT" sz="2800" dirty="0">
                <a:latin typeface="Calibri" panose="020F0502020204030204" pitchFamily="34" charset="0"/>
                <a:cs typeface="Calibri" panose="020F0502020204030204" pitchFamily="34" charset="0"/>
              </a:rPr>
              <a:t> can use </a:t>
            </a:r>
            <a:r>
              <a:rPr lang="it-IT" sz="2800" dirty="0" err="1">
                <a:latin typeface="Calibri" panose="020F0502020204030204" pitchFamily="34" charset="0"/>
                <a:cs typeface="Calibri" panose="020F0502020204030204" pitchFamily="34" charset="0"/>
              </a:rPr>
              <a:t>subsumption</a:t>
            </a:r>
            <a:r>
              <a:rPr lang="it-IT" sz="2800" dirty="0">
                <a:latin typeface="Calibri" panose="020F0502020204030204" pitchFamily="34" charset="0"/>
                <a:cs typeface="Calibri" panose="020F0502020204030204" pitchFamily="34" charset="0"/>
              </a:rPr>
              <a:t> to solve SAT</a:t>
            </a:r>
          </a:p>
          <a:p>
            <a:r>
              <a:rPr lang="it-IT" sz="2800" dirty="0" err="1">
                <a:latin typeface="Calibri" panose="020F0502020204030204" pitchFamily="34" charset="0"/>
                <a:cs typeface="Calibri" panose="020F0502020204030204" pitchFamily="34" charset="0"/>
              </a:rPr>
              <a:t>When</a:t>
            </a:r>
            <a:r>
              <a:rPr lang="it-IT" sz="2800" dirty="0">
                <a:latin typeface="Calibri" panose="020F0502020204030204" pitchFamily="34" charset="0"/>
                <a:cs typeface="Calibri" panose="020F0502020204030204" pitchFamily="34" charset="0"/>
              </a:rPr>
              <a:t> (A ⊓ ¬B) </a:t>
            </a:r>
            <a:r>
              <a:rPr lang="it-IT" sz="2800" dirty="0" err="1">
                <a:latin typeface="Calibri" panose="020F0502020204030204" pitchFamily="34" charset="0"/>
                <a:cs typeface="Calibri" panose="020F0502020204030204" pitchFamily="34" charset="0"/>
              </a:rPr>
              <a:t>is</a:t>
            </a:r>
            <a:r>
              <a:rPr lang="it-IT" sz="2800" dirty="0">
                <a:latin typeface="Calibri" panose="020F0502020204030204" pitchFamily="34" charset="0"/>
                <a:cs typeface="Calibri" panose="020F0502020204030204" pitchFamily="34" charset="0"/>
              </a:rPr>
              <a:t> UNSAT, </a:t>
            </a:r>
            <a:r>
              <a:rPr lang="it-IT" sz="2800" dirty="0" err="1">
                <a:latin typeface="Calibri" panose="020F0502020204030204" pitchFamily="34" charset="0"/>
                <a:cs typeface="Calibri" panose="020F0502020204030204" pitchFamily="34" charset="0"/>
              </a:rPr>
              <a:t>then</a:t>
            </a:r>
            <a:r>
              <a:rPr lang="it-IT" sz="2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it-IT" sz="2800" dirty="0" err="1">
                <a:latin typeface="Calibri" panose="020F0502020204030204" pitchFamily="34" charset="0"/>
                <a:cs typeface="Calibri" panose="020F0502020204030204" pitchFamily="34" charset="0"/>
              </a:rPr>
              <a:t>we</a:t>
            </a:r>
            <a:r>
              <a:rPr lang="it-IT" sz="2800" dirty="0">
                <a:latin typeface="Calibri" panose="020F0502020204030204" pitchFamily="34" charset="0"/>
                <a:cs typeface="Calibri" panose="020F0502020204030204" pitchFamily="34" charset="0"/>
              </a:rPr>
              <a:t> can state </a:t>
            </a:r>
            <a:r>
              <a:rPr lang="it-IT" sz="2800" dirty="0" err="1">
                <a:latin typeface="Calibri" panose="020F0502020204030204" pitchFamily="34" charset="0"/>
                <a:cs typeface="Calibri" panose="020F0502020204030204" pitchFamily="34" charset="0"/>
              </a:rPr>
              <a:t>that</a:t>
            </a:r>
            <a:r>
              <a:rPr lang="it-IT" sz="2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it-IT" sz="2800" dirty="0"/>
              <a:t>A </a:t>
            </a:r>
            <a:r>
              <a:rPr lang="it-IT" sz="2800" dirty="0">
                <a:latin typeface="Calibri" panose="020F0502020204030204" pitchFamily="34" charset="0"/>
                <a:cs typeface="Calibri" panose="020F0502020204030204" pitchFamily="34" charset="0"/>
              </a:rPr>
              <a:t>⊑ B, </a:t>
            </a:r>
            <a:r>
              <a:rPr lang="it-IT" sz="2800" dirty="0" err="1">
                <a:latin typeface="Calibri" panose="020F0502020204030204" pitchFamily="34" charset="0"/>
                <a:cs typeface="Calibri" panose="020F0502020204030204" pitchFamily="34" charset="0"/>
              </a:rPr>
              <a:t>thus</a:t>
            </a:r>
            <a:r>
              <a:rPr lang="it-IT" sz="2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it-IT" sz="2800" dirty="0" err="1">
                <a:latin typeface="Calibri" panose="020F0502020204030204" pitchFamily="34" charset="0"/>
                <a:cs typeface="Calibri" panose="020F0502020204030204" pitchFamily="34" charset="0"/>
              </a:rPr>
              <a:t>we</a:t>
            </a:r>
            <a:r>
              <a:rPr lang="it-IT" sz="2800" dirty="0">
                <a:latin typeface="Calibri" panose="020F0502020204030204" pitchFamily="34" charset="0"/>
                <a:cs typeface="Calibri" panose="020F0502020204030204" pitchFamily="34" charset="0"/>
              </a:rPr>
              <a:t> can solve </a:t>
            </a:r>
            <a:r>
              <a:rPr lang="it-IT" sz="2800" dirty="0" err="1">
                <a:latin typeface="Calibri" panose="020F0502020204030204" pitchFamily="34" charset="0"/>
                <a:cs typeface="Calibri" panose="020F0502020204030204" pitchFamily="34" charset="0"/>
              </a:rPr>
              <a:t>subsumption</a:t>
            </a:r>
            <a:r>
              <a:rPr lang="it-IT" sz="2800" dirty="0">
                <a:latin typeface="Calibri" panose="020F0502020204030204" pitchFamily="34" charset="0"/>
                <a:cs typeface="Calibri" panose="020F0502020204030204" pitchFamily="34" charset="0"/>
              </a:rPr>
              <a:t> by SAT</a:t>
            </a:r>
          </a:p>
          <a:p>
            <a:r>
              <a:rPr lang="it-IT" sz="2800" dirty="0" err="1">
                <a:latin typeface="Calibri" panose="020F0502020204030204" pitchFamily="34" charset="0"/>
                <a:cs typeface="Calibri" panose="020F0502020204030204" pitchFamily="34" charset="0"/>
              </a:rPr>
              <a:t>However</a:t>
            </a:r>
            <a:r>
              <a:rPr lang="it-IT" sz="2800" dirty="0">
                <a:latin typeface="Calibri" panose="020F0502020204030204" pitchFamily="34" charset="0"/>
                <a:cs typeface="Calibri" panose="020F0502020204030204" pitchFamily="34" charset="0"/>
              </a:rPr>
              <a:t>…</a:t>
            </a:r>
            <a:r>
              <a:rPr lang="it-IT" sz="2800" dirty="0" err="1">
                <a:latin typeface="Calibri" panose="020F0502020204030204" pitchFamily="34" charset="0"/>
                <a:cs typeface="Calibri" panose="020F0502020204030204" pitchFamily="34" charset="0"/>
              </a:rPr>
              <a:t>we</a:t>
            </a:r>
            <a:r>
              <a:rPr lang="it-IT" sz="2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it-IT" sz="2800" dirty="0" err="1">
                <a:latin typeface="Calibri" panose="020F0502020204030204" pitchFamily="34" charset="0"/>
                <a:cs typeface="Calibri" panose="020F0502020204030204" pitchFamily="34" charset="0"/>
              </a:rPr>
              <a:t>cannot</a:t>
            </a:r>
            <a:r>
              <a:rPr lang="it-IT" sz="2800" dirty="0">
                <a:latin typeface="Calibri" panose="020F0502020204030204" pitchFamily="34" charset="0"/>
                <a:cs typeface="Calibri" panose="020F0502020204030204" pitchFamily="34" charset="0"/>
              </a:rPr>
              <a:t> do </a:t>
            </a:r>
            <a:r>
              <a:rPr lang="it-IT" sz="2800" dirty="0" err="1">
                <a:latin typeface="Calibri" panose="020F0502020204030204" pitchFamily="34" charset="0"/>
                <a:cs typeface="Calibri" panose="020F0502020204030204" pitchFamily="34" charset="0"/>
              </a:rPr>
              <a:t>it</a:t>
            </a:r>
            <a:r>
              <a:rPr lang="it-IT" sz="2800" dirty="0">
                <a:latin typeface="Calibri" panose="020F0502020204030204" pitchFamily="34" charset="0"/>
                <a:cs typeface="Calibri" panose="020F0502020204030204" pitchFamily="34" charset="0"/>
              </a:rPr>
              <a:t> in </a:t>
            </a:r>
            <a:r>
              <a:rPr lang="it-IT" sz="2800" dirty="0">
                <a:latin typeface="Apple Chancery" panose="03020702040506060504" pitchFamily="66" charset="-79"/>
                <a:cs typeface="Apple Chancery" panose="03020702040506060504" pitchFamily="66" charset="-79"/>
              </a:rPr>
              <a:t>AL</a:t>
            </a:r>
          </a:p>
          <a:p>
            <a:r>
              <a:rPr lang="it-IT" sz="2800" dirty="0" err="1">
                <a:latin typeface="Calibri" panose="020F0502020204030204" pitchFamily="34" charset="0"/>
                <a:cs typeface="Calibri" panose="020F0502020204030204" pitchFamily="34" charset="0"/>
              </a:rPr>
              <a:t>Therefore</a:t>
            </a:r>
            <a:r>
              <a:rPr lang="it-IT" sz="2800" dirty="0">
                <a:latin typeface="Calibri" panose="020F0502020204030204" pitchFamily="34" charset="0"/>
                <a:cs typeface="Calibri" panose="020F0502020204030204" pitchFamily="34" charset="0"/>
              </a:rPr>
              <a:t>, in AL </a:t>
            </a:r>
            <a:r>
              <a:rPr lang="it-IT" sz="2800" dirty="0" err="1">
                <a:latin typeface="Calibri" panose="020F0502020204030204" pitchFamily="34" charset="0"/>
                <a:cs typeface="Calibri" panose="020F0502020204030204" pitchFamily="34" charset="0"/>
              </a:rPr>
              <a:t>we</a:t>
            </a:r>
            <a:r>
              <a:rPr lang="it-IT" sz="2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it-IT" sz="2800" dirty="0" err="1">
                <a:latin typeface="Calibri" panose="020F0502020204030204" pitchFamily="34" charset="0"/>
                <a:cs typeface="Calibri" panose="020F0502020204030204" pitchFamily="34" charset="0"/>
              </a:rPr>
              <a:t>need</a:t>
            </a:r>
            <a:r>
              <a:rPr lang="it-IT" sz="2800" dirty="0">
                <a:latin typeface="Calibri" panose="020F0502020204030204" pitchFamily="34" charset="0"/>
                <a:cs typeface="Calibri" panose="020F0502020204030204" pitchFamily="34" charset="0"/>
              </a:rPr>
              <a:t> to </a:t>
            </a:r>
            <a:r>
              <a:rPr lang="it-IT" sz="2800" dirty="0" err="1">
                <a:latin typeface="Calibri" panose="020F0502020204030204" pitchFamily="34" charset="0"/>
                <a:cs typeface="Calibri" panose="020F0502020204030204" pitchFamily="34" charset="0"/>
              </a:rPr>
              <a:t>provide</a:t>
            </a:r>
            <a:r>
              <a:rPr lang="it-IT" sz="2800" dirty="0">
                <a:latin typeface="Calibri" panose="020F0502020204030204" pitchFamily="34" charset="0"/>
                <a:cs typeface="Calibri" panose="020F0502020204030204" pitchFamily="34" charset="0"/>
              </a:rPr>
              <a:t> a </a:t>
            </a:r>
            <a:r>
              <a:rPr lang="it-IT" sz="2800" dirty="0" err="1">
                <a:latin typeface="Calibri" panose="020F0502020204030204" pitchFamily="34" charset="0"/>
                <a:cs typeface="Calibri" panose="020F0502020204030204" pitchFamily="34" charset="0"/>
              </a:rPr>
              <a:t>solution</a:t>
            </a:r>
            <a:r>
              <a:rPr lang="it-IT" sz="2800" dirty="0">
                <a:latin typeface="Calibri" panose="020F0502020204030204" pitchFamily="34" charset="0"/>
                <a:cs typeface="Calibri" panose="020F0502020204030204" pitchFamily="34" charset="0"/>
              </a:rPr>
              <a:t> to </a:t>
            </a:r>
            <a:r>
              <a:rPr lang="it-IT" sz="2800" dirty="0" err="1">
                <a:latin typeface="Calibri" panose="020F0502020204030204" pitchFamily="34" charset="0"/>
                <a:cs typeface="Calibri" panose="020F0502020204030204" pitchFamily="34" charset="0"/>
              </a:rPr>
              <a:t>subsumption</a:t>
            </a:r>
            <a:endParaRPr lang="it-IT" sz="2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3416B799-7192-88FF-D6FE-8D5483D21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it-IT" altLang="it-IT"/>
              <a:t>Introduction to KR</a:t>
            </a:r>
            <a:endParaRPr lang="it-IT" alt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D1EB1BBA-B803-9E20-EE54-C344DCBC8F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KNOWLEDGE REPRESENTATION</a:t>
            </a:r>
            <a:endParaRPr lang="en-US" dirty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40A4E82B-40F4-CC42-35A5-7390B172E2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CD341D-7438-4FA4-973F-6F9EECBD14B9}" type="slidenum">
              <a:rPr lang="it-IT" altLang="it-IT" smtClean="0"/>
              <a:pPr>
                <a:defRPr/>
              </a:pPr>
              <a:t>8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9032459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D1418B8-3A72-8122-2CE1-23C7CBBAE2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General </a:t>
            </a:r>
            <a:r>
              <a:rPr lang="it-IT" dirty="0" err="1"/>
              <a:t>issues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F6685CD8-BD16-1E70-5DB3-13B56A3DC3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/>
              <a:t>The </a:t>
            </a:r>
            <a:r>
              <a:rPr lang="it-IT" dirty="0" err="1"/>
              <a:t>problems</a:t>
            </a:r>
            <a:r>
              <a:rPr lang="it-IT" dirty="0"/>
              <a:t> of </a:t>
            </a:r>
            <a:r>
              <a:rPr lang="it-IT" dirty="0" err="1"/>
              <a:t>reasoning</a:t>
            </a:r>
            <a:r>
              <a:rPr lang="it-IT" dirty="0"/>
              <a:t> in a domain </a:t>
            </a:r>
            <a:r>
              <a:rPr lang="it-IT" i="1" dirty="0" err="1"/>
              <a:t>depend</a:t>
            </a:r>
            <a:r>
              <a:rPr lang="it-IT" i="1" dirty="0"/>
              <a:t> on the </a:t>
            </a:r>
            <a:r>
              <a:rPr lang="it-IT" i="1" dirty="0" err="1"/>
              <a:t>expressiveness</a:t>
            </a:r>
            <a:r>
              <a:rPr lang="it-IT" dirty="0"/>
              <a:t> of the </a:t>
            </a:r>
            <a:r>
              <a:rPr lang="it-IT" dirty="0" err="1"/>
              <a:t>logic</a:t>
            </a:r>
            <a:r>
              <a:rPr lang="it-IT" dirty="0"/>
              <a:t> </a:t>
            </a:r>
            <a:r>
              <a:rPr lang="it-IT" dirty="0" err="1"/>
              <a:t>employed</a:t>
            </a:r>
            <a:r>
              <a:rPr lang="it-IT" dirty="0"/>
              <a:t> to </a:t>
            </a:r>
            <a:r>
              <a:rPr lang="it-IT" dirty="0" err="1"/>
              <a:t>describe</a:t>
            </a:r>
            <a:r>
              <a:rPr lang="it-IT" dirty="0"/>
              <a:t> the domain</a:t>
            </a:r>
          </a:p>
          <a:p>
            <a:r>
              <a:rPr lang="it-IT" dirty="0"/>
              <a:t>The more accurate the </a:t>
            </a:r>
            <a:r>
              <a:rPr lang="it-IT" dirty="0" err="1"/>
              <a:t>description</a:t>
            </a:r>
            <a:r>
              <a:rPr lang="it-IT" dirty="0"/>
              <a:t> </a:t>
            </a:r>
            <a:r>
              <a:rPr lang="it-IT" dirty="0" err="1"/>
              <a:t>language</a:t>
            </a:r>
            <a:r>
              <a:rPr lang="it-IT" dirty="0"/>
              <a:t> </a:t>
            </a:r>
            <a:r>
              <a:rPr lang="it-IT" dirty="0" err="1"/>
              <a:t>is</a:t>
            </a:r>
            <a:r>
              <a:rPr lang="it-IT" dirty="0"/>
              <a:t>, the more </a:t>
            </a:r>
            <a:r>
              <a:rPr lang="it-IT" dirty="0" err="1"/>
              <a:t>complex</a:t>
            </a:r>
            <a:r>
              <a:rPr lang="it-IT" dirty="0"/>
              <a:t> </a:t>
            </a:r>
            <a:r>
              <a:rPr lang="it-IT" dirty="0" err="1"/>
              <a:t>is</a:t>
            </a:r>
            <a:r>
              <a:rPr lang="it-IT" dirty="0"/>
              <a:t> the </a:t>
            </a:r>
            <a:r>
              <a:rPr lang="it-IT" dirty="0" err="1"/>
              <a:t>decision</a:t>
            </a:r>
            <a:r>
              <a:rPr lang="it-IT" dirty="0"/>
              <a:t> </a:t>
            </a:r>
            <a:r>
              <a:rPr lang="it-IT" dirty="0" err="1"/>
              <a:t>algorithm</a:t>
            </a:r>
            <a:r>
              <a:rPr lang="it-IT" dirty="0"/>
              <a:t> for the </a:t>
            </a:r>
            <a:r>
              <a:rPr lang="it-IT" dirty="0" err="1"/>
              <a:t>specific</a:t>
            </a:r>
            <a:r>
              <a:rPr lang="it-IT" dirty="0"/>
              <a:t> tasks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26591CC2-E2CC-3E4A-8FD7-F38D46DF0F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it-IT" altLang="it-IT"/>
              <a:t>Introduction to KR</a:t>
            </a:r>
            <a:endParaRPr lang="it-IT" alt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83F0F7BD-F96F-30BF-6C4A-FB60127225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KNOWLEDGE REPRESENTATION</a:t>
            </a:r>
            <a:endParaRPr lang="en-US" dirty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9D742D28-3DA0-19E9-6F5A-20A26171EB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CD341D-7438-4FA4-973F-6F9EECBD14B9}" type="slidenum">
              <a:rPr lang="it-IT" altLang="it-IT" smtClean="0"/>
              <a:pPr>
                <a:defRPr/>
              </a:pPr>
              <a:t>9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35719383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B2E3516-3DF0-A377-1FB9-ED42C91724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Exploration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1E8F2C8-CD87-63B4-80EE-4B61D76107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 err="1"/>
              <a:t>We</a:t>
            </a:r>
            <a:r>
              <a:rPr lang="it-IT" dirty="0"/>
              <a:t> can look </a:t>
            </a:r>
            <a:r>
              <a:rPr lang="it-IT" dirty="0" err="1"/>
              <a:t>at</a:t>
            </a:r>
            <a:r>
              <a:rPr lang="it-IT" dirty="0"/>
              <a:t> the </a:t>
            </a:r>
            <a:r>
              <a:rPr lang="it-IT" dirty="0" err="1"/>
              <a:t>branches</a:t>
            </a:r>
            <a:r>
              <a:rPr lang="it-IT" dirty="0"/>
              <a:t> of </a:t>
            </a:r>
            <a:r>
              <a:rPr lang="it-IT" dirty="0" err="1"/>
              <a:t>description</a:t>
            </a:r>
            <a:r>
              <a:rPr lang="it-IT" dirty="0"/>
              <a:t> </a:t>
            </a:r>
            <a:r>
              <a:rPr lang="it-IT" dirty="0" err="1"/>
              <a:t>logics</a:t>
            </a:r>
            <a:r>
              <a:rPr lang="it-IT" dirty="0"/>
              <a:t> in the following navigator</a:t>
            </a:r>
          </a:p>
          <a:p>
            <a:r>
              <a:rPr lang="it-IT" dirty="0">
                <a:hlinkClick r:id="rId2"/>
              </a:rPr>
              <a:t>http://www.cs.man.ac.uk/~ezolin/dl/</a:t>
            </a:r>
            <a:r>
              <a:rPr lang="it-IT" dirty="0"/>
              <a:t> </a:t>
            </a:r>
          </a:p>
          <a:p>
            <a:pPr marL="0" indent="0">
              <a:buNone/>
            </a:pPr>
            <a:endParaRPr lang="it-IT" dirty="0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11BE7E65-55FE-24C8-5B1A-7FA6352BDF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it-IT" altLang="it-IT"/>
              <a:t>Introduction to KR</a:t>
            </a:r>
            <a:endParaRPr lang="it-IT" alt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C53B1868-0205-5419-62D7-D79A41ADDC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KNOWLEDGE REPRESENTATION</a:t>
            </a:r>
            <a:endParaRPr lang="en-US" dirty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C544AF30-B1AA-F617-B0CD-52D4105AE5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CD341D-7438-4FA4-973F-6F9EECBD14B9}" type="slidenum">
              <a:rPr lang="it-IT" altLang="it-IT" smtClean="0"/>
              <a:pPr>
                <a:defRPr/>
              </a:pPr>
              <a:t>10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909765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B4C3D50-C0CC-F627-A50D-FB06FF1C1A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Thoughts</a:t>
            </a:r>
            <a:r>
              <a:rPr lang="it-IT" dirty="0"/>
              <a:t> on </a:t>
            </a:r>
            <a:r>
              <a:rPr lang="it-IT" dirty="0" err="1"/>
              <a:t>structural</a:t>
            </a:r>
            <a:r>
              <a:rPr lang="it-IT" dirty="0"/>
              <a:t> </a:t>
            </a:r>
            <a:r>
              <a:rPr lang="it-IT" dirty="0" err="1"/>
              <a:t>complexity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A2072F38-0304-B45E-2349-A63F4CD8AA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/>
              <a:t>First </a:t>
            </a:r>
            <a:r>
              <a:rPr lang="it-IT" dirty="0" err="1"/>
              <a:t>impression</a:t>
            </a:r>
            <a:r>
              <a:rPr lang="it-IT" dirty="0"/>
              <a:t>:</a:t>
            </a:r>
          </a:p>
          <a:p>
            <a:pPr lvl="1"/>
            <a:r>
              <a:rPr lang="it-IT" dirty="0" err="1"/>
              <a:t>Deterministic</a:t>
            </a:r>
            <a:r>
              <a:rPr lang="it-IT" dirty="0"/>
              <a:t> </a:t>
            </a:r>
            <a:r>
              <a:rPr lang="it-IT" dirty="0" err="1"/>
              <a:t>polynomially</a:t>
            </a:r>
            <a:r>
              <a:rPr lang="it-IT" dirty="0"/>
              <a:t> </a:t>
            </a:r>
            <a:r>
              <a:rPr lang="it-IT" dirty="0" err="1"/>
              <a:t>solvable</a:t>
            </a:r>
            <a:r>
              <a:rPr lang="it-IT" dirty="0"/>
              <a:t> </a:t>
            </a:r>
            <a:r>
              <a:rPr lang="it-IT" dirty="0" err="1"/>
              <a:t>problems</a:t>
            </a:r>
            <a:r>
              <a:rPr lang="it-IT" dirty="0"/>
              <a:t> are fine, </a:t>
            </a:r>
            <a:r>
              <a:rPr lang="it-IT" dirty="0" err="1"/>
              <a:t>but</a:t>
            </a:r>
            <a:r>
              <a:rPr lang="it-IT" dirty="0"/>
              <a:t> high </a:t>
            </a:r>
            <a:r>
              <a:rPr lang="it-IT" dirty="0" err="1"/>
              <a:t>complexity</a:t>
            </a:r>
            <a:r>
              <a:rPr lang="it-IT" dirty="0"/>
              <a:t> can lead to low </a:t>
            </a:r>
            <a:r>
              <a:rPr lang="it-IT" dirty="0" err="1"/>
              <a:t>scalability</a:t>
            </a:r>
            <a:endParaRPr lang="it-IT" dirty="0"/>
          </a:p>
          <a:p>
            <a:pPr lvl="1"/>
            <a:r>
              <a:rPr lang="it-IT" dirty="0"/>
              <a:t>Non-</a:t>
            </a:r>
            <a:r>
              <a:rPr lang="it-IT" dirty="0" err="1"/>
              <a:t>deterministic</a:t>
            </a:r>
            <a:r>
              <a:rPr lang="it-IT" dirty="0"/>
              <a:t> </a:t>
            </a:r>
            <a:r>
              <a:rPr lang="it-IT" dirty="0" err="1"/>
              <a:t>polynomially</a:t>
            </a:r>
            <a:r>
              <a:rPr lang="it-IT" dirty="0"/>
              <a:t> </a:t>
            </a:r>
            <a:r>
              <a:rPr lang="it-IT" dirty="0" err="1"/>
              <a:t>solvable</a:t>
            </a:r>
            <a:r>
              <a:rPr lang="it-IT" dirty="0"/>
              <a:t> </a:t>
            </a:r>
            <a:r>
              <a:rPr lang="it-IT" dirty="0" err="1"/>
              <a:t>problems</a:t>
            </a:r>
            <a:r>
              <a:rPr lang="it-IT" dirty="0"/>
              <a:t> are </a:t>
            </a:r>
            <a:r>
              <a:rPr lang="it-IT" dirty="0" err="1"/>
              <a:t>not</a:t>
            </a:r>
            <a:r>
              <a:rPr lang="it-IT" dirty="0"/>
              <a:t> fine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57367043-D9C3-AEEF-6BAB-47CEDFD88D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it-IT" altLang="it-IT"/>
              <a:t>Introduction to KR</a:t>
            </a:r>
            <a:endParaRPr lang="it-IT" alt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5D0BB73A-527F-1AF7-4412-0D52D81CEA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KNOWLEDGE REPRESENTATION</a:t>
            </a:r>
            <a:endParaRPr lang="en-US" dirty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6F5CB32A-2C71-4602-37EB-64E17646F9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CD341D-7438-4FA4-973F-6F9EECBD14B9}" type="slidenum">
              <a:rPr lang="it-IT" altLang="it-IT" smtClean="0"/>
              <a:pPr>
                <a:defRPr/>
              </a:pPr>
              <a:t>11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3745194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1DB2A51-5CFA-15BB-B9EB-E27AE4DE0B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…</a:t>
            </a:r>
            <a:r>
              <a:rPr lang="it-IT" dirty="0" err="1"/>
              <a:t>however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A98DAADD-09F5-37C6-8C87-8B0E55B1E6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 err="1"/>
              <a:t>Many</a:t>
            </a:r>
            <a:r>
              <a:rPr lang="it-IT" dirty="0"/>
              <a:t> </a:t>
            </a:r>
            <a:r>
              <a:rPr lang="it-IT" dirty="0" err="1"/>
              <a:t>actual</a:t>
            </a:r>
            <a:r>
              <a:rPr lang="it-IT" dirty="0"/>
              <a:t> </a:t>
            </a:r>
            <a:r>
              <a:rPr lang="it-IT" dirty="0" err="1"/>
              <a:t>solutions</a:t>
            </a:r>
            <a:r>
              <a:rPr lang="it-IT" dirty="0"/>
              <a:t> </a:t>
            </a:r>
            <a:r>
              <a:rPr lang="it-IT" dirty="0" err="1"/>
              <a:t>behave</a:t>
            </a:r>
            <a:r>
              <a:rPr lang="it-IT" dirty="0"/>
              <a:t> fine in a large </a:t>
            </a:r>
            <a:r>
              <a:rPr lang="it-IT" dirty="0" err="1"/>
              <a:t>majority</a:t>
            </a:r>
            <a:r>
              <a:rPr lang="it-IT" dirty="0"/>
              <a:t> of </a:t>
            </a:r>
            <a:r>
              <a:rPr lang="it-IT" dirty="0" err="1"/>
              <a:t>cases</a:t>
            </a:r>
            <a:r>
              <a:rPr lang="it-IT" dirty="0"/>
              <a:t>, for</a:t>
            </a:r>
          </a:p>
          <a:p>
            <a:pPr lvl="1"/>
            <a:r>
              <a:rPr lang="it-IT" dirty="0" err="1"/>
              <a:t>They</a:t>
            </a:r>
            <a:r>
              <a:rPr lang="it-IT" dirty="0"/>
              <a:t> are </a:t>
            </a:r>
            <a:r>
              <a:rPr lang="it-IT" dirty="0" err="1"/>
              <a:t>polynomial</a:t>
            </a:r>
            <a:r>
              <a:rPr lang="it-IT" dirty="0"/>
              <a:t> in the </a:t>
            </a:r>
            <a:r>
              <a:rPr lang="it-IT" dirty="0" err="1"/>
              <a:t>average</a:t>
            </a:r>
            <a:r>
              <a:rPr lang="it-IT" dirty="0"/>
              <a:t> case</a:t>
            </a:r>
          </a:p>
          <a:p>
            <a:pPr lvl="1"/>
            <a:r>
              <a:rPr lang="it-IT" dirty="0" err="1"/>
              <a:t>They</a:t>
            </a:r>
            <a:r>
              <a:rPr lang="it-IT" dirty="0"/>
              <a:t> are </a:t>
            </a:r>
            <a:r>
              <a:rPr lang="it-IT" dirty="0" err="1"/>
              <a:t>polynomial</a:t>
            </a:r>
            <a:r>
              <a:rPr lang="it-IT" dirty="0"/>
              <a:t> in the </a:t>
            </a:r>
            <a:r>
              <a:rPr lang="it-IT" dirty="0" err="1"/>
              <a:t>practical</a:t>
            </a:r>
            <a:r>
              <a:rPr lang="it-IT" dirty="0"/>
              <a:t> case</a:t>
            </a:r>
          </a:p>
          <a:p>
            <a:pPr lvl="1"/>
            <a:r>
              <a:rPr lang="it-IT" dirty="0" err="1"/>
              <a:t>They</a:t>
            </a:r>
            <a:r>
              <a:rPr lang="it-IT" dirty="0"/>
              <a:t> are </a:t>
            </a:r>
            <a:r>
              <a:rPr lang="it-IT" dirty="0" err="1"/>
              <a:t>polynomial</a:t>
            </a:r>
            <a:r>
              <a:rPr lang="it-IT" dirty="0"/>
              <a:t> in a large </a:t>
            </a:r>
            <a:r>
              <a:rPr lang="it-IT" dirty="0" err="1"/>
              <a:t>number</a:t>
            </a:r>
            <a:r>
              <a:rPr lang="it-IT" dirty="0"/>
              <a:t> of </a:t>
            </a:r>
            <a:r>
              <a:rPr lang="it-IT" dirty="0" err="1"/>
              <a:t>interesting</a:t>
            </a:r>
            <a:r>
              <a:rPr lang="it-IT" dirty="0"/>
              <a:t> </a:t>
            </a:r>
            <a:r>
              <a:rPr lang="it-IT" dirty="0" err="1"/>
              <a:t>cases</a:t>
            </a:r>
            <a:endParaRPr lang="it-IT" dirty="0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4C8F4ADB-2FFD-9E0A-7AF1-8369E5200B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it-IT" altLang="it-IT"/>
              <a:t>Introduction to KR</a:t>
            </a:r>
            <a:endParaRPr lang="it-IT" alt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CCD1DFF6-6380-B1A1-25E9-0DEC66F51A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KNOWLEDGE REPRESENTATION</a:t>
            </a:r>
            <a:endParaRPr lang="en-US" dirty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44C98080-84F6-3F33-B537-C7CE0FCE2D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CD341D-7438-4FA4-973F-6F9EECBD14B9}" type="slidenum">
              <a:rPr lang="it-IT" altLang="it-IT" smtClean="0"/>
              <a:pPr>
                <a:defRPr/>
              </a:pPr>
              <a:t>12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34445655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6A0DFFA-85AE-18A7-11C4-C29B6C4245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Moreover</a:t>
            </a:r>
            <a:r>
              <a:rPr lang="it-IT" dirty="0"/>
              <a:t>…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C6D74915-66D8-EFC0-AEC7-32048FD8DB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 err="1"/>
              <a:t>Many</a:t>
            </a:r>
            <a:r>
              <a:rPr lang="it-IT" dirty="0"/>
              <a:t> </a:t>
            </a:r>
            <a:r>
              <a:rPr lang="it-IT" dirty="0" err="1"/>
              <a:t>computation</a:t>
            </a:r>
            <a:r>
              <a:rPr lang="it-IT" dirty="0"/>
              <a:t> </a:t>
            </a:r>
            <a:r>
              <a:rPr lang="it-IT" dirty="0" err="1"/>
              <a:t>problems</a:t>
            </a:r>
            <a:r>
              <a:rPr lang="it-IT" dirty="0"/>
              <a:t> </a:t>
            </a:r>
            <a:r>
              <a:rPr lang="it-IT" dirty="0" err="1"/>
              <a:t>that</a:t>
            </a:r>
            <a:r>
              <a:rPr lang="it-IT" dirty="0"/>
              <a:t> are NP-hard are </a:t>
            </a:r>
            <a:r>
              <a:rPr lang="it-IT" dirty="0" err="1"/>
              <a:t>also</a:t>
            </a:r>
            <a:endParaRPr lang="it-IT" dirty="0"/>
          </a:p>
          <a:p>
            <a:pPr lvl="1"/>
            <a:r>
              <a:rPr lang="it-IT" dirty="0" err="1"/>
              <a:t>Approximable</a:t>
            </a:r>
            <a:r>
              <a:rPr lang="it-IT" dirty="0"/>
              <a:t> in a </a:t>
            </a:r>
            <a:r>
              <a:rPr lang="it-IT" dirty="0" err="1"/>
              <a:t>polynomial</a:t>
            </a:r>
            <a:r>
              <a:rPr lang="it-IT" dirty="0"/>
              <a:t> way on </a:t>
            </a:r>
            <a:r>
              <a:rPr lang="it-IT" dirty="0" err="1"/>
              <a:t>deterministic</a:t>
            </a:r>
            <a:r>
              <a:rPr lang="it-IT" dirty="0"/>
              <a:t> machines</a:t>
            </a:r>
          </a:p>
          <a:p>
            <a:pPr lvl="1"/>
            <a:r>
              <a:rPr lang="it-IT" b="1" dirty="0"/>
              <a:t>Pseudo-</a:t>
            </a:r>
            <a:r>
              <a:rPr lang="it-IT" b="1" dirty="0" err="1"/>
              <a:t>polynomially</a:t>
            </a:r>
            <a:r>
              <a:rPr lang="it-IT" b="1" dirty="0"/>
              <a:t> </a:t>
            </a:r>
            <a:r>
              <a:rPr lang="it-IT" b="1" dirty="0" err="1"/>
              <a:t>solvable</a:t>
            </a:r>
            <a:r>
              <a:rPr lang="it-IT" dirty="0"/>
              <a:t>, </a:t>
            </a:r>
            <a:r>
              <a:rPr lang="it-IT" dirty="0" err="1"/>
              <a:t>as</a:t>
            </a:r>
            <a:r>
              <a:rPr lang="it-IT" dirty="0"/>
              <a:t> </a:t>
            </a:r>
            <a:r>
              <a:rPr lang="it-IT" dirty="0" err="1"/>
              <a:t>we</a:t>
            </a:r>
            <a:r>
              <a:rPr lang="it-IT" dirty="0"/>
              <a:t> </a:t>
            </a:r>
            <a:r>
              <a:rPr lang="it-IT" dirty="0" err="1"/>
              <a:t>see</a:t>
            </a:r>
            <a:r>
              <a:rPr lang="it-IT" dirty="0"/>
              <a:t>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something</a:t>
            </a:r>
            <a:r>
              <a:rPr lang="it-IT" dirty="0"/>
              <a:t> </a:t>
            </a:r>
            <a:r>
              <a:rPr lang="it-IT" dirty="0" err="1"/>
              <a:t>that</a:t>
            </a:r>
            <a:r>
              <a:rPr lang="it-IT" dirty="0"/>
              <a:t> </a:t>
            </a:r>
            <a:r>
              <a:rPr lang="it-IT" dirty="0" err="1"/>
              <a:t>actually</a:t>
            </a:r>
            <a:r>
              <a:rPr lang="it-IT" dirty="0"/>
              <a:t> </a:t>
            </a:r>
            <a:r>
              <a:rPr lang="it-IT" dirty="0" err="1"/>
              <a:t>happens</a:t>
            </a:r>
            <a:r>
              <a:rPr lang="it-IT" dirty="0"/>
              <a:t> to some of the </a:t>
            </a:r>
            <a:r>
              <a:rPr lang="it-IT" dirty="0" err="1"/>
              <a:t>problems</a:t>
            </a:r>
            <a:r>
              <a:rPr lang="it-IT" dirty="0"/>
              <a:t> in DL </a:t>
            </a:r>
            <a:r>
              <a:rPr lang="it-IT" dirty="0" err="1"/>
              <a:t>reasoning</a:t>
            </a:r>
            <a:endParaRPr lang="it-IT" b="1" dirty="0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F33311E6-3F20-7014-E2AB-B6EAEA3FB1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it-IT" altLang="it-IT"/>
              <a:t>Introduction to KR</a:t>
            </a:r>
            <a:endParaRPr lang="it-IT" alt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5CED5DFC-1648-A0A1-DE5F-D71D7C1BD3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KNOWLEDGE REPRESENTATION</a:t>
            </a:r>
            <a:endParaRPr lang="en-US" dirty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3019482D-CED5-633F-B807-1730226C31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CD341D-7438-4FA4-973F-6F9EECBD14B9}" type="slidenum">
              <a:rPr lang="it-IT" altLang="it-IT" smtClean="0"/>
              <a:pPr>
                <a:defRPr/>
              </a:pPr>
              <a:t>13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19060112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7DDA6DB-9758-56F0-4A9B-E4E5A412A8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Structural</a:t>
            </a:r>
            <a:r>
              <a:rPr lang="it-IT" dirty="0"/>
              <a:t> </a:t>
            </a:r>
            <a:r>
              <a:rPr lang="it-IT" dirty="0" err="1"/>
              <a:t>subsumption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B83DC233-FA2F-D04E-97C4-EF947F62CC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/>
              <a:t>The </a:t>
            </a:r>
            <a:r>
              <a:rPr lang="it-IT" dirty="0" err="1"/>
              <a:t>structural</a:t>
            </a:r>
            <a:r>
              <a:rPr lang="it-IT" dirty="0"/>
              <a:t> </a:t>
            </a:r>
            <a:r>
              <a:rPr lang="it-IT" dirty="0" err="1"/>
              <a:t>subsumption</a:t>
            </a:r>
            <a:r>
              <a:rPr lang="it-IT" dirty="0"/>
              <a:t> </a:t>
            </a:r>
            <a:r>
              <a:rPr lang="it-IT" dirty="0" err="1"/>
              <a:t>algorithm</a:t>
            </a:r>
            <a:r>
              <a:rPr lang="it-IT" dirty="0"/>
              <a:t> </a:t>
            </a:r>
            <a:r>
              <a:rPr lang="it-IT" dirty="0" err="1"/>
              <a:t>is</a:t>
            </a:r>
            <a:r>
              <a:rPr lang="it-IT" dirty="0"/>
              <a:t> a technique </a:t>
            </a:r>
            <a:r>
              <a:rPr lang="it-IT" dirty="0" err="1"/>
              <a:t>that</a:t>
            </a:r>
            <a:r>
              <a:rPr lang="it-IT" dirty="0"/>
              <a:t> </a:t>
            </a:r>
            <a:r>
              <a:rPr lang="it-IT" dirty="0" err="1"/>
              <a:t>solves</a:t>
            </a:r>
            <a:r>
              <a:rPr lang="it-IT" dirty="0"/>
              <a:t> the </a:t>
            </a:r>
            <a:r>
              <a:rPr lang="it-IT" dirty="0" err="1"/>
              <a:t>problem</a:t>
            </a:r>
            <a:r>
              <a:rPr lang="it-IT" dirty="0"/>
              <a:t> of </a:t>
            </a:r>
            <a:r>
              <a:rPr lang="it-IT" dirty="0" err="1"/>
              <a:t>deciding</a:t>
            </a:r>
            <a:r>
              <a:rPr lang="it-IT" dirty="0"/>
              <a:t> </a:t>
            </a:r>
            <a:r>
              <a:rPr lang="it-IT" dirty="0" err="1"/>
              <a:t>about</a:t>
            </a:r>
            <a:r>
              <a:rPr lang="it-IT" dirty="0"/>
              <a:t> the </a:t>
            </a:r>
            <a:r>
              <a:rPr lang="it-IT" dirty="0" err="1"/>
              <a:t>subsumption</a:t>
            </a:r>
            <a:r>
              <a:rPr lang="it-IT" dirty="0"/>
              <a:t> relation </a:t>
            </a:r>
            <a:r>
              <a:rPr lang="it-IT" dirty="0" err="1"/>
              <a:t>between</a:t>
            </a:r>
            <a:r>
              <a:rPr lang="it-IT" dirty="0"/>
              <a:t> </a:t>
            </a:r>
            <a:r>
              <a:rPr lang="it-IT" dirty="0" err="1"/>
              <a:t>two</a:t>
            </a:r>
            <a:r>
              <a:rPr lang="it-IT" dirty="0"/>
              <a:t> concepts in </a:t>
            </a:r>
            <a:r>
              <a:rPr lang="it-IT" dirty="0">
                <a:latin typeface="Apple Chancery" panose="03020702040506060504" pitchFamily="66" charset="-79"/>
                <a:cs typeface="Apple Chancery" panose="03020702040506060504" pitchFamily="66" charset="-79"/>
              </a:rPr>
              <a:t>AL</a:t>
            </a:r>
            <a:r>
              <a:rPr lang="it-IT" dirty="0"/>
              <a:t> and </a:t>
            </a:r>
            <a:r>
              <a:rPr lang="it-IT" dirty="0">
                <a:latin typeface="Apple Chancery" panose="03020702040506060504" pitchFamily="66" charset="-79"/>
                <a:cs typeface="Apple Chancery" panose="03020702040506060504" pitchFamily="66" charset="-79"/>
              </a:rPr>
              <a:t>ALN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0E23C92A-2A9D-0EB1-8303-8586C4C024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it-IT" altLang="it-IT"/>
              <a:t>Introduction to KR</a:t>
            </a:r>
            <a:endParaRPr lang="it-IT" alt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FB0B4E75-DBEC-9FFE-8517-A964907D63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KNOWLEDGE REPRESENTATION</a:t>
            </a:r>
            <a:endParaRPr lang="en-US" dirty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4510936F-4287-ED40-938C-73153B619C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CD341D-7438-4FA4-973F-6F9EECBD14B9}" type="slidenum">
              <a:rPr lang="it-IT" altLang="it-IT" smtClean="0"/>
              <a:pPr>
                <a:defRPr/>
              </a:pPr>
              <a:t>14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333058638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97F5F0C-64D8-6271-3EC2-BD874C9CBC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Principles</a:t>
            </a:r>
            <a:r>
              <a:rPr lang="it-IT" dirty="0"/>
              <a:t> of SSDL (1)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470FB02F-C85F-2297-CA4B-5C484109AA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 err="1"/>
              <a:t>Consider</a:t>
            </a:r>
            <a:r>
              <a:rPr lang="it-IT" dirty="0"/>
              <a:t> the following relation</a:t>
            </a:r>
          </a:p>
          <a:p>
            <a:pPr marL="0" indent="0">
              <a:buNone/>
            </a:pPr>
            <a:r>
              <a:rPr lang="it-IT" dirty="0"/>
              <a:t>				A </a:t>
            </a:r>
            <a:r>
              <a:rPr lang="it-IT" sz="3200" dirty="0">
                <a:latin typeface="Calibri" panose="020F0502020204030204" pitchFamily="34" charset="0"/>
                <a:cs typeface="Calibri" panose="020F0502020204030204" pitchFamily="34" charset="0"/>
              </a:rPr>
              <a:t>⊓ B ⊑ A</a:t>
            </a:r>
            <a:endParaRPr lang="it-IT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it-IT" dirty="0" err="1">
                <a:latin typeface="Calibri" panose="020F0502020204030204" pitchFamily="34" charset="0"/>
                <a:cs typeface="Calibri" panose="020F0502020204030204" pitchFamily="34" charset="0"/>
              </a:rPr>
              <a:t>This</a:t>
            </a:r>
            <a:r>
              <a:rPr lang="it-IT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it-IT" dirty="0" err="1">
                <a:latin typeface="Calibri" panose="020F0502020204030204" pitchFamily="34" charset="0"/>
                <a:cs typeface="Calibri" panose="020F0502020204030204" pitchFamily="34" charset="0"/>
              </a:rPr>
              <a:t>is</a:t>
            </a:r>
            <a:r>
              <a:rPr lang="it-IT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it-IT" dirty="0" err="1">
                <a:latin typeface="Calibri" panose="020F0502020204030204" pitchFamily="34" charset="0"/>
                <a:cs typeface="Calibri" panose="020F0502020204030204" pitchFamily="34" charset="0"/>
              </a:rPr>
              <a:t>trivially</a:t>
            </a:r>
            <a:r>
              <a:rPr lang="it-IT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it-IT" dirty="0" err="1">
                <a:latin typeface="Calibri" panose="020F0502020204030204" pitchFamily="34" charset="0"/>
                <a:cs typeface="Calibri" panose="020F0502020204030204" pitchFamily="34" charset="0"/>
              </a:rPr>
              <a:t>true</a:t>
            </a:r>
            <a:r>
              <a:rPr lang="it-IT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it-IT" dirty="0" err="1">
                <a:latin typeface="Calibri" panose="020F0502020204030204" pitchFamily="34" charset="0"/>
                <a:cs typeface="Calibri" panose="020F0502020204030204" pitchFamily="34" charset="0"/>
              </a:rPr>
              <a:t>because</a:t>
            </a:r>
            <a:r>
              <a:rPr lang="it-IT" dirty="0">
                <a:latin typeface="Calibri" panose="020F0502020204030204" pitchFamily="34" charset="0"/>
                <a:cs typeface="Calibri" panose="020F0502020204030204" pitchFamily="34" charset="0"/>
              </a:rPr>
              <a:t> of the </a:t>
            </a:r>
            <a:r>
              <a:rPr lang="it-IT" dirty="0" err="1">
                <a:latin typeface="Calibri" panose="020F0502020204030204" pitchFamily="34" charset="0"/>
                <a:cs typeface="Calibri" panose="020F0502020204030204" pitchFamily="34" charset="0"/>
              </a:rPr>
              <a:t>semantics</a:t>
            </a:r>
            <a:r>
              <a:rPr lang="it-IT" dirty="0">
                <a:latin typeface="Calibri" panose="020F0502020204030204" pitchFamily="34" charset="0"/>
                <a:cs typeface="Calibri" panose="020F0502020204030204" pitchFamily="34" charset="0"/>
              </a:rPr>
              <a:t> of </a:t>
            </a:r>
            <a:r>
              <a:rPr lang="it-IT" dirty="0">
                <a:latin typeface="Apple Chancery" panose="03020702040506060504" pitchFamily="66" charset="-79"/>
                <a:cs typeface="Apple Chancery" panose="03020702040506060504" pitchFamily="66" charset="-79"/>
              </a:rPr>
              <a:t>AL</a:t>
            </a:r>
            <a:r>
              <a:rPr lang="it-IT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it-IT" dirty="0" err="1">
                <a:latin typeface="Calibri" panose="020F0502020204030204" pitchFamily="34" charset="0"/>
                <a:cs typeface="Calibri" panose="020F0502020204030204" pitchFamily="34" charset="0"/>
              </a:rPr>
              <a:t>that</a:t>
            </a:r>
            <a:r>
              <a:rPr lang="it-IT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it-IT" dirty="0" err="1">
                <a:latin typeface="Calibri" panose="020F0502020204030204" pitchFamily="34" charset="0"/>
                <a:cs typeface="Calibri" panose="020F0502020204030204" pitchFamily="34" charset="0"/>
              </a:rPr>
              <a:t>we</a:t>
            </a:r>
            <a:r>
              <a:rPr lang="it-IT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it-IT" dirty="0" err="1">
                <a:latin typeface="Calibri" panose="020F0502020204030204" pitchFamily="34" charset="0"/>
                <a:cs typeface="Calibri" panose="020F0502020204030204" pitchFamily="34" charset="0"/>
              </a:rPr>
              <a:t>devised</a:t>
            </a:r>
            <a:r>
              <a:rPr lang="it-IT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it-IT" dirty="0" err="1">
                <a:latin typeface="Calibri" panose="020F0502020204030204" pitchFamily="34" charset="0"/>
                <a:cs typeface="Calibri" panose="020F0502020204030204" pitchFamily="34" charset="0"/>
              </a:rPr>
              <a:t>previously</a:t>
            </a:r>
            <a:endParaRPr lang="it-IT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33684489-7CFC-73D0-5AAC-F5E363D182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it-IT" altLang="it-IT"/>
              <a:t>Introduction to KR</a:t>
            </a:r>
            <a:endParaRPr lang="it-IT" alt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1B28FDAC-1437-473B-0E09-647D0D6CD4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KNOWLEDGE REPRESENTATION</a:t>
            </a:r>
            <a:endParaRPr lang="en-US" dirty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098E4443-12BD-4E54-CBCC-63124D4A19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CD341D-7438-4FA4-973F-6F9EECBD14B9}" type="slidenum">
              <a:rPr lang="it-IT" altLang="it-IT" smtClean="0"/>
              <a:pPr>
                <a:defRPr/>
              </a:pPr>
              <a:t>15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255754778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CF9F671-74BE-000C-CE54-10A8022432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Method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39BD53A4-E2F5-5FCB-B5D9-CA132E3464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sz="2400" dirty="0" err="1"/>
              <a:t>Consider</a:t>
            </a:r>
            <a:r>
              <a:rPr lang="it-IT" sz="2400" dirty="0"/>
              <a:t> </a:t>
            </a:r>
            <a:r>
              <a:rPr lang="it-IT" sz="2400" dirty="0" err="1"/>
              <a:t>two</a:t>
            </a:r>
            <a:r>
              <a:rPr lang="it-IT" sz="2400" dirty="0"/>
              <a:t> concepts </a:t>
            </a:r>
            <a:r>
              <a:rPr lang="it-IT" sz="2400" dirty="0" err="1"/>
              <a:t>written</a:t>
            </a:r>
            <a:r>
              <a:rPr lang="it-IT" sz="2400" dirty="0"/>
              <a:t> in </a:t>
            </a:r>
            <a:r>
              <a:rPr lang="it-IT" sz="2400" dirty="0">
                <a:latin typeface="Apple Chancery" panose="03020702040506060504" pitchFamily="66" charset="-79"/>
                <a:cs typeface="Apple Chancery" panose="03020702040506060504" pitchFamily="66" charset="-79"/>
              </a:rPr>
              <a:t>AL</a:t>
            </a:r>
            <a:r>
              <a:rPr lang="it-IT" sz="24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it-IT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only</a:t>
            </a:r>
            <a:r>
              <a:rPr lang="it-IT" sz="2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it-IT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devised</a:t>
            </a:r>
            <a:r>
              <a:rPr lang="it-IT" sz="2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it-IT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as</a:t>
            </a:r>
            <a:r>
              <a:rPr lang="it-IT" sz="2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it-IT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intersection</a:t>
            </a:r>
            <a:r>
              <a:rPr lang="it-IT" sz="2400" dirty="0">
                <a:latin typeface="Calibri" panose="020F0502020204030204" pitchFamily="34" charset="0"/>
                <a:cs typeface="Calibri" panose="020F0502020204030204" pitchFamily="34" charset="0"/>
              </a:rPr>
              <a:t> of </a:t>
            </a:r>
            <a:r>
              <a:rPr lang="it-IT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atomic</a:t>
            </a:r>
            <a:r>
              <a:rPr lang="it-IT" sz="2400" dirty="0">
                <a:latin typeface="Calibri" panose="020F0502020204030204" pitchFamily="34" charset="0"/>
                <a:cs typeface="Calibri" panose="020F0502020204030204" pitchFamily="34" charset="0"/>
              </a:rPr>
              <a:t> concepts (</a:t>
            </a:r>
            <a:r>
              <a:rPr lang="it-IT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literals</a:t>
            </a:r>
            <a:r>
              <a:rPr lang="it-IT" sz="2400" dirty="0">
                <a:latin typeface="Calibri" panose="020F0502020204030204" pitchFamily="34" charset="0"/>
                <a:cs typeface="Calibri" panose="020F0502020204030204" pitchFamily="34" charset="0"/>
              </a:rPr>
              <a:t>)</a:t>
            </a:r>
          </a:p>
          <a:p>
            <a:r>
              <a:rPr lang="it-IT" sz="2400" dirty="0">
                <a:latin typeface="Calibri" panose="020F0502020204030204" pitchFamily="34" charset="0"/>
                <a:cs typeface="Calibri" panose="020F0502020204030204" pitchFamily="34" charset="0"/>
              </a:rPr>
              <a:t>The </a:t>
            </a:r>
            <a:r>
              <a:rPr lang="it-IT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method</a:t>
            </a:r>
            <a:r>
              <a:rPr lang="it-IT" sz="2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it-IT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that</a:t>
            </a:r>
            <a:r>
              <a:rPr lang="it-IT" sz="2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it-IT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consists</a:t>
            </a:r>
            <a:r>
              <a:rPr lang="it-IT" sz="2400" dirty="0">
                <a:latin typeface="Calibri" panose="020F0502020204030204" pitchFamily="34" charset="0"/>
                <a:cs typeface="Calibri" panose="020F0502020204030204" pitchFamily="34" charset="0"/>
              </a:rPr>
              <a:t> in:</a:t>
            </a:r>
          </a:p>
          <a:p>
            <a:pPr lvl="1"/>
            <a:r>
              <a:rPr lang="it-IT" sz="2000" dirty="0">
                <a:latin typeface="Calibri" panose="020F0502020204030204" pitchFamily="34" charset="0"/>
                <a:cs typeface="Calibri" panose="020F0502020204030204" pitchFamily="34" charset="0"/>
              </a:rPr>
              <a:t>Check </a:t>
            </a:r>
            <a:r>
              <a:rPr lang="it-IT" sz="2000" dirty="0" err="1">
                <a:latin typeface="Calibri" panose="020F0502020204030204" pitchFamily="34" charset="0"/>
                <a:cs typeface="Calibri" panose="020F0502020204030204" pitchFamily="34" charset="0"/>
              </a:rPr>
              <a:t>each</a:t>
            </a:r>
            <a:r>
              <a:rPr lang="it-IT" sz="20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it-IT" sz="2000" dirty="0" err="1">
                <a:latin typeface="Calibri" panose="020F0502020204030204" pitchFamily="34" charset="0"/>
                <a:cs typeface="Calibri" panose="020F0502020204030204" pitchFamily="34" charset="0"/>
              </a:rPr>
              <a:t>literal</a:t>
            </a:r>
            <a:r>
              <a:rPr lang="it-IT" sz="2000" dirty="0">
                <a:latin typeface="Calibri" panose="020F0502020204030204" pitchFamily="34" charset="0"/>
                <a:cs typeface="Calibri" panose="020F0502020204030204" pitchFamily="34" charset="0"/>
              </a:rPr>
              <a:t> of the ALLEGEDLY WIDER concept </a:t>
            </a:r>
            <a:r>
              <a:rPr lang="it-IT" sz="2000" dirty="0" err="1">
                <a:latin typeface="Calibri" panose="020F0502020204030204" pitchFamily="34" charset="0"/>
                <a:cs typeface="Calibri" panose="020F0502020204030204" pitchFamily="34" charset="0"/>
              </a:rPr>
              <a:t>into</a:t>
            </a:r>
            <a:r>
              <a:rPr lang="it-IT" sz="2000" dirty="0">
                <a:latin typeface="Calibri" panose="020F0502020204030204" pitchFamily="34" charset="0"/>
                <a:cs typeface="Calibri" panose="020F0502020204030204" pitchFamily="34" charset="0"/>
              </a:rPr>
              <a:t> the ALLEGEDLY NARROWER concept</a:t>
            </a:r>
          </a:p>
          <a:p>
            <a:pPr lvl="1"/>
            <a:r>
              <a:rPr lang="it-IT" sz="2000" dirty="0" err="1">
                <a:latin typeface="Calibri" panose="020F0502020204030204" pitchFamily="34" charset="0"/>
                <a:cs typeface="Calibri" panose="020F0502020204030204" pitchFamily="34" charset="0"/>
              </a:rPr>
              <a:t>When</a:t>
            </a:r>
            <a:r>
              <a:rPr lang="it-IT" sz="20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it-IT" sz="2000" dirty="0" err="1">
                <a:latin typeface="Calibri" panose="020F0502020204030204" pitchFamily="34" charset="0"/>
                <a:cs typeface="Calibri" panose="020F0502020204030204" pitchFamily="34" charset="0"/>
              </a:rPr>
              <a:t>you</a:t>
            </a:r>
            <a:r>
              <a:rPr lang="it-IT" sz="20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it-IT" sz="2000" dirty="0" err="1">
                <a:latin typeface="Calibri" panose="020F0502020204030204" pitchFamily="34" charset="0"/>
                <a:cs typeface="Calibri" panose="020F0502020204030204" pitchFamily="34" charset="0"/>
              </a:rPr>
              <a:t>find</a:t>
            </a:r>
            <a:r>
              <a:rPr lang="it-IT" sz="20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it-IT" sz="2000" dirty="0" err="1">
                <a:latin typeface="Calibri" panose="020F0502020204030204" pitchFamily="34" charset="0"/>
                <a:cs typeface="Calibri" panose="020F0502020204030204" pitchFamily="34" charset="0"/>
              </a:rPr>
              <a:t>it</a:t>
            </a:r>
            <a:r>
              <a:rPr lang="it-IT" sz="2000" dirty="0">
                <a:latin typeface="Calibri" panose="020F0502020204030204" pitchFamily="34" charset="0"/>
                <a:cs typeface="Calibri" panose="020F0502020204030204" pitchFamily="34" charset="0"/>
              </a:rPr>
              <a:t>, delete </a:t>
            </a:r>
            <a:r>
              <a:rPr lang="it-IT" sz="2000" dirty="0" err="1">
                <a:latin typeface="Calibri" panose="020F0502020204030204" pitchFamily="34" charset="0"/>
                <a:cs typeface="Calibri" panose="020F0502020204030204" pitchFamily="34" charset="0"/>
              </a:rPr>
              <a:t>it</a:t>
            </a:r>
            <a:r>
              <a:rPr lang="it-IT" sz="2000" dirty="0">
                <a:latin typeface="Calibri" panose="020F0502020204030204" pitchFamily="34" charset="0"/>
                <a:cs typeface="Calibri" panose="020F0502020204030204" pitchFamily="34" charset="0"/>
              </a:rPr>
              <a:t> from </a:t>
            </a:r>
            <a:r>
              <a:rPr lang="it-IT" sz="2000" dirty="0" err="1">
                <a:latin typeface="Calibri" panose="020F0502020204030204" pitchFamily="34" charset="0"/>
                <a:cs typeface="Calibri" panose="020F0502020204030204" pitchFamily="34" charset="0"/>
              </a:rPr>
              <a:t>both</a:t>
            </a:r>
            <a:endParaRPr lang="it-IT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r>
              <a:rPr lang="it-IT" sz="2000" dirty="0">
                <a:latin typeface="Calibri" panose="020F0502020204030204" pitchFamily="34" charset="0"/>
                <a:cs typeface="Calibri" panose="020F0502020204030204" pitchFamily="34" charset="0"/>
              </a:rPr>
              <a:t>At the end of the </a:t>
            </a:r>
            <a:r>
              <a:rPr lang="it-IT" sz="2000" dirty="0" err="1">
                <a:latin typeface="Calibri" panose="020F0502020204030204" pitchFamily="34" charset="0"/>
                <a:cs typeface="Calibri" panose="020F0502020204030204" pitchFamily="34" charset="0"/>
              </a:rPr>
              <a:t>process</a:t>
            </a:r>
            <a:r>
              <a:rPr lang="it-IT" sz="2000" dirty="0">
                <a:latin typeface="Calibri" panose="020F0502020204030204" pitchFamily="34" charset="0"/>
                <a:cs typeface="Calibri" panose="020F0502020204030204" pitchFamily="34" charset="0"/>
              </a:rPr>
              <a:t>, check the ALLEGEDLY WIDER concept</a:t>
            </a:r>
          </a:p>
          <a:p>
            <a:pPr lvl="1"/>
            <a:r>
              <a:rPr lang="it-IT" sz="2000" dirty="0" err="1">
                <a:latin typeface="Calibri" panose="020F0502020204030204" pitchFamily="34" charset="0"/>
                <a:cs typeface="Calibri" panose="020F0502020204030204" pitchFamily="34" charset="0"/>
              </a:rPr>
              <a:t>If</a:t>
            </a:r>
            <a:r>
              <a:rPr lang="it-IT" sz="20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it-IT" sz="2000" dirty="0" err="1">
                <a:latin typeface="Calibri" panose="020F0502020204030204" pitchFamily="34" charset="0"/>
                <a:cs typeface="Calibri" panose="020F0502020204030204" pitchFamily="34" charset="0"/>
              </a:rPr>
              <a:t>it</a:t>
            </a:r>
            <a:r>
              <a:rPr lang="it-IT" sz="20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it-IT" sz="2000" dirty="0" err="1">
                <a:latin typeface="Calibri" panose="020F0502020204030204" pitchFamily="34" charset="0"/>
                <a:cs typeface="Calibri" panose="020F0502020204030204" pitchFamily="34" charset="0"/>
              </a:rPr>
              <a:t>is</a:t>
            </a:r>
            <a:r>
              <a:rPr lang="it-IT" sz="20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it-IT" sz="2000" dirty="0" err="1">
                <a:latin typeface="Calibri" panose="020F0502020204030204" pitchFamily="34" charset="0"/>
                <a:cs typeface="Calibri" panose="020F0502020204030204" pitchFamily="34" charset="0"/>
              </a:rPr>
              <a:t>empty</a:t>
            </a:r>
            <a:r>
              <a:rPr lang="it-IT" sz="20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it-IT" sz="2000" dirty="0" err="1">
                <a:latin typeface="Calibri" panose="020F0502020204030204" pitchFamily="34" charset="0"/>
                <a:cs typeface="Calibri" panose="020F0502020204030204" pitchFamily="34" charset="0"/>
              </a:rPr>
              <a:t>return</a:t>
            </a:r>
            <a:r>
              <a:rPr lang="it-IT" sz="2000" dirty="0">
                <a:latin typeface="Calibri" panose="020F0502020204030204" pitchFamily="34" charset="0"/>
                <a:cs typeface="Calibri" panose="020F0502020204030204" pitchFamily="34" charset="0"/>
              </a:rPr>
              <a:t> TRUE, </a:t>
            </a:r>
            <a:r>
              <a:rPr lang="it-IT" sz="2000" dirty="0" err="1">
                <a:latin typeface="Calibri" panose="020F0502020204030204" pitchFamily="34" charset="0"/>
                <a:cs typeface="Calibri" panose="020F0502020204030204" pitchFamily="34" charset="0"/>
              </a:rPr>
              <a:t>otherwise</a:t>
            </a:r>
            <a:r>
              <a:rPr lang="it-IT" sz="20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it-IT" sz="2000" dirty="0" err="1">
                <a:latin typeface="Calibri" panose="020F0502020204030204" pitchFamily="34" charset="0"/>
                <a:cs typeface="Calibri" panose="020F0502020204030204" pitchFamily="34" charset="0"/>
              </a:rPr>
              <a:t>return</a:t>
            </a:r>
            <a:r>
              <a:rPr lang="it-IT" sz="2000" dirty="0">
                <a:latin typeface="Calibri" panose="020F0502020204030204" pitchFamily="34" charset="0"/>
                <a:cs typeface="Calibri" panose="020F0502020204030204" pitchFamily="34" charset="0"/>
              </a:rPr>
              <a:t> FALSE</a:t>
            </a:r>
            <a:endParaRPr lang="it-IT" sz="2000" dirty="0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AD5E8689-2182-4072-300F-AE4B3CD8F5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it-IT" altLang="it-IT"/>
              <a:t>Introduction to KR</a:t>
            </a:r>
            <a:endParaRPr lang="it-IT" alt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162CDAA2-1BBC-E86D-4BEB-5FCF32B1A3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KNOWLEDGE REPRESENTATION</a:t>
            </a:r>
            <a:endParaRPr lang="en-US" dirty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B18B3E7C-C9B8-2787-2C0A-EFB77D276F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CD341D-7438-4FA4-973F-6F9EECBD14B9}" type="slidenum">
              <a:rPr lang="it-IT" altLang="it-IT" smtClean="0"/>
              <a:pPr>
                <a:defRPr/>
              </a:pPr>
              <a:t>16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232983042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3E8C495-F070-2B40-8A6A-5B2D5CFC1D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EXAMPLE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3DA90F41-4BCD-43E5-EEF6-3D65E7F7D6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 err="1"/>
              <a:t>Consider</a:t>
            </a:r>
            <a:r>
              <a:rPr lang="it-IT" dirty="0"/>
              <a:t> the following </a:t>
            </a:r>
            <a:r>
              <a:rPr lang="it-IT" dirty="0" err="1"/>
              <a:t>tests</a:t>
            </a:r>
            <a:endParaRPr lang="it-IT" dirty="0"/>
          </a:p>
          <a:p>
            <a:pPr marL="0" indent="0">
              <a:buNone/>
            </a:pPr>
            <a:endParaRPr lang="it-IT" dirty="0"/>
          </a:p>
          <a:p>
            <a:pPr lvl="1"/>
            <a:r>
              <a:rPr lang="it-IT" dirty="0"/>
              <a:t>A </a:t>
            </a:r>
            <a:r>
              <a:rPr lang="it-IT" sz="2800" dirty="0">
                <a:latin typeface="Calibri" panose="020F0502020204030204" pitchFamily="34" charset="0"/>
                <a:cs typeface="Calibri" panose="020F0502020204030204" pitchFamily="34" charset="0"/>
              </a:rPr>
              <a:t>⊓ ¬B ⊓ ¬C ⊓ D ⊑ ¬B ⊓ D ⊓A</a:t>
            </a:r>
          </a:p>
          <a:p>
            <a:pPr lvl="1"/>
            <a:endParaRPr lang="it-IT" dirty="0"/>
          </a:p>
          <a:p>
            <a:pPr lvl="1"/>
            <a:r>
              <a:rPr lang="it-IT" dirty="0"/>
              <a:t>A</a:t>
            </a:r>
            <a:r>
              <a:rPr lang="it-IT" sz="2800" dirty="0">
                <a:latin typeface="Calibri" panose="020F0502020204030204" pitchFamily="34" charset="0"/>
                <a:cs typeface="Calibri" panose="020F0502020204030204" pitchFamily="34" charset="0"/>
              </a:rPr>
              <a:t> ⊓ ¬C ⊓ D ⊑ ¬B ⊓ D </a:t>
            </a:r>
          </a:p>
          <a:p>
            <a:pPr marL="457200" lvl="1" indent="0">
              <a:buNone/>
            </a:pPr>
            <a:endParaRPr lang="it-IT" dirty="0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103C5002-5A7A-CB7F-A0ED-2B81AB317A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it-IT" altLang="it-IT"/>
              <a:t>Introduction to KR</a:t>
            </a:r>
            <a:endParaRPr lang="it-IT" alt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3982CC95-E84E-83AC-032E-DDE7230E9A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KNOWLEDGE REPRESENTATION</a:t>
            </a:r>
            <a:endParaRPr lang="en-US" dirty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AB4856F7-A4DF-6BF6-90C1-2E79543CB9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CD341D-7438-4FA4-973F-6F9EECBD14B9}" type="slidenum">
              <a:rPr lang="it-IT" altLang="it-IT" smtClean="0"/>
              <a:pPr>
                <a:defRPr/>
              </a:pPr>
              <a:t>17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320204968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D74C6D7-F0EC-E897-06BD-59E744BF79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Principles</a:t>
            </a:r>
            <a:r>
              <a:rPr lang="it-IT" dirty="0"/>
              <a:t> of SSDL (2)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F002D331-DED8-494E-5502-16F14EFE0D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sz="2400" dirty="0" err="1"/>
              <a:t>Simplification</a:t>
            </a:r>
            <a:r>
              <a:rPr lang="it-IT" sz="2400" dirty="0"/>
              <a:t> (1)</a:t>
            </a:r>
          </a:p>
          <a:p>
            <a:pPr lvl="1"/>
            <a:r>
              <a:rPr lang="it-IT" sz="2000" dirty="0" err="1"/>
              <a:t>When</a:t>
            </a:r>
            <a:r>
              <a:rPr lang="it-IT" sz="2000" dirty="0"/>
              <a:t> in a concept C the symbol ⊥ </a:t>
            </a:r>
            <a:r>
              <a:rPr lang="it-IT" sz="2000" dirty="0" err="1"/>
              <a:t>appears</a:t>
            </a:r>
            <a:r>
              <a:rPr lang="it-IT" sz="2000" dirty="0"/>
              <a:t>, </a:t>
            </a:r>
            <a:r>
              <a:rPr lang="it-IT" sz="2000" dirty="0" err="1"/>
              <a:t>substitute</a:t>
            </a:r>
            <a:r>
              <a:rPr lang="it-IT" sz="2000" dirty="0"/>
              <a:t> C with ⊥</a:t>
            </a:r>
          </a:p>
          <a:p>
            <a:pPr lvl="1"/>
            <a:r>
              <a:rPr lang="it-IT" sz="2000" dirty="0"/>
              <a:t>⊥ </a:t>
            </a:r>
            <a:r>
              <a:rPr lang="it-IT" sz="2000" dirty="0" err="1"/>
              <a:t>is</a:t>
            </a:r>
            <a:r>
              <a:rPr lang="it-IT" sz="2000" dirty="0"/>
              <a:t> </a:t>
            </a:r>
            <a:r>
              <a:rPr lang="it-IT" sz="2000" dirty="0" err="1"/>
              <a:t>subsumed</a:t>
            </a:r>
            <a:r>
              <a:rPr lang="it-IT" sz="2000" dirty="0"/>
              <a:t> by </a:t>
            </a:r>
            <a:r>
              <a:rPr lang="it-IT" sz="2000" dirty="0" err="1"/>
              <a:t>any</a:t>
            </a:r>
            <a:r>
              <a:rPr lang="it-IT" sz="2000" dirty="0"/>
              <a:t> concept</a:t>
            </a:r>
          </a:p>
          <a:p>
            <a:r>
              <a:rPr lang="it-IT" sz="2400" dirty="0" err="1"/>
              <a:t>Simplification</a:t>
            </a:r>
            <a:r>
              <a:rPr lang="it-IT" sz="2400" dirty="0"/>
              <a:t> (2)</a:t>
            </a:r>
          </a:p>
          <a:p>
            <a:pPr lvl="1"/>
            <a:r>
              <a:rPr lang="it-IT" sz="2000" dirty="0" err="1"/>
              <a:t>When</a:t>
            </a:r>
            <a:r>
              <a:rPr lang="it-IT" sz="2000" dirty="0"/>
              <a:t> in a concept C the symbol ⊤ </a:t>
            </a:r>
            <a:r>
              <a:rPr lang="it-IT" sz="2000" dirty="0" err="1"/>
              <a:t>appears</a:t>
            </a:r>
            <a:r>
              <a:rPr lang="it-IT" sz="2000" dirty="0"/>
              <a:t>, delete </a:t>
            </a:r>
            <a:r>
              <a:rPr lang="it-IT" sz="2000" dirty="0" err="1"/>
              <a:t>it</a:t>
            </a:r>
            <a:r>
              <a:rPr lang="it-IT" sz="2000" dirty="0"/>
              <a:t> from C</a:t>
            </a:r>
          </a:p>
          <a:p>
            <a:pPr lvl="1"/>
            <a:r>
              <a:rPr lang="it-IT" sz="2000" dirty="0"/>
              <a:t>⊤ </a:t>
            </a:r>
            <a:r>
              <a:rPr lang="it-IT" sz="2000" dirty="0" err="1"/>
              <a:t>subsumes</a:t>
            </a:r>
            <a:r>
              <a:rPr lang="it-IT" sz="2000" dirty="0"/>
              <a:t> </a:t>
            </a:r>
            <a:r>
              <a:rPr lang="it-IT" sz="2000" dirty="0" err="1"/>
              <a:t>any</a:t>
            </a:r>
            <a:r>
              <a:rPr lang="it-IT" sz="2000" dirty="0"/>
              <a:t> concept</a:t>
            </a:r>
          </a:p>
          <a:p>
            <a:r>
              <a:rPr lang="it-IT" sz="2400" dirty="0" err="1"/>
              <a:t>Simplification</a:t>
            </a:r>
            <a:r>
              <a:rPr lang="it-IT" sz="2400" dirty="0"/>
              <a:t> (3)</a:t>
            </a:r>
          </a:p>
          <a:p>
            <a:pPr lvl="1"/>
            <a:r>
              <a:rPr lang="it-IT" sz="2000" dirty="0" err="1"/>
              <a:t>When</a:t>
            </a:r>
            <a:r>
              <a:rPr lang="it-IT" sz="2000" dirty="0"/>
              <a:t> in a concept C </a:t>
            </a:r>
            <a:r>
              <a:rPr lang="it-IT" sz="2000" dirty="0" err="1"/>
              <a:t>both</a:t>
            </a:r>
            <a:r>
              <a:rPr lang="it-IT" sz="2000" dirty="0"/>
              <a:t> A and </a:t>
            </a:r>
            <a:r>
              <a:rPr lang="it-IT" sz="2000" dirty="0">
                <a:latin typeface="Calibri" panose="020F0502020204030204" pitchFamily="34" charset="0"/>
                <a:cs typeface="Calibri" panose="020F0502020204030204" pitchFamily="34" charset="0"/>
              </a:rPr>
              <a:t>¬A </a:t>
            </a:r>
            <a:r>
              <a:rPr lang="it-IT" sz="2000" dirty="0" err="1">
                <a:latin typeface="Calibri" panose="020F0502020204030204" pitchFamily="34" charset="0"/>
                <a:cs typeface="Calibri" panose="020F0502020204030204" pitchFamily="34" charset="0"/>
              </a:rPr>
              <a:t>appear</a:t>
            </a:r>
            <a:r>
              <a:rPr lang="it-IT" sz="20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it-IT" sz="2000" dirty="0" err="1">
                <a:latin typeface="Calibri" panose="020F0502020204030204" pitchFamily="34" charset="0"/>
                <a:cs typeface="Calibri" panose="020F0502020204030204" pitchFamily="34" charset="0"/>
              </a:rPr>
              <a:t>substitute</a:t>
            </a:r>
            <a:r>
              <a:rPr lang="it-IT" sz="2000" dirty="0">
                <a:latin typeface="Calibri" panose="020F0502020204030204" pitchFamily="34" charset="0"/>
                <a:cs typeface="Calibri" panose="020F0502020204030204" pitchFamily="34" charset="0"/>
              </a:rPr>
              <a:t> C with </a:t>
            </a:r>
            <a:r>
              <a:rPr lang="it-IT" sz="2000" dirty="0"/>
              <a:t>⊥</a:t>
            </a:r>
          </a:p>
          <a:p>
            <a:pPr lvl="1"/>
            <a:endParaRPr lang="it-IT" sz="2000" dirty="0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6BBE713F-0691-2438-772A-95EECD23C3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it-IT" altLang="it-IT"/>
              <a:t>Introduction to KR</a:t>
            </a:r>
            <a:endParaRPr lang="it-IT" alt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3A4CF23C-E6DE-66F0-A104-607A2D7505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KNOWLEDGE REPRESENTATION</a:t>
            </a:r>
            <a:endParaRPr lang="en-US" dirty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D6D7E7D0-D388-E11B-BCD7-34D367E231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CD341D-7438-4FA4-973F-6F9EECBD14B9}" type="slidenum">
              <a:rPr lang="it-IT" altLang="it-IT" smtClean="0"/>
              <a:pPr>
                <a:defRPr/>
              </a:pPr>
              <a:t>18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67967861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0367E51-7283-0842-1471-A8DAEAB7FD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Principles</a:t>
            </a:r>
            <a:r>
              <a:rPr lang="it-IT" dirty="0"/>
              <a:t> of SSDL (3)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25EBA7C5-166C-49F5-CDFD-EF79B6D0D9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/>
              <a:t>∃</a:t>
            </a:r>
            <a:r>
              <a:rPr lang="it-IT" dirty="0" err="1"/>
              <a:t>R</a:t>
            </a:r>
            <a:r>
              <a:rPr lang="it-IT" dirty="0"/>
              <a:t>.</a:t>
            </a:r>
            <a:r>
              <a:rPr lang="it-IT" sz="3200" dirty="0"/>
              <a:t>⊥ </a:t>
            </a:r>
            <a:r>
              <a:rPr lang="it-IT" sz="3200" dirty="0" err="1"/>
              <a:t>is</a:t>
            </a:r>
            <a:r>
              <a:rPr lang="it-IT" sz="3200" dirty="0"/>
              <a:t> </a:t>
            </a:r>
            <a:r>
              <a:rPr lang="it-IT" sz="3200" dirty="0" err="1"/>
              <a:t>equivalent</a:t>
            </a:r>
            <a:r>
              <a:rPr lang="it-IT" sz="3200" dirty="0"/>
              <a:t> to ⊥ </a:t>
            </a:r>
            <a:r>
              <a:rPr lang="it-IT" sz="3200" i="1" dirty="0"/>
              <a:t>(</a:t>
            </a:r>
            <a:r>
              <a:rPr lang="it-IT" sz="3200" i="1" dirty="0" err="1"/>
              <a:t>not</a:t>
            </a:r>
            <a:r>
              <a:rPr lang="it-IT" sz="3200" i="1" dirty="0"/>
              <a:t> </a:t>
            </a:r>
            <a:r>
              <a:rPr lang="it-IT" sz="3200" i="1" dirty="0" err="1"/>
              <a:t>useful</a:t>
            </a:r>
            <a:r>
              <a:rPr lang="it-IT" sz="3200" i="1" dirty="0"/>
              <a:t> for </a:t>
            </a:r>
            <a:r>
              <a:rPr lang="it-IT" sz="3200" dirty="0">
                <a:latin typeface="Apple Chancery" panose="03020702040506060504" pitchFamily="66" charset="-79"/>
                <a:cs typeface="Apple Chancery" panose="03020702040506060504" pitchFamily="66" charset="-79"/>
              </a:rPr>
              <a:t>AL</a:t>
            </a:r>
            <a:r>
              <a:rPr lang="it-IT" sz="3200" i="1" dirty="0"/>
              <a:t>)</a:t>
            </a:r>
            <a:endParaRPr lang="it-IT" i="1" dirty="0"/>
          </a:p>
          <a:p>
            <a:r>
              <a:rPr lang="it-IT" dirty="0"/>
              <a:t>∃</a:t>
            </a:r>
            <a:r>
              <a:rPr lang="it-IT" dirty="0" err="1"/>
              <a:t>R</a:t>
            </a:r>
            <a:r>
              <a:rPr lang="it-IT" dirty="0"/>
              <a:t>.</a:t>
            </a:r>
            <a:r>
              <a:rPr lang="it-IT" sz="3200" dirty="0"/>
              <a:t>⊤ </a:t>
            </a:r>
            <a:r>
              <a:rPr lang="it-IT" sz="3200" dirty="0" err="1"/>
              <a:t>is</a:t>
            </a:r>
            <a:r>
              <a:rPr lang="it-IT" sz="3200" dirty="0"/>
              <a:t> a </a:t>
            </a:r>
            <a:r>
              <a:rPr lang="it-IT" sz="3200" dirty="0" err="1"/>
              <a:t>literal</a:t>
            </a:r>
            <a:r>
              <a:rPr lang="it-IT" sz="3200" dirty="0"/>
              <a:t> per se</a:t>
            </a:r>
          </a:p>
          <a:p>
            <a:r>
              <a:rPr lang="it-IT" sz="3200" dirty="0"/>
              <a:t>∀</a:t>
            </a:r>
            <a:r>
              <a:rPr lang="it-IT" sz="3200" dirty="0" err="1"/>
              <a:t>R</a:t>
            </a:r>
            <a:r>
              <a:rPr lang="it-IT" sz="3200" dirty="0"/>
              <a:t>.⊤ </a:t>
            </a:r>
            <a:r>
              <a:rPr lang="it-IT" sz="3200" dirty="0" err="1"/>
              <a:t>is</a:t>
            </a:r>
            <a:r>
              <a:rPr lang="it-IT" sz="3200" dirty="0"/>
              <a:t> </a:t>
            </a:r>
            <a:r>
              <a:rPr lang="it-IT" sz="3200" dirty="0" err="1"/>
              <a:t>equivalent</a:t>
            </a:r>
            <a:r>
              <a:rPr lang="it-IT" sz="3200" dirty="0"/>
              <a:t> to ⊤</a:t>
            </a:r>
          </a:p>
          <a:p>
            <a:r>
              <a:rPr lang="it-IT" dirty="0"/>
              <a:t>∀</a:t>
            </a:r>
            <a:r>
              <a:rPr lang="it-IT" dirty="0" err="1"/>
              <a:t>R</a:t>
            </a:r>
            <a:r>
              <a:rPr lang="it-IT"/>
              <a:t>.⊥ </a:t>
            </a:r>
            <a:r>
              <a:rPr lang="it-IT" dirty="0" err="1"/>
              <a:t>is</a:t>
            </a:r>
            <a:r>
              <a:rPr lang="it-IT" dirty="0"/>
              <a:t> a </a:t>
            </a:r>
            <a:r>
              <a:rPr lang="it-IT" dirty="0" err="1"/>
              <a:t>literal</a:t>
            </a:r>
            <a:r>
              <a:rPr lang="it-IT" dirty="0"/>
              <a:t> per se and </a:t>
            </a:r>
            <a:r>
              <a:rPr lang="it-IT" dirty="0" err="1"/>
              <a:t>it</a:t>
            </a:r>
            <a:r>
              <a:rPr lang="it-IT" dirty="0"/>
              <a:t>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subsumed</a:t>
            </a:r>
            <a:r>
              <a:rPr lang="it-IT" dirty="0"/>
              <a:t> by </a:t>
            </a:r>
            <a:r>
              <a:rPr lang="it-IT" dirty="0" err="1"/>
              <a:t>any</a:t>
            </a:r>
            <a:r>
              <a:rPr lang="it-IT" dirty="0"/>
              <a:t> ∀R.C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384C5353-2202-2ED3-780C-7E4D1AB8E3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it-IT" altLang="it-IT"/>
              <a:t>Introduction to KR</a:t>
            </a:r>
            <a:endParaRPr lang="it-IT" alt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97E640B0-6FE6-54EE-447B-E91033E067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KNOWLEDGE REPRESENTATION</a:t>
            </a:r>
            <a:endParaRPr lang="en-US" dirty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3D928140-981B-E171-016D-3088C88F34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CD341D-7438-4FA4-973F-6F9EECBD14B9}" type="slidenum">
              <a:rPr lang="it-IT" altLang="it-IT" smtClean="0"/>
              <a:pPr>
                <a:defRPr/>
              </a:pPr>
              <a:t>19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257801690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4F0C0D3-7B79-BCDC-9A91-8A39AAA27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Principles</a:t>
            </a:r>
            <a:r>
              <a:rPr lang="it-IT" dirty="0"/>
              <a:t> of SSDL (4)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C45A8C0D-1AA6-148F-E7FE-9D7E371E4A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 err="1"/>
              <a:t>When</a:t>
            </a:r>
            <a:r>
              <a:rPr lang="it-IT" dirty="0"/>
              <a:t> </a:t>
            </a:r>
            <a:r>
              <a:rPr lang="it-IT" dirty="0" err="1"/>
              <a:t>comparing</a:t>
            </a:r>
            <a:r>
              <a:rPr lang="it-IT" dirty="0"/>
              <a:t> </a:t>
            </a:r>
            <a:r>
              <a:rPr lang="it-IT" sz="3200" dirty="0"/>
              <a:t>∀R.</a:t>
            </a:r>
            <a:r>
              <a:rPr lang="it-IT" dirty="0"/>
              <a:t>X</a:t>
            </a:r>
            <a:r>
              <a:rPr lang="it-IT" sz="3200" dirty="0"/>
              <a:t> with ∀R.Y, </a:t>
            </a:r>
            <a:r>
              <a:rPr lang="it-IT" sz="3200" dirty="0" err="1"/>
              <a:t>we</a:t>
            </a:r>
            <a:r>
              <a:rPr lang="it-IT" sz="3200" dirty="0"/>
              <a:t> </a:t>
            </a:r>
            <a:r>
              <a:rPr lang="it-IT" sz="3200" dirty="0" err="1"/>
              <a:t>adopt</a:t>
            </a:r>
            <a:r>
              <a:rPr lang="it-IT" sz="3200" dirty="0"/>
              <a:t> the </a:t>
            </a:r>
            <a:r>
              <a:rPr lang="it-IT" sz="3200" dirty="0" err="1"/>
              <a:t>recursion</a:t>
            </a:r>
            <a:r>
              <a:rPr lang="it-IT" sz="3200" dirty="0"/>
              <a:t> </a:t>
            </a:r>
            <a:r>
              <a:rPr lang="it-IT" sz="3200" dirty="0" err="1"/>
              <a:t>principle</a:t>
            </a:r>
            <a:r>
              <a:rPr lang="it-IT" sz="3200" dirty="0"/>
              <a:t>:</a:t>
            </a:r>
          </a:p>
          <a:p>
            <a:pPr marL="0" indent="0">
              <a:buNone/>
            </a:pPr>
            <a:endParaRPr lang="it-IT" sz="3200" dirty="0"/>
          </a:p>
          <a:p>
            <a:pPr lvl="1"/>
            <a:r>
              <a:rPr lang="it-IT" sz="2800" dirty="0"/>
              <a:t>∀R.X </a:t>
            </a:r>
            <a:r>
              <a:rPr lang="it-IT" sz="2800" dirty="0" err="1"/>
              <a:t>is</a:t>
            </a:r>
            <a:r>
              <a:rPr lang="it-IT" sz="2800" dirty="0"/>
              <a:t> </a:t>
            </a:r>
            <a:r>
              <a:rPr lang="it-IT" sz="2800" dirty="0" err="1"/>
              <a:t>subsumed</a:t>
            </a:r>
            <a:r>
              <a:rPr lang="it-IT" sz="2800" dirty="0"/>
              <a:t> b</a:t>
            </a:r>
            <a:r>
              <a:rPr lang="it-IT" dirty="0"/>
              <a:t>y </a:t>
            </a:r>
            <a:r>
              <a:rPr lang="it-IT" sz="2800" dirty="0"/>
              <a:t>∀R.</a:t>
            </a:r>
            <a:r>
              <a:rPr lang="it-IT" dirty="0"/>
              <a:t>Y </a:t>
            </a:r>
            <a:r>
              <a:rPr lang="it-IT" i="1" dirty="0" err="1"/>
              <a:t>iff</a:t>
            </a:r>
            <a:r>
              <a:rPr lang="it-IT" i="1" dirty="0"/>
              <a:t> </a:t>
            </a:r>
            <a:r>
              <a:rPr lang="it-IT" dirty="0"/>
              <a:t>X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subsumed</a:t>
            </a:r>
            <a:r>
              <a:rPr lang="it-IT" dirty="0"/>
              <a:t> by Y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9F82CBB2-CFCB-41CC-ECAF-3CE2607821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it-IT" altLang="it-IT"/>
              <a:t>Introduction to KR</a:t>
            </a:r>
            <a:endParaRPr lang="it-IT" alt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11018928-EBA8-10DE-8AD5-C4CCC60279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KNOWLEDGE REPRESENTATION</a:t>
            </a:r>
            <a:endParaRPr lang="en-US" dirty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7053DD96-3663-20AB-3C99-06895C5D98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CD341D-7438-4FA4-973F-6F9EECBD14B9}" type="slidenum">
              <a:rPr lang="it-IT" altLang="it-IT" smtClean="0"/>
              <a:pPr>
                <a:defRPr/>
              </a:pPr>
              <a:t>20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353933189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AAE3F61-EFB8-1546-9C21-71780995D6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NUMERALS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4E02FFCD-8992-F84F-B30B-50FF66AA9E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 err="1"/>
              <a:t>There</a:t>
            </a:r>
            <a:r>
              <a:rPr lang="it-IT" dirty="0"/>
              <a:t> are </a:t>
            </a:r>
            <a:r>
              <a:rPr lang="it-IT" dirty="0" err="1"/>
              <a:t>two</a:t>
            </a:r>
            <a:r>
              <a:rPr lang="it-IT" dirty="0"/>
              <a:t> </a:t>
            </a:r>
            <a:r>
              <a:rPr lang="it-IT" dirty="0" err="1"/>
              <a:t>numeral</a:t>
            </a:r>
            <a:r>
              <a:rPr lang="it-IT" dirty="0"/>
              <a:t> </a:t>
            </a:r>
            <a:r>
              <a:rPr lang="it-IT" dirty="0" err="1"/>
              <a:t>operators</a:t>
            </a:r>
            <a:r>
              <a:rPr lang="it-IT" dirty="0"/>
              <a:t>
</a:t>
            </a:r>
            <a:r>
              <a:rPr lang="it-IT" b="1" dirty="0"/>
              <a:t>≥</a:t>
            </a:r>
            <a:r>
              <a:rPr lang="it-IT" b="1" dirty="0" err="1"/>
              <a:t>nR</a:t>
            </a:r>
            <a:r>
              <a:rPr lang="it-IT" b="1" dirty="0"/>
              <a:t> </a:t>
            </a:r>
            <a:r>
              <a:rPr lang="it-IT" dirty="0" err="1"/>
              <a:t>which</a:t>
            </a:r>
            <a:r>
              <a:rPr lang="it-IT" dirty="0"/>
              <a:t> </a:t>
            </a:r>
            <a:r>
              <a:rPr lang="it-IT" dirty="0" err="1"/>
              <a:t>means</a:t>
            </a:r>
            <a:r>
              <a:rPr lang="it-IT" dirty="0"/>
              <a:t> </a:t>
            </a:r>
            <a:r>
              <a:rPr lang="it-IT" dirty="0" err="1"/>
              <a:t>at</a:t>
            </a:r>
            <a:r>
              <a:rPr lang="it-IT" dirty="0"/>
              <a:t> </a:t>
            </a:r>
            <a:r>
              <a:rPr lang="it-IT" dirty="0" err="1"/>
              <a:t>least</a:t>
            </a:r>
            <a:r>
              <a:rPr lang="it-IT" dirty="0"/>
              <a:t> </a:t>
            </a:r>
            <a:r>
              <a:rPr lang="it-IT" dirty="0" err="1"/>
              <a:t>n</a:t>
            </a:r>
            <a:r>
              <a:rPr lang="it-IT" dirty="0"/>
              <a:t> </a:t>
            </a:r>
            <a:r>
              <a:rPr lang="it-IT" dirty="0" err="1"/>
              <a:t>elements</a:t>
            </a:r>
            <a:r>
              <a:rPr lang="it-IT" dirty="0"/>
              <a:t> in relation
</a:t>
            </a:r>
            <a:r>
              <a:rPr lang="it-IT" b="1" dirty="0"/>
              <a:t>≤</a:t>
            </a:r>
            <a:r>
              <a:rPr lang="it-IT" b="1" dirty="0" err="1"/>
              <a:t>nR</a:t>
            </a:r>
            <a:r>
              <a:rPr lang="it-IT" dirty="0"/>
              <a:t>, </a:t>
            </a:r>
            <a:r>
              <a:rPr lang="it-IT" dirty="0" err="1"/>
              <a:t>which</a:t>
            </a:r>
            <a:r>
              <a:rPr lang="it-IT" dirty="0"/>
              <a:t> </a:t>
            </a:r>
            <a:r>
              <a:rPr lang="it-IT" dirty="0" err="1"/>
              <a:t>means</a:t>
            </a:r>
            <a:r>
              <a:rPr lang="it-IT" dirty="0"/>
              <a:t> </a:t>
            </a:r>
            <a:r>
              <a:rPr lang="it-IT" dirty="0" err="1"/>
              <a:t>at</a:t>
            </a:r>
            <a:r>
              <a:rPr lang="it-IT" dirty="0"/>
              <a:t> </a:t>
            </a:r>
            <a:r>
              <a:rPr lang="it-IT" dirty="0" err="1"/>
              <a:t>most</a:t>
            </a:r>
            <a:r>
              <a:rPr lang="it-IT" dirty="0"/>
              <a:t> </a:t>
            </a:r>
            <a:r>
              <a:rPr lang="it-IT" dirty="0" err="1"/>
              <a:t>n</a:t>
            </a:r>
            <a:r>
              <a:rPr lang="it-IT" dirty="0"/>
              <a:t> </a:t>
            </a:r>
            <a:r>
              <a:rPr lang="it-IT" dirty="0" err="1"/>
              <a:t>elements</a:t>
            </a:r>
            <a:r>
              <a:rPr lang="it-IT" dirty="0"/>
              <a:t> in relation</a:t>
            </a:r>
            <a:endParaRPr lang="it-IT" i="1" baseline="-25000" dirty="0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8B353223-BD47-A247-9444-44CA57B475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it-IT" altLang="it-IT"/>
              <a:t>Introduction to KR</a:t>
            </a:r>
            <a:endParaRPr lang="it-IT" alt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75FF7451-6F5D-4746-9D1E-7F34D10C6A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KNOWLEDGE REPRESENTATION</a:t>
            </a:r>
            <a:endParaRPr lang="en-US" dirty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6006966E-02E0-3F40-84AB-80CE2456CC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CD341D-7438-4FA4-973F-6F9EECBD14B9}" type="slidenum">
              <a:rPr lang="it-IT" altLang="it-IT" smtClean="0"/>
              <a:pPr>
                <a:defRPr/>
              </a:pPr>
              <a:t>21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3775080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3263691-F982-AC4F-944D-154CE95344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SEMANTICS OF NUMERALS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E527FFF6-1DA6-034C-ADAC-AB47C16DB2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it-IT" dirty="0"/>
          </a:p>
          <a:p>
            <a:r>
              <a:rPr lang="it-IT" dirty="0"/>
              <a:t>(≥</a:t>
            </a:r>
            <a:r>
              <a:rPr lang="it-IT" baseline="-25000" dirty="0" err="1"/>
              <a:t>n</a:t>
            </a:r>
            <a:r>
              <a:rPr lang="it-IT" dirty="0" err="1"/>
              <a:t>R</a:t>
            </a:r>
            <a:r>
              <a:rPr lang="it-IT" dirty="0"/>
              <a:t>)</a:t>
            </a:r>
            <a:r>
              <a:rPr lang="it-IT" baseline="30000" dirty="0" err="1">
                <a:latin typeface="Apple Chancery" panose="03020702040506060504" pitchFamily="66" charset="-79"/>
                <a:cs typeface="Apple Chancery" panose="03020702040506060504" pitchFamily="66" charset="-79"/>
              </a:rPr>
              <a:t>J</a:t>
            </a:r>
            <a:r>
              <a:rPr lang="it-IT" dirty="0"/>
              <a:t> = {x.|{y. (</a:t>
            </a:r>
            <a:r>
              <a:rPr lang="it-IT" dirty="0" err="1"/>
              <a:t>x,y</a:t>
            </a:r>
            <a:r>
              <a:rPr lang="it-IT" dirty="0"/>
              <a:t>) ∈ </a:t>
            </a:r>
            <a:r>
              <a:rPr lang="it-IT" dirty="0" err="1"/>
              <a:t>R</a:t>
            </a:r>
            <a:r>
              <a:rPr lang="it-IT" baseline="30000" dirty="0">
                <a:latin typeface="Apple Chancery" panose="03020702040506060504" pitchFamily="66" charset="-79"/>
                <a:cs typeface="Apple Chancery" panose="03020702040506060504" pitchFamily="66" charset="-79"/>
              </a:rPr>
              <a:t> </a:t>
            </a:r>
            <a:r>
              <a:rPr lang="it-IT" baseline="30000" dirty="0" err="1">
                <a:latin typeface="Apple Chancery" panose="03020702040506060504" pitchFamily="66" charset="-79"/>
                <a:cs typeface="Apple Chancery" panose="03020702040506060504" pitchFamily="66" charset="-79"/>
              </a:rPr>
              <a:t>J</a:t>
            </a:r>
            <a:r>
              <a:rPr lang="it-IT" dirty="0">
                <a:latin typeface="Calibri" panose="020F0502020204030204" pitchFamily="34" charset="0"/>
                <a:cs typeface="Calibri" panose="020F0502020204030204" pitchFamily="34" charset="0"/>
              </a:rPr>
              <a:t>| ≥ </a:t>
            </a:r>
            <a:r>
              <a:rPr lang="it-IT" dirty="0" err="1">
                <a:latin typeface="Calibri" panose="020F0502020204030204" pitchFamily="34" charset="0"/>
                <a:cs typeface="Calibri" panose="020F0502020204030204" pitchFamily="34" charset="0"/>
              </a:rPr>
              <a:t>n</a:t>
            </a:r>
            <a:r>
              <a:rPr lang="it-IT" dirty="0"/>
              <a:t>}</a:t>
            </a:r>
          </a:p>
          <a:p>
            <a:pPr marL="0" indent="0">
              <a:buNone/>
            </a:pPr>
            <a:endParaRPr lang="it-IT" dirty="0"/>
          </a:p>
          <a:p>
            <a:r>
              <a:rPr lang="it-IT" dirty="0"/>
              <a:t>(≤</a:t>
            </a:r>
            <a:r>
              <a:rPr lang="it-IT" baseline="-25000" dirty="0" err="1"/>
              <a:t>n</a:t>
            </a:r>
            <a:r>
              <a:rPr lang="it-IT" dirty="0" err="1"/>
              <a:t>R</a:t>
            </a:r>
            <a:r>
              <a:rPr lang="it-IT" dirty="0"/>
              <a:t>)</a:t>
            </a:r>
            <a:r>
              <a:rPr lang="it-IT" baseline="30000" dirty="0" err="1">
                <a:latin typeface="Apple Chancery" panose="03020702040506060504" pitchFamily="66" charset="-79"/>
                <a:cs typeface="Apple Chancery" panose="03020702040506060504" pitchFamily="66" charset="-79"/>
              </a:rPr>
              <a:t>J</a:t>
            </a:r>
            <a:r>
              <a:rPr lang="it-IT" dirty="0"/>
              <a:t> = {x.|{y. (</a:t>
            </a:r>
            <a:r>
              <a:rPr lang="it-IT" dirty="0" err="1"/>
              <a:t>x,y</a:t>
            </a:r>
            <a:r>
              <a:rPr lang="it-IT" dirty="0"/>
              <a:t>) ∈ </a:t>
            </a:r>
            <a:r>
              <a:rPr lang="it-IT" dirty="0" err="1"/>
              <a:t>R</a:t>
            </a:r>
            <a:r>
              <a:rPr lang="it-IT" baseline="30000" dirty="0">
                <a:latin typeface="Apple Chancery" panose="03020702040506060504" pitchFamily="66" charset="-79"/>
                <a:cs typeface="Apple Chancery" panose="03020702040506060504" pitchFamily="66" charset="-79"/>
              </a:rPr>
              <a:t> </a:t>
            </a:r>
            <a:r>
              <a:rPr lang="it-IT" baseline="30000" dirty="0" err="1">
                <a:latin typeface="Apple Chancery" panose="03020702040506060504" pitchFamily="66" charset="-79"/>
                <a:cs typeface="Apple Chancery" panose="03020702040506060504" pitchFamily="66" charset="-79"/>
              </a:rPr>
              <a:t>J</a:t>
            </a:r>
            <a:r>
              <a:rPr lang="it-IT" dirty="0">
                <a:latin typeface="Calibri" panose="020F0502020204030204" pitchFamily="34" charset="0"/>
                <a:cs typeface="Calibri" panose="020F0502020204030204" pitchFamily="34" charset="0"/>
              </a:rPr>
              <a:t>| </a:t>
            </a:r>
            <a:r>
              <a:rPr lang="it-IT" dirty="0"/>
              <a:t>≤</a:t>
            </a:r>
            <a:r>
              <a:rPr lang="it-IT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it-IT" dirty="0" err="1">
                <a:latin typeface="Calibri" panose="020F0502020204030204" pitchFamily="34" charset="0"/>
                <a:cs typeface="Calibri" panose="020F0502020204030204" pitchFamily="34" charset="0"/>
              </a:rPr>
              <a:t>n</a:t>
            </a:r>
            <a:r>
              <a:rPr lang="it-IT" dirty="0"/>
              <a:t>}</a:t>
            </a:r>
          </a:p>
          <a:p>
            <a:endParaRPr lang="it-IT" dirty="0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C4D8CB1C-7671-1548-AF74-F3634716DB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it-IT" altLang="it-IT"/>
              <a:t>Introduction to KR</a:t>
            </a:r>
            <a:endParaRPr lang="it-IT" alt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C4AC9216-9378-5344-A2FC-FEF1CC050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KNOWLEDGE REPRESENTATION</a:t>
            </a:r>
            <a:endParaRPr lang="en-US" dirty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C8DD10AA-56A8-EE45-9151-6615D90639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CD341D-7438-4FA4-973F-6F9EECBD14B9}" type="slidenum">
              <a:rPr lang="it-IT" altLang="it-IT" smtClean="0"/>
              <a:pPr>
                <a:defRPr/>
              </a:pPr>
              <a:t>22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272335735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A218068-0389-F74C-A053-C92D49A8BD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REWRITING RULES FOR NUMERALS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2337F9DE-7245-2E4F-AF87-C8D431D4E6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sz="2400" dirty="0"/>
              <a:t>The </a:t>
            </a:r>
            <a:r>
              <a:rPr lang="it-IT" sz="2400" dirty="0" err="1"/>
              <a:t>intersection</a:t>
            </a:r>
            <a:r>
              <a:rPr lang="it-IT" sz="2400" dirty="0"/>
              <a:t> of </a:t>
            </a:r>
            <a:r>
              <a:rPr lang="it-IT" sz="2400" dirty="0" err="1"/>
              <a:t>two</a:t>
            </a:r>
            <a:r>
              <a:rPr lang="it-IT" sz="2400" dirty="0"/>
              <a:t> </a:t>
            </a:r>
            <a:r>
              <a:rPr lang="it-IT" sz="2400" dirty="0" err="1"/>
              <a:t>numerals</a:t>
            </a:r>
            <a:r>
              <a:rPr lang="it-IT" sz="2400" dirty="0"/>
              <a:t> ≤</a:t>
            </a:r>
            <a:r>
              <a:rPr lang="it-IT" sz="2400" dirty="0" err="1"/>
              <a:t>n</a:t>
            </a:r>
            <a:r>
              <a:rPr lang="it-IT" sz="2400" dirty="0"/>
              <a:t> on the </a:t>
            </a:r>
            <a:r>
              <a:rPr lang="it-IT" sz="2400" dirty="0" err="1"/>
              <a:t>same</a:t>
            </a:r>
            <a:r>
              <a:rPr lang="it-IT" sz="2400" dirty="0"/>
              <a:t> </a:t>
            </a:r>
            <a:r>
              <a:rPr lang="it-IT" sz="2400" dirty="0" err="1"/>
              <a:t>role</a:t>
            </a:r>
            <a:r>
              <a:rPr lang="it-IT" sz="2400" dirty="0"/>
              <a:t> </a:t>
            </a:r>
            <a:r>
              <a:rPr lang="it-IT" sz="2400" dirty="0" err="1"/>
              <a:t>shrinks</a:t>
            </a:r>
            <a:r>
              <a:rPr lang="it-IT" sz="2400" dirty="0"/>
              <a:t> </a:t>
            </a:r>
            <a:r>
              <a:rPr lang="it-IT" sz="2400" dirty="0" err="1"/>
              <a:t>as</a:t>
            </a:r>
            <a:r>
              <a:rPr lang="it-IT" sz="2400" dirty="0"/>
              <a:t> the </a:t>
            </a:r>
            <a:r>
              <a:rPr lang="it-IT" sz="2400" dirty="0" err="1"/>
              <a:t>smaller</a:t>
            </a:r>
            <a:endParaRPr lang="it-IT" sz="2400" dirty="0"/>
          </a:p>
          <a:p>
            <a:endParaRPr lang="it-IT" sz="2400" dirty="0"/>
          </a:p>
          <a:p>
            <a:r>
              <a:rPr lang="it-IT" sz="2400" dirty="0"/>
              <a:t>The </a:t>
            </a:r>
            <a:r>
              <a:rPr lang="it-IT" sz="2400" dirty="0" err="1"/>
              <a:t>intersection</a:t>
            </a:r>
            <a:r>
              <a:rPr lang="it-IT" sz="2400" dirty="0"/>
              <a:t> of </a:t>
            </a:r>
            <a:r>
              <a:rPr lang="it-IT" sz="2400" dirty="0" err="1"/>
              <a:t>two</a:t>
            </a:r>
            <a:r>
              <a:rPr lang="it-IT" sz="2400" dirty="0"/>
              <a:t> </a:t>
            </a:r>
            <a:r>
              <a:rPr lang="it-IT" sz="2400" dirty="0" err="1"/>
              <a:t>numerals</a:t>
            </a:r>
            <a:r>
              <a:rPr lang="it-IT" sz="2400" dirty="0"/>
              <a:t> ≥</a:t>
            </a:r>
            <a:r>
              <a:rPr lang="it-IT" sz="2400" dirty="0" err="1"/>
              <a:t>n</a:t>
            </a:r>
            <a:r>
              <a:rPr lang="it-IT" sz="2400" dirty="0"/>
              <a:t> on the </a:t>
            </a:r>
            <a:r>
              <a:rPr lang="it-IT" sz="2400" dirty="0" err="1"/>
              <a:t>same</a:t>
            </a:r>
            <a:r>
              <a:rPr lang="it-IT" sz="2400" dirty="0"/>
              <a:t> </a:t>
            </a:r>
            <a:r>
              <a:rPr lang="it-IT" sz="2400" dirty="0" err="1"/>
              <a:t>role</a:t>
            </a:r>
            <a:r>
              <a:rPr lang="it-IT" sz="2400" dirty="0"/>
              <a:t> </a:t>
            </a:r>
            <a:r>
              <a:rPr lang="it-IT" sz="2400" dirty="0" err="1"/>
              <a:t>narrows</a:t>
            </a:r>
            <a:r>
              <a:rPr lang="it-IT" sz="2400" dirty="0"/>
              <a:t> </a:t>
            </a:r>
            <a:r>
              <a:rPr lang="it-IT" sz="2400" dirty="0" err="1"/>
              <a:t>as</a:t>
            </a:r>
            <a:r>
              <a:rPr lang="it-IT" sz="2400" dirty="0"/>
              <a:t> the </a:t>
            </a:r>
            <a:r>
              <a:rPr lang="it-IT" sz="2400" dirty="0" err="1"/>
              <a:t>larger</a:t>
            </a:r>
            <a:endParaRPr lang="it-IT" sz="2400" dirty="0"/>
          </a:p>
          <a:p>
            <a:endParaRPr lang="it-IT" sz="2400" dirty="0"/>
          </a:p>
          <a:p>
            <a:r>
              <a:rPr lang="it-IT" sz="2400" dirty="0"/>
              <a:t>The </a:t>
            </a:r>
            <a:r>
              <a:rPr lang="it-IT" sz="2400" dirty="0" err="1"/>
              <a:t>intersection</a:t>
            </a:r>
            <a:r>
              <a:rPr lang="it-IT" sz="2400" dirty="0"/>
              <a:t> of </a:t>
            </a:r>
            <a:r>
              <a:rPr lang="it-IT" sz="2400" dirty="0" err="1"/>
              <a:t>two</a:t>
            </a:r>
            <a:r>
              <a:rPr lang="it-IT" sz="2400" dirty="0"/>
              <a:t> cross-</a:t>
            </a:r>
            <a:r>
              <a:rPr lang="it-IT" sz="2400" dirty="0" err="1"/>
              <a:t>valued</a:t>
            </a:r>
            <a:r>
              <a:rPr lang="it-IT" sz="2400" dirty="0"/>
              <a:t> opposite </a:t>
            </a:r>
            <a:r>
              <a:rPr lang="it-IT" sz="2400" dirty="0" err="1"/>
              <a:t>numerals</a:t>
            </a:r>
            <a:r>
              <a:rPr lang="it-IT" sz="2400" dirty="0"/>
              <a:t> </a:t>
            </a:r>
            <a:r>
              <a:rPr lang="it-IT" sz="2400" dirty="0" err="1"/>
              <a:t>is</a:t>
            </a:r>
            <a:r>
              <a:rPr lang="it-IT" sz="2400" dirty="0"/>
              <a:t> </a:t>
            </a:r>
            <a:r>
              <a:rPr lang="it-IT" sz="2400" dirty="0" err="1"/>
              <a:t>equivalent</a:t>
            </a:r>
            <a:r>
              <a:rPr lang="it-IT" sz="2400" dirty="0"/>
              <a:t> to ⊥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32F171A1-C1AC-AC43-BB6B-C79BF8BEC4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it-IT" altLang="it-IT"/>
              <a:t>Introduction to KR</a:t>
            </a:r>
            <a:endParaRPr lang="it-IT" alt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7BC0EC38-1C36-7D4F-8651-579C01DBE6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KNOWLEDGE REPRESENTATION</a:t>
            </a:r>
            <a:endParaRPr lang="en-US" dirty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0FC42B61-4514-1E48-B3B0-310E246750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CD341D-7438-4FA4-973F-6F9EECBD14B9}" type="slidenum">
              <a:rPr lang="it-IT" altLang="it-IT" smtClean="0"/>
              <a:pPr>
                <a:defRPr/>
              </a:pPr>
              <a:t>23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130979308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150F5AA-38A2-1840-A848-83A11033B4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EXAMPLE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6F32CE94-C34D-484F-A925-A78F00F3B0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/>
              <a:t>≥</a:t>
            </a:r>
            <a:r>
              <a:rPr lang="it-IT" baseline="-25000" dirty="0"/>
              <a:t>3</a:t>
            </a:r>
            <a:r>
              <a:rPr lang="it-IT" dirty="0"/>
              <a:t>R ⊓ ≥</a:t>
            </a:r>
            <a:r>
              <a:rPr lang="it-IT" baseline="-25000" dirty="0"/>
              <a:t>5</a:t>
            </a:r>
            <a:r>
              <a:rPr lang="it-IT" dirty="0"/>
              <a:t>R = ≥</a:t>
            </a:r>
            <a:r>
              <a:rPr lang="it-IT" baseline="-25000" dirty="0"/>
              <a:t>5</a:t>
            </a:r>
            <a:r>
              <a:rPr lang="it-IT" dirty="0"/>
              <a:t>R</a:t>
            </a:r>
          </a:p>
          <a:p>
            <a:pPr marL="0" indent="0">
              <a:buNone/>
            </a:pPr>
            <a:r>
              <a:rPr lang="it-IT" dirty="0"/>
              <a:t> </a:t>
            </a:r>
          </a:p>
          <a:p>
            <a:r>
              <a:rPr lang="it-IT" dirty="0"/>
              <a:t>≤</a:t>
            </a:r>
            <a:r>
              <a:rPr lang="it-IT" baseline="-25000" dirty="0"/>
              <a:t>2</a:t>
            </a:r>
            <a:r>
              <a:rPr lang="it-IT" dirty="0"/>
              <a:t>R ⊓ ≤</a:t>
            </a:r>
            <a:r>
              <a:rPr lang="it-IT" baseline="-25000" dirty="0"/>
              <a:t>4</a:t>
            </a:r>
            <a:r>
              <a:rPr lang="it-IT" dirty="0"/>
              <a:t>R = ≤</a:t>
            </a:r>
            <a:r>
              <a:rPr lang="it-IT" baseline="-25000" dirty="0"/>
              <a:t>2</a:t>
            </a:r>
            <a:r>
              <a:rPr lang="it-IT" dirty="0"/>
              <a:t>R</a:t>
            </a:r>
          </a:p>
          <a:p>
            <a:endParaRPr lang="it-IT" dirty="0"/>
          </a:p>
          <a:p>
            <a:r>
              <a:rPr lang="it-IT" dirty="0"/>
              <a:t> ≤</a:t>
            </a:r>
            <a:r>
              <a:rPr lang="it-IT" baseline="-25000" dirty="0"/>
              <a:t>2</a:t>
            </a:r>
            <a:r>
              <a:rPr lang="it-IT" dirty="0"/>
              <a:t>R ⊓ ≥ </a:t>
            </a:r>
            <a:r>
              <a:rPr lang="it-IT" baseline="-25000" dirty="0"/>
              <a:t>4</a:t>
            </a:r>
            <a:r>
              <a:rPr lang="it-IT" dirty="0"/>
              <a:t>R = </a:t>
            </a:r>
            <a:r>
              <a:rPr lang="it-IT" dirty="0">
                <a:latin typeface="Calibri" panose="020F0502020204030204" pitchFamily="34" charset="0"/>
                <a:cs typeface="Calibri" panose="020F0502020204030204" pitchFamily="34" charset="0"/>
              </a:rPr>
              <a:t>⊥</a:t>
            </a:r>
            <a:endParaRPr lang="it-IT" dirty="0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900F8322-F12C-AC46-9E38-443A4AD71D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it-IT" altLang="it-IT"/>
              <a:t>Introduction to KR</a:t>
            </a:r>
            <a:endParaRPr lang="it-IT" alt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B4D6C0B2-2E62-0B47-8031-C342DD1622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KNOWLEDGE REPRESENTATION</a:t>
            </a:r>
            <a:endParaRPr lang="en-US" dirty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A6070091-D65D-D94F-A3DD-809AAACE97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CD341D-7438-4FA4-973F-6F9EECBD14B9}" type="slidenum">
              <a:rPr lang="it-IT" altLang="it-IT" smtClean="0"/>
              <a:pPr>
                <a:defRPr/>
              </a:pPr>
              <a:t>24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244122125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F7530C3-0A80-FB41-8BFA-2BBC281CE4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SUBSUMPTION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AFD48D9C-61D7-DD45-B719-1EC1BE9115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 err="1"/>
              <a:t>Each</a:t>
            </a:r>
            <a:r>
              <a:rPr lang="it-IT" dirty="0"/>
              <a:t> handicap </a:t>
            </a:r>
            <a:r>
              <a:rPr lang="it-IT" dirty="0" err="1"/>
              <a:t>numeral</a:t>
            </a:r>
            <a:r>
              <a:rPr lang="it-IT" dirty="0"/>
              <a:t>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subsumed</a:t>
            </a:r>
            <a:r>
              <a:rPr lang="it-IT" dirty="0"/>
              <a:t> by a handicap </a:t>
            </a:r>
            <a:r>
              <a:rPr lang="it-IT" dirty="0" err="1"/>
              <a:t>numeral</a:t>
            </a:r>
            <a:r>
              <a:rPr lang="it-IT" dirty="0"/>
              <a:t> with a </a:t>
            </a:r>
            <a:r>
              <a:rPr lang="it-IT" i="1" dirty="0" err="1"/>
              <a:t>larger</a:t>
            </a:r>
            <a:r>
              <a:rPr lang="it-IT" dirty="0"/>
              <a:t> </a:t>
            </a:r>
            <a:r>
              <a:rPr lang="it-IT" dirty="0" err="1"/>
              <a:t>numerical</a:t>
            </a:r>
            <a:r>
              <a:rPr lang="it-IT" dirty="0"/>
              <a:t> </a:t>
            </a:r>
            <a:r>
              <a:rPr lang="it-IT" dirty="0" err="1"/>
              <a:t>reference</a:t>
            </a:r>
            <a:r>
              <a:rPr lang="it-IT" dirty="0"/>
              <a:t>
</a:t>
            </a:r>
            <a:r>
              <a:rPr lang="it-IT" dirty="0" err="1"/>
              <a:t>Each</a:t>
            </a:r>
            <a:r>
              <a:rPr lang="it-IT" dirty="0"/>
              <a:t> </a:t>
            </a:r>
            <a:r>
              <a:rPr lang="it-IT" dirty="0" err="1"/>
              <a:t>surcharge</a:t>
            </a:r>
            <a:r>
              <a:rPr lang="it-IT" dirty="0"/>
              <a:t> </a:t>
            </a:r>
            <a:r>
              <a:rPr lang="it-IT" dirty="0" err="1"/>
              <a:t>numeral</a:t>
            </a:r>
            <a:r>
              <a:rPr lang="it-IT" dirty="0"/>
              <a:t>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subsumed</a:t>
            </a:r>
            <a:r>
              <a:rPr lang="it-IT" dirty="0"/>
              <a:t> by a </a:t>
            </a:r>
            <a:r>
              <a:rPr lang="it-IT" dirty="0" err="1"/>
              <a:t>surcharge</a:t>
            </a:r>
            <a:r>
              <a:rPr lang="it-IT" dirty="0"/>
              <a:t> </a:t>
            </a:r>
            <a:r>
              <a:rPr lang="it-IT" dirty="0" err="1"/>
              <a:t>numeral</a:t>
            </a:r>
            <a:r>
              <a:rPr lang="it-IT" dirty="0"/>
              <a:t> with a </a:t>
            </a:r>
            <a:r>
              <a:rPr lang="it-IT" i="1" dirty="0" err="1"/>
              <a:t>smaller</a:t>
            </a:r>
            <a:r>
              <a:rPr lang="it-IT" dirty="0"/>
              <a:t> </a:t>
            </a:r>
            <a:r>
              <a:rPr lang="it-IT" dirty="0" err="1"/>
              <a:t>numeric</a:t>
            </a:r>
            <a:r>
              <a:rPr lang="it-IT" dirty="0"/>
              <a:t> </a:t>
            </a:r>
            <a:r>
              <a:rPr lang="it-IT" dirty="0" err="1"/>
              <a:t>reference</a:t>
            </a:r>
            <a:endParaRPr lang="it-IT" dirty="0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78ED1C0A-8E6A-4E44-9C05-274C6F38BE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it-IT" altLang="it-IT"/>
              <a:t>Introduction to KR</a:t>
            </a:r>
            <a:endParaRPr lang="it-IT" alt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9DB3A18E-2D33-CE48-9660-4AAAADF3E9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KNOWLEDGE REPRESENTATION</a:t>
            </a:r>
            <a:endParaRPr lang="en-US" dirty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A947A4A4-A906-9D4F-8041-34A7F8155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CD341D-7438-4FA4-973F-6F9EECBD14B9}" type="slidenum">
              <a:rPr lang="it-IT" altLang="it-IT" smtClean="0"/>
              <a:pPr>
                <a:defRPr/>
              </a:pPr>
              <a:t>25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283807331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34A88FC-106F-CF4B-A511-83B10DE275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EXAMPLE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FAFF62A8-E00C-EF4C-B934-620B2F7C87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/>
              <a:t>≥</a:t>
            </a:r>
            <a:r>
              <a:rPr lang="it-IT" baseline="-25000" dirty="0"/>
              <a:t>5</a:t>
            </a:r>
            <a:r>
              <a:rPr lang="it-IT" dirty="0"/>
              <a:t>R </a:t>
            </a:r>
            <a:r>
              <a:rPr lang="it-IT" dirty="0">
                <a:latin typeface="Calibri" panose="020F0502020204030204" pitchFamily="34" charset="0"/>
                <a:cs typeface="Calibri" panose="020F0502020204030204" pitchFamily="34" charset="0"/>
              </a:rPr>
              <a:t>⊑</a:t>
            </a:r>
            <a:r>
              <a:rPr lang="it-IT" dirty="0"/>
              <a:t> ≥</a:t>
            </a:r>
            <a:r>
              <a:rPr lang="it-IT" baseline="-25000" dirty="0"/>
              <a:t>3</a:t>
            </a:r>
            <a:r>
              <a:rPr lang="it-IT" dirty="0"/>
              <a:t>R </a:t>
            </a:r>
          </a:p>
          <a:p>
            <a:pPr lvl="1"/>
            <a:r>
              <a:rPr lang="it-IT" dirty="0"/>
              <a:t>(women with </a:t>
            </a:r>
            <a:r>
              <a:rPr lang="it-IT" dirty="0" err="1"/>
              <a:t>at</a:t>
            </a:r>
            <a:r>
              <a:rPr lang="it-IT" dirty="0"/>
              <a:t> </a:t>
            </a:r>
            <a:r>
              <a:rPr lang="it-IT" dirty="0" err="1"/>
              <a:t>least</a:t>
            </a:r>
            <a:r>
              <a:rPr lang="it-IT" dirty="0"/>
              <a:t> </a:t>
            </a:r>
            <a:r>
              <a:rPr lang="it-IT" dirty="0" err="1"/>
              <a:t>five</a:t>
            </a:r>
            <a:r>
              <a:rPr lang="it-IT" dirty="0"/>
              <a:t> </a:t>
            </a:r>
            <a:r>
              <a:rPr lang="it-IT" dirty="0" err="1"/>
              <a:t>children</a:t>
            </a:r>
            <a:r>
              <a:rPr lang="it-IT" dirty="0"/>
              <a:t> </a:t>
            </a:r>
            <a:r>
              <a:rPr lang="it-IT" dirty="0" err="1"/>
              <a:t>also</a:t>
            </a:r>
            <a:r>
              <a:rPr lang="it-IT" dirty="0"/>
              <a:t> </a:t>
            </a:r>
            <a:r>
              <a:rPr lang="it-IT" dirty="0" err="1"/>
              <a:t>have</a:t>
            </a:r>
            <a:r>
              <a:rPr lang="it-IT" dirty="0"/>
              <a:t> </a:t>
            </a:r>
            <a:r>
              <a:rPr lang="it-IT" dirty="0" err="1"/>
              <a:t>at</a:t>
            </a:r>
            <a:r>
              <a:rPr lang="it-IT" dirty="0"/>
              <a:t> </a:t>
            </a:r>
            <a:r>
              <a:rPr lang="it-IT" dirty="0" err="1"/>
              <a:t>least</a:t>
            </a:r>
            <a:r>
              <a:rPr lang="it-IT" dirty="0"/>
              <a:t> 3 </a:t>
            </a:r>
            <a:r>
              <a:rPr lang="it-IT" dirty="0" err="1"/>
              <a:t>children</a:t>
            </a:r>
            <a:r>
              <a:rPr lang="it-IT" dirty="0"/>
              <a:t>)</a:t>
            </a:r>
          </a:p>
          <a:p>
            <a:r>
              <a:rPr lang="it-IT" dirty="0"/>
              <a:t>≤</a:t>
            </a:r>
            <a:r>
              <a:rPr lang="it-IT" baseline="-25000" dirty="0"/>
              <a:t>2</a:t>
            </a:r>
            <a:r>
              <a:rPr lang="it-IT" dirty="0"/>
              <a:t>R </a:t>
            </a:r>
            <a:r>
              <a:rPr lang="it-IT" dirty="0">
                <a:latin typeface="Calibri" panose="020F0502020204030204" pitchFamily="34" charset="0"/>
                <a:cs typeface="Calibri" panose="020F0502020204030204" pitchFamily="34" charset="0"/>
              </a:rPr>
              <a:t>⊑ </a:t>
            </a:r>
            <a:r>
              <a:rPr lang="it-IT" dirty="0"/>
              <a:t>≤</a:t>
            </a:r>
            <a:r>
              <a:rPr lang="it-IT" baseline="-25000" dirty="0"/>
              <a:t>4</a:t>
            </a:r>
            <a:r>
              <a:rPr lang="it-IT" dirty="0"/>
              <a:t>R </a:t>
            </a:r>
          </a:p>
          <a:p>
            <a:pPr lvl="1"/>
            <a:r>
              <a:rPr lang="it-IT" dirty="0"/>
              <a:t>(people with </a:t>
            </a:r>
            <a:r>
              <a:rPr lang="it-IT" dirty="0" err="1"/>
              <a:t>at</a:t>
            </a:r>
            <a:r>
              <a:rPr lang="it-IT" dirty="0"/>
              <a:t> </a:t>
            </a:r>
            <a:r>
              <a:rPr lang="it-IT" dirty="0" err="1"/>
              <a:t>most</a:t>
            </a:r>
            <a:r>
              <a:rPr lang="it-IT" dirty="0"/>
              <a:t> </a:t>
            </a:r>
            <a:r>
              <a:rPr lang="it-IT" dirty="0" err="1"/>
              <a:t>two</a:t>
            </a:r>
            <a:r>
              <a:rPr lang="it-IT" dirty="0"/>
              <a:t> friends </a:t>
            </a:r>
            <a:r>
              <a:rPr lang="it-IT" dirty="0" err="1"/>
              <a:t>also</a:t>
            </a:r>
            <a:r>
              <a:rPr lang="it-IT" dirty="0"/>
              <a:t> </a:t>
            </a:r>
            <a:r>
              <a:rPr lang="it-IT" dirty="0" err="1"/>
              <a:t>have</a:t>
            </a:r>
            <a:r>
              <a:rPr lang="it-IT" dirty="0"/>
              <a:t> </a:t>
            </a:r>
            <a:r>
              <a:rPr lang="it-IT" dirty="0" err="1"/>
              <a:t>at</a:t>
            </a:r>
            <a:r>
              <a:rPr lang="it-IT" dirty="0"/>
              <a:t> </a:t>
            </a:r>
            <a:r>
              <a:rPr lang="it-IT" dirty="0" err="1"/>
              <a:t>most</a:t>
            </a:r>
            <a:r>
              <a:rPr lang="it-IT" dirty="0"/>
              <a:t> </a:t>
            </a:r>
            <a:r>
              <a:rPr lang="it-IT" dirty="0" err="1"/>
              <a:t>four</a:t>
            </a:r>
            <a:r>
              <a:rPr lang="it-IT" dirty="0"/>
              <a:t> friends)</a:t>
            </a:r>
          </a:p>
          <a:p>
            <a:endParaRPr lang="it-IT" dirty="0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2F9012A5-05E8-614A-89EA-61288B3533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it-IT" altLang="it-IT"/>
              <a:t>Introduction to KR</a:t>
            </a:r>
            <a:endParaRPr lang="it-IT" alt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54D527C3-9B48-3C41-9669-1AC631BCE1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KNOWLEDGE REPRESENTATION</a:t>
            </a:r>
            <a:endParaRPr lang="en-US" dirty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69B2A1AA-D64B-DF4A-B8D4-F1FBD92A92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CD341D-7438-4FA4-973F-6F9EECBD14B9}" type="slidenum">
              <a:rPr lang="it-IT" altLang="it-IT" smtClean="0"/>
              <a:pPr>
                <a:defRPr/>
              </a:pPr>
              <a:t>26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377468574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54A7865-AD7A-DB4F-BDE6-698A6A3F88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EXISTENTIAL-NUMERAL INTERFERENCE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44CD0BEB-29A5-704F-A468-A2E4BAE9A0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>
                <a:latin typeface="Calibri" panose="020F0502020204030204" pitchFamily="34" charset="0"/>
                <a:cs typeface="Calibri" panose="020F0502020204030204" pitchFamily="34" charset="0"/>
              </a:rPr>
              <a:t>∃</a:t>
            </a:r>
            <a:r>
              <a:rPr lang="it-IT" dirty="0" err="1">
                <a:latin typeface="Calibri" panose="020F0502020204030204" pitchFamily="34" charset="0"/>
                <a:cs typeface="Calibri" panose="020F0502020204030204" pitchFamily="34" charset="0"/>
              </a:rPr>
              <a:t>R</a:t>
            </a:r>
            <a:r>
              <a:rPr lang="it-IT" dirty="0">
                <a:latin typeface="Calibri" panose="020F0502020204030204" pitchFamily="34" charset="0"/>
                <a:cs typeface="Calibri" panose="020F0502020204030204" pitchFamily="34" charset="0"/>
              </a:rPr>
              <a:t>.⊤ can be </a:t>
            </a:r>
            <a:r>
              <a:rPr lang="it-IT" dirty="0" err="1">
                <a:latin typeface="Calibri" panose="020F0502020204030204" pitchFamily="34" charset="0"/>
                <a:cs typeface="Calibri" panose="020F0502020204030204" pitchFamily="34" charset="0"/>
              </a:rPr>
              <a:t>rewritten</a:t>
            </a:r>
            <a:r>
              <a:rPr lang="it-IT" dirty="0">
                <a:latin typeface="Calibri" panose="020F0502020204030204" pitchFamily="34" charset="0"/>
                <a:cs typeface="Calibri" panose="020F0502020204030204" pitchFamily="34" charset="0"/>
              </a:rPr>
              <a:t> to </a:t>
            </a:r>
            <a:r>
              <a:rPr lang="it-IT" dirty="0"/>
              <a:t>≥</a:t>
            </a:r>
            <a:r>
              <a:rPr lang="it-IT" baseline="-25000" dirty="0"/>
              <a:t>1</a:t>
            </a:r>
            <a:r>
              <a:rPr lang="it-IT" dirty="0"/>
              <a:t>R </a:t>
            </a:r>
          </a:p>
          <a:p>
            <a:r>
              <a:rPr lang="it-IT" dirty="0" err="1"/>
              <a:t>It</a:t>
            </a:r>
            <a:r>
              <a:rPr lang="it-IT" dirty="0"/>
              <a:t> </a:t>
            </a:r>
            <a:r>
              <a:rPr lang="it-IT" dirty="0" err="1"/>
              <a:t>doesn’t</a:t>
            </a:r>
            <a:r>
              <a:rPr lang="it-IT" dirty="0"/>
              <a:t> generate  </a:t>
            </a:r>
            <a:r>
              <a:rPr lang="it-IT" dirty="0" err="1"/>
              <a:t>it</a:t>
            </a:r>
            <a:r>
              <a:rPr lang="it-IT" dirty="0"/>
              <a:t> </a:t>
            </a:r>
            <a:r>
              <a:rPr lang="it-IT" dirty="0" err="1"/>
              <a:t>can't</a:t>
            </a:r>
            <a:r>
              <a:rPr lang="it-IT" dirty="0"/>
              <a:t> </a:t>
            </a:r>
            <a:r>
              <a:rPr lang="it-IT" dirty="0" err="1"/>
              <a:t>conflict</a:t>
            </a:r>
            <a:r>
              <a:rPr lang="it-IT" dirty="0"/>
              <a:t> with </a:t>
            </a:r>
            <a:r>
              <a:rPr lang="it-IT" dirty="0" err="1"/>
              <a:t>any</a:t>
            </a:r>
            <a:r>
              <a:rPr lang="it-IT" dirty="0"/>
              <a:t> </a:t>
            </a:r>
            <a:r>
              <a:rPr lang="it-IT" dirty="0" err="1"/>
              <a:t>numerals</a:t>
            </a:r>
            <a:r>
              <a:rPr lang="it-IT" dirty="0">
                <a:latin typeface="Calibri" panose="020F0502020204030204" pitchFamily="34" charset="0"/>
                <a:cs typeface="Calibri" panose="020F0502020204030204" pitchFamily="34" charset="0"/>
              </a:rPr>
              <a:t> ⊥ </a:t>
            </a:r>
            <a:r>
              <a:rPr lang="it-IT" dirty="0"/>
              <a:t>
</a:t>
            </a:r>
            <a:r>
              <a:rPr lang="it-IT" dirty="0" err="1"/>
              <a:t>However</a:t>
            </a:r>
            <a:r>
              <a:rPr lang="it-IT" dirty="0"/>
              <a:t>, </a:t>
            </a:r>
            <a:r>
              <a:rPr lang="it-IT" dirty="0" err="1"/>
              <a:t>it</a:t>
            </a:r>
            <a:r>
              <a:rPr lang="it-IT" dirty="0"/>
              <a:t> can be </a:t>
            </a:r>
            <a:r>
              <a:rPr lang="it-IT" dirty="0" err="1"/>
              <a:t>subsumed</a:t>
            </a:r>
            <a:r>
              <a:rPr lang="it-IT" dirty="0"/>
              <a:t> by </a:t>
            </a:r>
            <a:r>
              <a:rPr lang="it-IT" dirty="0" err="1"/>
              <a:t>any</a:t>
            </a:r>
            <a:r>
              <a:rPr lang="it-IT" dirty="0"/>
              <a:t> </a:t>
            </a:r>
            <a:r>
              <a:rPr lang="it-IT" dirty="0" err="1"/>
              <a:t>numeral</a:t>
            </a:r>
            <a:r>
              <a:rPr lang="it-IT" dirty="0"/>
              <a:t> on the </a:t>
            </a:r>
            <a:r>
              <a:rPr lang="it-IT" dirty="0" err="1"/>
              <a:t>same</a:t>
            </a:r>
            <a:r>
              <a:rPr lang="it-IT" dirty="0"/>
              <a:t> </a:t>
            </a:r>
            <a:r>
              <a:rPr lang="it-IT" dirty="0" err="1"/>
              <a:t>role</a:t>
            </a:r>
            <a:endParaRPr lang="it-IT" dirty="0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3B924CFE-D60A-FE4E-8C5A-C9516D1F44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it-IT" altLang="it-IT"/>
              <a:t>Introduction to KR</a:t>
            </a:r>
            <a:endParaRPr lang="it-IT" alt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6B2455F9-B6FC-E04A-845B-BE68742C43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KNOWLEDGE REPRESENTATION</a:t>
            </a:r>
            <a:endParaRPr lang="en-US" dirty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BB7A9E4-48DC-F34E-B474-E277DF6455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CD341D-7438-4FA4-973F-6F9EECBD14B9}" type="slidenum">
              <a:rPr lang="it-IT" altLang="it-IT" smtClean="0"/>
              <a:pPr>
                <a:defRPr/>
              </a:pPr>
              <a:t>27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247797305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99DC226-9AEB-CE82-CAD9-82C8D9BB36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0-numerals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5034E89-C65E-1B43-B6EE-ABD1BC9D6B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 err="1"/>
              <a:t>There</a:t>
            </a:r>
            <a:r>
              <a:rPr lang="it-IT" dirty="0"/>
              <a:t> </a:t>
            </a:r>
            <a:r>
              <a:rPr lang="it-IT" dirty="0" err="1"/>
              <a:t>is</a:t>
            </a:r>
            <a:r>
              <a:rPr lang="it-IT" dirty="0"/>
              <a:t> no </a:t>
            </a:r>
            <a:r>
              <a:rPr lang="it-IT" dirty="0" err="1"/>
              <a:t>need</a:t>
            </a:r>
            <a:r>
              <a:rPr lang="it-IT" dirty="0"/>
              <a:t> for 0-numerals</a:t>
            </a:r>
          </a:p>
          <a:p>
            <a:r>
              <a:rPr lang="it-IT" dirty="0"/>
              <a:t>≥</a:t>
            </a:r>
            <a:r>
              <a:rPr lang="it-IT" baseline="-25000" dirty="0"/>
              <a:t>0</a:t>
            </a:r>
            <a:r>
              <a:rPr lang="it-IT" dirty="0"/>
              <a:t>R </a:t>
            </a:r>
            <a:r>
              <a:rPr lang="it-IT" dirty="0" err="1"/>
              <a:t>has</a:t>
            </a:r>
            <a:r>
              <a:rPr lang="it-IT" dirty="0"/>
              <a:t> no </a:t>
            </a:r>
            <a:r>
              <a:rPr lang="it-IT" dirty="0" err="1"/>
              <a:t>meaning</a:t>
            </a:r>
            <a:r>
              <a:rPr lang="it-IT" dirty="0"/>
              <a:t>, for </a:t>
            </a:r>
            <a:r>
              <a:rPr lang="it-IT" dirty="0" err="1"/>
              <a:t>it</a:t>
            </a:r>
            <a:r>
              <a:rPr lang="it-IT" dirty="0"/>
              <a:t> </a:t>
            </a:r>
            <a:r>
              <a:rPr lang="it-IT" dirty="0" err="1"/>
              <a:t>expresses</a:t>
            </a:r>
            <a:r>
              <a:rPr lang="it-IT" dirty="0"/>
              <a:t> the </a:t>
            </a:r>
            <a:r>
              <a:rPr lang="it-IT" dirty="0" err="1"/>
              <a:t>Hamletian</a:t>
            </a:r>
            <a:r>
              <a:rPr lang="it-IT" dirty="0"/>
              <a:t> concept </a:t>
            </a:r>
          </a:p>
          <a:p>
            <a:pPr lvl="1"/>
            <a:r>
              <a:rPr lang="it-IT" i="1" dirty="0"/>
              <a:t>to be or </a:t>
            </a:r>
            <a:r>
              <a:rPr lang="it-IT" i="1" dirty="0" err="1"/>
              <a:t>not</a:t>
            </a:r>
            <a:r>
              <a:rPr lang="it-IT" i="1" dirty="0"/>
              <a:t> to be in a </a:t>
            </a:r>
            <a:r>
              <a:rPr lang="it-IT" i="1" dirty="0" err="1"/>
              <a:t>given</a:t>
            </a:r>
            <a:r>
              <a:rPr lang="it-IT" i="1" dirty="0"/>
              <a:t> relation </a:t>
            </a:r>
            <a:r>
              <a:rPr lang="it-IT" i="1" dirty="0" err="1"/>
              <a:t>R</a:t>
            </a:r>
            <a:endParaRPr lang="it-IT" dirty="0"/>
          </a:p>
          <a:p>
            <a:r>
              <a:rPr lang="it-IT" dirty="0"/>
              <a:t>≤</a:t>
            </a:r>
            <a:r>
              <a:rPr lang="it-IT" baseline="-25000" dirty="0"/>
              <a:t>0</a:t>
            </a:r>
            <a:r>
              <a:rPr lang="it-IT" dirty="0"/>
              <a:t>R </a:t>
            </a:r>
            <a:r>
              <a:rPr lang="it-IT" dirty="0" err="1"/>
              <a:t>represents</a:t>
            </a:r>
            <a:r>
              <a:rPr lang="it-IT" dirty="0"/>
              <a:t> </a:t>
            </a:r>
            <a:r>
              <a:rPr lang="it-IT" dirty="0">
                <a:latin typeface="Calibri" panose="020F0502020204030204" pitchFamily="34" charset="0"/>
                <a:cs typeface="Calibri" panose="020F0502020204030204" pitchFamily="34" charset="0"/>
              </a:rPr>
              <a:t>⊥</a:t>
            </a:r>
            <a:endParaRPr lang="it-IT" dirty="0"/>
          </a:p>
          <a:p>
            <a:endParaRPr lang="it-IT" dirty="0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208FF7F4-74A0-3D27-E174-ED1D3FF410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it-IT" altLang="it-IT"/>
              <a:t>Introduction to KR</a:t>
            </a:r>
            <a:endParaRPr lang="it-IT" alt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1DC450C3-E99B-7CEB-A8FE-7C72847AE4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KNOWLEDGE REPRESENTATION</a:t>
            </a:r>
            <a:endParaRPr lang="en-US" dirty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A3A78BBA-F07A-5F0A-9259-EB5AADCEF5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CD341D-7438-4FA4-973F-6F9EECBD14B9}" type="slidenum">
              <a:rPr lang="it-IT" altLang="it-IT" smtClean="0"/>
              <a:pPr>
                <a:defRPr/>
              </a:pPr>
              <a:t>28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39852441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 bldLvl="2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olo 6">
            <a:extLst>
              <a:ext uri="{FF2B5EF4-FFF2-40B4-BE49-F238E27FC236}">
                <a16:creationId xmlns:a16="http://schemas.microsoft.com/office/drawing/2014/main" id="{953CCD9E-B8AB-F924-2DAF-427B218FC4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Short </a:t>
            </a:r>
            <a:r>
              <a:rPr lang="it-IT" dirty="0" err="1"/>
              <a:t>digression</a:t>
            </a:r>
            <a:r>
              <a:rPr lang="it-IT" dirty="0"/>
              <a:t> on </a:t>
            </a:r>
            <a:r>
              <a:rPr lang="it-IT" dirty="0" err="1"/>
              <a:t>complexity</a:t>
            </a:r>
            <a:endParaRPr lang="it-IT" dirty="0"/>
          </a:p>
        </p:txBody>
      </p:sp>
      <p:sp>
        <p:nvSpPr>
          <p:cNvPr id="8" name="Segnaposto testo 7">
            <a:extLst>
              <a:ext uri="{FF2B5EF4-FFF2-40B4-BE49-F238E27FC236}">
                <a16:creationId xmlns:a16="http://schemas.microsoft.com/office/drawing/2014/main" id="{E7850959-6F3E-CA55-324A-827D25EA0E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/>
              <a:t>How to </a:t>
            </a:r>
            <a:r>
              <a:rPr lang="it-IT" dirty="0" err="1"/>
              <a:t>read</a:t>
            </a:r>
            <a:r>
              <a:rPr lang="it-IT" dirty="0"/>
              <a:t> slide 10 link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F12E7FED-53AF-8F31-CF29-6B71AAD938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it-IT" altLang="it-IT"/>
              <a:t>Introduction to KR</a:t>
            </a:r>
            <a:endParaRPr lang="it-IT" alt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CF703147-EDD8-109B-4731-AE846C9C95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KNOWLEDGE REPRESENTATION</a:t>
            </a:r>
            <a:endParaRPr lang="en-US" dirty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4705CF36-3728-DBCA-1785-59C9B404FC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CD341D-7438-4FA4-973F-6F9EECBD14B9}" type="slidenum">
              <a:rPr lang="it-IT" altLang="it-IT" smtClean="0"/>
              <a:pPr>
                <a:defRPr/>
              </a:pPr>
              <a:t>29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420230883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olo 6">
            <a:extLst>
              <a:ext uri="{FF2B5EF4-FFF2-40B4-BE49-F238E27FC236}">
                <a16:creationId xmlns:a16="http://schemas.microsoft.com/office/drawing/2014/main" id="{C78627EC-4A98-A2F7-2F85-BEB5384FF6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Problem</a:t>
            </a:r>
            <a:r>
              <a:rPr lang="it-IT" dirty="0"/>
              <a:t> </a:t>
            </a:r>
            <a:r>
              <a:rPr lang="it-IT" dirty="0" err="1"/>
              <a:t>types</a:t>
            </a:r>
            <a:endParaRPr lang="it-IT" dirty="0"/>
          </a:p>
        </p:txBody>
      </p:sp>
      <p:sp>
        <p:nvSpPr>
          <p:cNvPr id="8" name="Segnaposto contenuto 7">
            <a:extLst>
              <a:ext uri="{FF2B5EF4-FFF2-40B4-BE49-F238E27FC236}">
                <a16:creationId xmlns:a16="http://schemas.microsoft.com/office/drawing/2014/main" id="{81014BAC-B933-F492-3434-9793DEE5EA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 err="1"/>
              <a:t>There</a:t>
            </a:r>
            <a:r>
              <a:rPr lang="it-IT" dirty="0"/>
              <a:t> </a:t>
            </a:r>
            <a:r>
              <a:rPr lang="it-IT" dirty="0" err="1"/>
              <a:t>exist</a:t>
            </a:r>
            <a:r>
              <a:rPr lang="it-IT" dirty="0"/>
              <a:t> </a:t>
            </a:r>
            <a:r>
              <a:rPr lang="it-IT" dirty="0" err="1"/>
              <a:t>fundamentally</a:t>
            </a:r>
            <a:r>
              <a:rPr lang="it-IT" dirty="0"/>
              <a:t> </a:t>
            </a:r>
            <a:r>
              <a:rPr lang="it-IT" dirty="0" err="1"/>
              <a:t>two</a:t>
            </a:r>
            <a:r>
              <a:rPr lang="it-IT" dirty="0"/>
              <a:t> </a:t>
            </a:r>
            <a:r>
              <a:rPr lang="it-IT" dirty="0" err="1"/>
              <a:t>types</a:t>
            </a:r>
            <a:r>
              <a:rPr lang="it-IT" dirty="0"/>
              <a:t> of </a:t>
            </a:r>
            <a:r>
              <a:rPr lang="it-IT" dirty="0" err="1"/>
              <a:t>problems</a:t>
            </a:r>
            <a:endParaRPr lang="it-IT" dirty="0"/>
          </a:p>
          <a:p>
            <a:pPr lvl="1"/>
            <a:r>
              <a:rPr lang="it-IT" dirty="0" err="1"/>
              <a:t>Decision</a:t>
            </a:r>
            <a:r>
              <a:rPr lang="it-IT" dirty="0"/>
              <a:t> </a:t>
            </a:r>
            <a:r>
              <a:rPr lang="it-IT" dirty="0" err="1"/>
              <a:t>problems</a:t>
            </a:r>
            <a:r>
              <a:rPr lang="it-IT" dirty="0"/>
              <a:t>, </a:t>
            </a:r>
            <a:r>
              <a:rPr lang="it-IT" dirty="0" err="1"/>
              <a:t>whose</a:t>
            </a:r>
            <a:r>
              <a:rPr lang="it-IT" dirty="0"/>
              <a:t> output </a:t>
            </a:r>
            <a:r>
              <a:rPr lang="it-IT" dirty="0" err="1"/>
              <a:t>is</a:t>
            </a:r>
            <a:r>
              <a:rPr lang="it-IT" dirty="0"/>
              <a:t> an </a:t>
            </a:r>
            <a:r>
              <a:rPr lang="it-IT" dirty="0" err="1"/>
              <a:t>answer</a:t>
            </a:r>
            <a:r>
              <a:rPr lang="it-IT" dirty="0"/>
              <a:t> TRUE/FALSE to a query</a:t>
            </a:r>
          </a:p>
          <a:p>
            <a:pPr lvl="1"/>
            <a:r>
              <a:rPr lang="it-IT" dirty="0" err="1"/>
              <a:t>Computation</a:t>
            </a:r>
            <a:r>
              <a:rPr lang="it-IT" dirty="0"/>
              <a:t> </a:t>
            </a:r>
            <a:r>
              <a:rPr lang="it-IT" dirty="0" err="1"/>
              <a:t>problems</a:t>
            </a:r>
            <a:r>
              <a:rPr lang="it-IT" dirty="0"/>
              <a:t>, </a:t>
            </a:r>
            <a:r>
              <a:rPr lang="it-IT" dirty="0" err="1"/>
              <a:t>whose</a:t>
            </a:r>
            <a:r>
              <a:rPr lang="it-IT" dirty="0"/>
              <a:t> output </a:t>
            </a:r>
            <a:r>
              <a:rPr lang="it-IT" dirty="0" err="1"/>
              <a:t>is</a:t>
            </a:r>
            <a:r>
              <a:rPr lang="it-IT" dirty="0"/>
              <a:t> an </a:t>
            </a:r>
            <a:r>
              <a:rPr lang="it-IT" dirty="0" err="1"/>
              <a:t>answer</a:t>
            </a:r>
            <a:r>
              <a:rPr lang="it-IT" dirty="0"/>
              <a:t> to a query </a:t>
            </a:r>
            <a:r>
              <a:rPr lang="it-IT" dirty="0" err="1"/>
              <a:t>asking</a:t>
            </a:r>
            <a:r>
              <a:rPr lang="it-IT" dirty="0"/>
              <a:t> for a </a:t>
            </a:r>
            <a:r>
              <a:rPr lang="it-IT" dirty="0" err="1"/>
              <a:t>specific</a:t>
            </a:r>
            <a:r>
              <a:rPr lang="it-IT" dirty="0"/>
              <a:t> </a:t>
            </a:r>
            <a:r>
              <a:rPr lang="it-IT" dirty="0" err="1"/>
              <a:t>solution</a:t>
            </a:r>
            <a:endParaRPr lang="it-IT" dirty="0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16200455-7E94-201A-DF42-BFFAC577A2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it-IT" altLang="it-IT"/>
              <a:t>Introduction to KR</a:t>
            </a:r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A9957959-E47A-2EF3-A3F2-0844CFA94D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it-IT"/>
              <a:t>KNOWLEDGE REPRESENTATION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6B17510A-52CC-19F5-9EFF-44B3311081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FA0980B-2DE9-40AD-8A4E-40673DB95E95}" type="slidenum">
              <a:rPr lang="it-IT" altLang="it-IT" smtClean="0"/>
              <a:pPr>
                <a:defRPr/>
              </a:pPr>
              <a:t>30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237848964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EB988B7-4CDD-DD95-3542-9089D118DD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Examples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96B5979D-3917-BC02-EBF0-EDE0ED8201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 err="1"/>
              <a:t>Establishing</a:t>
            </a:r>
            <a:r>
              <a:rPr lang="it-IT" dirty="0"/>
              <a:t> </a:t>
            </a:r>
            <a:r>
              <a:rPr lang="it-IT" dirty="0" err="1"/>
              <a:t>whether</a:t>
            </a:r>
            <a:r>
              <a:rPr lang="it-IT" dirty="0"/>
              <a:t> a </a:t>
            </a:r>
            <a:r>
              <a:rPr lang="it-IT" dirty="0" err="1"/>
              <a:t>given</a:t>
            </a:r>
            <a:r>
              <a:rPr lang="it-IT" dirty="0"/>
              <a:t> concept A in </a:t>
            </a:r>
            <a:r>
              <a:rPr lang="it-IT" dirty="0">
                <a:latin typeface="Apple Chancery" panose="03020702040506060504" pitchFamily="66" charset="-79"/>
                <a:cs typeface="Apple Chancery" panose="03020702040506060504" pitchFamily="66" charset="-79"/>
              </a:rPr>
              <a:t>AL</a:t>
            </a:r>
            <a:r>
              <a:rPr lang="it-IT" dirty="0"/>
              <a:t>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subsumed</a:t>
            </a:r>
            <a:r>
              <a:rPr lang="it-IT" dirty="0"/>
              <a:t> by </a:t>
            </a:r>
            <a:r>
              <a:rPr lang="it-IT" dirty="0" err="1"/>
              <a:t>another</a:t>
            </a:r>
            <a:r>
              <a:rPr lang="it-IT" dirty="0"/>
              <a:t> concept B </a:t>
            </a:r>
            <a:r>
              <a:rPr lang="it-IT" dirty="0" err="1"/>
              <a:t>is</a:t>
            </a:r>
            <a:r>
              <a:rPr lang="it-IT" dirty="0"/>
              <a:t> a </a:t>
            </a:r>
            <a:r>
              <a:rPr lang="it-IT" i="1" dirty="0" err="1"/>
              <a:t>decision</a:t>
            </a:r>
            <a:r>
              <a:rPr lang="it-IT" i="1" dirty="0"/>
              <a:t> </a:t>
            </a:r>
            <a:r>
              <a:rPr lang="it-IT" i="1" dirty="0" err="1"/>
              <a:t>problem</a:t>
            </a:r>
            <a:endParaRPr lang="it-IT" dirty="0"/>
          </a:p>
          <a:p>
            <a:r>
              <a:rPr lang="it-IT" dirty="0" err="1"/>
              <a:t>Finding</a:t>
            </a:r>
            <a:r>
              <a:rPr lang="it-IT" dirty="0"/>
              <a:t> an </a:t>
            </a:r>
            <a:r>
              <a:rPr lang="it-IT" dirty="0" err="1"/>
              <a:t>actual</a:t>
            </a:r>
            <a:r>
              <a:rPr lang="it-IT" dirty="0"/>
              <a:t> model of a concept in AL </a:t>
            </a:r>
            <a:r>
              <a:rPr lang="it-IT" dirty="0" err="1"/>
              <a:t>is</a:t>
            </a:r>
            <a:r>
              <a:rPr lang="it-IT" dirty="0"/>
              <a:t> a </a:t>
            </a:r>
            <a:r>
              <a:rPr lang="it-IT" i="1" dirty="0" err="1"/>
              <a:t>computation</a:t>
            </a:r>
            <a:r>
              <a:rPr lang="it-IT" i="1" dirty="0"/>
              <a:t> </a:t>
            </a:r>
            <a:r>
              <a:rPr lang="it-IT" i="1" dirty="0" err="1"/>
              <a:t>problem</a:t>
            </a:r>
            <a:r>
              <a:rPr lang="it-IT" dirty="0"/>
              <a:t> 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53EC01BE-06C7-C4B1-71DE-B74E9AD72A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it-IT" altLang="it-IT"/>
              <a:t>Introduction to KR</a:t>
            </a:r>
            <a:endParaRPr lang="it-IT" alt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081334DE-1930-45DF-E63E-AE5BA98C46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KNOWLEDGE REPRESENTATION</a:t>
            </a:r>
            <a:endParaRPr lang="en-US" dirty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0B54414F-C318-4F79-B3AB-8A7CFDEF0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CD341D-7438-4FA4-973F-6F9EECBD14B9}" type="slidenum">
              <a:rPr lang="it-IT" altLang="it-IT" smtClean="0"/>
              <a:pPr>
                <a:defRPr/>
              </a:pPr>
              <a:t>31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332612234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3FEDE6B-456F-0E53-8304-5BCDB9449C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Equivalences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14E386C2-C586-815C-BD0C-0717E866C8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 err="1"/>
              <a:t>Any</a:t>
            </a:r>
            <a:r>
              <a:rPr lang="it-IT" dirty="0"/>
              <a:t> </a:t>
            </a:r>
            <a:r>
              <a:rPr lang="it-IT" dirty="0" err="1"/>
              <a:t>decision</a:t>
            </a:r>
            <a:r>
              <a:rPr lang="it-IT" dirty="0"/>
              <a:t> </a:t>
            </a:r>
            <a:r>
              <a:rPr lang="it-IT" dirty="0" err="1"/>
              <a:t>problem</a:t>
            </a:r>
            <a:r>
              <a:rPr lang="it-IT" dirty="0"/>
              <a:t> can be </a:t>
            </a:r>
            <a:r>
              <a:rPr lang="it-IT" dirty="0" err="1"/>
              <a:t>solved</a:t>
            </a:r>
            <a:r>
              <a:rPr lang="it-IT" dirty="0"/>
              <a:t> </a:t>
            </a:r>
            <a:r>
              <a:rPr lang="it-IT" dirty="0" err="1"/>
              <a:t>if</a:t>
            </a:r>
            <a:r>
              <a:rPr lang="it-IT" dirty="0"/>
              <a:t> </a:t>
            </a:r>
            <a:r>
              <a:rPr lang="it-IT" dirty="0" err="1"/>
              <a:t>we</a:t>
            </a:r>
            <a:r>
              <a:rPr lang="it-IT" dirty="0"/>
              <a:t> are </a:t>
            </a:r>
            <a:r>
              <a:rPr lang="it-IT" dirty="0" err="1"/>
              <a:t>able</a:t>
            </a:r>
            <a:r>
              <a:rPr lang="it-IT" dirty="0"/>
              <a:t> to solve </a:t>
            </a:r>
            <a:r>
              <a:rPr lang="it-IT" dirty="0" err="1"/>
              <a:t>its</a:t>
            </a:r>
            <a:r>
              <a:rPr lang="it-IT" dirty="0"/>
              <a:t> </a:t>
            </a:r>
            <a:r>
              <a:rPr lang="it-IT" i="1" dirty="0" err="1"/>
              <a:t>computation</a:t>
            </a:r>
            <a:r>
              <a:rPr lang="it-IT" i="1" dirty="0"/>
              <a:t> dual</a:t>
            </a:r>
            <a:endParaRPr lang="it-IT" dirty="0"/>
          </a:p>
          <a:p>
            <a:r>
              <a:rPr lang="it-IT" dirty="0"/>
              <a:t>The </a:t>
            </a:r>
            <a:r>
              <a:rPr lang="it-IT" dirty="0" err="1"/>
              <a:t>computation</a:t>
            </a:r>
            <a:r>
              <a:rPr lang="it-IT" dirty="0"/>
              <a:t> dual of a </a:t>
            </a:r>
            <a:r>
              <a:rPr lang="it-IT" dirty="0" err="1"/>
              <a:t>decision</a:t>
            </a:r>
            <a:r>
              <a:rPr lang="it-IT" dirty="0"/>
              <a:t> </a:t>
            </a:r>
            <a:r>
              <a:rPr lang="it-IT" dirty="0" err="1"/>
              <a:t>problem</a:t>
            </a:r>
            <a:r>
              <a:rPr lang="it-IT" dirty="0"/>
              <a:t>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called</a:t>
            </a:r>
            <a:r>
              <a:rPr lang="it-IT" dirty="0"/>
              <a:t> </a:t>
            </a:r>
            <a:r>
              <a:rPr lang="it-IT" i="1" dirty="0" err="1"/>
              <a:t>solution</a:t>
            </a:r>
            <a:r>
              <a:rPr lang="it-IT" i="1" dirty="0"/>
              <a:t> </a:t>
            </a:r>
            <a:r>
              <a:rPr lang="it-IT" i="1" dirty="0" err="1"/>
              <a:t>finding</a:t>
            </a:r>
            <a:endParaRPr lang="it-IT" dirty="0"/>
          </a:p>
          <a:p>
            <a:r>
              <a:rPr lang="it-IT" dirty="0"/>
              <a:t>For </a:t>
            </a:r>
            <a:r>
              <a:rPr lang="it-IT" dirty="0" err="1"/>
              <a:t>instance</a:t>
            </a:r>
            <a:r>
              <a:rPr lang="it-IT" dirty="0"/>
              <a:t> </a:t>
            </a:r>
            <a:r>
              <a:rPr lang="it-IT" dirty="0" err="1"/>
              <a:t>finding</a:t>
            </a:r>
            <a:r>
              <a:rPr lang="it-IT" dirty="0"/>
              <a:t> a model to a formula </a:t>
            </a:r>
            <a:r>
              <a:rPr lang="it-IT" dirty="0" err="1"/>
              <a:t>is</a:t>
            </a:r>
            <a:r>
              <a:rPr lang="it-IT" dirty="0"/>
              <a:t> the </a:t>
            </a:r>
            <a:r>
              <a:rPr lang="it-IT" dirty="0" err="1"/>
              <a:t>computation</a:t>
            </a:r>
            <a:r>
              <a:rPr lang="it-IT" dirty="0"/>
              <a:t> dual of </a:t>
            </a:r>
            <a:r>
              <a:rPr lang="it-IT" dirty="0" err="1"/>
              <a:t>deciding</a:t>
            </a:r>
            <a:r>
              <a:rPr lang="it-IT" dirty="0"/>
              <a:t> </a:t>
            </a:r>
            <a:r>
              <a:rPr lang="it-IT" dirty="0" err="1"/>
              <a:t>its</a:t>
            </a:r>
            <a:r>
              <a:rPr lang="it-IT" dirty="0"/>
              <a:t> </a:t>
            </a:r>
            <a:r>
              <a:rPr lang="it-IT" dirty="0" err="1"/>
              <a:t>satisfiability</a:t>
            </a:r>
            <a:endParaRPr lang="it-IT" dirty="0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A3B208A3-4E6B-6901-0BD1-5FC9929BCD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it-IT" altLang="it-IT"/>
              <a:t>Introduction to KR</a:t>
            </a:r>
            <a:endParaRPr lang="it-IT" alt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D8F30BA7-E34A-B4E2-72F3-E9D08D8464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KNOWLEDGE REPRESENTATION</a:t>
            </a:r>
            <a:endParaRPr lang="en-US" dirty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BA05D910-C2DF-7590-8F7C-53ABF91D9F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CD341D-7438-4FA4-973F-6F9EECBD14B9}" type="slidenum">
              <a:rPr lang="it-IT" altLang="it-IT" smtClean="0"/>
              <a:pPr>
                <a:defRPr/>
              </a:pPr>
              <a:t>32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223207021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94967A2-61F0-7842-95F8-7A8D4F1D61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Methods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78E95AF5-20FB-B366-DCDC-0E95FF0C89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/>
              <a:t>A </a:t>
            </a:r>
            <a:r>
              <a:rPr lang="it-IT" dirty="0" err="1"/>
              <a:t>decision</a:t>
            </a:r>
            <a:r>
              <a:rPr lang="it-IT" dirty="0"/>
              <a:t> </a:t>
            </a:r>
            <a:r>
              <a:rPr lang="it-IT" dirty="0" err="1"/>
              <a:t>method</a:t>
            </a:r>
            <a:r>
              <a:rPr lang="it-IT" dirty="0"/>
              <a:t> </a:t>
            </a:r>
            <a:r>
              <a:rPr lang="it-IT" dirty="0" err="1"/>
              <a:t>that</a:t>
            </a:r>
            <a:r>
              <a:rPr lang="it-IT" dirty="0"/>
              <a:t>, in order to </a:t>
            </a:r>
            <a:r>
              <a:rPr lang="it-IT" dirty="0" err="1"/>
              <a:t>answer</a:t>
            </a:r>
            <a:r>
              <a:rPr lang="it-IT" dirty="0"/>
              <a:t> to a TRUE/FALSE query, </a:t>
            </a:r>
            <a:r>
              <a:rPr lang="it-IT" dirty="0" err="1"/>
              <a:t>firstly</a:t>
            </a:r>
            <a:r>
              <a:rPr lang="it-IT" dirty="0"/>
              <a:t> </a:t>
            </a:r>
            <a:r>
              <a:rPr lang="it-IT" dirty="0" err="1"/>
              <a:t>computes</a:t>
            </a:r>
            <a:r>
              <a:rPr lang="it-IT" dirty="0"/>
              <a:t> a </a:t>
            </a:r>
            <a:r>
              <a:rPr lang="it-IT" dirty="0" err="1"/>
              <a:t>solution</a:t>
            </a:r>
            <a:r>
              <a:rPr lang="it-IT" dirty="0"/>
              <a:t>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named</a:t>
            </a:r>
            <a:r>
              <a:rPr lang="it-IT" dirty="0"/>
              <a:t> </a:t>
            </a:r>
            <a:r>
              <a:rPr lang="it-IT" i="1" dirty="0" err="1"/>
              <a:t>constructive</a:t>
            </a:r>
            <a:endParaRPr lang="it-IT" dirty="0"/>
          </a:p>
          <a:p>
            <a:r>
              <a:rPr lang="it-IT" dirty="0" err="1"/>
              <a:t>Structural</a:t>
            </a:r>
            <a:r>
              <a:rPr lang="it-IT" dirty="0"/>
              <a:t> </a:t>
            </a:r>
            <a:r>
              <a:rPr lang="it-IT" dirty="0" err="1"/>
              <a:t>subsumption</a:t>
            </a:r>
            <a:r>
              <a:rPr lang="it-IT" dirty="0"/>
              <a:t>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not</a:t>
            </a:r>
            <a:r>
              <a:rPr lang="it-IT" dirty="0"/>
              <a:t> </a:t>
            </a:r>
            <a:r>
              <a:rPr lang="it-IT" dirty="0" err="1"/>
              <a:t>constructive</a:t>
            </a:r>
            <a:endParaRPr lang="it-IT" dirty="0"/>
          </a:p>
          <a:p>
            <a:endParaRPr lang="it-IT" dirty="0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76B3A4E8-FDB8-F046-D8F1-391C576DF9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it-IT" altLang="it-IT"/>
              <a:t>Introduction to KR</a:t>
            </a:r>
            <a:endParaRPr lang="it-IT" alt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30B87CBE-CF4A-2085-70B7-37E8F2BFA0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KNOWLEDGE REPRESENTATION</a:t>
            </a:r>
            <a:endParaRPr lang="en-US" dirty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7F0C493A-76BE-521A-25DD-A8B6F322F0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CD341D-7438-4FA4-973F-6F9EECBD14B9}" type="slidenum">
              <a:rPr lang="it-IT" altLang="it-IT" smtClean="0"/>
              <a:pPr>
                <a:defRPr/>
              </a:pPr>
              <a:t>33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309295043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09127EA-0AA1-422B-5A15-D2019B3782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Computational</a:t>
            </a:r>
            <a:r>
              <a:rPr lang="it-IT" dirty="0"/>
              <a:t> </a:t>
            </a:r>
            <a:r>
              <a:rPr lang="it-IT" dirty="0" err="1"/>
              <a:t>complexity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B9337E95-0728-5B6E-75CB-31675F5F2C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 err="1"/>
              <a:t>What</a:t>
            </a:r>
            <a:r>
              <a:rPr lang="it-IT" dirty="0"/>
              <a:t> </a:t>
            </a:r>
            <a:r>
              <a:rPr lang="it-IT" dirty="0" err="1"/>
              <a:t>is</a:t>
            </a:r>
            <a:r>
              <a:rPr lang="it-IT" dirty="0"/>
              <a:t> the </a:t>
            </a:r>
            <a:r>
              <a:rPr lang="it-IT" dirty="0" err="1"/>
              <a:t>complexity</a:t>
            </a:r>
            <a:r>
              <a:rPr lang="it-IT" dirty="0"/>
              <a:t> of an </a:t>
            </a:r>
            <a:r>
              <a:rPr lang="it-IT" i="1" dirty="0" err="1"/>
              <a:t>algorithm</a:t>
            </a:r>
            <a:r>
              <a:rPr lang="it-IT" dirty="0"/>
              <a:t>?</a:t>
            </a:r>
          </a:p>
          <a:p>
            <a:endParaRPr lang="it-IT" dirty="0"/>
          </a:p>
          <a:p>
            <a:r>
              <a:rPr lang="it-IT" dirty="0" err="1"/>
              <a:t>What</a:t>
            </a:r>
            <a:r>
              <a:rPr lang="it-IT" dirty="0"/>
              <a:t> </a:t>
            </a:r>
            <a:r>
              <a:rPr lang="it-IT" dirty="0" err="1"/>
              <a:t>is</a:t>
            </a:r>
            <a:r>
              <a:rPr lang="it-IT" dirty="0"/>
              <a:t> the </a:t>
            </a:r>
            <a:r>
              <a:rPr lang="it-IT" dirty="0" err="1"/>
              <a:t>complexity</a:t>
            </a:r>
            <a:r>
              <a:rPr lang="it-IT" dirty="0"/>
              <a:t> of a </a:t>
            </a:r>
            <a:r>
              <a:rPr lang="it-IT" i="1" dirty="0" err="1"/>
              <a:t>problem</a:t>
            </a:r>
            <a:r>
              <a:rPr lang="it-IT" dirty="0"/>
              <a:t>?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262DC7A7-79C2-6703-4258-FAFD09FC11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it-IT" altLang="it-IT"/>
              <a:t>Introduction to KR</a:t>
            </a:r>
            <a:endParaRPr lang="it-IT" alt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A164CEBA-7E7D-B93D-9F49-07485565D7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KNOWLEDGE REPRESENTATION</a:t>
            </a:r>
            <a:endParaRPr lang="en-US" dirty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F17D9AE4-D08D-E39A-174F-1EBB07FD90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CD341D-7438-4FA4-973F-6F9EECBD14B9}" type="slidenum">
              <a:rPr lang="it-IT" altLang="it-IT" smtClean="0"/>
              <a:pPr>
                <a:defRPr/>
              </a:pPr>
              <a:t>34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162115188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571587F-3482-210C-7532-E706C6385F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Algorithmic</a:t>
            </a:r>
            <a:r>
              <a:rPr lang="it-IT" dirty="0"/>
              <a:t> </a:t>
            </a:r>
            <a:r>
              <a:rPr lang="it-IT" dirty="0" err="1"/>
              <a:t>complexity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F08CF952-C15E-29E8-309C-7421380507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 err="1"/>
              <a:t>We</a:t>
            </a:r>
            <a:r>
              <a:rPr lang="it-IT" dirty="0"/>
              <a:t> </a:t>
            </a:r>
            <a:r>
              <a:rPr lang="it-IT" dirty="0" err="1"/>
              <a:t>aim</a:t>
            </a:r>
            <a:r>
              <a:rPr lang="it-IT" dirty="0"/>
              <a:t> </a:t>
            </a:r>
            <a:r>
              <a:rPr lang="it-IT" dirty="0" err="1"/>
              <a:t>at</a:t>
            </a:r>
            <a:r>
              <a:rPr lang="it-IT" dirty="0"/>
              <a:t> </a:t>
            </a:r>
            <a:r>
              <a:rPr lang="it-IT" dirty="0" err="1"/>
              <a:t>devising</a:t>
            </a:r>
            <a:endParaRPr lang="it-IT" dirty="0"/>
          </a:p>
          <a:p>
            <a:pPr lvl="1"/>
            <a:r>
              <a:rPr lang="it-IT" dirty="0"/>
              <a:t>The </a:t>
            </a:r>
            <a:r>
              <a:rPr lang="it-IT" dirty="0" err="1"/>
              <a:t>behaviour</a:t>
            </a:r>
            <a:r>
              <a:rPr lang="it-IT" dirty="0"/>
              <a:t> of an </a:t>
            </a:r>
            <a:r>
              <a:rPr lang="it-IT" dirty="0" err="1"/>
              <a:t>algorithm</a:t>
            </a:r>
            <a:r>
              <a:rPr lang="it-IT" dirty="0"/>
              <a:t> in </a:t>
            </a:r>
            <a:r>
              <a:rPr lang="it-IT" dirty="0" err="1"/>
              <a:t>its</a:t>
            </a:r>
            <a:r>
              <a:rPr lang="it-IT" dirty="0"/>
              <a:t> </a:t>
            </a:r>
            <a:r>
              <a:rPr lang="it-IT" i="1" dirty="0" err="1"/>
              <a:t>worst</a:t>
            </a:r>
            <a:r>
              <a:rPr lang="it-IT" i="1" dirty="0"/>
              <a:t> case</a:t>
            </a:r>
            <a:endParaRPr lang="it-IT" dirty="0"/>
          </a:p>
          <a:p>
            <a:pPr lvl="1"/>
            <a:r>
              <a:rPr lang="it-IT" dirty="0"/>
              <a:t>The design of an </a:t>
            </a:r>
            <a:r>
              <a:rPr lang="it-IT" dirty="0" err="1"/>
              <a:t>algorithm</a:t>
            </a:r>
            <a:r>
              <a:rPr lang="it-IT" dirty="0"/>
              <a:t> </a:t>
            </a:r>
            <a:r>
              <a:rPr lang="it-IT" dirty="0" err="1"/>
              <a:t>that</a:t>
            </a:r>
            <a:r>
              <a:rPr lang="it-IT" dirty="0"/>
              <a:t> </a:t>
            </a:r>
            <a:r>
              <a:rPr lang="it-IT" dirty="0" err="1"/>
              <a:t>solves</a:t>
            </a:r>
            <a:r>
              <a:rPr lang="it-IT" dirty="0"/>
              <a:t> the </a:t>
            </a:r>
            <a:r>
              <a:rPr lang="it-IT" dirty="0" err="1"/>
              <a:t>problem</a:t>
            </a:r>
            <a:r>
              <a:rPr lang="it-IT" dirty="0"/>
              <a:t> in the best </a:t>
            </a:r>
            <a:r>
              <a:rPr lang="it-IT" dirty="0" err="1"/>
              <a:t>possible</a:t>
            </a:r>
            <a:r>
              <a:rPr lang="it-IT" dirty="0"/>
              <a:t> way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38C88353-F89E-4852-3662-3494E51AC1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it-IT" altLang="it-IT"/>
              <a:t>Introduction to KR</a:t>
            </a:r>
            <a:endParaRPr lang="it-IT" alt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817B99CD-DF05-DC82-AA13-BBCCCBD002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KNOWLEDGE REPRESENTATION</a:t>
            </a:r>
            <a:endParaRPr lang="en-US" dirty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539F72F9-EDC1-4B79-8C3A-1D833C48B3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CD341D-7438-4FA4-973F-6F9EECBD14B9}" type="slidenum">
              <a:rPr lang="it-IT" altLang="it-IT" smtClean="0"/>
              <a:pPr>
                <a:defRPr/>
              </a:pPr>
              <a:t>35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139670426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8918A9E-6966-0F4A-D09F-74389691FD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Deterministic</a:t>
            </a:r>
            <a:r>
              <a:rPr lang="it-IT" dirty="0"/>
              <a:t> vs </a:t>
            </a:r>
            <a:r>
              <a:rPr lang="it-IT" dirty="0" err="1"/>
              <a:t>nondeterministic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EAAAB1E-6451-FA78-D0B0-03BC354A5E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 err="1"/>
              <a:t>Deterministic</a:t>
            </a:r>
            <a:r>
              <a:rPr lang="it-IT" dirty="0"/>
              <a:t> machines are </a:t>
            </a:r>
            <a:r>
              <a:rPr lang="it-IT" i="1" dirty="0" err="1"/>
              <a:t>slower</a:t>
            </a:r>
            <a:r>
              <a:rPr lang="it-IT" dirty="0"/>
              <a:t> in solving </a:t>
            </a:r>
            <a:r>
              <a:rPr lang="it-IT" dirty="0" err="1"/>
              <a:t>problems</a:t>
            </a:r>
            <a:endParaRPr lang="it-IT" dirty="0"/>
          </a:p>
          <a:p>
            <a:r>
              <a:rPr lang="it-IT" dirty="0" err="1"/>
              <a:t>We</a:t>
            </a:r>
            <a:r>
              <a:rPr lang="it-IT" dirty="0"/>
              <a:t> are </a:t>
            </a:r>
            <a:r>
              <a:rPr lang="it-IT" dirty="0" err="1"/>
              <a:t>interested</a:t>
            </a:r>
            <a:r>
              <a:rPr lang="it-IT" dirty="0"/>
              <a:t> in </a:t>
            </a:r>
            <a:r>
              <a:rPr lang="it-IT" dirty="0" err="1"/>
              <a:t>optimal</a:t>
            </a:r>
            <a:r>
              <a:rPr lang="it-IT" dirty="0"/>
              <a:t> performances of </a:t>
            </a:r>
            <a:r>
              <a:rPr lang="it-IT" dirty="0" err="1"/>
              <a:t>solutions</a:t>
            </a:r>
            <a:r>
              <a:rPr lang="it-IT" dirty="0"/>
              <a:t> on </a:t>
            </a:r>
            <a:r>
              <a:rPr lang="it-IT" b="1" dirty="0" err="1"/>
              <a:t>deterministic</a:t>
            </a:r>
            <a:r>
              <a:rPr lang="it-IT" b="1" dirty="0"/>
              <a:t> machines </a:t>
            </a:r>
            <a:r>
              <a:rPr lang="it-IT" dirty="0"/>
              <a:t>more </a:t>
            </a:r>
            <a:r>
              <a:rPr lang="it-IT" dirty="0" err="1"/>
              <a:t>than</a:t>
            </a:r>
            <a:r>
              <a:rPr lang="it-IT" dirty="0"/>
              <a:t> on </a:t>
            </a:r>
            <a:r>
              <a:rPr lang="it-IT" dirty="0" err="1"/>
              <a:t>nondeterministic</a:t>
            </a:r>
            <a:r>
              <a:rPr lang="it-IT" dirty="0"/>
              <a:t> </a:t>
            </a:r>
            <a:r>
              <a:rPr lang="it-IT" dirty="0" err="1"/>
              <a:t>ones</a:t>
            </a:r>
            <a:endParaRPr lang="it-IT" dirty="0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ABE36DEC-8068-CAD1-4DA0-18F2737791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it-IT" altLang="it-IT"/>
              <a:t>Introduction to KR</a:t>
            </a:r>
            <a:endParaRPr lang="it-IT" alt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900AB51C-B15A-2B84-BA23-5DE85CD5A3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KNOWLEDGE REPRESENTATION</a:t>
            </a:r>
            <a:endParaRPr lang="en-US" dirty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F553B6F9-806C-AE5E-5846-454BA46371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CD341D-7438-4FA4-973F-6F9EECBD14B9}" type="slidenum">
              <a:rPr lang="it-IT" altLang="it-IT" smtClean="0"/>
              <a:pPr>
                <a:defRPr/>
              </a:pPr>
              <a:t>36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269670586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AB3F4F4-6928-F015-49E5-0887B4DF02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Algorithmic</a:t>
            </a:r>
            <a:r>
              <a:rPr lang="it-IT" dirty="0"/>
              <a:t> </a:t>
            </a:r>
            <a:r>
              <a:rPr lang="it-IT" dirty="0" err="1"/>
              <a:t>complexity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EE3194E9-E23E-1FEF-2C95-AD245A81A7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 err="1"/>
              <a:t>We</a:t>
            </a:r>
            <a:r>
              <a:rPr lang="it-IT" dirty="0"/>
              <a:t> </a:t>
            </a:r>
            <a:r>
              <a:rPr lang="it-IT" dirty="0" err="1"/>
              <a:t>aim</a:t>
            </a:r>
            <a:r>
              <a:rPr lang="it-IT" dirty="0"/>
              <a:t> </a:t>
            </a:r>
            <a:r>
              <a:rPr lang="it-IT" dirty="0" err="1"/>
              <a:t>at</a:t>
            </a:r>
            <a:r>
              <a:rPr lang="it-IT" dirty="0"/>
              <a:t> solving a </a:t>
            </a:r>
            <a:r>
              <a:rPr lang="it-IT" dirty="0" err="1"/>
              <a:t>problem</a:t>
            </a:r>
            <a:r>
              <a:rPr lang="it-IT" dirty="0"/>
              <a:t> in </a:t>
            </a:r>
            <a:r>
              <a:rPr lang="it-IT" i="1" dirty="0"/>
              <a:t>the best </a:t>
            </a:r>
            <a:r>
              <a:rPr lang="it-IT" i="1" dirty="0" err="1"/>
              <a:t>possible</a:t>
            </a:r>
            <a:r>
              <a:rPr lang="it-IT" i="1" dirty="0"/>
              <a:t> way</a:t>
            </a:r>
            <a:endParaRPr lang="it-IT" dirty="0"/>
          </a:p>
          <a:p>
            <a:r>
              <a:rPr lang="it-IT" dirty="0" err="1"/>
              <a:t>This</a:t>
            </a:r>
            <a:r>
              <a:rPr lang="it-IT" dirty="0"/>
              <a:t> </a:t>
            </a:r>
            <a:r>
              <a:rPr lang="it-IT" dirty="0" err="1"/>
              <a:t>means</a:t>
            </a:r>
            <a:endParaRPr lang="it-IT" dirty="0"/>
          </a:p>
          <a:p>
            <a:pPr lvl="1"/>
            <a:r>
              <a:rPr lang="it-IT" dirty="0"/>
              <a:t>By an </a:t>
            </a:r>
            <a:r>
              <a:rPr lang="it-IT" dirty="0" err="1"/>
              <a:t>algorithm</a:t>
            </a:r>
            <a:r>
              <a:rPr lang="it-IT" dirty="0"/>
              <a:t> </a:t>
            </a:r>
            <a:r>
              <a:rPr lang="it-IT" dirty="0" err="1"/>
              <a:t>that</a:t>
            </a:r>
            <a:r>
              <a:rPr lang="it-IT" dirty="0"/>
              <a:t> </a:t>
            </a:r>
            <a:r>
              <a:rPr lang="it-IT" dirty="0" err="1"/>
              <a:t>spends</a:t>
            </a:r>
            <a:r>
              <a:rPr lang="it-IT" dirty="0"/>
              <a:t> </a:t>
            </a:r>
            <a:r>
              <a:rPr lang="it-IT" dirty="0" err="1"/>
              <a:t>as</a:t>
            </a:r>
            <a:r>
              <a:rPr lang="it-IT" dirty="0"/>
              <a:t> </a:t>
            </a:r>
            <a:r>
              <a:rPr lang="it-IT" dirty="0" err="1"/>
              <a:t>much</a:t>
            </a:r>
            <a:r>
              <a:rPr lang="it-IT" dirty="0"/>
              <a:t> time </a:t>
            </a:r>
            <a:r>
              <a:rPr lang="it-IT" dirty="0" err="1"/>
              <a:t>as</a:t>
            </a:r>
            <a:r>
              <a:rPr lang="it-IT" dirty="0"/>
              <a:t> </a:t>
            </a:r>
            <a:r>
              <a:rPr lang="it-IT" dirty="0" err="1"/>
              <a:t>needed</a:t>
            </a:r>
            <a:r>
              <a:rPr lang="it-IT" dirty="0"/>
              <a:t> in the </a:t>
            </a:r>
            <a:r>
              <a:rPr lang="it-IT" dirty="0" err="1"/>
              <a:t>worst</a:t>
            </a:r>
            <a:r>
              <a:rPr lang="it-IT" dirty="0"/>
              <a:t> case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B9173422-BF0C-DC63-416A-31D12BA570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it-IT" altLang="it-IT"/>
              <a:t>Introduction to KR</a:t>
            </a:r>
            <a:endParaRPr lang="it-IT" alt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50274D1-BD04-B7A8-4084-CDC538A371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KNOWLEDGE REPRESENTATION</a:t>
            </a:r>
            <a:endParaRPr lang="en-US" dirty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6E4AD5B0-AD5F-434E-58FD-493F93AB33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CD341D-7438-4FA4-973F-6F9EECBD14B9}" type="slidenum">
              <a:rPr lang="it-IT" altLang="it-IT" smtClean="0"/>
              <a:pPr>
                <a:defRPr/>
              </a:pPr>
              <a:t>37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80372502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E65A27F-87B1-1F5B-507E-8B2E491A5B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Complexity</a:t>
            </a:r>
            <a:r>
              <a:rPr lang="it-IT" dirty="0"/>
              <a:t> classes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623E6F18-1D4A-943C-8231-F15D86A162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66775"/>
            <a:ext cx="4638583" cy="3727450"/>
          </a:xfrm>
        </p:spPr>
        <p:txBody>
          <a:bodyPr/>
          <a:lstStyle/>
          <a:p>
            <a:r>
              <a:rPr lang="it-IT" dirty="0" err="1"/>
              <a:t>Complexity</a:t>
            </a:r>
            <a:r>
              <a:rPr lang="it-IT" dirty="0"/>
              <a:t> </a:t>
            </a:r>
            <a:r>
              <a:rPr lang="it-IT" dirty="0" err="1"/>
              <a:t>behaviours</a:t>
            </a:r>
            <a:endParaRPr lang="it-IT" dirty="0"/>
          </a:p>
          <a:p>
            <a:pPr lvl="1"/>
            <a:r>
              <a:rPr lang="it-IT" dirty="0" err="1"/>
              <a:t>Logarithmic</a:t>
            </a:r>
            <a:r>
              <a:rPr lang="it-IT" dirty="0"/>
              <a:t> (the overhead of solving a </a:t>
            </a:r>
            <a:r>
              <a:rPr lang="it-IT" dirty="0" err="1"/>
              <a:t>problem</a:t>
            </a:r>
            <a:r>
              <a:rPr lang="it-IT" dirty="0"/>
              <a:t>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below</a:t>
            </a:r>
            <a:r>
              <a:rPr lang="it-IT" dirty="0"/>
              <a:t> the scale of </a:t>
            </a:r>
            <a:r>
              <a:rPr lang="it-IT" dirty="0" err="1"/>
              <a:t>polynomials</a:t>
            </a:r>
            <a:r>
              <a:rPr lang="it-IT" dirty="0"/>
              <a:t>)</a:t>
            </a:r>
          </a:p>
          <a:p>
            <a:pPr lvl="1"/>
            <a:r>
              <a:rPr lang="it-IT" dirty="0" err="1"/>
              <a:t>Polynomial</a:t>
            </a:r>
            <a:endParaRPr lang="it-IT" dirty="0"/>
          </a:p>
          <a:p>
            <a:pPr lvl="1"/>
            <a:r>
              <a:rPr lang="it-IT" dirty="0" err="1"/>
              <a:t>Exponential</a:t>
            </a:r>
            <a:endParaRPr lang="it-IT" dirty="0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EEC31F56-F9BD-6236-85F5-C27282C97B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it-IT" altLang="it-IT"/>
              <a:t>Introduction to KR</a:t>
            </a:r>
            <a:endParaRPr lang="it-IT" alt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37D3AA98-D6E4-9118-DE2E-9756314759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KNOWLEDGE REPRESENTATION</a:t>
            </a:r>
            <a:endParaRPr lang="en-US" dirty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B00DD9AD-7CC2-92E5-0881-229E66EDE5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CD341D-7438-4FA4-973F-6F9EECBD14B9}" type="slidenum">
              <a:rPr lang="it-IT" altLang="it-IT" smtClean="0"/>
              <a:pPr>
                <a:defRPr/>
              </a:pPr>
              <a:t>38</a:t>
            </a:fld>
            <a:endParaRPr lang="it-IT" altLang="it-IT"/>
          </a:p>
        </p:txBody>
      </p:sp>
      <p:grpSp>
        <p:nvGrpSpPr>
          <p:cNvPr id="7" name="Group 24">
            <a:extLst>
              <a:ext uri="{FF2B5EF4-FFF2-40B4-BE49-F238E27FC236}">
                <a16:creationId xmlns:a16="http://schemas.microsoft.com/office/drawing/2014/main" id="{B2CF2C04-095D-DB4B-E457-1963D0F8E913}"/>
              </a:ext>
            </a:extLst>
          </p:cNvPr>
          <p:cNvGrpSpPr>
            <a:grpSpLocks/>
          </p:cNvGrpSpPr>
          <p:nvPr/>
        </p:nvGrpSpPr>
        <p:grpSpPr bwMode="auto">
          <a:xfrm>
            <a:off x="4941533" y="1637984"/>
            <a:ext cx="3616541" cy="2185032"/>
            <a:chOff x="912" y="2400"/>
            <a:chExt cx="3216" cy="1728"/>
          </a:xfrm>
        </p:grpSpPr>
        <p:sp>
          <p:nvSpPr>
            <p:cNvPr id="8" name="Line 6">
              <a:extLst>
                <a:ext uri="{FF2B5EF4-FFF2-40B4-BE49-F238E27FC236}">
                  <a16:creationId xmlns:a16="http://schemas.microsoft.com/office/drawing/2014/main" id="{7B8FFC93-2359-A67D-3D44-377CF8B35F9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04" y="2544"/>
              <a:ext cx="0" cy="14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9" name="Line 7">
              <a:extLst>
                <a:ext uri="{FF2B5EF4-FFF2-40B4-BE49-F238E27FC236}">
                  <a16:creationId xmlns:a16="http://schemas.microsoft.com/office/drawing/2014/main" id="{FC31E01E-0465-636E-74A9-82455A0D757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04" y="3984"/>
              <a:ext cx="196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10" name="Line 8">
              <a:extLst>
                <a:ext uri="{FF2B5EF4-FFF2-40B4-BE49-F238E27FC236}">
                  <a16:creationId xmlns:a16="http://schemas.microsoft.com/office/drawing/2014/main" id="{8F16B040-9BA7-6438-6754-1EBEFF8F578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00" y="4128"/>
              <a:ext cx="100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11" name="Line 9">
              <a:extLst>
                <a:ext uri="{FF2B5EF4-FFF2-40B4-BE49-F238E27FC236}">
                  <a16:creationId xmlns:a16="http://schemas.microsoft.com/office/drawing/2014/main" id="{1DAE268C-02AA-5752-5D5D-3131B671A73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912" y="2880"/>
              <a:ext cx="0" cy="1056"/>
            </a:xfrm>
            <a:prstGeom prst="line">
              <a:avLst/>
            </a:prstGeom>
            <a:noFill/>
            <a:ln w="9525" cap="rnd">
              <a:solidFill>
                <a:schemeClr val="tx1"/>
              </a:solidFill>
              <a:prstDash val="sysDot"/>
              <a:round/>
              <a:headEnd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12" name="Line 11">
              <a:extLst>
                <a:ext uri="{FF2B5EF4-FFF2-40B4-BE49-F238E27FC236}">
                  <a16:creationId xmlns:a16="http://schemas.microsoft.com/office/drawing/2014/main" id="{8D1521CC-B8DB-7B32-42DC-DBB79B96CA0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104" y="3024"/>
              <a:ext cx="1344" cy="960"/>
            </a:xfrm>
            <a:prstGeom prst="line">
              <a:avLst/>
            </a:prstGeom>
            <a:noFill/>
            <a:ln w="9525">
              <a:solidFill>
                <a:srgbClr val="008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13" name="Line 17">
              <a:extLst>
                <a:ext uri="{FF2B5EF4-FFF2-40B4-BE49-F238E27FC236}">
                  <a16:creationId xmlns:a16="http://schemas.microsoft.com/office/drawing/2014/main" id="{874973D2-FED3-0492-A4EF-DE1C00BFFD1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104" y="3696"/>
              <a:ext cx="1104" cy="240"/>
            </a:xfrm>
            <a:prstGeom prst="line">
              <a:avLst/>
            </a:prstGeom>
            <a:noFill/>
            <a:ln w="9525">
              <a:solidFill>
                <a:srgbClr val="008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14" name="Line 18">
              <a:extLst>
                <a:ext uri="{FF2B5EF4-FFF2-40B4-BE49-F238E27FC236}">
                  <a16:creationId xmlns:a16="http://schemas.microsoft.com/office/drawing/2014/main" id="{26615698-68EC-8D17-A08D-DA23F495B1B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208" y="3600"/>
              <a:ext cx="672" cy="96"/>
            </a:xfrm>
            <a:prstGeom prst="line">
              <a:avLst/>
            </a:prstGeom>
            <a:noFill/>
            <a:ln w="9525">
              <a:solidFill>
                <a:srgbClr val="008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15" name="Line 19">
              <a:extLst>
                <a:ext uri="{FF2B5EF4-FFF2-40B4-BE49-F238E27FC236}">
                  <a16:creationId xmlns:a16="http://schemas.microsoft.com/office/drawing/2014/main" id="{FD1EFD58-9415-2806-C980-B3E211A020C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104" y="3072"/>
              <a:ext cx="384" cy="912"/>
            </a:xfrm>
            <a:prstGeom prst="line">
              <a:avLst/>
            </a:prstGeom>
            <a:noFill/>
            <a:ln w="9525">
              <a:solidFill>
                <a:srgbClr val="008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16" name="Line 20">
              <a:extLst>
                <a:ext uri="{FF2B5EF4-FFF2-40B4-BE49-F238E27FC236}">
                  <a16:creationId xmlns:a16="http://schemas.microsoft.com/office/drawing/2014/main" id="{33D3F139-4138-D384-41DC-EF7E0A31C17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488" y="2400"/>
              <a:ext cx="96" cy="672"/>
            </a:xfrm>
            <a:prstGeom prst="line">
              <a:avLst/>
            </a:prstGeom>
            <a:noFill/>
            <a:ln w="9525">
              <a:solidFill>
                <a:srgbClr val="008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17" name="Text Box 21">
              <a:extLst>
                <a:ext uri="{FF2B5EF4-FFF2-40B4-BE49-F238E27FC236}">
                  <a16:creationId xmlns:a16="http://schemas.microsoft.com/office/drawing/2014/main" id="{7E3ED92E-3384-034D-7015-55F10052FFB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16" y="2880"/>
              <a:ext cx="52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it-IT"/>
                <a:t>n</a:t>
              </a:r>
            </a:p>
          </p:txBody>
        </p:sp>
        <p:sp>
          <p:nvSpPr>
            <p:cNvPr id="18" name="Text Box 22">
              <a:extLst>
                <a:ext uri="{FF2B5EF4-FFF2-40B4-BE49-F238E27FC236}">
                  <a16:creationId xmlns:a16="http://schemas.microsoft.com/office/drawing/2014/main" id="{6373D87D-ED28-F60C-A205-A7D102CA3C3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20" y="3360"/>
              <a:ext cx="10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it-IT"/>
                <a:t>log n</a:t>
              </a:r>
            </a:p>
          </p:txBody>
        </p:sp>
        <p:sp>
          <p:nvSpPr>
            <p:cNvPr id="19" name="Text Box 23">
              <a:extLst>
                <a:ext uri="{FF2B5EF4-FFF2-40B4-BE49-F238E27FC236}">
                  <a16:creationId xmlns:a16="http://schemas.microsoft.com/office/drawing/2014/main" id="{6E570490-D755-BF68-4A62-92FCB6FE347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32" y="2448"/>
              <a:ext cx="96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it-IT"/>
                <a:t>exp (n)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6286018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3B0F294-5671-14B0-152E-AB0BD6A520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Problems</a:t>
            </a:r>
            <a:r>
              <a:rPr lang="it-IT" dirty="0"/>
              <a:t> and </a:t>
            </a:r>
            <a:r>
              <a:rPr lang="it-IT" dirty="0" err="1"/>
              <a:t>instances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4DA5BA6D-BC01-CEA9-EBFA-9C127536E5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/>
              <a:t>An </a:t>
            </a:r>
            <a:r>
              <a:rPr lang="it-IT" dirty="0" err="1"/>
              <a:t>instance</a:t>
            </a:r>
            <a:r>
              <a:rPr lang="it-IT" dirty="0"/>
              <a:t> of a </a:t>
            </a:r>
            <a:r>
              <a:rPr lang="it-IT" dirty="0" err="1"/>
              <a:t>problem</a:t>
            </a:r>
            <a:r>
              <a:rPr lang="it-IT" dirty="0"/>
              <a:t> </a:t>
            </a:r>
            <a:r>
              <a:rPr lang="it-IT" dirty="0" err="1"/>
              <a:t>has</a:t>
            </a:r>
            <a:r>
              <a:rPr lang="it-IT" dirty="0"/>
              <a:t> </a:t>
            </a:r>
            <a:r>
              <a:rPr lang="it-IT" dirty="0" err="1"/>
              <a:t>defined</a:t>
            </a:r>
            <a:r>
              <a:rPr lang="it-IT" dirty="0"/>
              <a:t> size </a:t>
            </a:r>
            <a:r>
              <a:rPr lang="it-IT" dirty="0" err="1"/>
              <a:t>measures</a:t>
            </a:r>
            <a:endParaRPr lang="it-IT" dirty="0"/>
          </a:p>
          <a:p>
            <a:r>
              <a:rPr lang="it-IT" dirty="0"/>
              <a:t>For </a:t>
            </a:r>
            <a:r>
              <a:rPr lang="it-IT" dirty="0" err="1"/>
              <a:t>example</a:t>
            </a:r>
            <a:r>
              <a:rPr lang="it-IT" dirty="0"/>
              <a:t>, </a:t>
            </a:r>
            <a:r>
              <a:rPr lang="it-IT" dirty="0" err="1"/>
              <a:t>given</a:t>
            </a:r>
            <a:r>
              <a:rPr lang="it-IT" dirty="0"/>
              <a:t> a </a:t>
            </a:r>
            <a:r>
              <a:rPr lang="it-IT" dirty="0" err="1"/>
              <a:t>specific</a:t>
            </a:r>
            <a:r>
              <a:rPr lang="it-IT" dirty="0"/>
              <a:t> formula in a </a:t>
            </a:r>
            <a:r>
              <a:rPr lang="it-IT" dirty="0" err="1"/>
              <a:t>logic</a:t>
            </a:r>
            <a:r>
              <a:rPr lang="it-IT" dirty="0"/>
              <a:t> </a:t>
            </a:r>
            <a:r>
              <a:rPr lang="it-IT" dirty="0" err="1"/>
              <a:t>calculus</a:t>
            </a:r>
            <a:r>
              <a:rPr lang="it-IT" dirty="0"/>
              <a:t>, the </a:t>
            </a:r>
            <a:r>
              <a:rPr lang="it-IT" dirty="0" err="1"/>
              <a:t>natural</a:t>
            </a:r>
            <a:r>
              <a:rPr lang="it-IT" dirty="0"/>
              <a:t> size of </a:t>
            </a:r>
            <a:r>
              <a:rPr lang="it-IT" dirty="0" err="1"/>
              <a:t>that</a:t>
            </a:r>
            <a:r>
              <a:rPr lang="it-IT" dirty="0"/>
              <a:t> formula </a:t>
            </a:r>
            <a:r>
              <a:rPr lang="it-IT" dirty="0" err="1"/>
              <a:t>is</a:t>
            </a:r>
            <a:r>
              <a:rPr lang="it-IT" dirty="0"/>
              <a:t> the </a:t>
            </a:r>
            <a:r>
              <a:rPr lang="it-IT" i="1" dirty="0" err="1"/>
              <a:t>number</a:t>
            </a:r>
            <a:r>
              <a:rPr lang="it-IT" i="1" dirty="0"/>
              <a:t> of </a:t>
            </a:r>
            <a:r>
              <a:rPr lang="it-IT" i="1" dirty="0" err="1"/>
              <a:t>literals</a:t>
            </a:r>
            <a:endParaRPr lang="it-IT" dirty="0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CDFA5E55-9AD7-5B63-563C-C7636EF8D7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it-IT" altLang="it-IT"/>
              <a:t>Introduction to KR</a:t>
            </a:r>
            <a:endParaRPr lang="it-IT" alt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80180A0B-1D31-95B1-E1A2-D57F6F3571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KNOWLEDGE REPRESENTATION</a:t>
            </a:r>
            <a:endParaRPr lang="en-US" dirty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CB044199-1B67-3911-7CB3-C8A71FCE51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CD341D-7438-4FA4-973F-6F9EECBD14B9}" type="slidenum">
              <a:rPr lang="it-IT" altLang="it-IT" smtClean="0"/>
              <a:pPr>
                <a:defRPr/>
              </a:pPr>
              <a:t>39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117841406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A5670AB-87BD-9AAE-B4E3-728A9F5200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Asymptotic</a:t>
            </a:r>
            <a:r>
              <a:rPr lang="it-IT" dirty="0"/>
              <a:t> </a:t>
            </a:r>
            <a:r>
              <a:rPr lang="it-IT" dirty="0" err="1"/>
              <a:t>complexity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AA3F340F-1236-E774-280A-B8BC3A3030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/>
              <a:t>Given a set of k </a:t>
            </a:r>
            <a:r>
              <a:rPr lang="it-IT" dirty="0" err="1"/>
              <a:t>measures</a:t>
            </a:r>
            <a:r>
              <a:rPr lang="it-IT" dirty="0"/>
              <a:t> </a:t>
            </a:r>
            <a:r>
              <a:rPr lang="it-IT" b="1" dirty="0"/>
              <a:t>m</a:t>
            </a:r>
            <a:r>
              <a:rPr lang="it-IT" b="1" baseline="-25000" dirty="0"/>
              <a:t>1</a:t>
            </a:r>
            <a:r>
              <a:rPr lang="it-IT" b="1" dirty="0"/>
              <a:t>, m</a:t>
            </a:r>
            <a:r>
              <a:rPr lang="it-IT" b="1" baseline="-25000" dirty="0"/>
              <a:t>2</a:t>
            </a:r>
            <a:r>
              <a:rPr lang="it-IT" b="1" dirty="0"/>
              <a:t> … </a:t>
            </a:r>
            <a:r>
              <a:rPr lang="it-IT" b="1" dirty="0" err="1"/>
              <a:t>m</a:t>
            </a:r>
            <a:r>
              <a:rPr lang="it-IT" b="1" baseline="-25000" dirty="0" err="1"/>
              <a:t>k</a:t>
            </a:r>
            <a:r>
              <a:rPr lang="it-IT" dirty="0"/>
              <a:t> of the </a:t>
            </a:r>
            <a:r>
              <a:rPr lang="it-IT" dirty="0" err="1"/>
              <a:t>instances</a:t>
            </a:r>
            <a:r>
              <a:rPr lang="it-IT" dirty="0"/>
              <a:t> of a </a:t>
            </a:r>
            <a:r>
              <a:rPr lang="it-IT" dirty="0" err="1"/>
              <a:t>problem</a:t>
            </a:r>
            <a:r>
              <a:rPr lang="it-IT" dirty="0"/>
              <a:t> </a:t>
            </a:r>
            <a:r>
              <a:rPr lang="it-IT" dirty="0" err="1"/>
              <a:t>P</a:t>
            </a:r>
            <a:r>
              <a:rPr lang="it-IT" dirty="0"/>
              <a:t> </a:t>
            </a:r>
            <a:r>
              <a:rPr lang="it-IT" dirty="0" err="1"/>
              <a:t>we</a:t>
            </a:r>
            <a:r>
              <a:rPr lang="it-IT" dirty="0"/>
              <a:t> </a:t>
            </a:r>
            <a:r>
              <a:rPr lang="it-IT" dirty="0" err="1"/>
              <a:t>define</a:t>
            </a:r>
            <a:r>
              <a:rPr lang="it-IT" dirty="0"/>
              <a:t> the </a:t>
            </a:r>
            <a:r>
              <a:rPr lang="it-IT" dirty="0" err="1"/>
              <a:t>asymptotic</a:t>
            </a:r>
            <a:r>
              <a:rPr lang="it-IT" dirty="0"/>
              <a:t> </a:t>
            </a:r>
            <a:r>
              <a:rPr lang="it-IT" dirty="0" err="1"/>
              <a:t>complexity</a:t>
            </a:r>
            <a:r>
              <a:rPr lang="it-IT" dirty="0"/>
              <a:t> of a </a:t>
            </a:r>
            <a:r>
              <a:rPr lang="it-IT" dirty="0" err="1"/>
              <a:t>solution</a:t>
            </a:r>
            <a:r>
              <a:rPr lang="it-IT" dirty="0"/>
              <a:t> for </a:t>
            </a:r>
            <a:r>
              <a:rPr lang="it-IT" dirty="0" err="1"/>
              <a:t>P</a:t>
            </a:r>
            <a:r>
              <a:rPr lang="it-IT" dirty="0"/>
              <a:t> the </a:t>
            </a:r>
            <a:r>
              <a:rPr lang="it-IT" dirty="0" err="1"/>
              <a:t>function</a:t>
            </a:r>
            <a:r>
              <a:rPr lang="it-IT" dirty="0"/>
              <a:t> in </a:t>
            </a:r>
            <a:r>
              <a:rPr lang="it-IT" b="1" dirty="0"/>
              <a:t>m</a:t>
            </a:r>
            <a:r>
              <a:rPr lang="it-IT" b="1" baseline="-25000" dirty="0"/>
              <a:t>1</a:t>
            </a:r>
            <a:r>
              <a:rPr lang="it-IT" b="1" dirty="0"/>
              <a:t>, m</a:t>
            </a:r>
            <a:r>
              <a:rPr lang="it-IT" b="1" baseline="-25000" dirty="0"/>
              <a:t>2</a:t>
            </a:r>
            <a:r>
              <a:rPr lang="it-IT" b="1" dirty="0"/>
              <a:t> … </a:t>
            </a:r>
            <a:r>
              <a:rPr lang="it-IT" b="1" dirty="0" err="1"/>
              <a:t>m</a:t>
            </a:r>
            <a:r>
              <a:rPr lang="it-IT" b="1" baseline="-25000" dirty="0" err="1"/>
              <a:t>k</a:t>
            </a:r>
            <a:r>
              <a:rPr lang="it-IT" dirty="0"/>
              <a:t> </a:t>
            </a:r>
            <a:r>
              <a:rPr lang="it-IT" dirty="0" err="1"/>
              <a:t>associating</a:t>
            </a:r>
            <a:r>
              <a:rPr lang="it-IT" dirty="0"/>
              <a:t> the </a:t>
            </a:r>
            <a:r>
              <a:rPr lang="it-IT" dirty="0" err="1"/>
              <a:t>total</a:t>
            </a:r>
            <a:r>
              <a:rPr lang="it-IT" dirty="0"/>
              <a:t> </a:t>
            </a:r>
            <a:r>
              <a:rPr lang="it-IT" dirty="0" err="1"/>
              <a:t>number</a:t>
            </a:r>
            <a:r>
              <a:rPr lang="it-IT" dirty="0"/>
              <a:t> of steps </a:t>
            </a:r>
            <a:r>
              <a:rPr lang="it-IT" dirty="0" err="1"/>
              <a:t>required</a:t>
            </a:r>
            <a:r>
              <a:rPr lang="it-IT" dirty="0"/>
              <a:t> by an </a:t>
            </a:r>
            <a:r>
              <a:rPr lang="it-IT" dirty="0" err="1"/>
              <a:t>algorithm</a:t>
            </a:r>
            <a:r>
              <a:rPr lang="it-IT" dirty="0"/>
              <a:t> to solve </a:t>
            </a:r>
            <a:r>
              <a:rPr lang="it-IT" dirty="0" err="1"/>
              <a:t>P</a:t>
            </a:r>
            <a:r>
              <a:rPr lang="it-IT" dirty="0"/>
              <a:t> 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EAEEAAE3-A679-20A0-B84D-7343BEADE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it-IT" altLang="it-IT"/>
              <a:t>Introduction to KR</a:t>
            </a:r>
            <a:endParaRPr lang="it-IT" alt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1B5164B6-5CD3-2811-418D-591BE94B9F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KNOWLEDGE REPRESENTATION</a:t>
            </a:r>
            <a:endParaRPr lang="en-US" dirty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E973A1A-6AA0-AB07-0656-2CC87CA3C3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CD341D-7438-4FA4-973F-6F9EECBD14B9}" type="slidenum">
              <a:rPr lang="it-IT" altLang="it-IT" smtClean="0"/>
              <a:pPr>
                <a:defRPr/>
              </a:pPr>
              <a:t>40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197972803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00200AB-371B-31C5-13D2-F66C20B41F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z="2800" dirty="0" err="1"/>
              <a:t>Asymptotic</a:t>
            </a:r>
            <a:r>
              <a:rPr lang="it-IT" sz="2800" dirty="0"/>
              <a:t> </a:t>
            </a:r>
            <a:r>
              <a:rPr lang="it-IT" sz="2800" dirty="0" err="1"/>
              <a:t>complexity</a:t>
            </a:r>
            <a:r>
              <a:rPr lang="it-IT" sz="2800" dirty="0"/>
              <a:t> – </a:t>
            </a:r>
            <a:r>
              <a:rPr lang="it-IT" sz="2800" dirty="0" err="1"/>
              <a:t>lower</a:t>
            </a:r>
            <a:r>
              <a:rPr lang="it-IT" sz="2800" dirty="0"/>
              <a:t> and </a:t>
            </a:r>
            <a:r>
              <a:rPr lang="it-IT" sz="2800" dirty="0" err="1"/>
              <a:t>upper</a:t>
            </a:r>
            <a:r>
              <a:rPr lang="it-IT" sz="2800" dirty="0"/>
              <a:t> bounds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7A23A5F-C455-1F2D-B584-656E68329A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sz="2800" dirty="0"/>
              <a:t>To </a:t>
            </a:r>
            <a:r>
              <a:rPr lang="it-IT" sz="2800" dirty="0" err="1"/>
              <a:t>define</a:t>
            </a:r>
            <a:r>
              <a:rPr lang="it-IT" sz="2800" dirty="0"/>
              <a:t> the </a:t>
            </a:r>
            <a:r>
              <a:rPr lang="it-IT" sz="2800" dirty="0" err="1"/>
              <a:t>lower</a:t>
            </a:r>
            <a:r>
              <a:rPr lang="it-IT" sz="2800" dirty="0"/>
              <a:t> </a:t>
            </a:r>
            <a:r>
              <a:rPr lang="it-IT" sz="2800" dirty="0" err="1"/>
              <a:t>bound</a:t>
            </a:r>
            <a:r>
              <a:rPr lang="it-IT" sz="2800" dirty="0"/>
              <a:t> </a:t>
            </a:r>
            <a:r>
              <a:rPr lang="it-IT" sz="2800" dirty="0" err="1"/>
              <a:t>we</a:t>
            </a:r>
            <a:r>
              <a:rPr lang="it-IT" sz="2800" dirty="0"/>
              <a:t> </a:t>
            </a:r>
            <a:r>
              <a:rPr lang="it-IT" sz="2800" dirty="0" err="1"/>
              <a:t>need</a:t>
            </a:r>
            <a:r>
              <a:rPr lang="it-IT" sz="2800" dirty="0"/>
              <a:t> to prove </a:t>
            </a:r>
            <a:r>
              <a:rPr lang="it-IT" sz="2800" dirty="0" err="1"/>
              <a:t>that</a:t>
            </a:r>
            <a:r>
              <a:rPr lang="it-IT" sz="2800" dirty="0"/>
              <a:t> the </a:t>
            </a:r>
            <a:r>
              <a:rPr lang="it-IT" sz="2800" dirty="0" err="1"/>
              <a:t>algorithm</a:t>
            </a:r>
            <a:r>
              <a:rPr lang="it-IT" sz="2800" dirty="0"/>
              <a:t> </a:t>
            </a:r>
            <a:r>
              <a:rPr lang="it-IT" sz="2800" dirty="0" err="1"/>
              <a:t>we</a:t>
            </a:r>
            <a:r>
              <a:rPr lang="it-IT" sz="2800" dirty="0"/>
              <a:t> </a:t>
            </a:r>
            <a:r>
              <a:rPr lang="it-IT" sz="2800" dirty="0" err="1"/>
              <a:t>found</a:t>
            </a:r>
            <a:r>
              <a:rPr lang="it-IT" sz="2800" dirty="0"/>
              <a:t> </a:t>
            </a:r>
            <a:r>
              <a:rPr lang="it-IT" sz="2800" dirty="0" err="1"/>
              <a:t>is</a:t>
            </a:r>
            <a:r>
              <a:rPr lang="it-IT" sz="2800" dirty="0"/>
              <a:t> </a:t>
            </a:r>
            <a:r>
              <a:rPr lang="it-IT" sz="2800" i="1" dirty="0"/>
              <a:t>the best </a:t>
            </a:r>
            <a:r>
              <a:rPr lang="it-IT" sz="2800" i="1" dirty="0" err="1"/>
              <a:t>solution</a:t>
            </a:r>
            <a:r>
              <a:rPr lang="it-IT" sz="2800" i="1" dirty="0"/>
              <a:t> </a:t>
            </a:r>
            <a:r>
              <a:rPr lang="it-IT" sz="2800" dirty="0"/>
              <a:t> for </a:t>
            </a:r>
            <a:r>
              <a:rPr lang="it-IT" sz="2800" dirty="0" err="1"/>
              <a:t>P</a:t>
            </a:r>
            <a:endParaRPr lang="it-IT" sz="2800" dirty="0"/>
          </a:p>
          <a:p>
            <a:r>
              <a:rPr lang="it-IT" sz="2800" dirty="0"/>
              <a:t>To </a:t>
            </a:r>
            <a:r>
              <a:rPr lang="it-IT" sz="2800" dirty="0" err="1"/>
              <a:t>define</a:t>
            </a:r>
            <a:r>
              <a:rPr lang="it-IT" sz="2800" dirty="0"/>
              <a:t> an </a:t>
            </a:r>
            <a:r>
              <a:rPr lang="it-IT" sz="2800" dirty="0" err="1"/>
              <a:t>upper</a:t>
            </a:r>
            <a:r>
              <a:rPr lang="it-IT" sz="2800" dirty="0"/>
              <a:t> </a:t>
            </a:r>
            <a:r>
              <a:rPr lang="it-IT" sz="2800" dirty="0" err="1"/>
              <a:t>bound</a:t>
            </a:r>
            <a:r>
              <a:rPr lang="it-IT" sz="2800" dirty="0"/>
              <a:t>, </a:t>
            </a:r>
            <a:r>
              <a:rPr lang="it-IT" sz="2800" dirty="0" err="1"/>
              <a:t>instead</a:t>
            </a:r>
            <a:r>
              <a:rPr lang="it-IT" sz="2800" dirty="0"/>
              <a:t>, </a:t>
            </a:r>
            <a:r>
              <a:rPr lang="it-IT" sz="2800" dirty="0" err="1"/>
              <a:t>we</a:t>
            </a:r>
            <a:r>
              <a:rPr lang="it-IT" sz="2800" dirty="0"/>
              <a:t> </a:t>
            </a:r>
            <a:r>
              <a:rPr lang="it-IT" sz="2800" dirty="0" err="1"/>
              <a:t>could</a:t>
            </a:r>
            <a:r>
              <a:rPr lang="it-IT" sz="2800" dirty="0"/>
              <a:t> </a:t>
            </a:r>
            <a:r>
              <a:rPr lang="it-IT" sz="2800" dirty="0" err="1"/>
              <a:t>simply</a:t>
            </a:r>
            <a:r>
              <a:rPr lang="it-IT" sz="2800" dirty="0"/>
              <a:t> </a:t>
            </a:r>
            <a:r>
              <a:rPr lang="it-IT" sz="2800" dirty="0" err="1"/>
              <a:t>find</a:t>
            </a:r>
            <a:r>
              <a:rPr lang="it-IT" sz="2800" dirty="0"/>
              <a:t> an </a:t>
            </a:r>
            <a:r>
              <a:rPr lang="it-IT" sz="2800" dirty="0" err="1"/>
              <a:t>algorithm</a:t>
            </a:r>
            <a:r>
              <a:rPr lang="it-IT" sz="2800" dirty="0"/>
              <a:t> </a:t>
            </a:r>
            <a:r>
              <a:rPr lang="it-IT" sz="2800" dirty="0" err="1"/>
              <a:t>that</a:t>
            </a:r>
            <a:r>
              <a:rPr lang="it-IT" sz="2800" dirty="0"/>
              <a:t> </a:t>
            </a:r>
            <a:r>
              <a:rPr lang="it-IT" sz="2800" dirty="0" err="1"/>
              <a:t>solves</a:t>
            </a:r>
            <a:r>
              <a:rPr lang="it-IT" sz="2800" dirty="0"/>
              <a:t> the </a:t>
            </a:r>
            <a:r>
              <a:rPr lang="it-IT" sz="2800" dirty="0" err="1"/>
              <a:t>problem</a:t>
            </a:r>
            <a:r>
              <a:rPr lang="it-IT" sz="2800" dirty="0"/>
              <a:t> with a </a:t>
            </a:r>
            <a:r>
              <a:rPr lang="it-IT" sz="2800" dirty="0" err="1"/>
              <a:t>given</a:t>
            </a:r>
            <a:r>
              <a:rPr lang="it-IT" sz="2800" dirty="0"/>
              <a:t> </a:t>
            </a:r>
            <a:r>
              <a:rPr lang="it-IT" sz="2800" i="1" dirty="0" err="1"/>
              <a:t>computational</a:t>
            </a:r>
            <a:r>
              <a:rPr lang="it-IT" sz="2800" i="1" dirty="0"/>
              <a:t> cost</a:t>
            </a:r>
          </a:p>
          <a:p>
            <a:r>
              <a:rPr lang="it-IT" sz="2800" dirty="0" err="1"/>
              <a:t>Computational</a:t>
            </a:r>
            <a:r>
              <a:rPr lang="it-IT" sz="2800" dirty="0"/>
              <a:t> cost can </a:t>
            </a:r>
            <a:r>
              <a:rPr lang="it-IT" sz="2800" dirty="0" err="1"/>
              <a:t>also</a:t>
            </a:r>
            <a:r>
              <a:rPr lang="it-IT" sz="2800" dirty="0"/>
              <a:t> be </a:t>
            </a:r>
            <a:r>
              <a:rPr lang="it-IT" sz="2800" dirty="0" err="1"/>
              <a:t>about</a:t>
            </a:r>
            <a:r>
              <a:rPr lang="it-IT" sz="2800" dirty="0"/>
              <a:t> </a:t>
            </a:r>
            <a:r>
              <a:rPr lang="it-IT" sz="2800" i="1" dirty="0" err="1"/>
              <a:t>space</a:t>
            </a:r>
            <a:r>
              <a:rPr lang="it-IT" sz="2800" i="1" dirty="0"/>
              <a:t> </a:t>
            </a:r>
            <a:r>
              <a:rPr lang="it-IT" sz="2800" i="1" dirty="0" err="1"/>
              <a:t>needed</a:t>
            </a:r>
            <a:r>
              <a:rPr lang="it-IT" sz="2800" i="1" dirty="0"/>
              <a:t> for the </a:t>
            </a:r>
            <a:r>
              <a:rPr lang="it-IT" sz="2800" i="1" dirty="0" err="1"/>
              <a:t>computation</a:t>
            </a:r>
            <a:endParaRPr lang="it-IT" sz="2800" dirty="0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C8E5F9EA-AF83-67A0-B08B-EF74E2AFCB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it-IT" altLang="it-IT"/>
              <a:t>Introduction to KR</a:t>
            </a:r>
            <a:endParaRPr lang="it-IT" alt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DD010087-6D23-8BD3-BD1A-12E85E4070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KNOWLEDGE REPRESENTATION</a:t>
            </a:r>
            <a:endParaRPr lang="en-US" dirty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444690FB-2C91-FF3B-8729-D13B85B51E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CD341D-7438-4FA4-973F-6F9EECBD14B9}" type="slidenum">
              <a:rPr lang="it-IT" altLang="it-IT" smtClean="0"/>
              <a:pPr>
                <a:defRPr/>
              </a:pPr>
              <a:t>41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361279657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B5BC998-C87D-3C7F-C312-95C79DCF0E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Complexity</a:t>
            </a:r>
            <a:r>
              <a:rPr lang="it-IT" dirty="0"/>
              <a:t> classes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43E1AD99-2BB2-B7AB-8D8C-30A0D28EC5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sz="2400" dirty="0" err="1"/>
              <a:t>Problems</a:t>
            </a:r>
            <a:r>
              <a:rPr lang="it-IT" sz="2400" dirty="0"/>
              <a:t> </a:t>
            </a:r>
            <a:r>
              <a:rPr lang="it-IT" sz="2400" dirty="0" err="1"/>
              <a:t>that</a:t>
            </a:r>
            <a:r>
              <a:rPr lang="it-IT" sz="2400" dirty="0"/>
              <a:t> can be </a:t>
            </a:r>
            <a:r>
              <a:rPr lang="it-IT" sz="2400" dirty="0" err="1"/>
              <a:t>solved</a:t>
            </a:r>
            <a:r>
              <a:rPr lang="it-IT" sz="2400" dirty="0"/>
              <a:t> in the </a:t>
            </a:r>
            <a:r>
              <a:rPr lang="it-IT" sz="2400" dirty="0" err="1"/>
              <a:t>worst</a:t>
            </a:r>
            <a:r>
              <a:rPr lang="it-IT" sz="2400" dirty="0"/>
              <a:t> case by a </a:t>
            </a:r>
            <a:r>
              <a:rPr lang="it-IT" sz="2400" dirty="0" err="1"/>
              <a:t>method</a:t>
            </a:r>
            <a:r>
              <a:rPr lang="it-IT" sz="2400" dirty="0"/>
              <a:t> </a:t>
            </a:r>
            <a:r>
              <a:rPr lang="it-IT" sz="2400" dirty="0" err="1"/>
              <a:t>that</a:t>
            </a:r>
            <a:r>
              <a:rPr lang="it-IT" sz="2400" dirty="0"/>
              <a:t> </a:t>
            </a:r>
            <a:r>
              <a:rPr lang="it-IT" sz="2400" dirty="0" err="1"/>
              <a:t>requires</a:t>
            </a:r>
            <a:r>
              <a:rPr lang="it-IT" sz="2400" dirty="0"/>
              <a:t> a </a:t>
            </a:r>
            <a:r>
              <a:rPr lang="it-IT" sz="2400" dirty="0" err="1"/>
              <a:t>constant</a:t>
            </a:r>
            <a:r>
              <a:rPr lang="it-IT" sz="2400" dirty="0"/>
              <a:t> time (</a:t>
            </a:r>
            <a:r>
              <a:rPr lang="it-IT" sz="2400" dirty="0" err="1"/>
              <a:t>it</a:t>
            </a:r>
            <a:r>
              <a:rPr lang="it-IT" sz="2400" dirty="0"/>
              <a:t> </a:t>
            </a:r>
            <a:r>
              <a:rPr lang="it-IT" sz="2400" dirty="0" err="1"/>
              <a:t>is</a:t>
            </a:r>
            <a:r>
              <a:rPr lang="it-IT" sz="2400" dirty="0"/>
              <a:t> </a:t>
            </a:r>
            <a:r>
              <a:rPr lang="it-IT" sz="2400" dirty="0" err="1"/>
              <a:t>independent</a:t>
            </a:r>
            <a:r>
              <a:rPr lang="it-IT" sz="2400" dirty="0"/>
              <a:t> of the size of the </a:t>
            </a:r>
            <a:r>
              <a:rPr lang="it-IT" sz="2400" dirty="0" err="1"/>
              <a:t>instance</a:t>
            </a:r>
            <a:r>
              <a:rPr lang="it-IT" sz="2400" dirty="0"/>
              <a:t> of the </a:t>
            </a:r>
            <a:r>
              <a:rPr lang="it-IT" sz="2400" dirty="0" err="1"/>
              <a:t>problem</a:t>
            </a:r>
            <a:r>
              <a:rPr lang="it-IT" sz="2400" dirty="0"/>
              <a:t>) are </a:t>
            </a:r>
            <a:r>
              <a:rPr lang="it-IT" sz="2400" b="1" dirty="0" err="1"/>
              <a:t>constant</a:t>
            </a:r>
            <a:endParaRPr lang="it-IT" sz="2400" dirty="0"/>
          </a:p>
          <a:p>
            <a:r>
              <a:rPr lang="it-IT" sz="2400" dirty="0" err="1"/>
              <a:t>Further</a:t>
            </a:r>
            <a:r>
              <a:rPr lang="it-IT" sz="2400" dirty="0"/>
              <a:t> classes are </a:t>
            </a:r>
            <a:r>
              <a:rPr lang="it-IT" sz="2400" dirty="0" err="1"/>
              <a:t>those</a:t>
            </a:r>
            <a:r>
              <a:rPr lang="it-IT" sz="2400" dirty="0"/>
              <a:t> </a:t>
            </a:r>
            <a:r>
              <a:rPr lang="it-IT" sz="2400" dirty="0" err="1"/>
              <a:t>that</a:t>
            </a:r>
            <a:r>
              <a:rPr lang="it-IT" sz="2400" dirty="0"/>
              <a:t> </a:t>
            </a:r>
            <a:r>
              <a:rPr lang="it-IT" sz="2400" dirty="0" err="1"/>
              <a:t>limit</a:t>
            </a:r>
            <a:r>
              <a:rPr lang="it-IT" sz="2400" dirty="0"/>
              <a:t> to </a:t>
            </a:r>
          </a:p>
          <a:p>
            <a:pPr lvl="1"/>
            <a:r>
              <a:rPr lang="it-IT" sz="2000" dirty="0" err="1"/>
              <a:t>logarithm</a:t>
            </a:r>
            <a:r>
              <a:rPr lang="it-IT" sz="2000" dirty="0"/>
              <a:t>, </a:t>
            </a:r>
          </a:p>
          <a:p>
            <a:pPr lvl="1"/>
            <a:r>
              <a:rPr lang="it-IT" sz="2000" dirty="0" err="1"/>
              <a:t>polynomials</a:t>
            </a:r>
            <a:r>
              <a:rPr lang="it-IT" sz="2000" dirty="0"/>
              <a:t>, </a:t>
            </a:r>
          </a:p>
          <a:p>
            <a:pPr lvl="1"/>
            <a:r>
              <a:rPr lang="it-IT" sz="2000" dirty="0" err="1"/>
              <a:t>exponentials</a:t>
            </a:r>
            <a:r>
              <a:rPr lang="it-IT" sz="2000" dirty="0"/>
              <a:t>, </a:t>
            </a:r>
          </a:p>
          <a:p>
            <a:pPr lvl="1"/>
            <a:r>
              <a:rPr lang="it-IT" sz="2000" dirty="0" err="1"/>
              <a:t>hyperexponentials</a:t>
            </a:r>
            <a:endParaRPr lang="it-IT" sz="2000" dirty="0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BAE56B87-9C7E-C516-03C7-B1AE1A1619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it-IT" altLang="it-IT"/>
              <a:t>Introduction to KR</a:t>
            </a:r>
            <a:endParaRPr lang="it-IT" alt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F36F0A1C-CDE4-B751-6B63-B40154E7E8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KNOWLEDGE REPRESENTATION</a:t>
            </a:r>
            <a:endParaRPr lang="en-US" dirty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090AAB21-CDE6-8425-BF2F-F6DD413C6E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CD341D-7438-4FA4-973F-6F9EECBD14B9}" type="slidenum">
              <a:rPr lang="it-IT" altLang="it-IT" smtClean="0"/>
              <a:pPr>
                <a:defRPr/>
              </a:pPr>
              <a:t>42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354893911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BDFFF86-3E16-B4B9-F38F-CE9FE3CBDF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Feasibility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15845C60-AB86-0B28-9C79-628A507B06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/>
              <a:t>A </a:t>
            </a:r>
            <a:r>
              <a:rPr lang="it-IT" dirty="0" err="1"/>
              <a:t>problem</a:t>
            </a:r>
            <a:r>
              <a:rPr lang="it-IT" dirty="0"/>
              <a:t>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feasible</a:t>
            </a:r>
            <a:r>
              <a:rPr lang="it-IT" dirty="0"/>
              <a:t> </a:t>
            </a:r>
            <a:r>
              <a:rPr lang="it-IT" dirty="0" err="1"/>
              <a:t>if</a:t>
            </a:r>
            <a:r>
              <a:rPr lang="it-IT" dirty="0"/>
              <a:t> </a:t>
            </a:r>
            <a:r>
              <a:rPr lang="it-IT" dirty="0" err="1"/>
              <a:t>it</a:t>
            </a:r>
            <a:r>
              <a:rPr lang="it-IT" dirty="0"/>
              <a:t> </a:t>
            </a:r>
            <a:r>
              <a:rPr lang="it-IT" dirty="0" err="1"/>
              <a:t>has</a:t>
            </a:r>
            <a:r>
              <a:rPr lang="it-IT" dirty="0"/>
              <a:t> an </a:t>
            </a:r>
            <a:r>
              <a:rPr lang="it-IT" dirty="0" err="1"/>
              <a:t>algorithimic</a:t>
            </a:r>
            <a:r>
              <a:rPr lang="it-IT" dirty="0"/>
              <a:t> </a:t>
            </a:r>
            <a:r>
              <a:rPr lang="it-IT" dirty="0" err="1"/>
              <a:t>solution</a:t>
            </a:r>
            <a:r>
              <a:rPr lang="it-IT" dirty="0"/>
              <a:t> </a:t>
            </a:r>
            <a:r>
              <a:rPr lang="it-IT" dirty="0" err="1"/>
              <a:t>that</a:t>
            </a:r>
            <a:r>
              <a:rPr lang="it-IT" dirty="0"/>
              <a:t>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asymptotically</a:t>
            </a:r>
            <a:r>
              <a:rPr lang="it-IT" dirty="0"/>
              <a:t> </a:t>
            </a:r>
            <a:r>
              <a:rPr lang="it-IT" dirty="0" err="1"/>
              <a:t>polynomial</a:t>
            </a:r>
            <a:r>
              <a:rPr lang="it-IT" dirty="0"/>
              <a:t> in the </a:t>
            </a:r>
            <a:r>
              <a:rPr lang="it-IT" dirty="0" err="1"/>
              <a:t>worst</a:t>
            </a:r>
            <a:r>
              <a:rPr lang="it-IT" dirty="0"/>
              <a:t> case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CEEAAF9B-E951-566C-3A81-1C3B145A97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it-IT" altLang="it-IT"/>
              <a:t>Introduction to KR</a:t>
            </a:r>
            <a:endParaRPr lang="it-IT" alt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58345DCA-2908-684A-C96E-677028DD8B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KNOWLEDGE REPRESENTATION</a:t>
            </a:r>
            <a:endParaRPr lang="en-US" dirty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5A5C9CDD-4CBE-1176-A506-801EB69C9B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CD341D-7438-4FA4-973F-6F9EECBD14B9}" type="slidenum">
              <a:rPr lang="it-IT" altLang="it-IT" smtClean="0"/>
              <a:pPr>
                <a:defRPr/>
              </a:pPr>
              <a:t>43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403014210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F1AC4B4-0405-C750-CB5D-4A4A0FA723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Hardness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24ED7B02-6C91-F4DA-6498-0EFE3B5342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/>
              <a:t>A </a:t>
            </a:r>
            <a:r>
              <a:rPr lang="it-IT" dirty="0" err="1"/>
              <a:t>problem</a:t>
            </a:r>
            <a:r>
              <a:rPr lang="it-IT" dirty="0"/>
              <a:t> </a:t>
            </a:r>
            <a:r>
              <a:rPr lang="it-IT" dirty="0" err="1"/>
              <a:t>P</a:t>
            </a:r>
            <a:r>
              <a:rPr lang="it-IT" dirty="0"/>
              <a:t> </a:t>
            </a:r>
            <a:r>
              <a:rPr lang="it-IT" dirty="0" err="1"/>
              <a:t>is</a:t>
            </a:r>
            <a:r>
              <a:rPr lang="it-IT" dirty="0"/>
              <a:t> C-hard for a class C </a:t>
            </a:r>
            <a:r>
              <a:rPr lang="it-IT" dirty="0" err="1"/>
              <a:t>when</a:t>
            </a:r>
            <a:r>
              <a:rPr lang="it-IT" dirty="0"/>
              <a:t> </a:t>
            </a:r>
            <a:r>
              <a:rPr lang="it-IT" dirty="0" err="1"/>
              <a:t>it</a:t>
            </a:r>
            <a:r>
              <a:rPr lang="it-IT" dirty="0"/>
              <a:t> can be </a:t>
            </a:r>
            <a:r>
              <a:rPr lang="it-IT" dirty="0" err="1"/>
              <a:t>transformed</a:t>
            </a:r>
            <a:r>
              <a:rPr lang="it-IT" dirty="0"/>
              <a:t> </a:t>
            </a:r>
            <a:r>
              <a:rPr lang="it-IT" dirty="0" err="1"/>
              <a:t>into</a:t>
            </a:r>
            <a:r>
              <a:rPr lang="it-IT" dirty="0"/>
              <a:t> a </a:t>
            </a:r>
            <a:r>
              <a:rPr lang="it-IT" dirty="0" err="1"/>
              <a:t>problem</a:t>
            </a:r>
            <a:r>
              <a:rPr lang="it-IT" dirty="0"/>
              <a:t> of the class C in </a:t>
            </a:r>
            <a:r>
              <a:rPr lang="it-IT" dirty="0" err="1"/>
              <a:t>polynomial</a:t>
            </a:r>
            <a:r>
              <a:rPr lang="it-IT" dirty="0"/>
              <a:t> time</a:t>
            </a:r>
          </a:p>
          <a:p>
            <a:r>
              <a:rPr lang="it-IT" dirty="0"/>
              <a:t>A </a:t>
            </a:r>
            <a:r>
              <a:rPr lang="it-IT" dirty="0" err="1"/>
              <a:t>decision</a:t>
            </a:r>
            <a:r>
              <a:rPr lang="it-IT" dirty="0"/>
              <a:t> </a:t>
            </a:r>
            <a:r>
              <a:rPr lang="it-IT" dirty="0" err="1"/>
              <a:t>problem</a:t>
            </a:r>
            <a:r>
              <a:rPr lang="it-IT" dirty="0"/>
              <a:t> </a:t>
            </a:r>
            <a:r>
              <a:rPr lang="it-IT" dirty="0" err="1"/>
              <a:t>is</a:t>
            </a:r>
            <a:r>
              <a:rPr lang="it-IT" dirty="0"/>
              <a:t> C-complete for a class C </a:t>
            </a:r>
            <a:r>
              <a:rPr lang="it-IT" dirty="0" err="1"/>
              <a:t>when</a:t>
            </a:r>
            <a:r>
              <a:rPr lang="it-IT" dirty="0"/>
              <a:t> </a:t>
            </a:r>
            <a:r>
              <a:rPr lang="it-IT" dirty="0" err="1"/>
              <a:t>it</a:t>
            </a:r>
            <a:r>
              <a:rPr lang="it-IT" dirty="0"/>
              <a:t> </a:t>
            </a:r>
            <a:r>
              <a:rPr lang="it-IT" dirty="0" err="1"/>
              <a:t>is</a:t>
            </a:r>
            <a:r>
              <a:rPr lang="it-IT" dirty="0"/>
              <a:t> in the class C and </a:t>
            </a:r>
            <a:r>
              <a:rPr lang="it-IT" dirty="0" err="1"/>
              <a:t>it</a:t>
            </a:r>
            <a:r>
              <a:rPr lang="it-IT" dirty="0"/>
              <a:t> </a:t>
            </a:r>
            <a:r>
              <a:rPr lang="it-IT" dirty="0" err="1"/>
              <a:t>is</a:t>
            </a:r>
            <a:r>
              <a:rPr lang="it-IT" dirty="0"/>
              <a:t> C-hard 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9FE59A4C-C958-F326-470E-8C4483DC79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it-IT" altLang="it-IT"/>
              <a:t>Introduction to KR</a:t>
            </a:r>
            <a:endParaRPr lang="it-IT" alt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EDF1FB49-3F81-30B3-A11A-D72747C569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KNOWLEDGE REPRESENTATION</a:t>
            </a:r>
            <a:endParaRPr lang="en-US" dirty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F76D9295-02B3-FBB4-3B70-540E937DF8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CD341D-7438-4FA4-973F-6F9EECBD14B9}" type="slidenum">
              <a:rPr lang="it-IT" altLang="it-IT" smtClean="0"/>
              <a:pPr>
                <a:defRPr/>
              </a:pPr>
              <a:t>44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140597136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EBFAECA-EFC9-C209-58DB-65491617FE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Relevant</a:t>
            </a:r>
            <a:r>
              <a:rPr lang="it-IT" dirty="0"/>
              <a:t> classes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A4FB3508-92E2-7FA3-1316-2EF8CDD73E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sz="2400" dirty="0" err="1"/>
              <a:t>P</a:t>
            </a:r>
            <a:r>
              <a:rPr lang="it-IT" sz="2400" dirty="0"/>
              <a:t> </a:t>
            </a:r>
            <a:r>
              <a:rPr lang="it-IT" sz="2400" dirty="0" err="1"/>
              <a:t>problems</a:t>
            </a:r>
            <a:r>
              <a:rPr lang="it-IT" sz="2400" dirty="0"/>
              <a:t>: </a:t>
            </a:r>
            <a:r>
              <a:rPr lang="it-IT" sz="2400" dirty="0" err="1"/>
              <a:t>problems</a:t>
            </a:r>
            <a:r>
              <a:rPr lang="it-IT" sz="2400" dirty="0"/>
              <a:t> </a:t>
            </a:r>
            <a:r>
              <a:rPr lang="it-IT" sz="2400" dirty="0" err="1"/>
              <a:t>that</a:t>
            </a:r>
            <a:r>
              <a:rPr lang="it-IT" sz="2400" dirty="0"/>
              <a:t> can be </a:t>
            </a:r>
            <a:r>
              <a:rPr lang="it-IT" sz="2400" dirty="0" err="1"/>
              <a:t>solved</a:t>
            </a:r>
            <a:r>
              <a:rPr lang="it-IT" sz="2400" dirty="0"/>
              <a:t> in </a:t>
            </a:r>
            <a:r>
              <a:rPr lang="it-IT" sz="2400" dirty="0" err="1"/>
              <a:t>polynomial</a:t>
            </a:r>
            <a:r>
              <a:rPr lang="it-IT" sz="2400" dirty="0"/>
              <a:t> time and </a:t>
            </a:r>
            <a:r>
              <a:rPr lang="it-IT" sz="2400" dirty="0" err="1"/>
              <a:t>space</a:t>
            </a:r>
            <a:r>
              <a:rPr lang="it-IT" sz="2400" dirty="0"/>
              <a:t> on </a:t>
            </a:r>
            <a:r>
              <a:rPr lang="it-IT" sz="2400" dirty="0" err="1"/>
              <a:t>deterministic</a:t>
            </a:r>
            <a:r>
              <a:rPr lang="it-IT" sz="2400" dirty="0"/>
              <a:t> machines</a:t>
            </a:r>
          </a:p>
          <a:p>
            <a:r>
              <a:rPr lang="it-IT" sz="2400" dirty="0"/>
              <a:t>NP-complete </a:t>
            </a:r>
            <a:r>
              <a:rPr lang="it-IT" sz="2400" dirty="0" err="1"/>
              <a:t>decision</a:t>
            </a:r>
            <a:r>
              <a:rPr lang="it-IT" sz="2400" dirty="0"/>
              <a:t> </a:t>
            </a:r>
            <a:r>
              <a:rPr lang="it-IT" sz="2400" dirty="0" err="1"/>
              <a:t>problems</a:t>
            </a:r>
            <a:r>
              <a:rPr lang="it-IT" sz="2400" dirty="0"/>
              <a:t>: </a:t>
            </a:r>
            <a:r>
              <a:rPr lang="it-IT" sz="2400" dirty="0" err="1"/>
              <a:t>problems</a:t>
            </a:r>
            <a:r>
              <a:rPr lang="it-IT" sz="2400" dirty="0"/>
              <a:t> </a:t>
            </a:r>
            <a:r>
              <a:rPr lang="it-IT" sz="2400" dirty="0" err="1"/>
              <a:t>that</a:t>
            </a:r>
            <a:r>
              <a:rPr lang="it-IT" sz="2400" dirty="0"/>
              <a:t> can be </a:t>
            </a:r>
            <a:r>
              <a:rPr lang="it-IT" sz="2400" dirty="0" err="1"/>
              <a:t>solved</a:t>
            </a:r>
            <a:r>
              <a:rPr lang="it-IT" sz="2400" dirty="0"/>
              <a:t> </a:t>
            </a:r>
            <a:r>
              <a:rPr lang="it-IT" sz="2400" dirty="0" err="1"/>
              <a:t>polynomially</a:t>
            </a:r>
            <a:r>
              <a:rPr lang="it-IT" sz="2400" dirty="0"/>
              <a:t> on </a:t>
            </a:r>
            <a:r>
              <a:rPr lang="it-IT" sz="2400" dirty="0" err="1"/>
              <a:t>nondeterministic</a:t>
            </a:r>
            <a:r>
              <a:rPr lang="it-IT" sz="2400" dirty="0"/>
              <a:t> machines and are NP-hard</a:t>
            </a:r>
          </a:p>
          <a:p>
            <a:r>
              <a:rPr lang="it-IT" sz="2400" dirty="0" err="1"/>
              <a:t>Pspace</a:t>
            </a:r>
            <a:r>
              <a:rPr lang="it-IT" sz="2400" dirty="0"/>
              <a:t>-complete </a:t>
            </a:r>
            <a:r>
              <a:rPr lang="it-IT" sz="2400" dirty="0" err="1"/>
              <a:t>decision</a:t>
            </a:r>
            <a:r>
              <a:rPr lang="it-IT" sz="2400" dirty="0"/>
              <a:t> </a:t>
            </a:r>
            <a:r>
              <a:rPr lang="it-IT" sz="2400" dirty="0" err="1"/>
              <a:t>problems</a:t>
            </a:r>
            <a:r>
              <a:rPr lang="it-IT" sz="2400" dirty="0"/>
              <a:t>: </a:t>
            </a:r>
            <a:r>
              <a:rPr lang="it-IT" sz="2400" dirty="0" err="1"/>
              <a:t>problems</a:t>
            </a:r>
            <a:r>
              <a:rPr lang="it-IT" sz="2400" dirty="0"/>
              <a:t> </a:t>
            </a:r>
            <a:r>
              <a:rPr lang="it-IT" sz="2400" dirty="0" err="1"/>
              <a:t>that</a:t>
            </a:r>
            <a:r>
              <a:rPr lang="it-IT" sz="2400" dirty="0"/>
              <a:t> can be </a:t>
            </a:r>
            <a:r>
              <a:rPr lang="it-IT" sz="2400" dirty="0" err="1"/>
              <a:t>solved</a:t>
            </a:r>
            <a:r>
              <a:rPr lang="it-IT" sz="2400" dirty="0"/>
              <a:t> in </a:t>
            </a:r>
            <a:r>
              <a:rPr lang="it-IT" sz="2400" dirty="0" err="1"/>
              <a:t>polynomial</a:t>
            </a:r>
            <a:r>
              <a:rPr lang="it-IT" sz="2400" dirty="0"/>
              <a:t> </a:t>
            </a:r>
            <a:r>
              <a:rPr lang="it-IT" sz="2400" dirty="0" err="1"/>
              <a:t>space</a:t>
            </a:r>
            <a:r>
              <a:rPr lang="it-IT" sz="2400" dirty="0"/>
              <a:t> on </a:t>
            </a:r>
            <a:r>
              <a:rPr lang="it-IT" sz="2400" dirty="0" err="1"/>
              <a:t>nondeterministic</a:t>
            </a:r>
            <a:r>
              <a:rPr lang="it-IT" sz="2400" dirty="0"/>
              <a:t> machines and </a:t>
            </a:r>
            <a:r>
              <a:rPr lang="it-IT" sz="2400" dirty="0" err="1"/>
              <a:t>Pspace</a:t>
            </a:r>
            <a:r>
              <a:rPr lang="it-IT" sz="2400" dirty="0"/>
              <a:t>-hard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A0AC7961-3361-451A-467A-3280EEAB38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it-IT" altLang="it-IT"/>
              <a:t>Introduction to KR</a:t>
            </a:r>
            <a:endParaRPr lang="it-IT" alt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13729BEB-61C6-AECC-0637-A3BF146C8F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KNOWLEDGE REPRESENTATION</a:t>
            </a:r>
            <a:endParaRPr lang="en-US" dirty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F081C7E9-D536-3DB2-5D84-898626913D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CD341D-7438-4FA4-973F-6F9EECBD14B9}" type="slidenum">
              <a:rPr lang="it-IT" altLang="it-IT" smtClean="0"/>
              <a:pPr>
                <a:defRPr/>
              </a:pPr>
              <a:t>45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307108148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0D427D4-23A9-DB84-DD64-60B291A790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Relevant</a:t>
            </a:r>
            <a:r>
              <a:rPr lang="it-IT" dirty="0"/>
              <a:t> classes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0AC736B-6CE1-F6F7-B406-306304E30A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 err="1"/>
              <a:t>Exptime</a:t>
            </a:r>
            <a:r>
              <a:rPr lang="it-IT" dirty="0"/>
              <a:t>-complete </a:t>
            </a:r>
            <a:r>
              <a:rPr lang="it-IT" dirty="0" err="1"/>
              <a:t>problems</a:t>
            </a:r>
            <a:r>
              <a:rPr lang="it-IT" dirty="0"/>
              <a:t>: </a:t>
            </a:r>
            <a:r>
              <a:rPr lang="it-IT" dirty="0" err="1"/>
              <a:t>problems</a:t>
            </a:r>
            <a:r>
              <a:rPr lang="it-IT" dirty="0"/>
              <a:t> </a:t>
            </a:r>
            <a:r>
              <a:rPr lang="it-IT" dirty="0" err="1"/>
              <a:t>that</a:t>
            </a:r>
            <a:r>
              <a:rPr lang="it-IT" dirty="0"/>
              <a:t> can be </a:t>
            </a:r>
            <a:r>
              <a:rPr lang="it-IT" dirty="0" err="1"/>
              <a:t>solved</a:t>
            </a:r>
            <a:r>
              <a:rPr lang="it-IT" dirty="0"/>
              <a:t> in </a:t>
            </a:r>
            <a:r>
              <a:rPr lang="it-IT" dirty="0" err="1"/>
              <a:t>exponential</a:t>
            </a:r>
            <a:r>
              <a:rPr lang="it-IT" dirty="0"/>
              <a:t> time on </a:t>
            </a:r>
            <a:r>
              <a:rPr lang="it-IT" dirty="0" err="1"/>
              <a:t>deterministic</a:t>
            </a:r>
            <a:r>
              <a:rPr lang="it-IT" dirty="0"/>
              <a:t> machines and </a:t>
            </a:r>
            <a:r>
              <a:rPr lang="it-IT" dirty="0" err="1"/>
              <a:t>Exptime</a:t>
            </a:r>
            <a:r>
              <a:rPr lang="it-IT" dirty="0"/>
              <a:t>-hard</a:t>
            </a:r>
          </a:p>
          <a:p>
            <a:r>
              <a:rPr lang="it-IT" dirty="0" err="1"/>
              <a:t>NExptime</a:t>
            </a:r>
            <a:r>
              <a:rPr lang="it-IT" dirty="0"/>
              <a:t>-complete </a:t>
            </a:r>
            <a:r>
              <a:rPr lang="it-IT" dirty="0" err="1"/>
              <a:t>problems</a:t>
            </a:r>
            <a:r>
              <a:rPr lang="it-IT" dirty="0"/>
              <a:t>: </a:t>
            </a:r>
            <a:r>
              <a:rPr lang="it-IT" dirty="0" err="1"/>
              <a:t>problems</a:t>
            </a:r>
            <a:r>
              <a:rPr lang="it-IT" dirty="0"/>
              <a:t> </a:t>
            </a:r>
            <a:r>
              <a:rPr lang="it-IT" dirty="0" err="1"/>
              <a:t>that</a:t>
            </a:r>
            <a:r>
              <a:rPr lang="it-IT" dirty="0"/>
              <a:t> can be </a:t>
            </a:r>
            <a:r>
              <a:rPr lang="it-IT" dirty="0" err="1"/>
              <a:t>solved</a:t>
            </a:r>
            <a:r>
              <a:rPr lang="it-IT" dirty="0"/>
              <a:t> in </a:t>
            </a:r>
            <a:r>
              <a:rPr lang="it-IT" dirty="0" err="1"/>
              <a:t>exponential</a:t>
            </a:r>
            <a:r>
              <a:rPr lang="it-IT" dirty="0"/>
              <a:t> time on </a:t>
            </a:r>
            <a:r>
              <a:rPr lang="it-IT" dirty="0" err="1"/>
              <a:t>nondeterministic</a:t>
            </a:r>
            <a:r>
              <a:rPr lang="it-IT" dirty="0"/>
              <a:t> machines </a:t>
            </a:r>
            <a:r>
              <a:rPr lang="it-IT" dirty="0" err="1"/>
              <a:t>Nexptime</a:t>
            </a:r>
            <a:r>
              <a:rPr lang="it-IT" dirty="0"/>
              <a:t>-hard</a:t>
            </a:r>
          </a:p>
          <a:p>
            <a:endParaRPr lang="it-IT" dirty="0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10F004C8-7FF3-1D46-8DF4-984246E98D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it-IT" altLang="it-IT"/>
              <a:t>Introduction to KR</a:t>
            </a:r>
            <a:endParaRPr lang="it-IT" alt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71FB7CC0-FBAC-7EF8-ED29-FC00C14C34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KNOWLEDGE REPRESENTATION</a:t>
            </a:r>
            <a:endParaRPr lang="en-US" dirty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4A0C23AB-32DC-B5EE-2629-941445DC8F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CD341D-7438-4FA4-973F-6F9EECBD14B9}" type="slidenum">
              <a:rPr lang="it-IT" altLang="it-IT" smtClean="0"/>
              <a:pPr>
                <a:defRPr/>
              </a:pPr>
              <a:t>46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4255284551"/>
      </p:ext>
    </p:extLst>
  </p:cSld>
  <p:clrMapOvr>
    <a:masterClrMapping/>
  </p:clrMapOvr>
</p:sld>
</file>

<file path=ppt/theme/theme1.xml><?xml version="1.0" encoding="utf-8"?>
<a:theme xmlns:a="http://schemas.openxmlformats.org/drawingml/2006/main" name="ESD_new_GP">
  <a:themeElements>
    <a:clrScheme name="Impostazioni personalizzate 3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963513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resentazione standard1" id="{8235C985-55F2-4F87-A977-D8A70953F925}" vid="{F161873E-82B3-403B-879B-B3C589C61F8F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ESD_new_GP</Template>
  <TotalTime>57653</TotalTime>
  <Words>1980</Words>
  <Application>Microsoft Macintosh PowerPoint</Application>
  <PresentationFormat>Presentazione su schermo (16:9)</PresentationFormat>
  <Paragraphs>329</Paragraphs>
  <Slides>46</Slides>
  <Notes>1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4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46</vt:i4>
      </vt:variant>
    </vt:vector>
  </HeadingPairs>
  <TitlesOfParts>
    <vt:vector size="51" baseType="lpstr">
      <vt:lpstr>Apple Chancery</vt:lpstr>
      <vt:lpstr>Arial</vt:lpstr>
      <vt:lpstr>Calibri</vt:lpstr>
      <vt:lpstr>Tahoma</vt:lpstr>
      <vt:lpstr>ESD_new_GP</vt:lpstr>
      <vt:lpstr>Unit 2: Reasoning in AL and ALN</vt:lpstr>
      <vt:lpstr>Computing subsumption</vt:lpstr>
      <vt:lpstr>AGENDA</vt:lpstr>
      <vt:lpstr>Expression tasks</vt:lpstr>
      <vt:lpstr>General equivalence notion</vt:lpstr>
      <vt:lpstr>Subsumption</vt:lpstr>
      <vt:lpstr>General equivalences revisited</vt:lpstr>
      <vt:lpstr>General equivalences revisited (ctd)</vt:lpstr>
      <vt:lpstr>General issues</vt:lpstr>
      <vt:lpstr>Exploration</vt:lpstr>
      <vt:lpstr>Thoughts on structural complexity</vt:lpstr>
      <vt:lpstr>…however</vt:lpstr>
      <vt:lpstr>Moreover…</vt:lpstr>
      <vt:lpstr>Structural subsumption</vt:lpstr>
      <vt:lpstr>Principles of SSDL (1)</vt:lpstr>
      <vt:lpstr>Method</vt:lpstr>
      <vt:lpstr>EXAMPLE</vt:lpstr>
      <vt:lpstr>Principles of SSDL (2)</vt:lpstr>
      <vt:lpstr>Principles of SSDL (3)</vt:lpstr>
      <vt:lpstr>Principles of SSDL (4)</vt:lpstr>
      <vt:lpstr>NUMERALS</vt:lpstr>
      <vt:lpstr>SEMANTICS OF NUMERALS</vt:lpstr>
      <vt:lpstr>REWRITING RULES FOR NUMERALS</vt:lpstr>
      <vt:lpstr>EXAMPLE</vt:lpstr>
      <vt:lpstr>SUBSUMPTION</vt:lpstr>
      <vt:lpstr>EXAMPLE</vt:lpstr>
      <vt:lpstr>EXISTENTIAL-NUMERAL INTERFERENCE</vt:lpstr>
      <vt:lpstr>0-numerals</vt:lpstr>
      <vt:lpstr>Short digression on complexity</vt:lpstr>
      <vt:lpstr>Problem types</vt:lpstr>
      <vt:lpstr>Examples</vt:lpstr>
      <vt:lpstr>Equivalences</vt:lpstr>
      <vt:lpstr>Methods</vt:lpstr>
      <vt:lpstr>Computational complexity</vt:lpstr>
      <vt:lpstr>Algorithmic complexity</vt:lpstr>
      <vt:lpstr>Deterministic vs nondeterministic</vt:lpstr>
      <vt:lpstr>Algorithmic complexity</vt:lpstr>
      <vt:lpstr>Complexity classes</vt:lpstr>
      <vt:lpstr>Problems and instances</vt:lpstr>
      <vt:lpstr>Asymptotic complexity</vt:lpstr>
      <vt:lpstr>Asymptotic complexity – lower and upper bounds</vt:lpstr>
      <vt:lpstr>Complexity classes</vt:lpstr>
      <vt:lpstr>Feasibility</vt:lpstr>
      <vt:lpstr>Hardness</vt:lpstr>
      <vt:lpstr>Relevant classes</vt:lpstr>
      <vt:lpstr>Relevant classes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Presentazione standard di PowerPoint</dc:title>
  <dc:creator>Stefano Spellini</dc:creator>
  <cp:lastModifiedBy>Matteo Cristani</cp:lastModifiedBy>
  <cp:revision>222</cp:revision>
  <cp:lastPrinted>2024-03-10T10:34:21Z</cp:lastPrinted>
  <dcterms:created xsi:type="dcterms:W3CDTF">2019-02-11T14:27:15Z</dcterms:created>
  <dcterms:modified xsi:type="dcterms:W3CDTF">2025-08-17T06:45:08Z</dcterms:modified>
</cp:coreProperties>
</file>