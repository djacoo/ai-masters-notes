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9" r:id="rId1"/>
  </p:sldMasterIdLst>
  <p:notesMasterIdLst>
    <p:notesMasterId r:id="rId22"/>
  </p:notesMasterIdLst>
  <p:handoutMasterIdLst>
    <p:handoutMasterId r:id="rId23"/>
  </p:handoutMasterIdLst>
  <p:sldIdLst>
    <p:sldId id="257" r:id="rId2"/>
    <p:sldId id="259" r:id="rId3"/>
    <p:sldId id="265" r:id="rId4"/>
    <p:sldId id="260" r:id="rId5"/>
    <p:sldId id="261" r:id="rId6"/>
    <p:sldId id="262" r:id="rId7"/>
    <p:sldId id="263" r:id="rId8"/>
    <p:sldId id="264" r:id="rId9"/>
    <p:sldId id="272" r:id="rId10"/>
    <p:sldId id="273" r:id="rId11"/>
    <p:sldId id="276" r:id="rId12"/>
    <p:sldId id="266" r:id="rId13"/>
    <p:sldId id="267" r:id="rId14"/>
    <p:sldId id="274" r:id="rId15"/>
    <p:sldId id="269" r:id="rId16"/>
    <p:sldId id="268" r:id="rId17"/>
    <p:sldId id="270" r:id="rId18"/>
    <p:sldId id="271" r:id="rId19"/>
    <p:sldId id="277" r:id="rId20"/>
    <p:sldId id="275" r:id="rId21"/>
  </p:sldIdLst>
  <p:sldSz cx="9144000" cy="5143500" type="screen16x9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BC78E2-DF3B-4DCE-83BB-1269F2F94E16}">
          <p14:sldIdLst>
            <p14:sldId id="257"/>
            <p14:sldId id="259"/>
            <p14:sldId id="265"/>
            <p14:sldId id="260"/>
            <p14:sldId id="261"/>
            <p14:sldId id="262"/>
            <p14:sldId id="263"/>
            <p14:sldId id="264"/>
            <p14:sldId id="272"/>
            <p14:sldId id="273"/>
            <p14:sldId id="276"/>
            <p14:sldId id="266"/>
            <p14:sldId id="267"/>
            <p14:sldId id="274"/>
            <p14:sldId id="269"/>
            <p14:sldId id="268"/>
            <p14:sldId id="270"/>
            <p14:sldId id="271"/>
            <p14:sldId id="277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tefano" initials="s" lastIdx="2" clrIdx="0"/>
  <p:cmAuthor id="1" name="Matteo Cristani" initials="M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640000"/>
    <a:srgbClr val="8C3836"/>
    <a:srgbClr val="FFFF99"/>
    <a:srgbClr val="AA00AA"/>
    <a:srgbClr val="98BDD6"/>
    <a:srgbClr val="287ECB"/>
    <a:srgbClr val="F0BC51"/>
    <a:srgbClr val="D163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097" autoAdjust="0"/>
    <p:restoredTop sz="86531"/>
  </p:normalViewPr>
  <p:slideViewPr>
    <p:cSldViewPr snapToGrid="0">
      <p:cViewPr varScale="1">
        <p:scale>
          <a:sx n="141" d="100"/>
          <a:sy n="141" d="100"/>
        </p:scale>
        <p:origin x="256" y="176"/>
      </p:cViewPr>
      <p:guideLst>
        <p:guide orient="horz" pos="1620"/>
        <p:guide pos="2880"/>
        <p:guide orient="horz" pos="16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92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84E245-B5A0-47D5-87CC-147578DADA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E7327-C872-472C-88D2-681BC8B0B8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790A485-6416-43AD-8EA8-9AB4021210E8}" type="datetimeFigureOut">
              <a:rPr lang="en-US" altLang="it-IT"/>
              <a:pPr>
                <a:defRPr/>
              </a:pPr>
              <a:t>8/19/25</a:t>
            </a:fld>
            <a:endParaRPr lang="en-US" alt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62B19-2075-46D4-90D4-88B66BAEC4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0A42C-D4BA-4B57-8810-2714EF7E80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04743EB-F053-4EB0-B667-D66F0FE415E3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244690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1CFC63-76EE-4C9F-A897-82314CDCE8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9A7D3CE-DD5A-4884-90F5-F968DA0A72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4804E0D8-8B5E-4615-B9C4-D99DA5FC31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926CD4B-EA52-4A35-ACD1-53E31ED8E8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C34C6D3B-D2DB-4D5F-B47B-BAC5A6830E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A0687926-11A6-4219-AC1F-0E059A65D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15E51E3-9A27-4F9D-92A0-CC2B6D7DC9D8}" type="slidenum">
              <a:rPr lang="nl-NL" altLang="it-IT"/>
              <a:pPr>
                <a:defRPr/>
              </a:pPr>
              <a:t>‹N›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3938765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57EF8F-8361-448B-B33D-B27F754A8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D545CD-AACE-464A-8873-AFDA579DE3B8}" type="slidenum">
              <a:rPr lang="nl-NL" altLang="it-IT">
                <a:latin typeface="Arial" panose="020B0604020202020204" pitchFamily="34" charset="0"/>
              </a:rPr>
              <a:pPr/>
              <a:t>1</a:t>
            </a:fld>
            <a:endParaRPr lang="nl-NL" altLang="it-IT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61A36A-26A4-442B-A193-C48F58FB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046788" cy="3402012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93DB840-CA14-4E5B-BB44-138D926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0225"/>
            <a:ext cx="5026025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047" tIns="38524" rIns="77047" bIns="38524"/>
          <a:lstStyle/>
          <a:p>
            <a:pPr eaLnBrk="1" hangingPunct="1"/>
            <a:endParaRPr lang="en-US" altLang="it-IT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8F5CD9-6EAF-4B8B-9A4D-446D9D82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5EC06-D9EF-421D-B636-55F4AACA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ED50A0-78C5-42A3-8B38-E1A9DBE8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E87F2A-AB2C-4D87-BCA6-9B3A24192F3A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7103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EF3F9C-540B-468D-B525-7A1FFFBD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AC2101-7C3D-43D9-B409-B7ABFD75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01E8D0-7250-4243-89B8-07E48DFA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8585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small" baseline="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FC1CC5-72B4-4175-96AC-0AAB76C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D2EC85-D444-4CAE-8A7C-2318EECB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7C0FDD-1C9E-4F9B-802B-D0D0B25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A0980B-2DE9-40AD-8A4E-40673DB95E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6898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BDFE60E-FCA5-4468-A238-A20DBCFC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C1C83E-6933-48CB-81DB-2D6C24A0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580F37-86A5-4A66-88A3-29B44267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54FAF7-AB3B-4F7E-9E4D-EFD1BDE13684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4396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C22FEF5-9EB2-453F-A5FE-EAB3C53E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A33CE7-8F18-4DB0-B6A3-7B697BF4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F4923DE-6083-4153-995D-8F0374F8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D30E12C-3274-4FAB-BA9C-E68E77B0C14D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1857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01FED8-2700-48C7-87EB-F70A6817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9426F0B-8BC6-4ADE-A8A8-5385F517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582239-C1BB-485A-9FEE-F41A21A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DF7909B-0F24-4DCB-B54E-6ED0CFB1C01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182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1FE9452-6A85-432A-9499-56CE62AA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0F88F0-4AAD-4067-8504-06A96A4C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0A01D4-5A85-4F93-84CF-2B84CC80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D64222-F0E5-4BFA-B141-DC6F71D6256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666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507EE9-0CDC-4148-8A28-DB77BBCD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22D2B5-089D-434E-80AE-5C832BCC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2FBC73-D206-45C1-96E4-53614CD9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476B2D-B94D-4307-9644-89F667858B3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1996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  <a:endParaRPr lang="en-US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0E7B81-0415-45FD-AB81-D333AF2D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E77243-2F71-42BE-B622-2FC4DE67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16188A-68ED-4AC6-B692-6ABAE89F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6B338B3-9BD9-4219-AABA-FCF7A675F8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081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36C99A-F6EA-44E5-B86D-8086FD21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3AB2F-0E00-4C92-A508-186E6FD6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268B54-0662-4EE2-B3E9-264D1DF0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91C6E6-09D2-40BD-91F2-E474F31023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572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144EC7-064D-4629-A13E-BC17C0C7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BA2179-2FC3-4FAD-8BB0-1E9D316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A0186A-B7F0-4F3A-A07F-0F1394DB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7B9D4D-E2B4-4C02-A143-BFB5949180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91095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Solo tito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g object 32"/>
          <p:cNvSpPr/>
          <p:nvPr/>
        </p:nvSpPr>
        <p:spPr>
          <a:xfrm>
            <a:off x="1" y="0"/>
            <a:ext cx="7161195" cy="520956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81" b="0" i="0">
                <a:solidFill>
                  <a:srgbClr val="CC0000"/>
                </a:solidFill>
                <a:latin typeface="LM Sans 12"/>
                <a:cs typeface="LM Sans 12"/>
              </a:defRPr>
            </a:lvl1pPr>
          </a:lstStyle>
          <a:p>
            <a:r>
              <a:rPr lang="it-IT"/>
              <a:t>Fare clic per modificare lo stile del titolo dello schema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0104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Vuo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g object 32"/>
          <p:cNvSpPr/>
          <p:nvPr/>
        </p:nvSpPr>
        <p:spPr>
          <a:xfrm>
            <a:off x="1" y="0"/>
            <a:ext cx="9140221" cy="520956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073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4D53D9-0413-4E98-B30A-0911779B1C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136525"/>
            <a:ext cx="7924800" cy="0"/>
          </a:xfrm>
          <a:prstGeom prst="line">
            <a:avLst/>
          </a:prstGeom>
          <a:noFill/>
          <a:ln w="25400">
            <a:solidFill>
              <a:srgbClr val="953735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" name="Segnaposto titolo 1">
            <a:extLst>
              <a:ext uri="{FF2B5EF4-FFF2-40B4-BE49-F238E27FC236}">
                <a16:creationId xmlns:a16="http://schemas.microsoft.com/office/drawing/2014/main" id="{AA9ADE31-466F-4A6E-B2C5-67CEBCE01D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952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  <a:endParaRPr lang="en-US" altLang="it-IT"/>
          </a:p>
        </p:txBody>
      </p:sp>
      <p:sp>
        <p:nvSpPr>
          <p:cNvPr id="2052" name="Segnaposto testo 2">
            <a:extLst>
              <a:ext uri="{FF2B5EF4-FFF2-40B4-BE49-F238E27FC236}">
                <a16:creationId xmlns:a16="http://schemas.microsoft.com/office/drawing/2014/main" id="{11430D93-9A39-4E38-B62A-1CFA666B5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866775"/>
            <a:ext cx="8229600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  <a:endParaRPr lang="en-US" alt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9039C1-3D31-4618-812B-62486E9A9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  <a:endParaRPr lang="en-US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C481AF-DC48-4A15-B780-A6FE13CE1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15BA29-28F1-45BD-95D4-7D70F8E1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7703C53-5324-49A8-8F9E-1D23D9472D20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43039F-1152-7640-A8B6-3592FA14B4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035975" y="18703"/>
            <a:ext cx="1108025" cy="3920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  <p:sldLayoutId id="2147484049" r:id="rId12"/>
    <p:sldLayoutId id="2147484050" r:id="rId13"/>
  </p:sldLayoutIdLst>
  <p:hf sldNum="0"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80000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5ECE64-F2A7-4B42-9294-67E7C031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128" y="4092351"/>
            <a:ext cx="334803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Computer Science Department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University of Verona - Italy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4E587E-09E1-4E74-AE2B-B98A490615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93291" y="898903"/>
            <a:ext cx="7772400" cy="2088232"/>
          </a:xfrm>
          <a:effectLst>
            <a:outerShdw blurRad="63500" dist="81320" dir="2319588" algn="ctr" rotWithShape="0">
              <a:schemeClr val="bg2">
                <a:alpha val="74997"/>
              </a:schemeClr>
            </a:outerShdw>
          </a:effectLst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>
                <a:ea typeface="+mj-ea"/>
                <a:cs typeface="+mj-cs"/>
              </a:rPr>
              <a:t>T-BOX, A-BOX and the like</a:t>
            </a:r>
          </a:p>
        </p:txBody>
      </p:sp>
      <p:pic>
        <p:nvPicPr>
          <p:cNvPr id="28677" name="Immagine 25" descr="univr-color.gif">
            <a:extLst>
              <a:ext uri="{FF2B5EF4-FFF2-40B4-BE49-F238E27FC236}">
                <a16:creationId xmlns:a16="http://schemas.microsoft.com/office/drawing/2014/main" id="{0F2A3EAB-47C4-4463-9952-A31D235A5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141" y="3805014"/>
            <a:ext cx="10985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CasellaDiTesto 1">
            <a:extLst>
              <a:ext uri="{FF2B5EF4-FFF2-40B4-BE49-F238E27FC236}">
                <a16:creationId xmlns:a16="http://schemas.microsoft.com/office/drawing/2014/main" id="{7FE76117-C115-45E9-82F7-562E82BF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200818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it-IT" sz="1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28D33F6B-29C8-D2C8-B34C-29DE5814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architecture</a:t>
            </a:r>
            <a:r>
              <a:rPr lang="it-IT" dirty="0"/>
              <a:t> of a DL system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53A3EC8-CFB8-B8F5-F659-4A8187490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B593784-3D5A-BE09-FE71-C6B21FB0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47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BA32E76-CE78-CF2A-A39C-EE3A0DDCD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T-box and A-box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474DD57-8AA9-21C4-64BD-560578F30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KR</a:t>
            </a:r>
          </a:p>
        </p:txBody>
      </p:sp>
      <p:pic>
        <p:nvPicPr>
          <p:cNvPr id="7" name="Segnaposto contenuto 4">
            <a:extLst>
              <a:ext uri="{FF2B5EF4-FFF2-40B4-BE49-F238E27FC236}">
                <a16:creationId xmlns:a16="http://schemas.microsoft.com/office/drawing/2014/main" id="{50FB6581-ABBD-5BF7-295B-3CE53E4566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9349" y="866775"/>
            <a:ext cx="5685302" cy="372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37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2063387E-C14F-D72C-F148-C3C9E8B99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T-Box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7AA9EBC-18C0-002A-3FE3-383372EBF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terminology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set of </a:t>
            </a:r>
            <a:r>
              <a:rPr lang="it-IT" dirty="0" err="1"/>
              <a:t>definitions</a:t>
            </a:r>
            <a:r>
              <a:rPr lang="it-IT" dirty="0"/>
              <a:t>,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partly</a:t>
            </a:r>
            <a:r>
              <a:rPr lang="it-IT" dirty="0"/>
              <a:t> </a:t>
            </a:r>
            <a:r>
              <a:rPr lang="it-IT" dirty="0" err="1"/>
              <a:t>devised</a:t>
            </a:r>
            <a:r>
              <a:rPr lang="it-IT" dirty="0"/>
              <a:t> </a:t>
            </a:r>
            <a:r>
              <a:rPr lang="it-IT" dirty="0" err="1"/>
              <a:t>above</a:t>
            </a:r>
            <a:r>
              <a:rPr lang="it-IT" dirty="0"/>
              <a:t>;</a:t>
            </a:r>
          </a:p>
          <a:p>
            <a:r>
              <a:rPr lang="it-IT" dirty="0"/>
              <a:t>The T-box </a:t>
            </a:r>
            <a:r>
              <a:rPr lang="it-IT" dirty="0" err="1"/>
              <a:t>is</a:t>
            </a:r>
            <a:r>
              <a:rPr lang="it-IT" dirty="0"/>
              <a:t> the set of </a:t>
            </a:r>
            <a:r>
              <a:rPr lang="it-IT" i="1" dirty="0" err="1"/>
              <a:t>definitions</a:t>
            </a:r>
            <a:r>
              <a:rPr lang="it-IT" dirty="0"/>
              <a:t> and </a:t>
            </a:r>
            <a:r>
              <a:rPr lang="it-IT" dirty="0" err="1"/>
              <a:t>similar</a:t>
            </a:r>
            <a:r>
              <a:rPr lang="it-IT" dirty="0"/>
              <a:t> </a:t>
            </a:r>
            <a:r>
              <a:rPr lang="it-IT" dirty="0" err="1"/>
              <a:t>relationships</a:t>
            </a:r>
            <a:r>
              <a:rPr lang="it-IT" dirty="0"/>
              <a:t> </a:t>
            </a:r>
            <a:r>
              <a:rPr lang="it-IT" dirty="0" err="1"/>
              <a:t>asserted</a:t>
            </a:r>
            <a:r>
              <a:rPr lang="it-IT" dirty="0"/>
              <a:t> </a:t>
            </a:r>
            <a:r>
              <a:rPr lang="it-IT" dirty="0" err="1"/>
              <a:t>upon</a:t>
            </a:r>
            <a:r>
              <a:rPr lang="it-IT" dirty="0"/>
              <a:t> </a:t>
            </a:r>
            <a:r>
              <a:rPr lang="it-IT" i="1" dirty="0"/>
              <a:t>DL </a:t>
            </a:r>
            <a:r>
              <a:rPr lang="it-IT" i="1" dirty="0" err="1"/>
              <a:t>expressions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A2446F1-CFED-B63D-2416-F531CB665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KR</a:t>
            </a:r>
          </a:p>
        </p:txBody>
      </p:sp>
    </p:spTree>
    <p:extLst>
      <p:ext uri="{BB962C8B-B14F-4D97-AF65-F5344CB8AC3E}">
        <p14:creationId xmlns:p14="http://schemas.microsoft.com/office/powerpoint/2010/main" val="3938971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A4DF92-5662-6E44-B2B6-5C8F3880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in a T-box?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6E7657-85BA-7089-CF3E-CBA4E4B56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Proper</a:t>
            </a:r>
            <a:r>
              <a:rPr lang="it-IT" dirty="0"/>
              <a:t> </a:t>
            </a:r>
            <a:r>
              <a:rPr lang="it-IT" dirty="0" err="1"/>
              <a:t>definitions</a:t>
            </a:r>
            <a:endParaRPr lang="it-IT" dirty="0"/>
          </a:p>
          <a:p>
            <a:r>
              <a:rPr lang="it-IT" dirty="0" err="1"/>
              <a:t>Inclusion</a:t>
            </a:r>
            <a:r>
              <a:rPr lang="it-IT" dirty="0"/>
              <a:t> </a:t>
            </a:r>
            <a:r>
              <a:rPr lang="it-IT" dirty="0" err="1"/>
              <a:t>axioms</a:t>
            </a:r>
            <a:endParaRPr lang="it-IT" dirty="0"/>
          </a:p>
          <a:p>
            <a:r>
              <a:rPr lang="it-IT" dirty="0" err="1"/>
              <a:t>Generalised</a:t>
            </a:r>
            <a:r>
              <a:rPr lang="it-IT" dirty="0"/>
              <a:t> </a:t>
            </a:r>
            <a:r>
              <a:rPr lang="it-IT" dirty="0" err="1"/>
              <a:t>Inclusion</a:t>
            </a:r>
            <a:r>
              <a:rPr lang="it-IT" dirty="0"/>
              <a:t> </a:t>
            </a:r>
            <a:r>
              <a:rPr lang="it-IT" dirty="0" err="1"/>
              <a:t>Axioms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77BE1D1-E441-580B-0CBF-D8EA8524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5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349281-9BDF-8685-8C5F-1C4C7E4A0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Inclusion</a:t>
            </a:r>
            <a:r>
              <a:rPr lang="it-IT" dirty="0"/>
              <a:t> </a:t>
            </a:r>
            <a:r>
              <a:rPr lang="it-IT" dirty="0" err="1"/>
              <a:t>axioms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183D4C1-6E78-FADC-4350-1D4F21B5AE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An </a:t>
                </a:r>
                <a:r>
                  <a:rPr lang="it-IT" dirty="0" err="1"/>
                  <a:t>inclusion</a:t>
                </a:r>
                <a:r>
                  <a:rPr lang="it-IT" dirty="0"/>
                  <a:t> </a:t>
                </a:r>
                <a:r>
                  <a:rPr lang="it-IT" dirty="0" err="1"/>
                  <a:t>axiom</a:t>
                </a:r>
                <a:r>
                  <a:rPr lang="it-IT" dirty="0"/>
                  <a:t> </a:t>
                </a:r>
                <a:r>
                  <a:rPr lang="it-IT" dirty="0" err="1"/>
                  <a:t>asserts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</a:t>
                </a:r>
                <a:r>
                  <a:rPr lang="it-IT" dirty="0" err="1"/>
                  <a:t>two</a:t>
                </a:r>
                <a:r>
                  <a:rPr lang="it-IT" dirty="0"/>
                  <a:t> concepts are in the </a:t>
                </a:r>
                <a:r>
                  <a:rPr lang="it-IT" dirty="0" err="1"/>
                  <a:t>subsumption</a:t>
                </a:r>
                <a:r>
                  <a:rPr lang="it-IT" dirty="0"/>
                  <a:t> relation</a:t>
                </a:r>
              </a:p>
              <a:p>
                <a:pPr marL="0" indent="0">
                  <a:buNone/>
                </a:pPr>
                <a:r>
                  <a:rPr lang="it-IT" dirty="0"/>
                  <a:t>					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⊑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	</a:t>
                </a:r>
                <a:r>
                  <a:rPr lang="it-IT" dirty="0" err="1"/>
                  <a:t>where</a:t>
                </a:r>
                <a:r>
                  <a:rPr lang="it-IT" dirty="0"/>
                  <a:t> </a:t>
                </a:r>
                <a:r>
                  <a:rPr lang="it-IT" dirty="0" err="1"/>
                  <a:t>both</a:t>
                </a:r>
                <a:r>
                  <a:rPr lang="it-IT" dirty="0"/>
                  <a:t> C and D are primitive concepts in a </a:t>
                </a:r>
                <a:r>
                  <a:rPr lang="it-IT" dirty="0" err="1"/>
                  <a:t>terminology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183D4C1-6E78-FADC-4350-1D4F21B5AE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 r="-13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4D23563-B4FC-A317-11D5-4B02E5B86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47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660A3A-7A49-BAAF-F7FB-2EBE89F3E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Generalized</a:t>
            </a:r>
            <a:r>
              <a:rPr lang="it-IT" dirty="0"/>
              <a:t> </a:t>
            </a:r>
            <a:r>
              <a:rPr lang="it-IT" dirty="0" err="1"/>
              <a:t>inclusion</a:t>
            </a:r>
            <a:r>
              <a:rPr lang="it-IT" dirty="0"/>
              <a:t> </a:t>
            </a:r>
            <a:r>
              <a:rPr lang="it-IT" dirty="0" err="1"/>
              <a:t>axioms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7174274-1409-2B14-779E-F6CCAA843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A </a:t>
                </a:r>
                <a:r>
                  <a:rPr lang="it-IT" dirty="0" err="1"/>
                  <a:t>generalized</a:t>
                </a:r>
                <a:r>
                  <a:rPr lang="it-IT" dirty="0"/>
                  <a:t> </a:t>
                </a:r>
                <a:r>
                  <a:rPr lang="it-IT" dirty="0" err="1"/>
                  <a:t>inclusion</a:t>
                </a:r>
                <a:r>
                  <a:rPr lang="it-IT" dirty="0"/>
                  <a:t> </a:t>
                </a:r>
                <a:r>
                  <a:rPr lang="it-IT" dirty="0" err="1"/>
                  <a:t>axiom</a:t>
                </a:r>
                <a:r>
                  <a:rPr lang="it-IT" dirty="0"/>
                  <a:t> </a:t>
                </a:r>
                <a:r>
                  <a:rPr lang="it-IT" dirty="0" err="1"/>
                  <a:t>asserts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</a:t>
                </a:r>
                <a:r>
                  <a:rPr lang="it-IT" dirty="0" err="1"/>
                  <a:t>two</a:t>
                </a:r>
                <a:r>
                  <a:rPr lang="it-IT" dirty="0"/>
                  <a:t> </a:t>
                </a:r>
                <a:r>
                  <a:rPr lang="it-IT" dirty="0" err="1"/>
                  <a:t>expressions</a:t>
                </a:r>
                <a:r>
                  <a:rPr lang="it-IT" dirty="0"/>
                  <a:t> are in the </a:t>
                </a:r>
                <a:r>
                  <a:rPr lang="it-IT" dirty="0" err="1"/>
                  <a:t>subsumption</a:t>
                </a:r>
                <a:r>
                  <a:rPr lang="it-IT" dirty="0"/>
                  <a:t> relation</a:t>
                </a:r>
              </a:p>
              <a:p>
                <a:pPr marL="0" indent="0">
                  <a:buNone/>
                </a:pPr>
                <a:r>
                  <a:rPr lang="it-IT" dirty="0"/>
                  <a:t>					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⊑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	</a:t>
                </a:r>
                <a:r>
                  <a:rPr lang="it-IT" dirty="0" err="1"/>
                  <a:t>where</a:t>
                </a:r>
                <a:r>
                  <a:rPr lang="it-IT" dirty="0"/>
                  <a:t> </a:t>
                </a:r>
                <a:r>
                  <a:rPr lang="it-IT" dirty="0" err="1"/>
                  <a:t>both</a:t>
                </a:r>
                <a:r>
                  <a:rPr lang="it-IT" dirty="0"/>
                  <a:t> C and D are </a:t>
                </a:r>
                <a:r>
                  <a:rPr lang="it-IT" dirty="0" err="1"/>
                  <a:t>expressions</a:t>
                </a:r>
                <a:r>
                  <a:rPr lang="it-IT" dirty="0"/>
                  <a:t> of  a 	</a:t>
                </a:r>
                <a:r>
                  <a:rPr lang="it-IT" dirty="0" err="1"/>
                  <a:t>terminology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7174274-1409-2B14-779E-F6CCAA843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 r="-77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A014D75-6994-F756-F7D9-88CD583EB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36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D25D8-0A17-2A08-1E9E-934E07454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Rewriting</a:t>
            </a:r>
            <a:r>
              <a:rPr lang="it-IT" dirty="0"/>
              <a:t> GIA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74C386-5D38-EE96-A27F-1C6E9FF20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definitions</a:t>
            </a:r>
            <a:r>
              <a:rPr lang="it-IT" dirty="0"/>
              <a:t> of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one </a:t>
            </a:r>
            <a:r>
              <a:rPr lang="it-IT" dirty="0" err="1"/>
              <a:t>element</a:t>
            </a:r>
            <a:r>
              <a:rPr lang="it-IT" dirty="0"/>
              <a:t> </a:t>
            </a:r>
            <a:r>
              <a:rPr lang="it-IT" dirty="0" err="1"/>
              <a:t>appearing</a:t>
            </a:r>
            <a:r>
              <a:rPr lang="it-IT" dirty="0"/>
              <a:t> in a GIA,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means</a:t>
            </a:r>
            <a:r>
              <a:rPr lang="it-IT" dirty="0"/>
              <a:t> the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element</a:t>
            </a:r>
            <a:r>
              <a:rPr lang="it-IT" dirty="0"/>
              <a:t> can be </a:t>
            </a:r>
            <a:r>
              <a:rPr lang="it-IT" dirty="0" err="1"/>
              <a:t>rewritten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another</a:t>
            </a:r>
            <a:r>
              <a:rPr lang="it-IT" dirty="0"/>
              <a:t>, </a:t>
            </a:r>
            <a:r>
              <a:rPr lang="it-IT" dirty="0" err="1"/>
              <a:t>equivalent</a:t>
            </a:r>
            <a:r>
              <a:rPr lang="it-IT" dirty="0"/>
              <a:t> GIA, </a:t>
            </a:r>
            <a:r>
              <a:rPr lang="it-IT" dirty="0" err="1"/>
              <a:t>where</a:t>
            </a:r>
            <a:r>
              <a:rPr lang="it-IT" dirty="0"/>
              <a:t> the </a:t>
            </a:r>
            <a:r>
              <a:rPr lang="it-IT" dirty="0" err="1"/>
              <a:t>expression</a:t>
            </a:r>
            <a:r>
              <a:rPr lang="it-IT" dirty="0"/>
              <a:t> </a:t>
            </a:r>
            <a:r>
              <a:rPr lang="it-IT" dirty="0" err="1"/>
              <a:t>appearing</a:t>
            </a:r>
            <a:r>
              <a:rPr lang="it-IT" dirty="0"/>
              <a:t> on the </a:t>
            </a:r>
            <a:r>
              <a:rPr lang="it-IT" dirty="0" err="1"/>
              <a:t>right</a:t>
            </a:r>
            <a:r>
              <a:rPr lang="it-IT" dirty="0"/>
              <a:t> of the </a:t>
            </a:r>
            <a:r>
              <a:rPr lang="it-IT" dirty="0" err="1"/>
              <a:t>definition</a:t>
            </a:r>
            <a:r>
              <a:rPr lang="it-IT" dirty="0"/>
              <a:t> </a:t>
            </a:r>
            <a:r>
              <a:rPr lang="it-IT" dirty="0" err="1"/>
              <a:t>substitues</a:t>
            </a:r>
            <a:r>
              <a:rPr lang="it-IT" dirty="0"/>
              <a:t> the </a:t>
            </a:r>
            <a:r>
              <a:rPr lang="it-IT" dirty="0" err="1"/>
              <a:t>element</a:t>
            </a:r>
            <a:r>
              <a:rPr lang="it-IT" dirty="0"/>
              <a:t> </a:t>
            </a:r>
            <a:r>
              <a:rPr lang="it-IT" dirty="0" err="1"/>
              <a:t>itself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830CC99-CC87-E1AC-F3CE-A690AAC9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970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716AAD-F943-669F-D4BF-68A4C4C1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</a:t>
            </a:r>
            <a:r>
              <a:rPr lang="it-IT" dirty="0" err="1"/>
              <a:t>clashes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E960606-2129-2699-8198-90FE98DABA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Direct IA </a:t>
                </a:r>
                <a:r>
                  <a:rPr lang="it-IT" dirty="0" err="1"/>
                  <a:t>clashes</a:t>
                </a:r>
                <a:endParaRPr lang="it-IT" dirty="0"/>
              </a:p>
              <a:p>
                <a:pPr lvl="1"/>
                <a:r>
                  <a:rPr lang="it-IT" dirty="0" err="1"/>
                  <a:t>When</a:t>
                </a:r>
                <a:r>
                  <a:rPr lang="it-IT" dirty="0"/>
                  <a:t> </a:t>
                </a:r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assert</a:t>
                </a:r>
                <a:r>
                  <a:rPr lang="it-IT" dirty="0"/>
                  <a:t> </a:t>
                </a:r>
                <a:r>
                  <a:rPr lang="it-IT" dirty="0" err="1"/>
                  <a:t>only</a:t>
                </a:r>
                <a:r>
                  <a:rPr lang="it-IT" dirty="0"/>
                  <a:t> </a:t>
                </a:r>
                <a:r>
                  <a:rPr lang="it-IT" i="1" dirty="0" err="1"/>
                  <a:t>weak</a:t>
                </a:r>
                <a:r>
                  <a:rPr lang="it-IT" dirty="0"/>
                  <a:t> </a:t>
                </a:r>
                <a:r>
                  <a:rPr lang="it-IT" dirty="0" err="1"/>
                  <a:t>inclusion</a:t>
                </a:r>
                <a:r>
                  <a:rPr lang="it-IT" dirty="0"/>
                  <a:t> </a:t>
                </a:r>
                <a:r>
                  <a:rPr lang="it-IT" dirty="0" err="1"/>
                  <a:t>axioms</a:t>
                </a:r>
                <a:r>
                  <a:rPr lang="it-IT" dirty="0"/>
                  <a:t>, no </a:t>
                </a:r>
                <a:r>
                  <a:rPr lang="it-IT" dirty="0" err="1"/>
                  <a:t>direct</a:t>
                </a:r>
                <a:r>
                  <a:rPr lang="it-IT" dirty="0"/>
                  <a:t> </a:t>
                </a:r>
                <a:r>
                  <a:rPr lang="it-IT" dirty="0" err="1"/>
                  <a:t>clash</a:t>
                </a:r>
                <a:r>
                  <a:rPr lang="it-IT" dirty="0"/>
                  <a:t> </a:t>
                </a:r>
                <a:r>
                  <a:rPr lang="it-IT" dirty="0" err="1"/>
                  <a:t>appear</a:t>
                </a:r>
                <a:endParaRPr lang="it-IT" dirty="0"/>
              </a:p>
              <a:p>
                <a:pPr lvl="1"/>
                <a:r>
                  <a:rPr lang="it-IT" dirty="0" err="1"/>
                  <a:t>When</a:t>
                </a:r>
                <a:r>
                  <a:rPr lang="it-IT" dirty="0"/>
                  <a:t> </a:t>
                </a:r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assert</a:t>
                </a:r>
                <a:r>
                  <a:rPr lang="it-IT" dirty="0"/>
                  <a:t> </a:t>
                </a:r>
                <a:r>
                  <a:rPr lang="it-IT" i="1" dirty="0"/>
                  <a:t>strong </a:t>
                </a:r>
                <a:r>
                  <a:rPr lang="it-IT" dirty="0" err="1"/>
                  <a:t>axioms</a:t>
                </a:r>
                <a:r>
                  <a:rPr lang="it-IT" dirty="0"/>
                  <a:t>, </a:t>
                </a:r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may</a:t>
                </a:r>
                <a:r>
                  <a:rPr lang="it-IT" dirty="0"/>
                  <a:t> </a:t>
                </a:r>
                <a:r>
                  <a:rPr lang="it-IT" dirty="0" err="1"/>
                  <a:t>direclty</a:t>
                </a:r>
                <a:r>
                  <a:rPr lang="it-IT" dirty="0"/>
                  <a:t> </a:t>
                </a:r>
                <a:r>
                  <a:rPr lang="it-IT" dirty="0" err="1"/>
                  <a:t>clash</a:t>
                </a:r>
                <a:r>
                  <a:rPr lang="it-IT" dirty="0"/>
                  <a:t> by 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⊏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it-IT" dirty="0"/>
                  <a:t> and 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⊏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it-IT" dirty="0"/>
                  <a:t> 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E960606-2129-2699-8198-90FE98DABA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47AB4A2-F12E-025D-7ABE-D2D5F28B9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749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EE5DC7-FDEF-A3E2-0CDF-721A1EEB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</a:t>
            </a:r>
            <a:r>
              <a:rPr lang="it-IT" dirty="0" err="1"/>
              <a:t>clashes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F1CCC86-1CC3-96F3-85BC-BF6954C8BA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Indirect IA </a:t>
                </a:r>
                <a:r>
                  <a:rPr lang="it-IT" dirty="0" err="1"/>
                  <a:t>clashes</a:t>
                </a:r>
                <a:endParaRPr lang="it-IT" dirty="0"/>
              </a:p>
              <a:p>
                <a:pPr lvl="1"/>
                <a:r>
                  <a:rPr lang="it-IT" dirty="0" err="1"/>
                  <a:t>When</a:t>
                </a:r>
                <a:r>
                  <a:rPr lang="it-IT" dirty="0"/>
                  <a:t> </a:t>
                </a:r>
                <a:r>
                  <a:rPr lang="it-IT" dirty="0" err="1"/>
                  <a:t>we</a:t>
                </a:r>
                <a:r>
                  <a:rPr lang="it-IT" dirty="0"/>
                  <a:t> make an </a:t>
                </a:r>
                <a:r>
                  <a:rPr lang="it-IT" dirty="0" err="1"/>
                  <a:t>assertion</a:t>
                </a:r>
                <a:r>
                  <a:rPr lang="it-IT" dirty="0"/>
                  <a:t> of </a:t>
                </a:r>
                <a:r>
                  <a:rPr lang="it-IT" dirty="0" err="1"/>
                  <a:t>inclusion</a:t>
                </a:r>
                <a:r>
                  <a:rPr lang="it-IT" dirty="0"/>
                  <a:t> </a:t>
                </a:r>
                <a:r>
                  <a:rPr lang="it-IT" dirty="0" err="1"/>
                  <a:t>but</a:t>
                </a:r>
                <a:r>
                  <a:rPr lang="it-IT" dirty="0"/>
                  <a:t> one </a:t>
                </a:r>
                <a:r>
                  <a:rPr lang="it-IT" dirty="0" err="1"/>
                  <a:t>axiom</a:t>
                </a:r>
                <a:r>
                  <a:rPr lang="it-IT" dirty="0"/>
                  <a:t> </a:t>
                </a:r>
                <a:r>
                  <a:rPr lang="it-IT" dirty="0" err="1"/>
                  <a:t>at</a:t>
                </a:r>
                <a:r>
                  <a:rPr lang="it-IT" dirty="0"/>
                  <a:t> </a:t>
                </a:r>
                <a:r>
                  <a:rPr lang="it-IT" dirty="0" err="1"/>
                  <a:t>least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incompatible</a:t>
                </a:r>
                <a:r>
                  <a:rPr lang="it-IT" dirty="0"/>
                  <a:t> or with GIA </a:t>
                </a:r>
                <a:r>
                  <a:rPr lang="it-IT" dirty="0" err="1"/>
                  <a:t>when</a:t>
                </a:r>
                <a:r>
                  <a:rPr lang="it-IT" dirty="0"/>
                  <a:t> one </a:t>
                </a:r>
                <a:r>
                  <a:rPr lang="it-IT" dirty="0" err="1"/>
                  <a:t>expression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so</a:t>
                </a:r>
              </a:p>
              <a:p>
                <a:pPr marL="457200" lvl="1" indent="0">
                  <a:buNone/>
                </a:pPr>
                <a:endParaRPr lang="it-IT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⊏¬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⊏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F1CCC86-1CC3-96F3-85BC-BF6954C8BA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E7C80A8-17CF-0322-0946-08116A8E8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9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C72A1F-B210-E2E6-F551-6E8701A9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Note on </a:t>
            </a:r>
            <a:r>
              <a:rPr lang="it-IT" dirty="0" err="1"/>
              <a:t>empty</a:t>
            </a:r>
            <a:r>
              <a:rPr lang="it-IT" dirty="0"/>
              <a:t> </a:t>
            </a:r>
            <a:r>
              <a:rPr lang="it-IT" dirty="0" err="1"/>
              <a:t>definitions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9D076D-4DB0-17D8-5077-57CD7CD17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An </a:t>
            </a:r>
            <a:r>
              <a:rPr lang="it-IT" dirty="0" err="1"/>
              <a:t>empty</a:t>
            </a:r>
            <a:r>
              <a:rPr lang="it-IT" dirty="0"/>
              <a:t> </a:t>
            </a:r>
            <a:r>
              <a:rPr lang="it-IT" dirty="0" err="1"/>
              <a:t>definition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definition</a:t>
            </a:r>
            <a:r>
              <a:rPr lang="it-IT" dirty="0"/>
              <a:t> of a concept </a:t>
            </a:r>
            <a:r>
              <a:rPr lang="it-IT" dirty="0" err="1"/>
              <a:t>as</a:t>
            </a:r>
            <a:r>
              <a:rPr lang="it-IT" dirty="0"/>
              <a:t> the </a:t>
            </a:r>
            <a:r>
              <a:rPr lang="it-IT" dirty="0" err="1"/>
              <a:t>empty</a:t>
            </a:r>
            <a:r>
              <a:rPr lang="it-IT" dirty="0"/>
              <a:t> set</a:t>
            </a:r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NOT a </a:t>
            </a:r>
            <a:r>
              <a:rPr lang="it-IT" dirty="0" err="1"/>
              <a:t>clash</a:t>
            </a:r>
            <a:endParaRPr lang="it-IT" dirty="0"/>
          </a:p>
          <a:p>
            <a:r>
              <a:rPr lang="it-IT" dirty="0"/>
              <a:t>A </a:t>
            </a:r>
            <a:r>
              <a:rPr lang="it-IT" dirty="0" err="1"/>
              <a:t>clash</a:t>
            </a:r>
            <a:r>
              <a:rPr lang="it-IT" dirty="0"/>
              <a:t> </a:t>
            </a:r>
            <a:r>
              <a:rPr lang="it-IT" dirty="0" err="1"/>
              <a:t>occurs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define</a:t>
            </a:r>
            <a:r>
              <a:rPr lang="it-IT" dirty="0"/>
              <a:t> a concept in a way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incompatible</a:t>
            </a:r>
            <a:r>
              <a:rPr lang="it-IT" dirty="0"/>
              <a:t> with the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definitions</a:t>
            </a:r>
            <a:r>
              <a:rPr lang="it-IT" dirty="0"/>
              <a:t>, or </a:t>
            </a:r>
            <a:r>
              <a:rPr lang="it-IT" dirty="0" err="1"/>
              <a:t>inclusion</a:t>
            </a:r>
            <a:r>
              <a:rPr lang="it-IT" dirty="0"/>
              <a:t> </a:t>
            </a:r>
            <a:r>
              <a:rPr lang="it-IT" dirty="0" err="1"/>
              <a:t>axioms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81A95B-42DB-223D-9071-734B73BC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52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7B0D60-FEAB-5C0F-9CEB-33288B99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World </a:t>
            </a:r>
            <a:r>
              <a:rPr lang="it-IT" dirty="0" err="1"/>
              <a:t>descriptions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324781-8225-99CB-0BFD-E7D55DE06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A-box </a:t>
            </a:r>
            <a:r>
              <a:rPr lang="it-IT" dirty="0" err="1"/>
              <a:t>contains</a:t>
            </a:r>
            <a:r>
              <a:rPr lang="it-IT" dirty="0"/>
              <a:t>, </a:t>
            </a:r>
            <a:r>
              <a:rPr lang="it-IT" dirty="0" err="1"/>
              <a:t>instead</a:t>
            </a:r>
            <a:r>
              <a:rPr lang="it-IT" dirty="0"/>
              <a:t>, </a:t>
            </a:r>
            <a:r>
              <a:rPr lang="it-IT" dirty="0" err="1"/>
              <a:t>assertions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the world,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potentially</a:t>
            </a:r>
            <a:r>
              <a:rPr lang="it-IT" dirty="0"/>
              <a:t> </a:t>
            </a:r>
            <a:r>
              <a:rPr lang="it-IT" dirty="0" err="1"/>
              <a:t>related</a:t>
            </a:r>
            <a:r>
              <a:rPr lang="it-IT" dirty="0"/>
              <a:t> to </a:t>
            </a:r>
            <a:r>
              <a:rPr lang="it-IT" dirty="0" err="1"/>
              <a:t>existing</a:t>
            </a:r>
            <a:r>
              <a:rPr lang="it-IT" dirty="0"/>
              <a:t> T-boxes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9BBEC22-12BA-E19A-F5CA-8051CEA66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893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78E57A-E45E-9198-0A9F-35F4D77C9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in an A-box?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D5AB4D-E480-B7A7-CD33-6E3785925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Concept </a:t>
            </a:r>
            <a:r>
              <a:rPr lang="it-IT" dirty="0" err="1"/>
              <a:t>instantiation</a:t>
            </a:r>
            <a:endParaRPr lang="it-IT" dirty="0"/>
          </a:p>
          <a:p>
            <a:r>
              <a:rPr lang="it-IT" dirty="0"/>
              <a:t>Relation </a:t>
            </a:r>
            <a:r>
              <a:rPr lang="it-IT" dirty="0" err="1"/>
              <a:t>instantiation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81FEFE5-FDEC-A547-9462-B6570C68E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848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67D27D-535A-92EB-AAFD-9F57A887A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Instantiation</a:t>
            </a:r>
            <a:r>
              <a:rPr lang="it-IT" dirty="0"/>
              <a:t> </a:t>
            </a:r>
            <a:r>
              <a:rPr lang="it-IT" dirty="0" err="1"/>
              <a:t>clashes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732935-EADF-E35A-D73A-0855A66FB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assert</a:t>
            </a:r>
            <a:r>
              <a:rPr lang="it-IT" dirty="0"/>
              <a:t> one </a:t>
            </a:r>
            <a:r>
              <a:rPr lang="it-IT" dirty="0" err="1"/>
              <a:t>individual</a:t>
            </a:r>
            <a:r>
              <a:rPr lang="it-IT" dirty="0"/>
              <a:t> to </a:t>
            </a:r>
            <a:r>
              <a:rPr lang="it-IT" dirty="0" err="1"/>
              <a:t>belong</a:t>
            </a:r>
            <a:r>
              <a:rPr lang="it-IT" dirty="0"/>
              <a:t> to a class and to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complement</a:t>
            </a:r>
            <a:r>
              <a:rPr lang="it-IT" dirty="0"/>
              <a:t> 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7D75D12-8794-F478-CF14-2A1D0091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886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1E7C4B-3816-BF55-DDD3-216A65AFD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First picture </a:t>
            </a:r>
            <a:r>
              <a:rPr lang="it-IT" dirty="0" err="1"/>
              <a:t>interpreted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9D6AF95-C3C4-D4D9-015D-FCE7F9DC7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F9AAEB0-5307-2594-518B-9D9F15FCC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019" y="904787"/>
            <a:ext cx="5337961" cy="399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29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2139EE1-8CF3-7414-4F38-F2E9E1968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Exntending</a:t>
            </a:r>
            <a:r>
              <a:rPr lang="it-IT" dirty="0"/>
              <a:t> the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202EA07-550F-53CE-BC90-44493A74B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730B003-FAE9-C458-126C-AD7EB7B2D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284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0C0A8699-BC81-FFC6-7451-6986853E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Role</a:t>
            </a:r>
            <a:r>
              <a:rPr lang="it-IT" dirty="0"/>
              <a:t> Box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607D5D-FEDD-1A89-8062-AC0F6CB8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42DA631-F1B9-B1B1-78E4-37F241C9933E}"/>
              </a:ext>
            </a:extLst>
          </p:cNvPr>
          <p:cNvSpPr/>
          <p:nvPr/>
        </p:nvSpPr>
        <p:spPr>
          <a:xfrm>
            <a:off x="3277354" y="1404395"/>
            <a:ext cx="2589292" cy="61431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chemeClr val="tx1"/>
                </a:solidFill>
              </a:rPr>
              <a:t>T-Box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8F37F0F-465C-A20C-00C5-6FF65F3D389C}"/>
              </a:ext>
            </a:extLst>
          </p:cNvPr>
          <p:cNvSpPr/>
          <p:nvPr/>
        </p:nvSpPr>
        <p:spPr>
          <a:xfrm>
            <a:off x="3277354" y="2202703"/>
            <a:ext cx="2589292" cy="61431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chemeClr val="tx1"/>
                </a:solidFill>
              </a:rPr>
              <a:t>R-Box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9EDB760-8985-DEA4-9B62-24FFEE1D5860}"/>
              </a:ext>
            </a:extLst>
          </p:cNvPr>
          <p:cNvSpPr/>
          <p:nvPr/>
        </p:nvSpPr>
        <p:spPr>
          <a:xfrm>
            <a:off x="3277354" y="3001011"/>
            <a:ext cx="2589292" cy="61431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chemeClr val="tx1"/>
                </a:solidFill>
              </a:rPr>
              <a:t>A-Box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85DD97F4-FFF7-692F-437D-F371BA2868D2}"/>
              </a:ext>
            </a:extLst>
          </p:cNvPr>
          <p:cNvSpPr/>
          <p:nvPr/>
        </p:nvSpPr>
        <p:spPr>
          <a:xfrm>
            <a:off x="588474" y="2202703"/>
            <a:ext cx="1593410" cy="59752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Description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err="1">
                <a:solidFill>
                  <a:schemeClr val="tx1"/>
                </a:solidFill>
              </a:rPr>
              <a:t>language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6879BDD3-0864-3031-0AE3-F10E0E25AE2D}"/>
              </a:ext>
            </a:extLst>
          </p:cNvPr>
          <p:cNvSpPr/>
          <p:nvPr/>
        </p:nvSpPr>
        <p:spPr>
          <a:xfrm>
            <a:off x="6962116" y="2219491"/>
            <a:ext cx="1593410" cy="59752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Reasoning</a:t>
            </a:r>
            <a:endParaRPr lang="it-IT" dirty="0">
              <a:solidFill>
                <a:schemeClr val="tx1"/>
              </a:solidFill>
            </a:endParaRPr>
          </a:p>
        </p:txBody>
      </p:sp>
      <p:cxnSp>
        <p:nvCxnSpPr>
          <p:cNvPr id="16" name="Connettore diritto a freccia 15">
            <a:extLst>
              <a:ext uri="{FF2B5EF4-FFF2-40B4-BE49-F238E27FC236}">
                <a16:creationId xmlns:a16="http://schemas.microsoft.com/office/drawing/2014/main" id="{F4744DE5-06FD-F033-5041-657D30150566}"/>
              </a:ext>
            </a:extLst>
          </p:cNvPr>
          <p:cNvCxnSpPr>
            <a:stCxn id="12" idx="3"/>
            <a:endCxn id="7" idx="1"/>
          </p:cNvCxnSpPr>
          <p:nvPr/>
        </p:nvCxnSpPr>
        <p:spPr>
          <a:xfrm flipV="1">
            <a:off x="2181884" y="1711553"/>
            <a:ext cx="1095470" cy="789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a freccia 17">
            <a:extLst>
              <a:ext uri="{FF2B5EF4-FFF2-40B4-BE49-F238E27FC236}">
                <a16:creationId xmlns:a16="http://schemas.microsoft.com/office/drawing/2014/main" id="{75D87523-A547-B1C3-7712-F486D32C0D4F}"/>
              </a:ext>
            </a:extLst>
          </p:cNvPr>
          <p:cNvCxnSpPr>
            <a:stCxn id="12" idx="3"/>
            <a:endCxn id="9" idx="1"/>
          </p:cNvCxnSpPr>
          <p:nvPr/>
        </p:nvCxnSpPr>
        <p:spPr>
          <a:xfrm>
            <a:off x="2181884" y="2501467"/>
            <a:ext cx="1095470" cy="8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a freccia 19">
            <a:extLst>
              <a:ext uri="{FF2B5EF4-FFF2-40B4-BE49-F238E27FC236}">
                <a16:creationId xmlns:a16="http://schemas.microsoft.com/office/drawing/2014/main" id="{9EA04671-40E6-72E8-2584-F0A92A28B771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>
            <a:off x="2181884" y="2501467"/>
            <a:ext cx="1095470" cy="806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a freccia 21">
            <a:extLst>
              <a:ext uri="{FF2B5EF4-FFF2-40B4-BE49-F238E27FC236}">
                <a16:creationId xmlns:a16="http://schemas.microsoft.com/office/drawing/2014/main" id="{E050C4BF-243A-A210-DEA5-F8B7431764F9}"/>
              </a:ext>
            </a:extLst>
          </p:cNvPr>
          <p:cNvCxnSpPr>
            <a:stCxn id="14" idx="1"/>
            <a:endCxn id="7" idx="3"/>
          </p:cNvCxnSpPr>
          <p:nvPr/>
        </p:nvCxnSpPr>
        <p:spPr>
          <a:xfrm flipH="1" flipV="1">
            <a:off x="5866646" y="1711553"/>
            <a:ext cx="1095470" cy="806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a freccia 23">
            <a:extLst>
              <a:ext uri="{FF2B5EF4-FFF2-40B4-BE49-F238E27FC236}">
                <a16:creationId xmlns:a16="http://schemas.microsoft.com/office/drawing/2014/main" id="{05466D42-D560-83B1-8D1D-C5C285912627}"/>
              </a:ext>
            </a:extLst>
          </p:cNvPr>
          <p:cNvCxnSpPr>
            <a:stCxn id="14" idx="1"/>
            <a:endCxn id="9" idx="3"/>
          </p:cNvCxnSpPr>
          <p:nvPr/>
        </p:nvCxnSpPr>
        <p:spPr>
          <a:xfrm flipH="1" flipV="1">
            <a:off x="5866646" y="2509861"/>
            <a:ext cx="1095470" cy="8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diritto a freccia 25">
            <a:extLst>
              <a:ext uri="{FF2B5EF4-FFF2-40B4-BE49-F238E27FC236}">
                <a16:creationId xmlns:a16="http://schemas.microsoft.com/office/drawing/2014/main" id="{F3F40256-CB5E-09F2-B593-E88E1D073855}"/>
              </a:ext>
            </a:extLst>
          </p:cNvPr>
          <p:cNvCxnSpPr>
            <a:stCxn id="14" idx="1"/>
            <a:endCxn id="10" idx="3"/>
          </p:cNvCxnSpPr>
          <p:nvPr/>
        </p:nvCxnSpPr>
        <p:spPr>
          <a:xfrm flipH="1">
            <a:off x="5866646" y="2518255"/>
            <a:ext cx="1095470" cy="789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ttangolo 29">
            <a:extLst>
              <a:ext uri="{FF2B5EF4-FFF2-40B4-BE49-F238E27FC236}">
                <a16:creationId xmlns:a16="http://schemas.microsoft.com/office/drawing/2014/main" id="{94AE64B0-46B1-7875-C303-6B5ADF37C4D9}"/>
              </a:ext>
            </a:extLst>
          </p:cNvPr>
          <p:cNvSpPr/>
          <p:nvPr/>
        </p:nvSpPr>
        <p:spPr>
          <a:xfrm>
            <a:off x="2806574" y="1038824"/>
            <a:ext cx="3530851" cy="2925286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8960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480618-EBC8-8783-A03E-2E7552DA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in an </a:t>
            </a:r>
            <a:r>
              <a:rPr lang="it-IT" dirty="0" err="1"/>
              <a:t>R</a:t>
            </a:r>
            <a:r>
              <a:rPr lang="it-IT" dirty="0"/>
              <a:t>-box?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5370A5-CABA-CBD0-A86D-2D3E14F90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Proper</a:t>
            </a:r>
            <a:r>
              <a:rPr lang="it-IT" dirty="0"/>
              <a:t> </a:t>
            </a:r>
            <a:r>
              <a:rPr lang="it-IT" dirty="0" err="1"/>
              <a:t>role</a:t>
            </a:r>
            <a:r>
              <a:rPr lang="it-IT" dirty="0"/>
              <a:t> </a:t>
            </a:r>
            <a:r>
              <a:rPr lang="it-IT" dirty="0" err="1"/>
              <a:t>definitions</a:t>
            </a:r>
            <a:endParaRPr lang="it-IT" dirty="0"/>
          </a:p>
          <a:p>
            <a:r>
              <a:rPr lang="it-IT" dirty="0" err="1"/>
              <a:t>Role</a:t>
            </a:r>
            <a:r>
              <a:rPr lang="it-IT" dirty="0"/>
              <a:t> </a:t>
            </a:r>
            <a:r>
              <a:rPr lang="it-IT" dirty="0" err="1"/>
              <a:t>inclusion</a:t>
            </a:r>
            <a:r>
              <a:rPr lang="it-IT" dirty="0"/>
              <a:t> </a:t>
            </a:r>
            <a:r>
              <a:rPr lang="it-IT" dirty="0" err="1"/>
              <a:t>axioms</a:t>
            </a:r>
            <a:endParaRPr lang="it-IT" dirty="0"/>
          </a:p>
          <a:p>
            <a:r>
              <a:rPr lang="it-IT" dirty="0" err="1"/>
              <a:t>Generalized</a:t>
            </a:r>
            <a:r>
              <a:rPr lang="it-IT" dirty="0"/>
              <a:t> </a:t>
            </a:r>
            <a:r>
              <a:rPr lang="it-IT" dirty="0" err="1"/>
              <a:t>role</a:t>
            </a:r>
            <a:r>
              <a:rPr lang="it-IT" dirty="0"/>
              <a:t> </a:t>
            </a:r>
            <a:r>
              <a:rPr lang="it-IT" dirty="0" err="1"/>
              <a:t>inclusion</a:t>
            </a:r>
            <a:r>
              <a:rPr lang="it-IT" dirty="0"/>
              <a:t> </a:t>
            </a:r>
            <a:r>
              <a:rPr lang="it-IT" dirty="0" err="1"/>
              <a:t>axioms</a:t>
            </a:r>
            <a:endParaRPr lang="it-IT" dirty="0"/>
          </a:p>
          <a:p>
            <a:r>
              <a:rPr lang="it-IT" dirty="0" err="1"/>
              <a:t>Role</a:t>
            </a:r>
            <a:r>
              <a:rPr lang="it-IT" dirty="0"/>
              <a:t> </a:t>
            </a:r>
            <a:r>
              <a:rPr lang="it-IT" dirty="0" err="1"/>
              <a:t>property</a:t>
            </a:r>
            <a:r>
              <a:rPr lang="it-IT" dirty="0"/>
              <a:t> </a:t>
            </a:r>
            <a:r>
              <a:rPr lang="it-IT" dirty="0" err="1"/>
              <a:t>assertions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8A4847E-A67C-941F-E42F-78077152E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968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7A6991-31FA-9C00-CD90-17B64B71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Role</a:t>
            </a:r>
            <a:r>
              <a:rPr lang="it-IT" dirty="0"/>
              <a:t> </a:t>
            </a:r>
            <a:r>
              <a:rPr lang="it-IT" dirty="0" err="1"/>
              <a:t>properties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13043C-6949-20DB-18C7-64EB87C1A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/>
              <a:t>Roles</a:t>
            </a:r>
            <a:r>
              <a:rPr lang="it-IT" sz="2400" dirty="0"/>
              <a:t> can be </a:t>
            </a:r>
            <a:r>
              <a:rPr lang="it-IT" sz="2400" dirty="0" err="1"/>
              <a:t>asserted</a:t>
            </a:r>
            <a:r>
              <a:rPr lang="it-IT" sz="2400" dirty="0"/>
              <a:t> to be</a:t>
            </a:r>
          </a:p>
          <a:p>
            <a:pPr lvl="1"/>
            <a:r>
              <a:rPr lang="it-IT" sz="2000" dirty="0" err="1"/>
              <a:t>Functional</a:t>
            </a:r>
            <a:r>
              <a:rPr lang="it-IT" sz="2000" dirty="0"/>
              <a:t> (</a:t>
            </a:r>
            <a:r>
              <a:rPr lang="it-IT" sz="2000" dirty="0" err="1"/>
              <a:t>every</a:t>
            </a:r>
            <a:r>
              <a:rPr lang="it-IT" sz="2000" dirty="0"/>
              <a:t> </a:t>
            </a:r>
            <a:r>
              <a:rPr lang="it-IT" sz="2000" dirty="0" err="1"/>
              <a:t>individual</a:t>
            </a:r>
            <a:r>
              <a:rPr lang="it-IT" sz="2000" dirty="0"/>
              <a:t> </a:t>
            </a:r>
            <a:r>
              <a:rPr lang="it-IT" sz="2000" dirty="0" err="1"/>
              <a:t>has</a:t>
            </a:r>
            <a:r>
              <a:rPr lang="it-IT" sz="2000" dirty="0"/>
              <a:t> </a:t>
            </a:r>
            <a:r>
              <a:rPr lang="it-IT" sz="2000" dirty="0" err="1"/>
              <a:t>at</a:t>
            </a:r>
            <a:r>
              <a:rPr lang="it-IT" sz="2000" dirty="0"/>
              <a:t> </a:t>
            </a:r>
            <a:r>
              <a:rPr lang="it-IT" sz="2000" dirty="0" err="1"/>
              <a:t>most</a:t>
            </a:r>
            <a:r>
              <a:rPr lang="it-IT" sz="2000" dirty="0"/>
              <a:t> one </a:t>
            </a:r>
            <a:r>
              <a:rPr lang="it-IT" sz="2000" dirty="0" err="1"/>
              <a:t>other</a:t>
            </a:r>
            <a:r>
              <a:rPr lang="it-IT" sz="2000" dirty="0"/>
              <a:t> </a:t>
            </a:r>
            <a:r>
              <a:rPr lang="it-IT" sz="2000" dirty="0" err="1"/>
              <a:t>individual</a:t>
            </a:r>
            <a:r>
              <a:rPr lang="it-IT" sz="2000" dirty="0"/>
              <a:t> </a:t>
            </a:r>
            <a:r>
              <a:rPr lang="it-IT" sz="2000" dirty="0" err="1"/>
              <a:t>related</a:t>
            </a:r>
            <a:r>
              <a:rPr lang="it-IT" sz="2000" dirty="0"/>
              <a:t>)</a:t>
            </a:r>
          </a:p>
          <a:p>
            <a:pPr lvl="1"/>
            <a:r>
              <a:rPr lang="it-IT" sz="2000" dirty="0"/>
              <a:t>Reverse </a:t>
            </a:r>
            <a:r>
              <a:rPr lang="it-IT" sz="2000" dirty="0" err="1"/>
              <a:t>functional</a:t>
            </a:r>
            <a:r>
              <a:rPr lang="it-IT" sz="2000" dirty="0"/>
              <a:t> (one </a:t>
            </a:r>
            <a:r>
              <a:rPr lang="it-IT" sz="2000" dirty="0" err="1"/>
              <a:t>individual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the image of </a:t>
            </a:r>
            <a:r>
              <a:rPr lang="it-IT" sz="2000" dirty="0" err="1"/>
              <a:t>at</a:t>
            </a:r>
            <a:r>
              <a:rPr lang="it-IT" sz="2000" dirty="0"/>
              <a:t> </a:t>
            </a:r>
            <a:r>
              <a:rPr lang="it-IT" sz="2000" dirty="0" err="1"/>
              <a:t>most</a:t>
            </a:r>
            <a:r>
              <a:rPr lang="it-IT" sz="2000" dirty="0"/>
              <a:t> one </a:t>
            </a:r>
            <a:r>
              <a:rPr lang="it-IT" sz="2000" dirty="0" err="1"/>
              <a:t>individual</a:t>
            </a:r>
            <a:r>
              <a:rPr lang="it-IT" sz="2000" dirty="0"/>
              <a:t>)</a:t>
            </a:r>
          </a:p>
          <a:p>
            <a:pPr lvl="1"/>
            <a:r>
              <a:rPr lang="it-IT" sz="2000" dirty="0" err="1"/>
              <a:t>Reflexive</a:t>
            </a:r>
            <a:endParaRPr lang="it-IT" sz="2000" dirty="0"/>
          </a:p>
          <a:p>
            <a:pPr lvl="1"/>
            <a:r>
              <a:rPr lang="it-IT" sz="2000" dirty="0" err="1"/>
              <a:t>Symmetric</a:t>
            </a:r>
            <a:endParaRPr lang="it-IT" sz="2000" dirty="0"/>
          </a:p>
          <a:p>
            <a:pPr lvl="1"/>
            <a:r>
              <a:rPr lang="it-IT" sz="2000" dirty="0"/>
              <a:t>Anti-</a:t>
            </a:r>
            <a:r>
              <a:rPr lang="it-IT" sz="2000" dirty="0" err="1"/>
              <a:t>symmetric</a:t>
            </a:r>
            <a:endParaRPr lang="it-IT" sz="2000" dirty="0"/>
          </a:p>
          <a:p>
            <a:pPr lvl="1"/>
            <a:r>
              <a:rPr lang="it-IT" sz="2000" dirty="0" err="1"/>
              <a:t>Reflexive</a:t>
            </a:r>
            <a:r>
              <a:rPr lang="it-IT" sz="2000" dirty="0"/>
              <a:t>-transitive</a:t>
            </a:r>
          </a:p>
          <a:p>
            <a:pPr lvl="1"/>
            <a:r>
              <a:rPr lang="it-IT" sz="2000" dirty="0"/>
              <a:t>Transitive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D41EE4-0DE0-0E6F-6EF5-0B6FA0E4F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298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418B9A-A45E-B2D8-78C8-8C2BE00C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Clashes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FB1266-D283-B01B-64BE-90C77A098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 err="1"/>
              <a:t>You</a:t>
            </a:r>
            <a:r>
              <a:rPr lang="it-IT" sz="2800" dirty="0"/>
              <a:t> </a:t>
            </a:r>
            <a:r>
              <a:rPr lang="it-IT" sz="2800" dirty="0" err="1"/>
              <a:t>clash</a:t>
            </a:r>
            <a:r>
              <a:rPr lang="it-IT" sz="2800" dirty="0"/>
              <a:t> in the </a:t>
            </a:r>
            <a:r>
              <a:rPr lang="it-IT" sz="2800" dirty="0" err="1"/>
              <a:t>R</a:t>
            </a:r>
            <a:r>
              <a:rPr lang="it-IT" sz="2800" dirty="0"/>
              <a:t>-box </a:t>
            </a:r>
            <a:r>
              <a:rPr lang="it-IT" sz="2800" dirty="0" err="1"/>
              <a:t>when</a:t>
            </a:r>
            <a:r>
              <a:rPr lang="it-IT" sz="2800" dirty="0"/>
              <a:t> </a:t>
            </a:r>
            <a:r>
              <a:rPr lang="it-IT" sz="2800" dirty="0" err="1"/>
              <a:t>asserting</a:t>
            </a:r>
            <a:r>
              <a:rPr lang="it-IT" sz="2800" dirty="0"/>
              <a:t> a </a:t>
            </a:r>
            <a:r>
              <a:rPr lang="it-IT" sz="2800" dirty="0" err="1"/>
              <a:t>role</a:t>
            </a:r>
            <a:r>
              <a:rPr lang="it-IT" sz="2800" dirty="0"/>
              <a:t> to be in opposite </a:t>
            </a:r>
            <a:r>
              <a:rPr lang="it-IT" sz="2800" dirty="0" err="1"/>
              <a:t>inclusion</a:t>
            </a:r>
            <a:r>
              <a:rPr lang="it-IT" sz="2800" dirty="0"/>
              <a:t> </a:t>
            </a:r>
            <a:r>
              <a:rPr lang="it-IT" sz="2800" dirty="0" err="1"/>
              <a:t>axioms</a:t>
            </a:r>
            <a:r>
              <a:rPr lang="it-IT" sz="2800" dirty="0"/>
              <a:t> </a:t>
            </a:r>
            <a:r>
              <a:rPr lang="it-IT" sz="2800" dirty="0" err="1"/>
              <a:t>exactly</a:t>
            </a:r>
            <a:r>
              <a:rPr lang="it-IT" sz="2800" dirty="0"/>
              <a:t> </a:t>
            </a:r>
            <a:r>
              <a:rPr lang="it-IT" sz="2800" dirty="0" err="1"/>
              <a:t>as</a:t>
            </a:r>
            <a:r>
              <a:rPr lang="it-IT" sz="2800" dirty="0"/>
              <a:t> in the T-box</a:t>
            </a:r>
          </a:p>
          <a:p>
            <a:r>
              <a:rPr lang="it-IT" sz="2800" dirty="0" err="1"/>
              <a:t>You</a:t>
            </a:r>
            <a:r>
              <a:rPr lang="it-IT" sz="2800" dirty="0"/>
              <a:t> </a:t>
            </a:r>
            <a:r>
              <a:rPr lang="it-IT" sz="2800" dirty="0" err="1"/>
              <a:t>may</a:t>
            </a:r>
            <a:r>
              <a:rPr lang="it-IT" sz="2800" dirty="0"/>
              <a:t> </a:t>
            </a:r>
            <a:r>
              <a:rPr lang="it-IT" sz="2800" dirty="0" err="1"/>
              <a:t>clash</a:t>
            </a:r>
            <a:r>
              <a:rPr lang="it-IT" sz="2800" dirty="0"/>
              <a:t> on the T-box, for a </a:t>
            </a:r>
            <a:r>
              <a:rPr lang="it-IT" sz="2800" dirty="0" err="1"/>
              <a:t>definition</a:t>
            </a:r>
            <a:r>
              <a:rPr lang="it-IT" sz="2800" dirty="0"/>
              <a:t> in the </a:t>
            </a:r>
            <a:r>
              <a:rPr lang="it-IT" sz="2800" dirty="0" err="1"/>
              <a:t>R</a:t>
            </a:r>
            <a:r>
              <a:rPr lang="it-IT" sz="2800" dirty="0"/>
              <a:t>-box, </a:t>
            </a:r>
            <a:r>
              <a:rPr lang="it-IT" sz="2800" dirty="0" err="1"/>
              <a:t>when</a:t>
            </a:r>
            <a:r>
              <a:rPr lang="it-IT" sz="2800" dirty="0"/>
              <a:t> </a:t>
            </a:r>
            <a:r>
              <a:rPr lang="it-IT" sz="2800" dirty="0" err="1"/>
              <a:t>you</a:t>
            </a:r>
            <a:r>
              <a:rPr lang="it-IT" sz="2800" dirty="0"/>
              <a:t> </a:t>
            </a:r>
            <a:r>
              <a:rPr lang="it-IT" sz="2800" dirty="0" err="1"/>
              <a:t>define</a:t>
            </a:r>
            <a:r>
              <a:rPr lang="it-IT" sz="2800" dirty="0"/>
              <a:t> a concept </a:t>
            </a:r>
            <a:r>
              <a:rPr lang="it-IT" sz="2800" dirty="0" err="1"/>
              <a:t>based</a:t>
            </a:r>
            <a:r>
              <a:rPr lang="it-IT" sz="2800" dirty="0"/>
              <a:t> on </a:t>
            </a:r>
            <a:r>
              <a:rPr lang="it-IT" sz="2800" dirty="0" err="1"/>
              <a:t>restrictions</a:t>
            </a:r>
            <a:r>
              <a:rPr lang="it-IT" sz="2800" dirty="0"/>
              <a:t> </a:t>
            </a:r>
            <a:r>
              <a:rPr lang="it-IT" sz="2800" dirty="0" err="1"/>
              <a:t>that</a:t>
            </a:r>
            <a:r>
              <a:rPr lang="it-IT" sz="2800" dirty="0"/>
              <a:t> are </a:t>
            </a:r>
            <a:r>
              <a:rPr lang="it-IT" sz="2800" dirty="0" err="1"/>
              <a:t>incompatible</a:t>
            </a:r>
            <a:r>
              <a:rPr lang="it-IT" sz="2800" dirty="0"/>
              <a:t> with the </a:t>
            </a:r>
            <a:r>
              <a:rPr lang="it-IT" sz="2800" dirty="0" err="1"/>
              <a:t>definition</a:t>
            </a:r>
            <a:r>
              <a:rPr lang="it-IT" sz="2800" dirty="0"/>
              <a:t> of a </a:t>
            </a:r>
            <a:r>
              <a:rPr lang="it-IT" sz="2800" dirty="0" err="1"/>
              <a:t>role</a:t>
            </a:r>
            <a:endParaRPr lang="it-IT" sz="2800" dirty="0"/>
          </a:p>
          <a:p>
            <a:r>
              <a:rPr lang="it-IT" sz="2800" dirty="0" err="1"/>
              <a:t>You</a:t>
            </a:r>
            <a:r>
              <a:rPr lang="it-IT" sz="2800" dirty="0"/>
              <a:t> </a:t>
            </a:r>
            <a:r>
              <a:rPr lang="it-IT" sz="2800" dirty="0" err="1"/>
              <a:t>may</a:t>
            </a:r>
            <a:r>
              <a:rPr lang="it-IT" sz="2800" dirty="0"/>
              <a:t> </a:t>
            </a:r>
            <a:r>
              <a:rPr lang="it-IT" sz="2800" dirty="0" err="1"/>
              <a:t>clash</a:t>
            </a:r>
            <a:r>
              <a:rPr lang="it-IT" sz="2800" dirty="0"/>
              <a:t> on the A-box </a:t>
            </a:r>
            <a:r>
              <a:rPr lang="it-IT" sz="2800" dirty="0" err="1"/>
              <a:t>when</a:t>
            </a:r>
            <a:r>
              <a:rPr lang="it-IT" sz="2800" dirty="0"/>
              <a:t> </a:t>
            </a:r>
            <a:r>
              <a:rPr lang="it-IT" sz="2800" dirty="0" err="1"/>
              <a:t>asserting</a:t>
            </a:r>
            <a:r>
              <a:rPr lang="it-IT" sz="2800" dirty="0"/>
              <a:t> an </a:t>
            </a:r>
            <a:r>
              <a:rPr lang="it-IT" sz="2800" dirty="0" err="1"/>
              <a:t>individual</a:t>
            </a:r>
            <a:r>
              <a:rPr lang="it-IT" sz="2800" dirty="0"/>
              <a:t> to be in a </a:t>
            </a:r>
            <a:r>
              <a:rPr lang="it-IT" sz="2800" dirty="0" err="1"/>
              <a:t>given</a:t>
            </a:r>
            <a:r>
              <a:rPr lang="it-IT" sz="2800" dirty="0"/>
              <a:t> relation with </a:t>
            </a:r>
            <a:r>
              <a:rPr lang="it-IT" sz="2800" dirty="0" err="1"/>
              <a:t>another</a:t>
            </a:r>
            <a:r>
              <a:rPr lang="it-IT" sz="2800" dirty="0"/>
              <a:t> </a:t>
            </a:r>
            <a:r>
              <a:rPr lang="it-IT" sz="2800" dirty="0" err="1"/>
              <a:t>individual</a:t>
            </a:r>
            <a:r>
              <a:rPr lang="it-IT" sz="2800" dirty="0"/>
              <a:t>, in a way </a:t>
            </a:r>
            <a:r>
              <a:rPr lang="it-IT" sz="2800" dirty="0" err="1"/>
              <a:t>that</a:t>
            </a:r>
            <a:r>
              <a:rPr lang="it-IT" sz="2800" dirty="0"/>
              <a:t> </a:t>
            </a:r>
            <a:r>
              <a:rPr lang="it-IT" sz="2800" dirty="0" err="1"/>
              <a:t>clashes</a:t>
            </a:r>
            <a:r>
              <a:rPr lang="it-IT" sz="2800" dirty="0"/>
              <a:t> the </a:t>
            </a:r>
            <a:r>
              <a:rPr lang="it-IT" sz="2800" dirty="0" err="1"/>
              <a:t>role</a:t>
            </a:r>
            <a:r>
              <a:rPr lang="it-IT" sz="2800" dirty="0"/>
              <a:t> </a:t>
            </a:r>
            <a:r>
              <a:rPr lang="it-IT" sz="2800" dirty="0" err="1"/>
              <a:t>properties</a:t>
            </a:r>
            <a:endParaRPr lang="it-IT" sz="28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DDA2714-286B-46A5-026A-1B0C9DB7C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05136"/>
      </p:ext>
    </p:extLst>
  </p:cSld>
  <p:clrMapOvr>
    <a:masterClrMapping/>
  </p:clrMapOvr>
</p:sld>
</file>

<file path=ppt/theme/theme1.xml><?xml version="1.0" encoding="utf-8"?>
<a:theme xmlns:a="http://schemas.openxmlformats.org/drawingml/2006/main" name="ESD_new_GP">
  <a:themeElements>
    <a:clrScheme name="Impostazioni personalizzate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635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ides" id="{64130435-FAB9-4647-9A1B-C4C1F74886ED}" vid="{857E239A-6F0F-7E4B-94A2-01A66B70195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ESD_new_GP</Template>
  <TotalTime>1478</TotalTime>
  <Words>519</Words>
  <Application>Microsoft Macintosh PowerPoint</Application>
  <PresentationFormat>Presentazione su schermo (16:9)</PresentationFormat>
  <Paragraphs>90</Paragraphs>
  <Slides>20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LM Sans 12</vt:lpstr>
      <vt:lpstr>Tahoma</vt:lpstr>
      <vt:lpstr>ESD_new_GP</vt:lpstr>
      <vt:lpstr>T-BOX, A-BOX and the like</vt:lpstr>
      <vt:lpstr>The architecture of a DL system</vt:lpstr>
      <vt:lpstr>T-box and A-box</vt:lpstr>
      <vt:lpstr>The T-Box</vt:lpstr>
      <vt:lpstr>What is there in a T-box?</vt:lpstr>
      <vt:lpstr>Inclusion axioms</vt:lpstr>
      <vt:lpstr>Generalized inclusion axioms</vt:lpstr>
      <vt:lpstr>Rewriting GIA</vt:lpstr>
      <vt:lpstr>Examples of clashes</vt:lpstr>
      <vt:lpstr>Examples of clashes</vt:lpstr>
      <vt:lpstr>Note on empty definitions</vt:lpstr>
      <vt:lpstr>World descriptions</vt:lpstr>
      <vt:lpstr>What is there in an A-box?</vt:lpstr>
      <vt:lpstr>Instantiation clashes</vt:lpstr>
      <vt:lpstr>First picture interpreted</vt:lpstr>
      <vt:lpstr>Exntending the architecture</vt:lpstr>
      <vt:lpstr>The Role Box</vt:lpstr>
      <vt:lpstr>What is there in an R-box?</vt:lpstr>
      <vt:lpstr>Role properties</vt:lpstr>
      <vt:lpstr>Clashes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Cristani</dc:creator>
  <cp:lastModifiedBy>Matteo Cristani</cp:lastModifiedBy>
  <cp:revision>6</cp:revision>
  <dcterms:created xsi:type="dcterms:W3CDTF">2025-08-19T05:48:09Z</dcterms:created>
  <dcterms:modified xsi:type="dcterms:W3CDTF">2025-08-20T06:27:55Z</dcterms:modified>
</cp:coreProperties>
</file>