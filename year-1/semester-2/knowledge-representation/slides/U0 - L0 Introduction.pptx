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9" r:id="rId1"/>
  </p:sldMasterIdLst>
  <p:notesMasterIdLst>
    <p:notesMasterId r:id="rId12"/>
  </p:notesMasterIdLst>
  <p:sldIdLst>
    <p:sldId id="270" r:id="rId2"/>
    <p:sldId id="357" r:id="rId3"/>
    <p:sldId id="359" r:id="rId4"/>
    <p:sldId id="360" r:id="rId5"/>
    <p:sldId id="363" r:id="rId6"/>
    <p:sldId id="367" r:id="rId7"/>
    <p:sldId id="364" r:id="rId8"/>
    <p:sldId id="366" r:id="rId9"/>
    <p:sldId id="358" r:id="rId10"/>
    <p:sldId id="356" r:id="rId11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14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49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512EA-4EBA-4E2C-9DAB-C5514957C4C3}" type="datetimeFigureOut">
              <a:t>20/08/25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8E9C9-96A7-4E79-86B1-7B0DE63C370C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158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267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60958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60958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60958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609585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82033"/>
            <a:ext cx="105664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1270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155700"/>
            <a:ext cx="10972800" cy="49699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LEZIONE 1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6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14634" y="24938"/>
            <a:ext cx="1477367" cy="5227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</p:sldLayoutIdLst>
  <p:hf sldNum="0" hd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0837" y="5456469"/>
            <a:ext cx="4464051" cy="82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1" rIns="90488" bIns="44451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24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24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24288" y="1124744"/>
            <a:ext cx="10363200" cy="2784309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800" dirty="0">
                <a:ea typeface="+mj-ea"/>
                <a:cs typeface="+mj-cs"/>
              </a:rPr>
              <a:t>Introduction</a:t>
            </a: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188" y="5073352"/>
            <a:ext cx="146473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2285" y="2677585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24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9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1D4BF7-684E-AD6B-EF5B-80DE25AB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B7E8389-9352-F158-AABD-D5A5B2D4F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Goals</a:t>
            </a:r>
          </a:p>
          <a:p>
            <a:r>
              <a:rPr lang="it-IT" dirty="0"/>
              <a:t>Streams</a:t>
            </a:r>
          </a:p>
          <a:p>
            <a:r>
              <a:rPr lang="it-IT" dirty="0" err="1"/>
              <a:t>Planned</a:t>
            </a:r>
            <a:r>
              <a:rPr lang="it-IT" dirty="0"/>
              <a:t> </a:t>
            </a:r>
            <a:r>
              <a:rPr lang="it-IT" dirty="0" err="1"/>
              <a:t>absences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course</a:t>
            </a:r>
            <a:r>
              <a:rPr lang="it-IT" dirty="0"/>
              <a:t> </a:t>
            </a:r>
            <a:r>
              <a:rPr lang="it-IT" dirty="0" err="1"/>
              <a:t>rationale</a:t>
            </a:r>
            <a:endParaRPr lang="it-IT" dirty="0"/>
          </a:p>
          <a:p>
            <a:r>
              <a:rPr lang="it-IT" dirty="0" err="1"/>
              <a:t>Exam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B21D044-A011-D90B-7791-5BAEC139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32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FF7A0F-1F66-2F2E-0DC9-7C987C44D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Goals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D4CEDF-9E84-496A-AA3D-1DFE56B65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Learning </a:t>
            </a:r>
            <a:r>
              <a:rPr lang="it-IT" dirty="0" err="1"/>
              <a:t>how</a:t>
            </a:r>
            <a:r>
              <a:rPr lang="it-IT" dirty="0"/>
              <a:t> to use </a:t>
            </a:r>
            <a:r>
              <a:rPr lang="it-IT" dirty="0" err="1"/>
              <a:t>Description</a:t>
            </a:r>
            <a:r>
              <a:rPr lang="it-IT" dirty="0"/>
              <a:t> </a:t>
            </a:r>
            <a:r>
              <a:rPr lang="it-IT" dirty="0" err="1"/>
              <a:t>logics</a:t>
            </a:r>
            <a:r>
              <a:rPr lang="it-IT" dirty="0"/>
              <a:t>, the </a:t>
            </a:r>
            <a:r>
              <a:rPr lang="it-IT" dirty="0" err="1"/>
              <a:t>basics</a:t>
            </a:r>
            <a:r>
              <a:rPr lang="it-IT" dirty="0"/>
              <a:t> of </a:t>
            </a:r>
            <a:r>
              <a:rPr lang="it-IT" dirty="0" err="1"/>
              <a:t>ontoogical</a:t>
            </a:r>
            <a:r>
              <a:rPr lang="it-IT" dirty="0"/>
              <a:t> systems and the </a:t>
            </a:r>
            <a:r>
              <a:rPr lang="it-IT" dirty="0" err="1"/>
              <a:t>usage</a:t>
            </a:r>
            <a:r>
              <a:rPr lang="it-IT" dirty="0"/>
              <a:t> of the </a:t>
            </a:r>
            <a:r>
              <a:rPr lang="it-IT" dirty="0" err="1"/>
              <a:t>ontology</a:t>
            </a:r>
            <a:r>
              <a:rPr lang="it-IT" dirty="0"/>
              <a:t> </a:t>
            </a:r>
            <a:r>
              <a:rPr lang="it-IT" dirty="0" err="1"/>
              <a:t>language</a:t>
            </a:r>
            <a:r>
              <a:rPr lang="it-IT" dirty="0"/>
              <a:t> OWL for Semantic Web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E8E15FC-96E9-F8B1-BA06-6F75A3F65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30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17EC09-54AB-CFC6-2286-9E71908B5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Streams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559D9A-FCB7-472D-C409-9D8637B00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Large part of the </a:t>
            </a:r>
            <a:r>
              <a:rPr lang="it-IT" dirty="0" err="1"/>
              <a:t>course</a:t>
            </a:r>
            <a:r>
              <a:rPr lang="it-IT" dirty="0"/>
              <a:t> </a:t>
            </a:r>
            <a:r>
              <a:rPr lang="it-IT" dirty="0" err="1"/>
              <a:t>shall</a:t>
            </a:r>
            <a:r>
              <a:rPr lang="it-IT" dirty="0"/>
              <a:t> be </a:t>
            </a:r>
            <a:r>
              <a:rPr lang="it-IT" dirty="0" err="1"/>
              <a:t>theoretical</a:t>
            </a:r>
            <a:endParaRPr lang="it-IT" dirty="0"/>
          </a:p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shall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48 hours of </a:t>
            </a:r>
            <a:r>
              <a:rPr lang="it-IT" dirty="0" err="1"/>
              <a:t>lectures</a:t>
            </a:r>
            <a:r>
              <a:rPr lang="it-IT" dirty="0"/>
              <a:t> of </a:t>
            </a:r>
            <a:r>
              <a:rPr lang="it-IT" dirty="0" err="1"/>
              <a:t>which</a:t>
            </a:r>
            <a:r>
              <a:rPr lang="it-IT" dirty="0"/>
              <a:t> 12 of lab and 12 of </a:t>
            </a:r>
            <a:r>
              <a:rPr lang="it-IT" dirty="0" err="1"/>
              <a:t>classwork</a:t>
            </a:r>
            <a:endParaRPr lang="it-IT" dirty="0"/>
          </a:p>
          <a:p>
            <a:r>
              <a:rPr lang="it-IT" dirty="0"/>
              <a:t>Lab </a:t>
            </a:r>
            <a:r>
              <a:rPr lang="it-IT" dirty="0" err="1"/>
              <a:t>will</a:t>
            </a:r>
            <a:r>
              <a:rPr lang="it-IT" dirty="0"/>
              <a:t> be in class, so </a:t>
            </a:r>
            <a:r>
              <a:rPr lang="it-IT" dirty="0" err="1"/>
              <a:t>bring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PC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BB31A4E-F4FA-6EA6-7633-DD0B5EAC3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51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4A9292-9C77-EFDA-B5BA-B0174A9B2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Lectures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57E067F-9294-2AF7-8665-6393A015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D3285341-4FB6-F5C2-64C5-125F2EBD0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33372"/>
              </p:ext>
            </p:extLst>
          </p:nvPr>
        </p:nvGraphicFramePr>
        <p:xfrm>
          <a:off x="567558" y="1030014"/>
          <a:ext cx="10016359" cy="4766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16359">
                  <a:extLst>
                    <a:ext uri="{9D8B030D-6E8A-4147-A177-3AD203B41FA5}">
                      <a16:colId xmlns:a16="http://schemas.microsoft.com/office/drawing/2014/main" val="2006711440"/>
                    </a:ext>
                  </a:extLst>
                </a:gridCol>
              </a:tblGrid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>
                          <a:effectLst/>
                        </a:rPr>
                        <a:t>Course intro - </a:t>
                      </a:r>
                      <a:r>
                        <a:rPr lang="it-IT" sz="2400" u="none" strike="noStrike" dirty="0" err="1">
                          <a:effectLst/>
                        </a:rPr>
                        <a:t>Logic</a:t>
                      </a:r>
                      <a:r>
                        <a:rPr lang="it-IT" sz="2400" u="none" strike="noStrike" dirty="0">
                          <a:effectLst/>
                        </a:rPr>
                        <a:t> recalls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1868293377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Logic recalls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3784557553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 err="1">
                          <a:effectLst/>
                        </a:rPr>
                        <a:t>Logic</a:t>
                      </a:r>
                      <a:r>
                        <a:rPr lang="it-IT" sz="2400" u="none" strike="noStrike" dirty="0">
                          <a:effectLst/>
                        </a:rPr>
                        <a:t> recalls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3220209690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The principles of Knowledge: what is knowledge?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4063787516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Structural Description logics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499809476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Structural Description logics: beyond ALN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899232799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Classwork: Structural Description logics: AL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2585006814"/>
                  </a:ext>
                </a:extLst>
              </a:tr>
              <a:tr h="47498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 err="1">
                          <a:effectLst/>
                        </a:rPr>
                        <a:t>Reasoning</a:t>
                      </a:r>
                      <a:r>
                        <a:rPr lang="it-IT" sz="2400" u="none" strike="noStrike" dirty="0">
                          <a:effectLst/>
                        </a:rPr>
                        <a:t> tasks with </a:t>
                      </a:r>
                      <a:r>
                        <a:rPr lang="it-IT" sz="2400" u="none" strike="noStrike" dirty="0" err="1">
                          <a:effectLst/>
                        </a:rPr>
                        <a:t>description</a:t>
                      </a:r>
                      <a:r>
                        <a:rPr lang="it-IT" sz="2400" u="none" strike="noStrike" dirty="0">
                          <a:effectLst/>
                        </a:rPr>
                        <a:t> </a:t>
                      </a:r>
                      <a:r>
                        <a:rPr lang="it-IT" sz="2400" u="none" strike="noStrike" dirty="0" err="1">
                          <a:effectLst/>
                        </a:rPr>
                        <a:t>logic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3732239756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The T-Box and the A-box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1653041071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 err="1">
                          <a:effectLst/>
                        </a:rPr>
                        <a:t>Propositional</a:t>
                      </a:r>
                      <a:r>
                        <a:rPr lang="it-IT" sz="2400" u="none" strike="noStrike" dirty="0">
                          <a:effectLst/>
                        </a:rPr>
                        <a:t> </a:t>
                      </a:r>
                      <a:r>
                        <a:rPr lang="it-IT" sz="2400" u="none" strike="noStrike" dirty="0" err="1">
                          <a:effectLst/>
                        </a:rPr>
                        <a:t>Description</a:t>
                      </a:r>
                      <a:r>
                        <a:rPr lang="it-IT" sz="2400" u="none" strike="noStrike" dirty="0">
                          <a:effectLst/>
                        </a:rPr>
                        <a:t> </a:t>
                      </a:r>
                      <a:r>
                        <a:rPr lang="it-IT" sz="2400" u="none" strike="noStrike" dirty="0" err="1">
                          <a:effectLst/>
                        </a:rPr>
                        <a:t>logic</a:t>
                      </a:r>
                      <a:r>
                        <a:rPr lang="it-IT" sz="2400" u="none" strike="noStrike" dirty="0">
                          <a:effectLst/>
                        </a:rPr>
                        <a:t>: ALC </a:t>
                      </a:r>
                      <a:r>
                        <a:rPr lang="it-IT" sz="2400" u="none" strike="noStrike" dirty="0" err="1">
                          <a:effectLst/>
                        </a:rPr>
                        <a:t>semantics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1130136339"/>
                  </a:ext>
                </a:extLst>
              </a:tr>
              <a:tr h="42913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 err="1">
                          <a:effectLst/>
                        </a:rPr>
                        <a:t>Classwork</a:t>
                      </a:r>
                      <a:r>
                        <a:rPr lang="it-IT" sz="2400" u="none" strike="noStrike" dirty="0">
                          <a:effectLst/>
                        </a:rPr>
                        <a:t>: ALC </a:t>
                      </a:r>
                      <a:r>
                        <a:rPr lang="it-IT" sz="2400" u="none" strike="noStrike" dirty="0" err="1">
                          <a:effectLst/>
                        </a:rPr>
                        <a:t>semantics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2324001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6516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93C131-CFC7-9CC5-614A-0D8FCB271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Lectures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9029D9A-A7AD-57CC-2E9B-8731BE56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17740B4E-0576-9912-9DF4-0C81BB309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796089"/>
              </p:ext>
            </p:extLst>
          </p:nvPr>
        </p:nvGraphicFramePr>
        <p:xfrm>
          <a:off x="609600" y="1155700"/>
          <a:ext cx="10310648" cy="4860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10648">
                  <a:extLst>
                    <a:ext uri="{9D8B030D-6E8A-4147-A177-3AD203B41FA5}">
                      <a16:colId xmlns:a16="http://schemas.microsoft.com/office/drawing/2014/main" val="4156175212"/>
                    </a:ext>
                  </a:extLst>
                </a:gridCol>
              </a:tblGrid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Introduction to Tableau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3692655185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Extensions to Tableau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3851004097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>
                          <a:effectLst/>
                        </a:rPr>
                        <a:t>Extensions to ALC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233920113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Classwork: ALC Tableau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889828955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Classwork: ALC Tableau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4252213277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 err="1">
                          <a:effectLst/>
                        </a:rPr>
                        <a:t>Higher</a:t>
                      </a:r>
                      <a:r>
                        <a:rPr lang="it-IT" sz="2400" u="none" strike="noStrike" dirty="0">
                          <a:effectLst/>
                        </a:rPr>
                        <a:t> </a:t>
                      </a:r>
                      <a:r>
                        <a:rPr lang="it-IT" sz="2400" u="none" strike="noStrike" dirty="0" err="1">
                          <a:effectLst/>
                        </a:rPr>
                        <a:t>order</a:t>
                      </a:r>
                      <a:r>
                        <a:rPr lang="it-IT" sz="2400" u="none" strike="noStrike" dirty="0">
                          <a:effectLst/>
                        </a:rPr>
                        <a:t> </a:t>
                      </a:r>
                      <a:r>
                        <a:rPr lang="it-IT" sz="2400" u="none" strike="noStrike" dirty="0" err="1">
                          <a:effectLst/>
                        </a:rPr>
                        <a:t>reasoning</a:t>
                      </a:r>
                      <a:r>
                        <a:rPr lang="it-IT" sz="2400" u="none" strike="noStrike" dirty="0">
                          <a:effectLst/>
                        </a:rPr>
                        <a:t> tasks with </a:t>
                      </a:r>
                      <a:r>
                        <a:rPr lang="it-IT" sz="2400" u="none" strike="noStrike" dirty="0" err="1">
                          <a:effectLst/>
                        </a:rPr>
                        <a:t>ALCQIreg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1735604552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>
                          <a:effectLst/>
                        </a:rPr>
                        <a:t>2ATA and </a:t>
                      </a:r>
                      <a:r>
                        <a:rPr lang="it-IT" sz="2400" u="none" strike="noStrike" dirty="0" err="1">
                          <a:effectLst/>
                        </a:rPr>
                        <a:t>ALCQIreg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3483223246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>
                          <a:effectLst/>
                        </a:rPr>
                        <a:t>The </a:t>
                      </a:r>
                      <a:r>
                        <a:rPr lang="it-IT" sz="2400" u="none" strike="noStrike" dirty="0" err="1">
                          <a:effectLst/>
                        </a:rPr>
                        <a:t>usage</a:t>
                      </a:r>
                      <a:r>
                        <a:rPr lang="it-IT" sz="2400" u="none" strike="noStrike" dirty="0">
                          <a:effectLst/>
                        </a:rPr>
                        <a:t> of </a:t>
                      </a:r>
                      <a:r>
                        <a:rPr lang="it-IT" sz="2400" u="none" strike="noStrike" dirty="0" err="1">
                          <a:effectLst/>
                        </a:rPr>
                        <a:t>Protégé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3387619618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 err="1">
                          <a:effectLst/>
                        </a:rPr>
                        <a:t>Complexity</a:t>
                      </a:r>
                      <a:r>
                        <a:rPr lang="it-IT" sz="2400" u="none" strike="noStrike" dirty="0">
                          <a:effectLst/>
                        </a:rPr>
                        <a:t> of </a:t>
                      </a:r>
                      <a:r>
                        <a:rPr lang="it-IT" sz="2400" u="none" strike="noStrike" dirty="0" err="1">
                          <a:effectLst/>
                        </a:rPr>
                        <a:t>algorithms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1396584182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>
                          <a:effectLst/>
                        </a:rPr>
                        <a:t>The complete </a:t>
                      </a:r>
                      <a:r>
                        <a:rPr lang="it-IT" sz="2400" u="none" strike="noStrike" dirty="0" err="1">
                          <a:effectLst/>
                        </a:rPr>
                        <a:t>classification</a:t>
                      </a:r>
                      <a:r>
                        <a:rPr lang="it-IT" sz="2400" u="none" strike="noStrike" dirty="0">
                          <a:effectLst/>
                        </a:rPr>
                        <a:t> so far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831372895"/>
                  </a:ext>
                </a:extLst>
              </a:tr>
              <a:tr h="1954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>
                          <a:effectLst/>
                        </a:rPr>
                        <a:t>Classwork on Protégé</a:t>
                      </a:r>
                      <a:endParaRPr lang="it-IT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562733250"/>
                  </a:ext>
                </a:extLst>
              </a:tr>
              <a:tr h="39080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2400" u="none" strike="noStrike" dirty="0">
                          <a:effectLst/>
                        </a:rPr>
                        <a:t>Domain </a:t>
                      </a:r>
                      <a:r>
                        <a:rPr lang="it-IT" sz="2400" u="none" strike="noStrike" dirty="0" err="1">
                          <a:effectLst/>
                        </a:rPr>
                        <a:t>ontologies</a:t>
                      </a:r>
                      <a:r>
                        <a:rPr lang="it-IT" sz="2400" u="none" strike="noStrike" dirty="0">
                          <a:effectLst/>
                        </a:rPr>
                        <a:t>, task </a:t>
                      </a:r>
                      <a:r>
                        <a:rPr lang="it-IT" sz="2400" u="none" strike="noStrike" dirty="0" err="1">
                          <a:effectLst/>
                        </a:rPr>
                        <a:t>ontologies</a:t>
                      </a:r>
                      <a:r>
                        <a:rPr lang="it-IT" sz="2400" u="none" strike="noStrike" dirty="0">
                          <a:effectLst/>
                        </a:rPr>
                        <a:t> and the </a:t>
                      </a:r>
                      <a:r>
                        <a:rPr lang="it-IT" sz="2400" u="none" strike="noStrike" dirty="0" err="1">
                          <a:effectLst/>
                        </a:rPr>
                        <a:t>methodologies</a:t>
                      </a:r>
                      <a:r>
                        <a:rPr lang="it-IT" sz="2400" u="none" strike="noStrike" dirty="0">
                          <a:effectLst/>
                        </a:rPr>
                        <a:t> for </a:t>
                      </a:r>
                      <a:r>
                        <a:rPr lang="it-IT" sz="2400" u="none" strike="noStrike" dirty="0" err="1">
                          <a:effectLst/>
                        </a:rPr>
                        <a:t>ontology</a:t>
                      </a:r>
                      <a:r>
                        <a:rPr lang="it-IT" sz="2400" u="none" strike="noStrike" dirty="0">
                          <a:effectLst/>
                        </a:rPr>
                        <a:t> deployment</a:t>
                      </a:r>
                      <a:endParaRPr lang="it-IT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771" marR="8771" marT="8771" marB="0" anchor="b"/>
                </a:tc>
                <a:extLst>
                  <a:ext uri="{0D108BD9-81ED-4DB2-BD59-A6C34878D82A}">
                    <a16:rowId xmlns:a16="http://schemas.microsoft.com/office/drawing/2014/main" val="2233271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6723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3BBF00-AD2B-A8AA-85C9-59CE6215C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58B182-74B9-7EDF-F005-842BE8D8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Exam</a:t>
            </a:r>
            <a:r>
              <a:rPr lang="it-IT" dirty="0"/>
              <a:t> </a:t>
            </a:r>
            <a:r>
              <a:rPr lang="it-IT" dirty="0" err="1"/>
              <a:t>consists</a:t>
            </a:r>
            <a:r>
              <a:rPr lang="it-IT" dirty="0"/>
              <a:t> in an </a:t>
            </a:r>
            <a:r>
              <a:rPr lang="it-IT" dirty="0" err="1"/>
              <a:t>ontology</a:t>
            </a:r>
            <a:r>
              <a:rPr lang="it-IT" dirty="0"/>
              <a:t> </a:t>
            </a:r>
            <a:r>
              <a:rPr lang="it-IT" dirty="0" err="1"/>
              <a:t>developed</a:t>
            </a:r>
            <a:r>
              <a:rPr lang="it-IT" dirty="0"/>
              <a:t> in Protégé-2000</a:t>
            </a:r>
          </a:p>
          <a:p>
            <a:r>
              <a:rPr lang="it-IT" dirty="0"/>
              <a:t>The delivery of the </a:t>
            </a:r>
            <a:r>
              <a:rPr lang="it-IT" dirty="0" err="1"/>
              <a:t>ontology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free after the end of the </a:t>
            </a:r>
            <a:r>
              <a:rPr lang="it-IT" dirty="0" err="1"/>
              <a:t>course</a:t>
            </a:r>
            <a:r>
              <a:rPr lang="it-IT" dirty="0"/>
              <a:t>, and </a:t>
            </a:r>
            <a:r>
              <a:rPr lang="it-IT" dirty="0" err="1"/>
              <a:t>will</a:t>
            </a:r>
            <a:r>
              <a:rPr lang="it-IT" dirty="0"/>
              <a:t> be </a:t>
            </a:r>
            <a:r>
              <a:rPr lang="it-IT" dirty="0" err="1"/>
              <a:t>integrated</a:t>
            </a:r>
            <a:r>
              <a:rPr lang="it-IT" dirty="0"/>
              <a:t> with an </a:t>
            </a:r>
            <a:r>
              <a:rPr lang="it-IT" dirty="0" err="1"/>
              <a:t>oral</a:t>
            </a:r>
            <a:r>
              <a:rPr lang="it-IT" dirty="0"/>
              <a:t> </a:t>
            </a:r>
            <a:r>
              <a:rPr lang="it-IT" dirty="0" err="1"/>
              <a:t>exam</a:t>
            </a:r>
            <a:r>
              <a:rPr lang="it-IT" dirty="0"/>
              <a:t>,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requested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A7D8D43-1DEB-9679-3B34-A13EC07BD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959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E91D5-8431-0E74-2270-3E1D791D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Office hours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1D8091-7EC6-11EF-851E-3AF73467E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By </a:t>
            </a:r>
            <a:r>
              <a:rPr lang="it-IT" dirty="0" err="1"/>
              <a:t>appointment</a:t>
            </a:r>
            <a:endParaRPr lang="it-IT" dirty="0"/>
          </a:p>
          <a:p>
            <a:r>
              <a:rPr lang="it-IT" dirty="0" err="1"/>
              <a:t>Tuesdays</a:t>
            </a:r>
            <a:r>
              <a:rPr lang="it-IT" dirty="0"/>
              <a:t> 14.30-16.30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D7A9B6C-0047-FCC0-E3A4-05F1D4CD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243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2D98AA-DA98-4D0E-D846-D11B6A0C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Planned</a:t>
            </a:r>
            <a:r>
              <a:rPr lang="it-IT" dirty="0"/>
              <a:t> </a:t>
            </a:r>
            <a:r>
              <a:rPr lang="it-IT" dirty="0" err="1"/>
              <a:t>absences</a:t>
            </a:r>
            <a:r>
              <a:rPr lang="it-IT" dirty="0"/>
              <a:t> and </a:t>
            </a:r>
            <a:r>
              <a:rPr lang="it-IT" dirty="0" err="1"/>
              <a:t>festivities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D0F472-F2DD-2BB9-385F-458077AB4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Not in office (for a conference)</a:t>
            </a:r>
          </a:p>
          <a:p>
            <a:pPr lvl="1"/>
            <a:r>
              <a:rPr lang="it-IT" dirty="0"/>
              <a:t>20-24 </a:t>
            </a:r>
            <a:r>
              <a:rPr lang="it-IT" dirty="0" err="1"/>
              <a:t>October</a:t>
            </a:r>
            <a:endParaRPr lang="it-IT" dirty="0"/>
          </a:p>
          <a:p>
            <a:r>
              <a:rPr lang="it-IT" dirty="0"/>
              <a:t>Not in office (</a:t>
            </a:r>
            <a:r>
              <a:rPr lang="it-IT" dirty="0" err="1"/>
              <a:t>festivities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8/12</a:t>
            </a:r>
          </a:p>
          <a:p>
            <a:pPr lvl="1"/>
            <a:r>
              <a:rPr lang="it-IT" dirty="0"/>
              <a:t>23/12/2025 – 06/1/2026 Christmas pause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8687EBB-7F33-68DF-C7D9-C8C7ED52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9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005BE30-EF73-90CD-8E31-2F1A5F6E6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C2EEF3-3A60-C102-F9C4-FD89B804D5FD}"/>
              </a:ext>
            </a:extLst>
          </p:cNvPr>
          <p:cNvSpPr txBox="1"/>
          <p:nvPr/>
        </p:nvSpPr>
        <p:spPr>
          <a:xfrm>
            <a:off x="3443608" y="3039149"/>
            <a:ext cx="5530681" cy="748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267" dirty="0">
                <a:latin typeface="Script MT Bold" panose="03040602040607080904" pitchFamily="66" charset="77"/>
              </a:rPr>
              <a:t>SEE YOU NEXT TIME</a:t>
            </a:r>
          </a:p>
        </p:txBody>
      </p:sp>
    </p:spTree>
    <p:extLst>
      <p:ext uri="{BB962C8B-B14F-4D97-AF65-F5344CB8AC3E}">
        <p14:creationId xmlns:p14="http://schemas.microsoft.com/office/powerpoint/2010/main" val="352409239"/>
      </p:ext>
    </p:extLst>
  </p:cSld>
  <p:clrMapOvr>
    <a:masterClrMapping/>
  </p:clrMapOvr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8235C985-55F2-4F87-A977-D8A70953F925}" vid="{F161873E-82B3-403B-879B-B3C589C61F8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28170</TotalTime>
  <Words>265</Words>
  <Application>Microsoft Macintosh PowerPoint</Application>
  <PresentationFormat>Widescreen</PresentationFormat>
  <Paragraphs>63</Paragraphs>
  <Slides>10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Aptos Narrow</vt:lpstr>
      <vt:lpstr>Arial</vt:lpstr>
      <vt:lpstr>Calibri</vt:lpstr>
      <vt:lpstr>Script MT Bold</vt:lpstr>
      <vt:lpstr>Tahoma</vt:lpstr>
      <vt:lpstr>ESD_new_GP</vt:lpstr>
      <vt:lpstr>Introduction</vt:lpstr>
      <vt:lpstr>Agenda</vt:lpstr>
      <vt:lpstr>Goals</vt:lpstr>
      <vt:lpstr>Streams</vt:lpstr>
      <vt:lpstr>Lectures</vt:lpstr>
      <vt:lpstr>Lectures</vt:lpstr>
      <vt:lpstr>Exam</vt:lpstr>
      <vt:lpstr>Office hours</vt:lpstr>
      <vt:lpstr>Planned absences and festivities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Matteo Cristani</cp:lastModifiedBy>
  <cp:revision>113</cp:revision>
  <cp:lastPrinted>2023-02-23T15:19:08Z</cp:lastPrinted>
  <dcterms:created xsi:type="dcterms:W3CDTF">2023-01-30T09:37:49Z</dcterms:created>
  <dcterms:modified xsi:type="dcterms:W3CDTF">2025-08-20T06:32:21Z</dcterms:modified>
</cp:coreProperties>
</file>