
<file path=[Content_Types].xml><?xml version="1.0" encoding="utf-8"?>
<Types xmlns="http://schemas.openxmlformats.org/package/2006/content-types">
  <Default Extension="bin" ContentType="audio/unknown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9" r:id="rId1"/>
  </p:sldMasterIdLst>
  <p:notesMasterIdLst>
    <p:notesMasterId r:id="rId30"/>
  </p:notesMasterIdLst>
  <p:handoutMasterIdLst>
    <p:handoutMasterId r:id="rId31"/>
  </p:handoutMasterIdLst>
  <p:sldIdLst>
    <p:sldId id="257" r:id="rId2"/>
    <p:sldId id="287" r:id="rId3"/>
    <p:sldId id="262" r:id="rId4"/>
    <p:sldId id="270" r:id="rId5"/>
    <p:sldId id="271" r:id="rId6"/>
    <p:sldId id="273" r:id="rId7"/>
    <p:sldId id="276" r:id="rId8"/>
    <p:sldId id="278" r:id="rId9"/>
    <p:sldId id="297" r:id="rId10"/>
    <p:sldId id="298" r:id="rId11"/>
    <p:sldId id="299" r:id="rId12"/>
    <p:sldId id="300" r:id="rId13"/>
    <p:sldId id="295" r:id="rId14"/>
    <p:sldId id="296" r:id="rId15"/>
    <p:sldId id="274" r:id="rId16"/>
    <p:sldId id="275" r:id="rId17"/>
    <p:sldId id="279" r:id="rId18"/>
    <p:sldId id="281" r:id="rId19"/>
    <p:sldId id="301" r:id="rId20"/>
    <p:sldId id="282" r:id="rId21"/>
    <p:sldId id="283" r:id="rId22"/>
    <p:sldId id="284" r:id="rId23"/>
    <p:sldId id="285" r:id="rId24"/>
    <p:sldId id="289" r:id="rId25"/>
    <p:sldId id="291" r:id="rId26"/>
    <p:sldId id="292" r:id="rId27"/>
    <p:sldId id="293" r:id="rId28"/>
    <p:sldId id="294" r:id="rId29"/>
  </p:sldIdLst>
  <p:sldSz cx="9144000" cy="5143500" type="screen16x9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BC78E2-DF3B-4DCE-83BB-1269F2F94E16}">
          <p14:sldIdLst>
            <p14:sldId id="257"/>
            <p14:sldId id="287"/>
            <p14:sldId id="262"/>
            <p14:sldId id="270"/>
            <p14:sldId id="271"/>
            <p14:sldId id="273"/>
            <p14:sldId id="276"/>
            <p14:sldId id="278"/>
            <p14:sldId id="297"/>
            <p14:sldId id="298"/>
            <p14:sldId id="299"/>
            <p14:sldId id="300"/>
            <p14:sldId id="295"/>
            <p14:sldId id="296"/>
            <p14:sldId id="274"/>
            <p14:sldId id="275"/>
            <p14:sldId id="279"/>
            <p14:sldId id="281"/>
            <p14:sldId id="301"/>
            <p14:sldId id="282"/>
            <p14:sldId id="283"/>
            <p14:sldId id="284"/>
            <p14:sldId id="285"/>
            <p14:sldId id="289"/>
            <p14:sldId id="291"/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tefano" initials="s" lastIdx="2" clrIdx="0"/>
  <p:cmAuthor id="1" name="Matteo Cristani" initials="M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640000"/>
    <a:srgbClr val="8C3836"/>
    <a:srgbClr val="FFFF99"/>
    <a:srgbClr val="AA00AA"/>
    <a:srgbClr val="98BDD6"/>
    <a:srgbClr val="287ECB"/>
    <a:srgbClr val="F0BC51"/>
    <a:srgbClr val="D16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97" autoAdjust="0"/>
    <p:restoredTop sz="86803"/>
  </p:normalViewPr>
  <p:slideViewPr>
    <p:cSldViewPr snapToGrid="0">
      <p:cViewPr varScale="1">
        <p:scale>
          <a:sx n="141" d="100"/>
          <a:sy n="141" d="100"/>
        </p:scale>
        <p:origin x="528" y="184"/>
      </p:cViewPr>
      <p:guideLst>
        <p:guide orient="horz" pos="1620"/>
        <p:guide pos="2880"/>
        <p:guide orient="horz" pos="16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92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84E245-B5A0-47D5-87CC-147578DADA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E7327-C872-472C-88D2-681BC8B0B8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790A485-6416-43AD-8EA8-9AB4021210E8}" type="datetimeFigureOut">
              <a:rPr lang="en-US" altLang="it-IT"/>
              <a:pPr>
                <a:defRPr/>
              </a:pPr>
              <a:t>8/19/25</a:t>
            </a:fld>
            <a:endParaRPr lang="en-US" alt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62B19-2075-46D4-90D4-88B66BAEC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0A42C-D4BA-4B57-8810-2714EF7E80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04743EB-F053-4EB0-B667-D66F0FE415E3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244690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1CFC63-76EE-4C9F-A897-82314CDCE8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9A7D3CE-DD5A-4884-90F5-F968DA0A72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4804E0D8-8B5E-4615-B9C4-D99DA5FC31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926CD4B-EA52-4A35-ACD1-53E31ED8E8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C34C6D3B-D2DB-4D5F-B47B-BAC5A6830E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A0687926-11A6-4219-AC1F-0E059A65D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15E51E3-9A27-4F9D-92A0-CC2B6D7DC9D8}" type="slidenum">
              <a:rPr lang="nl-NL" altLang="it-IT"/>
              <a:pPr>
                <a:defRPr/>
              </a:pPr>
              <a:t>‹N›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3938765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57EF8F-8361-448B-B33D-B27F754A8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D545CD-AACE-464A-8873-AFDA579DE3B8}" type="slidenum">
              <a:rPr lang="nl-NL" altLang="it-IT">
                <a:latin typeface="Arial" panose="020B0604020202020204" pitchFamily="34" charset="0"/>
              </a:rPr>
              <a:pPr/>
              <a:t>1</a:t>
            </a:fld>
            <a:endParaRPr lang="nl-NL" altLang="it-IT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61A36A-26A4-442B-A193-C48F58FB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046788" cy="34020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3DB840-CA14-4E5B-BB44-138D926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0225"/>
            <a:ext cx="5026025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047" tIns="38524" rIns="77047" bIns="38524"/>
          <a:lstStyle/>
          <a:p>
            <a:pPr eaLnBrk="1" hangingPunct="1"/>
            <a:endParaRPr lang="en-US" altLang="it-IT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5E51E3-9A27-4F9D-92A0-CC2B6D7DC9D8}" type="slidenum">
              <a:rPr lang="nl-NL" altLang="it-IT" smtClean="0"/>
              <a:pPr>
                <a:defRPr/>
              </a:pPr>
              <a:t>16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32745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5E51E3-9A27-4F9D-92A0-CC2B6D7DC9D8}" type="slidenum">
              <a:rPr lang="nl-NL" altLang="it-IT" smtClean="0"/>
              <a:pPr>
                <a:defRPr/>
              </a:pPr>
              <a:t>20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1677882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5E51E3-9A27-4F9D-92A0-CC2B6D7DC9D8}" type="slidenum">
              <a:rPr lang="nl-NL" altLang="it-IT" smtClean="0"/>
              <a:pPr>
                <a:defRPr/>
              </a:pPr>
              <a:t>27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906378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8F5CD9-6EAF-4B8B-9A4D-446D9D82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5EC06-D9EF-421D-B636-55F4AACA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ED50A0-78C5-42A3-8B38-E1A9DBE8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E87F2A-AB2C-4D87-BCA6-9B3A24192F3A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7103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EF3F9C-540B-468D-B525-7A1FFFBD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C2101-7C3D-43D9-B409-B7ABFD75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1E8D0-7250-4243-89B8-07E48DFA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858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small" baseline="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FC1CC5-72B4-4175-96AC-0AAB76C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D2EC85-D444-4CAE-8A7C-2318EECB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7C0FDD-1C9E-4F9B-802B-D0D0B25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A0980B-2DE9-40AD-8A4E-40673DB95E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6898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DFE60E-FCA5-4468-A238-A20DBCFC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C1C83E-6933-48CB-81DB-2D6C24A0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580F37-86A5-4A66-88A3-29B44267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4396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C22FEF5-9EB2-453F-A5FE-EAB3C53E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A33CE7-8F18-4DB0-B6A3-7B697BF4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4923DE-6083-4153-995D-8F0374F8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D30E12C-3274-4FAB-BA9C-E68E77B0C14D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85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01FED8-2700-48C7-87EB-F70A6817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9426F0B-8BC6-4ADE-A8A8-5385F517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582239-C1BB-485A-9FEE-F41A21A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DF7909B-0F24-4DCB-B54E-6ED0CFB1C01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182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1FE9452-6A85-432A-9499-56CE62AA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0F88F0-4AAD-4067-8504-06A96A4C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0A01D4-5A85-4F93-84CF-2B84CC80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D64222-F0E5-4BFA-B141-DC6F71D6256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666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507EE9-0CDC-4148-8A28-DB77BBCD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22D2B5-089D-434E-80AE-5C832BCC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2FBC73-D206-45C1-96E4-53614CD9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476B2D-B94D-4307-9644-89F667858B3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1996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  <a:endParaRPr lang="en-US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0E7B81-0415-45FD-AB81-D333AF2D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E77243-2F71-42BE-B622-2FC4DE67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16188A-68ED-4AC6-B692-6ABAE89F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B338B3-9BD9-4219-AABA-FCF7A675F8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81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36C99A-F6EA-44E5-B86D-8086FD21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3AB2F-0E00-4C92-A508-186E6FD6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268B54-0662-4EE2-B3E9-264D1DF0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91C6E6-09D2-40BD-91F2-E474F31023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572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144EC7-064D-4629-A13E-BC17C0C7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BA2179-2FC3-4FAD-8BB0-1E9D316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A0186A-B7F0-4F3A-A07F-0F1394D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7B9D4D-E2B4-4C02-A143-BFB5949180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91095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495300"/>
            <a:ext cx="8637588" cy="617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328613" y="1456135"/>
            <a:ext cx="8208962" cy="30861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E44C37-FFE7-844F-95C7-6D1575D05F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Introduction to KR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7AEF9C-0663-D249-BEFB-11BA36C5E7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KNOWLEDGE REPRESENTATION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C979E5-53E4-1242-99E1-80BFE7EB00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fld id="{D88B0945-733E-0A44-92BE-DC0150C935E3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560343976"/>
      </p:ext>
    </p:extLst>
  </p:cSld>
  <p:clrMapOvr>
    <a:masterClrMapping/>
  </p:clrMapOvr>
  <p:transition spd="med">
    <p:randomBar dir="vert"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4D53D9-0413-4E98-B30A-0911779B1C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136525"/>
            <a:ext cx="7924800" cy="0"/>
          </a:xfrm>
          <a:prstGeom prst="line">
            <a:avLst/>
          </a:prstGeom>
          <a:noFill/>
          <a:ln w="25400">
            <a:solidFill>
              <a:srgbClr val="953735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" name="Segnaposto titolo 1">
            <a:extLst>
              <a:ext uri="{FF2B5EF4-FFF2-40B4-BE49-F238E27FC236}">
                <a16:creationId xmlns:a16="http://schemas.microsoft.com/office/drawing/2014/main" id="{AA9ADE31-466F-4A6E-B2C5-67CEBCE01D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952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  <a:endParaRPr lang="en-US" altLang="it-IT"/>
          </a:p>
        </p:txBody>
      </p:sp>
      <p:sp>
        <p:nvSpPr>
          <p:cNvPr id="2052" name="Segnaposto testo 2">
            <a:extLst>
              <a:ext uri="{FF2B5EF4-FFF2-40B4-BE49-F238E27FC236}">
                <a16:creationId xmlns:a16="http://schemas.microsoft.com/office/drawing/2014/main" id="{11430D93-9A39-4E38-B62A-1CFA666B5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866775"/>
            <a:ext cx="8229600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  <a:endParaRPr lang="en-US" alt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9039C1-3D31-4618-812B-62486E9A9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C481AF-DC48-4A15-B780-A6FE13CE1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15BA29-28F1-45BD-95D4-7D70F8E1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703C53-5324-49A8-8F9E-1D23D9472D20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43039F-1152-7640-A8B6-3592FA14B47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035975" y="18703"/>
            <a:ext cx="1108025" cy="3920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  <p:sldLayoutId id="2147484047" r:id="rId12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5ECE64-F2A7-4B42-9294-67E7C031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128" y="4092351"/>
            <a:ext cx="334803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Computer Science Department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University of Verona - Italy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E587E-09E1-4E74-AE2B-B98A490615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93216" y="843558"/>
            <a:ext cx="7772400" cy="2088232"/>
          </a:xfrm>
          <a:effectLst>
            <a:outerShdw blurRad="63500" dist="81320" dir="2319588" algn="ctr" rotWithShape="0">
              <a:schemeClr val="bg2">
                <a:alpha val="74997"/>
              </a:scheme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  <a:cs typeface="+mj-cs"/>
              </a:rPr>
              <a:t>Unit 2: Introduction to KR</a:t>
            </a:r>
            <a:endParaRPr lang="en-US" sz="3600" dirty="0">
              <a:ea typeface="+mj-ea"/>
              <a:cs typeface="+mj-cs"/>
            </a:endParaRPr>
          </a:p>
        </p:txBody>
      </p:sp>
      <p:pic>
        <p:nvPicPr>
          <p:cNvPr id="28677" name="Immagine 25" descr="univr-color.gif">
            <a:extLst>
              <a:ext uri="{FF2B5EF4-FFF2-40B4-BE49-F238E27FC236}">
                <a16:creationId xmlns:a16="http://schemas.microsoft.com/office/drawing/2014/main" id="{0F2A3EAB-47C4-4463-9952-A31D235A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41" y="3805014"/>
            <a:ext cx="10985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CasellaDiTesto 1">
            <a:extLst>
              <a:ext uri="{FF2B5EF4-FFF2-40B4-BE49-F238E27FC236}">
                <a16:creationId xmlns:a16="http://schemas.microsoft.com/office/drawing/2014/main" id="{7FE76117-C115-45E9-82F7-562E82BF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200818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it-IT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ACDFC462-06ED-DF60-5190-18A435C8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Attributive </a:t>
            </a:r>
            <a:r>
              <a:rPr lang="it-IT" dirty="0" err="1"/>
              <a:t>Logic</a:t>
            </a:r>
            <a:r>
              <a:rPr lang="it-IT" dirty="0"/>
              <a:t> with </a:t>
            </a:r>
            <a:r>
              <a:rPr lang="it-IT" dirty="0" err="1"/>
              <a:t>Complement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C081B81A-C255-BFB7-FD6F-465D23722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Unit 2 – </a:t>
            </a:r>
            <a:r>
              <a:rPr lang="it-IT" dirty="0" err="1"/>
              <a:t>Lecture</a:t>
            </a:r>
            <a:r>
              <a:rPr lang="it-IT" dirty="0"/>
              <a:t> 2.6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E0AE89-6CC4-C2D7-3FE0-F95B9537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3A16DA-CF2B-B592-926E-E8772A0D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DA911-FAC2-47CD-479F-AEA42CCD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81174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4062F527-312F-7642-A89F-E9F124C3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ALC </a:t>
            </a:r>
            <a:r>
              <a:rPr lang="it-IT" dirty="0"/>
              <a:t>LOGIC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76CD11D3-4E1D-8D43-BA0C-C06758F4E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Extension of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</a:t>
            </a:r>
            <a:r>
              <a:rPr lang="it-IT" dirty="0"/>
              <a:t>
In </a:t>
            </a:r>
            <a:r>
              <a:rPr lang="it-IT" dirty="0" err="1"/>
              <a:t>addition</a:t>
            </a:r>
            <a:r>
              <a:rPr lang="it-IT" dirty="0"/>
              <a:t> to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</a:t>
            </a:r>
            <a:r>
              <a:rPr lang="it-IT" dirty="0"/>
              <a:t>, </a:t>
            </a:r>
            <a:r>
              <a:rPr lang="it-IT" dirty="0" err="1"/>
              <a:t>there</a:t>
            </a:r>
            <a:r>
              <a:rPr lang="it-IT" dirty="0"/>
              <a:t> are</a:t>
            </a:r>
          </a:p>
          <a:p>
            <a:pPr lvl="1"/>
            <a:r>
              <a:rPr lang="it-IT" dirty="0"/>
              <a:t>Union
Full </a:t>
            </a:r>
            <a:r>
              <a:rPr lang="it-IT" dirty="0" err="1"/>
              <a:t>existential</a:t>
            </a:r>
            <a:r>
              <a:rPr lang="it-IT" dirty="0"/>
              <a:t> </a:t>
            </a:r>
            <a:r>
              <a:rPr lang="it-IT" dirty="0" err="1"/>
              <a:t>quantifier</a:t>
            </a:r>
            <a:r>
              <a:rPr lang="it-IT" dirty="0"/>
              <a:t>
Non-</a:t>
            </a:r>
            <a:r>
              <a:rPr lang="it-IT" dirty="0" err="1"/>
              <a:t>atomic</a:t>
            </a:r>
            <a:r>
              <a:rPr lang="it-IT" dirty="0"/>
              <a:t> </a:t>
            </a:r>
            <a:r>
              <a:rPr lang="it-IT" dirty="0" err="1"/>
              <a:t>negation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A82592-6CDA-E04D-97D0-233498C8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KR</a:t>
            </a:r>
          </a:p>
        </p:txBody>
      </p:sp>
    </p:spTree>
    <p:extLst>
      <p:ext uri="{BB962C8B-B14F-4D97-AF65-F5344CB8AC3E}">
        <p14:creationId xmlns:p14="http://schemas.microsoft.com/office/powerpoint/2010/main" val="2276176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BA7E42-E465-C74B-8BD5-2737CBDF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SEMANTICS OF ALC TERMINOLOGY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209185-9C7F-0849-A313-19877F9A1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terminology</a:t>
            </a:r>
            <a:r>
              <a:rPr lang="it-IT" dirty="0"/>
              <a:t>,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already</a:t>
            </a:r>
            <a:r>
              <a:rPr lang="it-IT" dirty="0"/>
              <a:t> </a:t>
            </a:r>
            <a:r>
              <a:rPr lang="it-IT" dirty="0" err="1"/>
              <a:t>said</a:t>
            </a:r>
            <a:r>
              <a:rPr lang="it-IT" dirty="0"/>
              <a:t>, </a:t>
            </a:r>
            <a:r>
              <a:rPr lang="it-IT" dirty="0" err="1"/>
              <a:t>is</a:t>
            </a:r>
            <a:r>
              <a:rPr lang="it-IT" dirty="0"/>
              <a:t> a set of </a:t>
            </a:r>
            <a:r>
              <a:rPr lang="it-IT" dirty="0" err="1"/>
              <a:t>axioms</a:t>
            </a:r>
            <a:r>
              <a:rPr lang="it-IT" dirty="0"/>
              <a:t> of </a:t>
            </a:r>
            <a:r>
              <a:rPr lang="it-IT" dirty="0" err="1"/>
              <a:t>inclusion</a:t>
            </a:r>
            <a:r>
              <a:rPr lang="it-IT" dirty="0"/>
              <a:t> and </a:t>
            </a:r>
            <a:r>
              <a:rPr lang="it-IT" dirty="0" err="1"/>
              <a:t>definition</a:t>
            </a:r>
            <a:r>
              <a:rPr lang="it-IT" dirty="0"/>
              <a:t>
First of </a:t>
            </a:r>
            <a:r>
              <a:rPr lang="it-IT" dirty="0" err="1"/>
              <a:t>all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define</a:t>
            </a:r>
            <a:r>
              <a:rPr lang="it-IT" dirty="0"/>
              <a:t> the </a:t>
            </a:r>
            <a:r>
              <a:rPr lang="it-IT" dirty="0" err="1"/>
              <a:t>semantics</a:t>
            </a:r>
            <a:r>
              <a:rPr lang="it-IT" dirty="0"/>
              <a:t> of a PURE </a:t>
            </a:r>
            <a:r>
              <a:rPr lang="it-IT" dirty="0" err="1"/>
              <a:t>terminology</a:t>
            </a:r>
            <a:r>
              <a:rPr lang="it-IT" dirty="0"/>
              <a:t>, i.e. made up </a:t>
            </a:r>
            <a:r>
              <a:rPr lang="it-IT" dirty="0" err="1"/>
              <a:t>only</a:t>
            </a:r>
            <a:r>
              <a:rPr lang="it-IT" dirty="0"/>
              <a:t> of </a:t>
            </a:r>
            <a:r>
              <a:rPr lang="it-IT" dirty="0" err="1"/>
              <a:t>definitions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60E148-0381-694A-93FE-4F58E096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186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F4D911-06E1-6C4F-9DCD-5ABB6B3B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WHAT DOES A DEFINITION MEAN?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C85949-EB2A-9A47-9D5D-C2714EF5D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Given an </a:t>
            </a:r>
            <a:r>
              <a:rPr lang="it-IT" dirty="0" err="1"/>
              <a:t>interpretation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associates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letter</a:t>
            </a:r>
            <a:r>
              <a:rPr lang="it-IT" dirty="0"/>
              <a:t> with a set in the domain, a </a:t>
            </a:r>
            <a:r>
              <a:rPr lang="it-IT" dirty="0" err="1"/>
              <a:t>definition</a:t>
            </a:r>
            <a:r>
              <a:rPr lang="it-IT" dirty="0"/>
              <a:t> </a:t>
            </a:r>
            <a:r>
              <a:rPr lang="it-IT" dirty="0" err="1"/>
              <a:t>uses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types</a:t>
            </a:r>
            <a:r>
              <a:rPr lang="it-IT" dirty="0"/>
              <a:t> of </a:t>
            </a:r>
            <a:r>
              <a:rPr lang="it-IT" dirty="0" err="1"/>
              <a:t>elements</a:t>
            </a:r>
            <a:endParaRPr lang="it-IT" dirty="0"/>
          </a:p>
          <a:p>
            <a:pPr lvl="1"/>
            <a:r>
              <a:rPr lang="it-IT" dirty="0"/>
              <a:t>Primitive Concepts
</a:t>
            </a:r>
            <a:r>
              <a:rPr lang="it-IT" dirty="0" err="1"/>
              <a:t>Defined</a:t>
            </a:r>
            <a:r>
              <a:rPr lang="it-IT" dirty="0"/>
              <a:t> concepts (i.e. concepts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correspond</a:t>
            </a:r>
            <a:r>
              <a:rPr lang="it-IT" dirty="0"/>
              <a:t> to a </a:t>
            </a:r>
            <a:r>
              <a:rPr lang="it-IT" dirty="0" err="1"/>
              <a:t>definition</a:t>
            </a:r>
            <a:r>
              <a:rPr lang="it-IT" dirty="0"/>
              <a:t>)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CE7AF4-D12A-2E44-A25C-3784CC53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681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C0F472-C63D-1B42-87D1-DBC517B0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EXPANSION OF TERMINOLOGIES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EC2DD3-0838-C64E-BFCA-26E101517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terminology</a:t>
            </a:r>
            <a:r>
              <a:rPr lang="it-IT" dirty="0"/>
              <a:t> T </a:t>
            </a:r>
            <a:r>
              <a:rPr lang="it-IT" dirty="0" err="1"/>
              <a:t>expands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 </a:t>
            </a:r>
            <a:r>
              <a:rPr lang="it-IT" dirty="0" err="1"/>
              <a:t>terminology</a:t>
            </a:r>
            <a:r>
              <a:rPr lang="it-IT" dirty="0"/>
              <a:t> T' </a:t>
            </a:r>
            <a:r>
              <a:rPr lang="it-IT" dirty="0" err="1"/>
              <a:t>when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definitions</a:t>
            </a:r>
            <a:r>
              <a:rPr lang="it-IT" dirty="0"/>
              <a:t> of T </a:t>
            </a:r>
            <a:r>
              <a:rPr lang="it-IT" dirty="0" err="1"/>
              <a:t>appear</a:t>
            </a:r>
            <a:r>
              <a:rPr lang="it-IT" dirty="0"/>
              <a:t> in T', in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instead</a:t>
            </a:r>
            <a:r>
              <a:rPr lang="it-IT" dirty="0"/>
              <a:t> of some concepts </a:t>
            </a:r>
            <a:r>
              <a:rPr lang="it-IT" dirty="0" err="1"/>
              <a:t>defined</a:t>
            </a:r>
            <a:r>
              <a:rPr lang="it-IT" dirty="0"/>
              <a:t> in T </a:t>
            </a:r>
            <a:r>
              <a:rPr lang="it-IT" dirty="0" err="1"/>
              <a:t>there</a:t>
            </a:r>
            <a:r>
              <a:rPr lang="it-IT" dirty="0"/>
              <a:t> are </a:t>
            </a:r>
            <a:r>
              <a:rPr lang="it-IT" dirty="0" err="1"/>
              <a:t>expressions</a:t>
            </a:r>
            <a:r>
              <a:rPr lang="it-IT" dirty="0"/>
              <a:t> of the </a:t>
            </a:r>
            <a:r>
              <a:rPr lang="it-IT" dirty="0" err="1"/>
              <a:t>definitions</a:t>
            </a:r>
            <a:r>
              <a:rPr lang="it-IT" dirty="0"/>
              <a:t> of </a:t>
            </a:r>
            <a:r>
              <a:rPr lang="it-IT" dirty="0" err="1"/>
              <a:t>those</a:t>
            </a:r>
            <a:r>
              <a:rPr lang="it-IT" dirty="0"/>
              <a:t> concepts in T.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994B60-5A1E-7D44-BF87-514D125D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88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E03C67-351B-2E4D-8090-3B59C4EA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TERMINAL EXPANSION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746140-23B1-634F-90EC-82F1880AF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terminology</a:t>
            </a:r>
            <a:r>
              <a:rPr lang="it-IT" dirty="0"/>
              <a:t> 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said</a:t>
            </a:r>
            <a:r>
              <a:rPr lang="it-IT" dirty="0"/>
              <a:t> to be </a:t>
            </a:r>
            <a:r>
              <a:rPr lang="it-IT" i="1" dirty="0" err="1"/>
              <a:t>terminally</a:t>
            </a:r>
            <a:r>
              <a:rPr lang="it-IT" dirty="0"/>
              <a:t> </a:t>
            </a:r>
            <a:r>
              <a:rPr lang="it-IT" dirty="0" err="1"/>
              <a:t>expanded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</a:t>
            </a:r>
            <a:r>
              <a:rPr lang="it-IT" dirty="0" err="1"/>
              <a:t>expansion</a:t>
            </a:r>
            <a:r>
              <a:rPr lang="it-IT" dirty="0"/>
              <a:t> of 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equal</a:t>
            </a:r>
            <a:r>
              <a:rPr lang="it-IT" dirty="0"/>
              <a:t> to T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32B84F-9D43-E24D-A5C5-A3F4158ED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292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101189-E743-5946-8444-8CDE5B277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BASIC INTERPRETATIONS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07CF8D-7AA2-8042-A281-F855217FB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/>
              <a:t>The </a:t>
            </a:r>
            <a:r>
              <a:rPr lang="it-IT" sz="2800" dirty="0" err="1"/>
              <a:t>function</a:t>
            </a:r>
            <a:r>
              <a:rPr lang="it-IT" sz="2800" dirty="0"/>
              <a:t> of </a:t>
            </a:r>
            <a:r>
              <a:rPr lang="it-IT" sz="2800" dirty="0" err="1"/>
              <a:t>interpreting</a:t>
            </a:r>
            <a:r>
              <a:rPr lang="it-IT" sz="2800" dirty="0"/>
              <a:t> </a:t>
            </a:r>
            <a:r>
              <a:rPr lang="it-IT" sz="2800" dirty="0" err="1"/>
              <a:t>basic</a:t>
            </a:r>
            <a:r>
              <a:rPr lang="it-IT" sz="2800" dirty="0"/>
              <a:t> </a:t>
            </a:r>
            <a:r>
              <a:rPr lang="it-IT" sz="2800" dirty="0" err="1"/>
              <a:t>terminology</a:t>
            </a:r>
            <a:r>
              <a:rPr lang="it-IT" sz="2800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to </a:t>
            </a:r>
            <a:r>
              <a:rPr lang="it-IT" sz="2800" dirty="0" err="1"/>
              <a:t>interpret</a:t>
            </a:r>
            <a:r>
              <a:rPr lang="it-IT" sz="2800" dirty="0"/>
              <a:t> </a:t>
            </a:r>
            <a:r>
              <a:rPr lang="it-IT" sz="2800" dirty="0" err="1"/>
              <a:t>only</a:t>
            </a:r>
            <a:r>
              <a:rPr lang="it-IT" sz="2800" dirty="0"/>
              <a:t> primitive concepts;
An </a:t>
            </a:r>
            <a:r>
              <a:rPr lang="it-IT" sz="2800" dirty="0" err="1"/>
              <a:t>interpretation</a:t>
            </a:r>
            <a:r>
              <a:rPr lang="it-IT" sz="2800" dirty="0"/>
              <a:t> of </a:t>
            </a:r>
            <a:r>
              <a:rPr lang="it-IT" sz="2800" dirty="0" err="1"/>
              <a:t>all</a:t>
            </a:r>
            <a:r>
              <a:rPr lang="it-IT" sz="2800" dirty="0"/>
              <a:t> concepts of a </a:t>
            </a:r>
            <a:r>
              <a:rPr lang="it-IT" sz="2800" dirty="0" err="1"/>
              <a:t>terminology</a:t>
            </a:r>
            <a:r>
              <a:rPr lang="it-IT" sz="2800" dirty="0"/>
              <a:t> T </a:t>
            </a:r>
            <a:r>
              <a:rPr lang="it-IT" sz="2800" b="1" i="1" dirty="0" err="1"/>
              <a:t>extends</a:t>
            </a:r>
            <a:r>
              <a:rPr lang="it-IT" sz="2800" dirty="0"/>
              <a:t> the </a:t>
            </a:r>
            <a:r>
              <a:rPr lang="it-IT" sz="2800" dirty="0" err="1"/>
              <a:t>basic</a:t>
            </a:r>
            <a:r>
              <a:rPr lang="it-IT" sz="2800" dirty="0"/>
              <a:t> </a:t>
            </a:r>
            <a:r>
              <a:rPr lang="it-IT" sz="2800" dirty="0" err="1"/>
              <a:t>interpretation</a:t>
            </a:r>
            <a:r>
              <a:rPr lang="it-IT" sz="2800" dirty="0"/>
              <a:t> of the primitive concepts of T;
A </a:t>
            </a:r>
            <a:r>
              <a:rPr lang="it-IT" sz="2800" dirty="0" err="1"/>
              <a:t>terminology</a:t>
            </a:r>
            <a:r>
              <a:rPr lang="it-IT" sz="2800" dirty="0"/>
              <a:t> T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said</a:t>
            </a:r>
            <a:r>
              <a:rPr lang="it-IT" sz="2800" dirty="0"/>
              <a:t> to be </a:t>
            </a:r>
            <a:r>
              <a:rPr lang="it-IT" sz="2800" b="1" i="1" dirty="0" err="1"/>
              <a:t>definitorial</a:t>
            </a:r>
            <a:r>
              <a:rPr lang="it-IT" sz="2800" dirty="0"/>
              <a:t> </a:t>
            </a:r>
            <a:r>
              <a:rPr lang="it-IT" sz="2800" dirty="0" err="1"/>
              <a:t>if</a:t>
            </a:r>
            <a:r>
              <a:rPr lang="it-IT" sz="2800" dirty="0"/>
              <a:t> and </a:t>
            </a:r>
            <a:r>
              <a:rPr lang="it-IT" sz="2800" dirty="0" err="1"/>
              <a:t>only</a:t>
            </a:r>
            <a:r>
              <a:rPr lang="it-IT" sz="2800" dirty="0"/>
              <a:t> </a:t>
            </a:r>
            <a:r>
              <a:rPr lang="it-IT" sz="2800" dirty="0" err="1"/>
              <a:t>if</a:t>
            </a:r>
            <a:r>
              <a:rPr lang="it-IT" sz="2800" dirty="0"/>
              <a:t> </a:t>
            </a:r>
            <a:r>
              <a:rPr lang="it-IT" sz="2800" dirty="0" err="1"/>
              <a:t>each</a:t>
            </a:r>
            <a:r>
              <a:rPr lang="it-IT" sz="2800" dirty="0"/>
              <a:t> </a:t>
            </a:r>
            <a:r>
              <a:rPr lang="it-IT" sz="2800" dirty="0" err="1"/>
              <a:t>basic</a:t>
            </a:r>
            <a:r>
              <a:rPr lang="it-IT" sz="2800" dirty="0"/>
              <a:t> </a:t>
            </a:r>
            <a:r>
              <a:rPr lang="it-IT" sz="2800" dirty="0" err="1"/>
              <a:t>interpretation</a:t>
            </a:r>
            <a:r>
              <a:rPr lang="it-IT" sz="2800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extended</a:t>
            </a:r>
            <a:r>
              <a:rPr lang="it-IT" sz="2800" dirty="0"/>
              <a:t> </a:t>
            </a:r>
            <a:r>
              <a:rPr lang="it-IT" sz="2800" dirty="0" err="1"/>
              <a:t>into</a:t>
            </a:r>
            <a:r>
              <a:rPr lang="it-IT" sz="2800" dirty="0"/>
              <a:t> one single </a:t>
            </a:r>
            <a:r>
              <a:rPr lang="it-IT" sz="2800" dirty="0" err="1"/>
              <a:t>interpretation</a:t>
            </a:r>
            <a:r>
              <a:rPr lang="it-IT" sz="2800" dirty="0"/>
              <a:t> of T.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FF5BDA-4937-4E41-878D-CEF2C7DA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15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FCFCC1-6FB4-AD03-CB27-8AAAD905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FIXPOINT SEMANTICS (1)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528AE0-FF50-253C-DC34-193156370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 a </a:t>
            </a:r>
            <a:r>
              <a:rPr lang="it-IT" dirty="0" err="1"/>
              <a:t>terminology</a:t>
            </a:r>
            <a:r>
              <a:rPr lang="it-IT" dirty="0"/>
              <a:t> T , </a:t>
            </a:r>
            <a:r>
              <a:rPr lang="it-IT" dirty="0" err="1"/>
              <a:t>every</a:t>
            </a:r>
            <a:r>
              <a:rPr lang="it-IT" dirty="0"/>
              <a:t> name symbol A </a:t>
            </a:r>
            <a:r>
              <a:rPr lang="it-IT" dirty="0" err="1"/>
              <a:t>occurs</a:t>
            </a:r>
            <a:r>
              <a:rPr lang="it-IT" dirty="0"/>
              <a:t> </a:t>
            </a:r>
            <a:r>
              <a:rPr lang="it-IT" dirty="0" err="1"/>
              <a:t>exactly</a:t>
            </a:r>
            <a:r>
              <a:rPr lang="it-IT" dirty="0"/>
              <a:t> once </a:t>
            </a:r>
            <a:r>
              <a:rPr lang="it-IT" dirty="0" err="1"/>
              <a:t>as</a:t>
            </a:r>
            <a:r>
              <a:rPr lang="it-IT" dirty="0"/>
              <a:t> the </a:t>
            </a:r>
            <a:r>
              <a:rPr lang="it-IT" dirty="0" err="1"/>
              <a:t>left</a:t>
            </a:r>
            <a:r>
              <a:rPr lang="it-IT" dirty="0"/>
              <a:t>-hand side of an </a:t>
            </a:r>
            <a:r>
              <a:rPr lang="it-IT" dirty="0" err="1"/>
              <a:t>axiom</a:t>
            </a:r>
            <a:r>
              <a:rPr lang="it-IT" dirty="0"/>
              <a:t> A ≡ C.</a:t>
            </a:r>
          </a:p>
          <a:p>
            <a:r>
              <a:rPr lang="it-IT" dirty="0" err="1"/>
              <a:t>Therefore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view</a:t>
            </a:r>
            <a:r>
              <a:rPr lang="it-IT" dirty="0"/>
              <a:t> T </a:t>
            </a:r>
            <a:r>
              <a:rPr lang="it-IT" dirty="0" err="1"/>
              <a:t>as</a:t>
            </a:r>
            <a:r>
              <a:rPr lang="it-IT" dirty="0"/>
              <a:t> a mapping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associates</a:t>
            </a:r>
            <a:r>
              <a:rPr lang="it-IT" dirty="0"/>
              <a:t> to a name symbol A the concept </a:t>
            </a:r>
            <a:r>
              <a:rPr lang="it-IT" dirty="0" err="1"/>
              <a:t>description</a:t>
            </a:r>
            <a:r>
              <a:rPr lang="it-IT" dirty="0"/>
              <a:t> T (A) = C.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5244A8-8B6F-C802-65A3-3A8F8831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F43029-52E8-1528-61AD-E14309D8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9DAD59-7914-4B2E-6CF9-93F256B9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214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951AB0-E3F9-0396-7DDA-D8C65C56A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FIXPOINT SEMANTICS (2)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FDDD94-0EE2-600C-24C6-EACE22059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With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notation</a:t>
            </a:r>
            <a:r>
              <a:rPr lang="it-IT" dirty="0"/>
              <a:t>, an </a:t>
            </a:r>
            <a:r>
              <a:rPr lang="it-IT" dirty="0" err="1"/>
              <a:t>interpretation</a:t>
            </a:r>
            <a:r>
              <a:rPr lang="it-IT" dirty="0"/>
              <a:t> I </a:t>
            </a:r>
            <a:r>
              <a:rPr lang="it-IT" dirty="0" err="1"/>
              <a:t>is</a:t>
            </a:r>
            <a:r>
              <a:rPr lang="it-IT" dirty="0"/>
              <a:t> a model of T </a:t>
            </a:r>
            <a:r>
              <a:rPr lang="it-IT" dirty="0" err="1"/>
              <a:t>if</a:t>
            </a:r>
            <a:r>
              <a:rPr lang="it-IT" dirty="0"/>
              <a:t>, and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, A</a:t>
            </a:r>
            <a:r>
              <a:rPr lang="it-IT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I</a:t>
            </a:r>
            <a:r>
              <a:rPr lang="it-IT" dirty="0"/>
              <a:t> = (T (A))</a:t>
            </a:r>
            <a:r>
              <a:rPr lang="it-IT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I</a:t>
            </a:r>
            <a:r>
              <a:rPr lang="it-IT" dirty="0"/>
              <a:t>.</a:t>
            </a:r>
          </a:p>
          <a:p>
            <a:r>
              <a:rPr lang="it-IT" dirty="0" err="1"/>
              <a:t>Let</a:t>
            </a:r>
            <a:r>
              <a:rPr lang="it-IT" dirty="0"/>
              <a:t> T be a </a:t>
            </a:r>
            <a:r>
              <a:rPr lang="it-IT" dirty="0" err="1"/>
              <a:t>terminology</a:t>
            </a:r>
            <a:r>
              <a:rPr lang="it-IT" dirty="0"/>
              <a:t>, and </a:t>
            </a:r>
            <a:r>
              <a:rPr lang="it-IT" dirty="0" err="1"/>
              <a:t>let</a:t>
            </a:r>
            <a:r>
              <a:rPr lang="it-IT" dirty="0"/>
              <a:t> </a:t>
            </a:r>
            <a:r>
              <a:rPr lang="it-IT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dirty="0"/>
              <a:t> be a </a:t>
            </a:r>
            <a:r>
              <a:rPr lang="it-IT" dirty="0" err="1"/>
              <a:t>fixed</a:t>
            </a:r>
            <a:r>
              <a:rPr lang="it-IT" dirty="0"/>
              <a:t> base </a:t>
            </a:r>
            <a:r>
              <a:rPr lang="it-IT" dirty="0" err="1"/>
              <a:t>interpretation</a:t>
            </a:r>
            <a:r>
              <a:rPr lang="it-IT" dirty="0"/>
              <a:t> of T . By </a:t>
            </a:r>
            <a:r>
              <a:rPr lang="it-IT" dirty="0" err="1"/>
              <a:t>Ext</a:t>
            </a:r>
            <a:r>
              <a:rPr lang="it-IT" baseline="-25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baseline="-25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denote</a:t>
            </a:r>
            <a:r>
              <a:rPr lang="it-IT" dirty="0"/>
              <a:t> the set of </a:t>
            </a:r>
            <a:r>
              <a:rPr lang="it-IT" dirty="0" err="1"/>
              <a:t>all</a:t>
            </a:r>
            <a:r>
              <a:rPr lang="it-IT" dirty="0"/>
              <a:t> extensions of </a:t>
            </a:r>
            <a:r>
              <a:rPr lang="it-IT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dirty="0"/>
              <a:t>.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9B8A2F-A557-DD19-1976-C1565CC66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18A0A93-F0A7-1517-981A-B86D31B4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B977C5-D890-5E99-7608-B43E948B6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1850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DD31E6-CB8B-8413-409F-32AD2974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FIXPOINT SEMANTICS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19DAF7E-8D73-197A-D6E0-5472FEF3E6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Let T</a:t>
                </a:r>
                <a:r>
                  <a:rPr lang="it-IT" baseline="-25000" dirty="0">
                    <a:latin typeface="Apple Chancery" panose="03020702040506060504" pitchFamily="66" charset="-79"/>
                    <a:cs typeface="Apple Chancery" panose="03020702040506060504" pitchFamily="66" charset="-79"/>
                  </a:rPr>
                  <a:t>J</a:t>
                </a:r>
                <a:r>
                  <a:rPr lang="it-IT" dirty="0"/>
                  <a:t> : </a:t>
                </a:r>
                <a:r>
                  <a:rPr lang="it-IT" dirty="0" err="1"/>
                  <a:t>Ext</a:t>
                </a:r>
                <a:r>
                  <a:rPr lang="it-IT" baseline="-25000" dirty="0" err="1">
                    <a:latin typeface="Apple Chancery" panose="03020702040506060504" pitchFamily="66" charset="-79"/>
                    <a:cs typeface="Apple Chancery" panose="03020702040506060504" pitchFamily="66" charset="-79"/>
                  </a:rPr>
                  <a:t>J</a:t>
                </a:r>
                <a:r>
                  <a:rPr lang="it-IT" dirty="0"/>
                  <a:t> → </a:t>
                </a:r>
                <a:r>
                  <a:rPr lang="it-IT" dirty="0" err="1"/>
                  <a:t>Ext</a:t>
                </a:r>
                <a:r>
                  <a:rPr lang="it-IT" baseline="-25000" dirty="0" err="1">
                    <a:latin typeface="Apple Chancery" panose="03020702040506060504" pitchFamily="66" charset="-79"/>
                    <a:cs typeface="Apple Chancery" panose="03020702040506060504" pitchFamily="66" charset="-79"/>
                  </a:rPr>
                  <a:t>J</a:t>
                </a:r>
                <a:r>
                  <a:rPr lang="it-IT" dirty="0"/>
                  <a:t> be the mapping </a:t>
                </a:r>
                <a:r>
                  <a:rPr lang="it-IT" dirty="0" err="1"/>
                  <a:t>that</a:t>
                </a:r>
                <a:r>
                  <a:rPr lang="it-IT" dirty="0"/>
                  <a:t> </a:t>
                </a:r>
                <a:r>
                  <a:rPr lang="it-IT" dirty="0" err="1"/>
                  <a:t>maps</a:t>
                </a:r>
                <a:r>
                  <a:rPr lang="it-IT" dirty="0"/>
                  <a:t> the extension</a:t>
                </a:r>
                <a:r>
                  <a:rPr lang="it-IT" dirty="0">
                    <a:latin typeface="Apple Chancery" panose="03020702040506060504" pitchFamily="66" charset="-79"/>
                    <a:cs typeface="Apple Chancery" panose="03020702040506060504" pitchFamily="66" charset="-79"/>
                  </a:rPr>
                  <a:t> I </a:t>
                </a:r>
                <a:r>
                  <a:rPr lang="it-IT" dirty="0"/>
                  <a:t>to the extension T</a:t>
                </a:r>
                <a:r>
                  <a:rPr lang="it-IT" baseline="-25000" dirty="0">
                    <a:latin typeface="Apple Chancery" panose="03020702040506060504" pitchFamily="66" charset="-79"/>
                    <a:cs typeface="Apple Chancery" panose="03020702040506060504" pitchFamily="66" charset="-79"/>
                  </a:rPr>
                  <a:t>J</a:t>
                </a:r>
                <a:r>
                  <a:rPr lang="it-IT" dirty="0"/>
                  <a:t>(</a:t>
                </a:r>
                <a:r>
                  <a:rPr lang="it-IT" dirty="0">
                    <a:latin typeface="Apple Chancery" panose="03020702040506060504" pitchFamily="66" charset="-79"/>
                    <a:cs typeface="Apple Chancery" panose="03020702040506060504" pitchFamily="66" charset="-79"/>
                  </a:rPr>
                  <a:t>I</a:t>
                </a:r>
                <a:r>
                  <a:rPr lang="it-IT" dirty="0"/>
                  <a:t>) </a:t>
                </a:r>
                <a:r>
                  <a:rPr lang="it-IT" dirty="0" err="1"/>
                  <a:t>defined</a:t>
                </a:r>
                <a:r>
                  <a:rPr lang="it-IT" dirty="0"/>
                  <a:t> by </a:t>
                </a:r>
              </a:p>
              <a:p>
                <a:pPr marL="0" indent="0">
                  <a:buNone/>
                </a:pPr>
                <a:r>
                  <a:rPr lang="it-IT" dirty="0"/>
                  <a:t>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𝒯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𝒥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</m:sup>
                    </m:sSup>
                  </m:oMath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	for </a:t>
                </a:r>
                <a:r>
                  <a:rPr lang="it-IT" dirty="0" err="1"/>
                  <a:t>each</a:t>
                </a:r>
                <a:r>
                  <a:rPr lang="it-IT" dirty="0"/>
                  <a:t> name symbol A.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19DAF7E-8D73-197A-D6E0-5472FEF3E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 r="-1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C96E58-F215-4395-C0A4-30738E97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82D490-996E-9EA3-2ECF-CA21E243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6B2CDB-1E46-8DC6-CCA5-B18A54D3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2328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97146C-7339-ABAC-F560-A24ECF6D5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FIXPOINT SEMANTICS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0DDFB91-04AD-BC5D-CA0D-0F77B3E36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ℐ</m:t>
                    </m:r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a </a:t>
                </a:r>
                <a:r>
                  <a:rPr lang="it-IT" dirty="0" err="1"/>
                  <a:t>fixpoint</a:t>
                </a:r>
                <a:r>
                  <a:rPr lang="it-IT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𝒥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iﬀ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ℐ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𝒥</m:t>
                        </m:r>
                      </m:sub>
                    </m:sSub>
                  </m:oMath>
                </a14:m>
                <a:r>
                  <a:rPr lang="it-IT" dirty="0"/>
                  <a:t> (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ℐ</m:t>
                    </m:r>
                  </m:oMath>
                </a14:m>
                <a:r>
                  <a:rPr lang="it-IT" dirty="0"/>
                  <a:t>), </a:t>
                </a:r>
                <a:r>
                  <a:rPr lang="it-IT" dirty="0" err="1"/>
                  <a:t>namely</a:t>
                </a: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		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</m:sup>
                    </m:sSup>
                  </m:oMath>
                </a14:m>
                <a:r>
                  <a:rPr lang="it-IT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𝒯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𝒥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it-IT" baseline="30000" dirty="0">
                    <a:latin typeface="Apple Chancery" panose="03020702040506060504" pitchFamily="66" charset="-79"/>
                    <a:cs typeface="Apple Chancery" panose="03020702040506060504" pitchFamily="66" charset="-79"/>
                  </a:rPr>
                  <a:t>  </a:t>
                </a:r>
                <a:r>
                  <a:rPr lang="it-IT" dirty="0"/>
                  <a:t>for </a:t>
                </a:r>
                <a:r>
                  <a:rPr lang="it-IT" dirty="0" err="1"/>
                  <a:t>all</a:t>
                </a:r>
                <a:r>
                  <a:rPr lang="it-IT" dirty="0"/>
                  <a:t> name symbols. </a:t>
                </a:r>
              </a:p>
              <a:p>
                <a:pPr marL="0" indent="0">
                  <a:buNone/>
                </a:pPr>
                <a:r>
                  <a:rPr lang="it-IT" dirty="0" err="1"/>
                  <a:t>This</a:t>
                </a:r>
                <a:r>
                  <a:rPr lang="it-IT" dirty="0"/>
                  <a:t> </a:t>
                </a:r>
                <a:r>
                  <a:rPr lang="it-IT" dirty="0" err="1"/>
                  <a:t>means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, for </a:t>
                </a:r>
                <a:r>
                  <a:rPr lang="it-IT" dirty="0" err="1"/>
                  <a:t>every</a:t>
                </a:r>
                <a:r>
                  <a:rPr lang="it-IT" dirty="0"/>
                  <a:t> </a:t>
                </a:r>
                <a:r>
                  <a:rPr lang="it-IT" dirty="0" err="1"/>
                  <a:t>definition</a:t>
                </a:r>
                <a:r>
                  <a:rPr lang="it-IT" dirty="0"/>
                  <a:t> A ≡ C in T , </a:t>
                </a:r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</a:p>
              <a:p>
                <a:pPr marL="0" indent="0">
                  <a:buNone/>
                </a:pPr>
                <a:r>
                  <a:rPr lang="it-IT" dirty="0"/>
                  <a:t>		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</m:sup>
                    </m:sSup>
                  </m:oMath>
                </a14:m>
                <a:r>
                  <a:rPr lang="it-IT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𝒯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𝒥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</m:sup>
                    </m:sSup>
                  </m:oMath>
                </a14:m>
                <a:r>
                  <a:rPr lang="it-IT" dirty="0"/>
                  <a:t>, </a:t>
                </a:r>
              </a:p>
              <a:p>
                <a:pPr marL="0" indent="0">
                  <a:buNone/>
                </a:pPr>
                <a:r>
                  <a:rPr lang="it-IT" dirty="0" err="1"/>
                  <a:t>which</a:t>
                </a:r>
                <a:r>
                  <a:rPr lang="it-IT" dirty="0"/>
                  <a:t> </a:t>
                </a:r>
                <a:r>
                  <a:rPr lang="it-IT" dirty="0" err="1"/>
                  <a:t>means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ℐ</m:t>
                    </m:r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a model of T .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0DDFB91-04AD-BC5D-CA0D-0F77B3E36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594B17-574B-711C-8F62-F1E0586CD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84C622-8800-3F66-4781-10D7D35E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020446-37BC-63F3-0973-1A5FBB502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95987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2D0F5B-18DD-B818-9F02-22CA18B0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GREATEST AND LEAST FIXPOINTS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152425-20A8-6EB4-B01B-1D92564B8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f</a:t>
            </a:r>
            <a:r>
              <a:rPr lang="it-IT" dirty="0"/>
              <a:t> : L → L on a lattice (L, ≼) </a:t>
            </a:r>
            <a:r>
              <a:rPr lang="it-IT" dirty="0" err="1"/>
              <a:t>is</a:t>
            </a:r>
            <a:r>
              <a:rPr lang="it-IT" dirty="0"/>
              <a:t> monotone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f</a:t>
            </a:r>
            <a:r>
              <a:rPr lang="it-IT" dirty="0"/>
              <a:t> (x) ≼ </a:t>
            </a:r>
            <a:r>
              <a:rPr lang="it-IT" dirty="0" err="1"/>
              <a:t>f</a:t>
            </a:r>
            <a:r>
              <a:rPr lang="it-IT" dirty="0"/>
              <a:t> (y) </a:t>
            </a:r>
            <a:r>
              <a:rPr lang="it-IT" dirty="0" err="1"/>
              <a:t>whenever</a:t>
            </a:r>
            <a:r>
              <a:rPr lang="it-IT" dirty="0"/>
              <a:t> x ≼ y. </a:t>
            </a:r>
          </a:p>
          <a:p>
            <a:r>
              <a:rPr lang="it-IT" dirty="0" err="1"/>
              <a:t>Tarski’s</a:t>
            </a:r>
            <a:r>
              <a:rPr lang="it-IT" dirty="0"/>
              <a:t> </a:t>
            </a:r>
            <a:r>
              <a:rPr lang="it-IT" dirty="0" err="1"/>
              <a:t>Fixpoint</a:t>
            </a:r>
            <a:r>
              <a:rPr lang="it-IT" dirty="0"/>
              <a:t> </a:t>
            </a:r>
            <a:r>
              <a:rPr lang="it-IT" dirty="0" err="1"/>
              <a:t>Theorem</a:t>
            </a:r>
            <a:r>
              <a:rPr lang="it-IT" dirty="0"/>
              <a:t> </a:t>
            </a:r>
            <a:r>
              <a:rPr lang="it-IT" dirty="0" err="1"/>
              <a:t>says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for a monotone </a:t>
            </a:r>
            <a:r>
              <a:rPr lang="it-IT" dirty="0" err="1"/>
              <a:t>function</a:t>
            </a:r>
            <a:r>
              <a:rPr lang="it-IT" dirty="0"/>
              <a:t> on a complete lattice the set of </a:t>
            </a:r>
            <a:r>
              <a:rPr lang="it-IT" dirty="0" err="1"/>
              <a:t>fixpoints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nonempty</a:t>
            </a:r>
            <a:r>
              <a:rPr lang="it-IT" dirty="0"/>
              <a:t> and </a:t>
            </a:r>
            <a:r>
              <a:rPr lang="it-IT" dirty="0" err="1"/>
              <a:t>forms</a:t>
            </a:r>
            <a:r>
              <a:rPr lang="it-IT" dirty="0"/>
              <a:t> </a:t>
            </a:r>
            <a:r>
              <a:rPr lang="it-IT" dirty="0" err="1"/>
              <a:t>itself</a:t>
            </a:r>
            <a:r>
              <a:rPr lang="it-IT" dirty="0"/>
              <a:t> a complete lattice. In </a:t>
            </a:r>
            <a:r>
              <a:rPr lang="it-IT" dirty="0" err="1"/>
              <a:t>particular</a:t>
            </a:r>
            <a:r>
              <a:rPr lang="it-IT" dirty="0"/>
              <a:t>,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least</a:t>
            </a:r>
            <a:r>
              <a:rPr lang="it-IT" dirty="0"/>
              <a:t> and a </a:t>
            </a:r>
            <a:r>
              <a:rPr lang="it-IT" dirty="0" err="1"/>
              <a:t>greatest</a:t>
            </a:r>
            <a:r>
              <a:rPr lang="it-IT" dirty="0"/>
              <a:t> </a:t>
            </a:r>
            <a:r>
              <a:rPr lang="it-IT" dirty="0" err="1"/>
              <a:t>fixpoint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FF86D8-DE3B-2448-11D4-36569557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E577FD-47AF-6B60-1896-596AAD56F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00F9CCE-9FCF-1B67-C101-421E0AED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13039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285EAD-A283-8DF3-37C0-A35BB268A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FIXPOINT SEMANTICS (CTD)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7BE54D-ED00-FD42-E9BD-7EFA3C627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define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a </a:t>
            </a:r>
            <a:r>
              <a:rPr lang="it-IT" dirty="0" err="1"/>
              <a:t>terminology</a:t>
            </a:r>
            <a:r>
              <a:rPr lang="it-IT" dirty="0"/>
              <a:t> T </a:t>
            </a:r>
            <a:r>
              <a:rPr lang="it-IT" dirty="0" err="1"/>
              <a:t>is</a:t>
            </a:r>
            <a:r>
              <a:rPr lang="it-IT" dirty="0"/>
              <a:t> monotone </a:t>
            </a:r>
            <a:r>
              <a:rPr lang="it-IT" dirty="0" err="1"/>
              <a:t>if</a:t>
            </a:r>
            <a:r>
              <a:rPr lang="it-IT" dirty="0"/>
              <a:t> the mapping T</a:t>
            </a:r>
            <a:r>
              <a:rPr lang="it-IT" baseline="-25000" dirty="0"/>
              <a:t>J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monotone for </a:t>
            </a:r>
            <a:r>
              <a:rPr lang="it-IT" dirty="0" err="1"/>
              <a:t>all</a:t>
            </a:r>
            <a:r>
              <a:rPr lang="it-IT" dirty="0"/>
              <a:t> base </a:t>
            </a:r>
            <a:r>
              <a:rPr lang="it-IT" dirty="0" err="1"/>
              <a:t>interpretations</a:t>
            </a:r>
            <a:r>
              <a:rPr lang="it-IT" dirty="0"/>
              <a:t> </a:t>
            </a:r>
            <a:r>
              <a:rPr lang="it-IT" dirty="0" err="1"/>
              <a:t>J</a:t>
            </a:r>
            <a:r>
              <a:rPr lang="it-IT" dirty="0"/>
              <a:t> . By </a:t>
            </a:r>
            <a:r>
              <a:rPr lang="it-IT" dirty="0" err="1"/>
              <a:t>Tarski’s</a:t>
            </a:r>
            <a:r>
              <a:rPr lang="it-IT" dirty="0"/>
              <a:t> </a:t>
            </a:r>
            <a:r>
              <a:rPr lang="it-IT" dirty="0" err="1"/>
              <a:t>theorem</a:t>
            </a:r>
            <a:r>
              <a:rPr lang="it-IT" dirty="0"/>
              <a:t>,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terminologies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greatest</a:t>
            </a:r>
            <a:r>
              <a:rPr lang="it-IT" dirty="0"/>
              <a:t> and </a:t>
            </a:r>
            <a:r>
              <a:rPr lang="it-IT" dirty="0" err="1"/>
              <a:t>least</a:t>
            </a:r>
            <a:r>
              <a:rPr lang="it-IT" dirty="0"/>
              <a:t> </a:t>
            </a:r>
            <a:r>
              <a:rPr lang="it-IT" dirty="0" err="1"/>
              <a:t>fixpoints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5E566D-C72B-C466-E606-B14F0A53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C2D95-F761-0610-1466-C902E91A8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5CBD74-6856-1478-6589-AB2A06193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94624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650235-F5DD-6548-B4C6-747E8759E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CONCEPTUAL DEPENDENCY GRAPH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388453-650D-2E44-B80D-C0B9ADA6A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where</a:t>
            </a:r>
            <a:r>
              <a:rPr lang="it-IT" dirty="0"/>
              <a:t>:</a:t>
            </a:r>
          </a:p>
          <a:p>
            <a:pPr lvl="1"/>
            <a:r>
              <a:rPr lang="it-IT" dirty="0" err="1"/>
              <a:t>Nodes</a:t>
            </a:r>
            <a:r>
              <a:rPr lang="it-IT" dirty="0"/>
              <a:t> are the concepts of a </a:t>
            </a:r>
            <a:r>
              <a:rPr lang="it-IT" dirty="0" err="1"/>
              <a:t>terminology</a:t>
            </a:r>
            <a:r>
              <a:rPr lang="it-IT" dirty="0"/>
              <a:t>;
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arc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concepts A and B </a:t>
            </a:r>
            <a:r>
              <a:rPr lang="it-IT" dirty="0" err="1"/>
              <a:t>when</a:t>
            </a:r>
            <a:r>
              <a:rPr lang="it-IT" dirty="0"/>
              <a:t> B </a:t>
            </a:r>
            <a:r>
              <a:rPr lang="it-IT" dirty="0" err="1"/>
              <a:t>appears</a:t>
            </a:r>
            <a:r>
              <a:rPr lang="it-IT" dirty="0"/>
              <a:t> in the </a:t>
            </a:r>
            <a:r>
              <a:rPr lang="it-IT" dirty="0" err="1"/>
              <a:t>definition</a:t>
            </a:r>
            <a:r>
              <a:rPr lang="it-IT" dirty="0"/>
              <a:t> of A.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11280DB-9204-9340-8E69-9F862BDA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84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1D7066-A086-1444-BF66-8E70E7BB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OF CDG DETERMINATION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76CEFF3-5922-874A-8DA4-6996ED4D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B5D60E9F-DD97-2C42-932B-DD6F660CE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573"/>
            <a:ext cx="3459192" cy="3727450"/>
          </a:xfrm>
        </p:spPr>
        <p:txBody>
          <a:bodyPr/>
          <a:lstStyle/>
          <a:p>
            <a:r>
              <a:rPr lang="it-IT" sz="2400" dirty="0"/>
              <a:t>A ≡ B ⊓ ∃R.¬C</a:t>
            </a:r>
          </a:p>
          <a:p>
            <a:r>
              <a:rPr lang="it-IT" sz="2400" dirty="0"/>
              <a:t>B ≡ ∀R.E ⊔∃S.(D⊓E)</a:t>
            </a:r>
          </a:p>
          <a:p>
            <a:r>
              <a:rPr lang="it-IT" sz="2400" dirty="0"/>
              <a:t>C ≡ ∃R.C</a:t>
            </a:r>
          </a:p>
          <a:p>
            <a:r>
              <a:rPr lang="it-IT" sz="2400" dirty="0"/>
              <a:t>E ≡¬D</a:t>
            </a:r>
          </a:p>
          <a:p>
            <a:r>
              <a:rPr lang="it-IT" sz="2400" dirty="0"/>
              <a:t>F ≡ ∃R.E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8B88A9D-A1A8-A94F-8C10-EE3239F62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095" y="1052573"/>
            <a:ext cx="3975100" cy="229870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39BF954-7E94-444F-949B-0EA993B0F873}"/>
              </a:ext>
            </a:extLst>
          </p:cNvPr>
          <p:cNvSpPr txBox="1"/>
          <p:nvPr/>
        </p:nvSpPr>
        <p:spPr>
          <a:xfrm>
            <a:off x="4437989" y="1633337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C3EDA62-6B1F-3442-8456-1CC46298C290}"/>
              </a:ext>
            </a:extLst>
          </p:cNvPr>
          <p:cNvSpPr txBox="1"/>
          <p:nvPr/>
        </p:nvSpPr>
        <p:spPr>
          <a:xfrm>
            <a:off x="4574489" y="2098099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+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DB08EA7-D2AD-CF4B-8066-64AD59CD099A}"/>
              </a:ext>
            </a:extLst>
          </p:cNvPr>
          <p:cNvSpPr txBox="1"/>
          <p:nvPr/>
        </p:nvSpPr>
        <p:spPr>
          <a:xfrm>
            <a:off x="7208807" y="28007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1715591-516B-574A-8FD3-2CBAAC1E3AF8}"/>
              </a:ext>
            </a:extLst>
          </p:cNvPr>
          <p:cNvSpPr txBox="1"/>
          <p:nvPr/>
        </p:nvSpPr>
        <p:spPr>
          <a:xfrm>
            <a:off x="5179476" y="3135676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+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351D9EC-5D72-2D4B-8FE0-72C88E2A6D44}"/>
              </a:ext>
            </a:extLst>
          </p:cNvPr>
          <p:cNvSpPr txBox="1"/>
          <p:nvPr/>
        </p:nvSpPr>
        <p:spPr>
          <a:xfrm>
            <a:off x="5058305" y="94390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+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30E2FB6-0F88-3C41-8C1C-D01851F78B9D}"/>
              </a:ext>
            </a:extLst>
          </p:cNvPr>
          <p:cNvSpPr txBox="1"/>
          <p:nvPr/>
        </p:nvSpPr>
        <p:spPr>
          <a:xfrm>
            <a:off x="6957940" y="1700649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+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4D975B8-39E8-884A-BA70-81BF758789DA}"/>
              </a:ext>
            </a:extLst>
          </p:cNvPr>
          <p:cNvSpPr txBox="1"/>
          <p:nvPr/>
        </p:nvSpPr>
        <p:spPr>
          <a:xfrm>
            <a:off x="6168321" y="2002669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09685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548EE6-F7F8-1847-A02C-EC8B76F4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SYNTACTICALLY MONOTONIC TERMINOLOGIES (2)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AA3DB3-F9EB-7E4A-8D7A-7DE5AE88B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terminology</a:t>
            </a:r>
            <a:r>
              <a:rPr lang="it-IT" dirty="0"/>
              <a:t>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syntactically</a:t>
            </a:r>
            <a:r>
              <a:rPr lang="it-IT" dirty="0"/>
              <a:t> </a:t>
            </a:r>
            <a:r>
              <a:rPr lang="it-IT" dirty="0" err="1"/>
              <a:t>monotonic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and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one of the following </a:t>
            </a:r>
            <a:r>
              <a:rPr lang="it-IT" dirty="0" err="1"/>
              <a:t>conditions</a:t>
            </a:r>
            <a:r>
              <a:rPr lang="it-IT" dirty="0"/>
              <a:t> </a:t>
            </a:r>
            <a:r>
              <a:rPr lang="it-IT" dirty="0" err="1"/>
              <a:t>holds</a:t>
            </a:r>
            <a:r>
              <a:rPr lang="it-IT" dirty="0"/>
              <a:t>:</a:t>
            </a:r>
          </a:p>
          <a:p>
            <a:pPr lvl="1"/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definitorial</a:t>
            </a:r>
            <a:r>
              <a:rPr lang="it-IT" dirty="0"/>
              <a:t>;
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 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negation</a:t>
            </a:r>
            <a:r>
              <a:rPr lang="it-IT" dirty="0"/>
              <a:t>-free;
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 T</a:t>
            </a:r>
            <a:r>
              <a:rPr lang="it-IT" dirty="0"/>
              <a:t> </a:t>
            </a:r>
            <a:r>
              <a:rPr lang="it-IT" dirty="0" err="1"/>
              <a:t>cycles</a:t>
            </a:r>
            <a:r>
              <a:rPr lang="it-IT" dirty="0"/>
              <a:t> </a:t>
            </a:r>
            <a:r>
              <a:rPr lang="it-IT" dirty="0" err="1"/>
              <a:t>contain</a:t>
            </a:r>
            <a:r>
              <a:rPr lang="it-IT" dirty="0"/>
              <a:t> an </a:t>
            </a: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negations</a:t>
            </a:r>
            <a:r>
              <a:rPr lang="it-IT" dirty="0"/>
              <a:t>.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399E7F-E36E-664B-9547-885F7951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47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548EE6-F7F8-1847-A02C-EC8B76F4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EXAMPLE OF ACYCLIC TERMINOLOGIES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82D48A3A-373D-AB4E-A60C-3E4B266983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/>
              <a:t>TERMINOLOGY </a:t>
            </a:r>
          </a:p>
          <a:p>
            <a:pPr lvl="1"/>
            <a:r>
              <a:rPr lang="it-IT" dirty="0"/>
              <a:t>A ≡ B ⊓ ∃R.¬C</a:t>
            </a:r>
          </a:p>
          <a:p>
            <a:pPr lvl="1"/>
            <a:r>
              <a:rPr lang="it-IT" dirty="0"/>
              <a:t>B ≡ ∀R.E ⊔∃S.(D⊓E)</a:t>
            </a:r>
          </a:p>
          <a:p>
            <a:pPr lvl="1"/>
            <a:r>
              <a:rPr lang="it-IT" dirty="0"/>
              <a:t>E ≡¬D</a:t>
            </a:r>
          </a:p>
          <a:p>
            <a:pPr lvl="1"/>
            <a:r>
              <a:rPr lang="it-IT" dirty="0" err="1"/>
              <a:t>F</a:t>
            </a:r>
            <a:r>
              <a:rPr lang="it-IT" dirty="0"/>
              <a:t> ≡ ∃R.E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146D7542-14C0-E248-BC9F-46FB7689C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141"/>
            <a:ext cx="4038600" cy="3394472"/>
          </a:xfrm>
        </p:spPr>
        <p:txBody>
          <a:bodyPr/>
          <a:lstStyle/>
          <a:p>
            <a:r>
              <a:rPr lang="it-IT" dirty="0"/>
              <a:t>EXPANSION 1</a:t>
            </a:r>
          </a:p>
          <a:p>
            <a:pPr lvl="1"/>
            <a:r>
              <a:rPr lang="it-IT" dirty="0"/>
              <a:t>A ≡ B ⊓ ∃R.¬C</a:t>
            </a:r>
          </a:p>
          <a:p>
            <a:pPr lvl="1"/>
            <a:r>
              <a:rPr lang="it-IT" dirty="0"/>
              <a:t>B ≡ ∀R.¬D ⊔∃S.(D⊓¬D)</a:t>
            </a:r>
          </a:p>
          <a:p>
            <a:pPr lvl="1"/>
            <a:r>
              <a:rPr lang="it-IT" dirty="0">
                <a:highlight>
                  <a:srgbClr val="FFFF00"/>
                </a:highlight>
              </a:rPr>
              <a:t>E ≡¬D</a:t>
            </a:r>
          </a:p>
          <a:p>
            <a:pPr lvl="1"/>
            <a:r>
              <a:rPr lang="it-IT" dirty="0" err="1"/>
              <a:t>F</a:t>
            </a:r>
            <a:r>
              <a:rPr lang="it-IT" dirty="0"/>
              <a:t> ≡ ∃</a:t>
            </a:r>
            <a:r>
              <a:rPr lang="it-IT" dirty="0" err="1"/>
              <a:t>R</a:t>
            </a:r>
            <a:r>
              <a:rPr lang="it-IT" dirty="0"/>
              <a:t>. ¬D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399E7F-E36E-664B-9547-885F7951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10" name="Segnaposto contenuto 8">
            <a:extLst>
              <a:ext uri="{FF2B5EF4-FFF2-40B4-BE49-F238E27FC236}">
                <a16:creationId xmlns:a16="http://schemas.microsoft.com/office/drawing/2014/main" id="{03C6956C-2781-F04A-972E-F349BE7AB070}"/>
              </a:ext>
            </a:extLst>
          </p:cNvPr>
          <p:cNvSpPr txBox="1">
            <a:spLocks/>
          </p:cNvSpPr>
          <p:nvPr/>
        </p:nvSpPr>
        <p:spPr bwMode="auto">
          <a:xfrm>
            <a:off x="4648200" y="1196141"/>
            <a:ext cx="4038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EXPANSION 2</a:t>
            </a:r>
          </a:p>
          <a:p>
            <a:pPr lvl="1"/>
            <a:r>
              <a:rPr lang="it-IT" dirty="0"/>
              <a:t>A ≡ B ⊓ ∃R.¬C</a:t>
            </a:r>
          </a:p>
          <a:p>
            <a:pPr lvl="1"/>
            <a:r>
              <a:rPr lang="it-IT" dirty="0"/>
              <a:t>B ≡ ∀R.¬D ⊔∃S.⊥</a:t>
            </a:r>
          </a:p>
          <a:p>
            <a:pPr lvl="1"/>
            <a:r>
              <a:rPr lang="it-IT" dirty="0">
                <a:highlight>
                  <a:srgbClr val="FFFF00"/>
                </a:highlight>
              </a:rPr>
              <a:t>E ≡¬D</a:t>
            </a:r>
          </a:p>
          <a:p>
            <a:pPr lvl="1"/>
            <a:r>
              <a:rPr lang="it-IT" dirty="0" err="1">
                <a:highlight>
                  <a:srgbClr val="00FF00"/>
                </a:highlight>
              </a:rPr>
              <a:t>F</a:t>
            </a:r>
            <a:r>
              <a:rPr lang="it-IT" dirty="0">
                <a:highlight>
                  <a:srgbClr val="00FF00"/>
                </a:highlight>
              </a:rPr>
              <a:t> ≡ ∃</a:t>
            </a:r>
            <a:r>
              <a:rPr lang="it-IT" dirty="0" err="1">
                <a:highlight>
                  <a:srgbClr val="00FF00"/>
                </a:highlight>
              </a:rPr>
              <a:t>R</a:t>
            </a:r>
            <a:r>
              <a:rPr lang="it-IT" dirty="0">
                <a:highlight>
                  <a:srgbClr val="00FF00"/>
                </a:highlight>
              </a:rPr>
              <a:t>. ¬D</a:t>
            </a:r>
          </a:p>
        </p:txBody>
      </p:sp>
      <p:sp>
        <p:nvSpPr>
          <p:cNvPr id="11" name="Segnaposto contenuto 8">
            <a:extLst>
              <a:ext uri="{FF2B5EF4-FFF2-40B4-BE49-F238E27FC236}">
                <a16:creationId xmlns:a16="http://schemas.microsoft.com/office/drawing/2014/main" id="{04C1B67B-E637-534F-BC1B-D4CF8F0A4649}"/>
              </a:ext>
            </a:extLst>
          </p:cNvPr>
          <p:cNvSpPr txBox="1">
            <a:spLocks/>
          </p:cNvSpPr>
          <p:nvPr/>
        </p:nvSpPr>
        <p:spPr bwMode="auto">
          <a:xfrm>
            <a:off x="4648200" y="1196141"/>
            <a:ext cx="4038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EXPANSION 3</a:t>
            </a:r>
          </a:p>
          <a:p>
            <a:pPr lvl="1"/>
            <a:r>
              <a:rPr lang="it-IT" dirty="0"/>
              <a:t>A ≡ ∀R.¬D ⊓ ∃R.¬C</a:t>
            </a:r>
          </a:p>
          <a:p>
            <a:pPr lvl="1"/>
            <a:r>
              <a:rPr lang="it-IT" dirty="0">
                <a:highlight>
                  <a:srgbClr val="00FF00"/>
                </a:highlight>
              </a:rPr>
              <a:t>B ≡ ∀R.¬D </a:t>
            </a:r>
          </a:p>
          <a:p>
            <a:pPr lvl="1"/>
            <a:r>
              <a:rPr lang="it-IT" dirty="0">
                <a:highlight>
                  <a:srgbClr val="FFFF00"/>
                </a:highlight>
              </a:rPr>
              <a:t>E ≡¬D</a:t>
            </a:r>
          </a:p>
          <a:p>
            <a:pPr lvl="1"/>
            <a:r>
              <a:rPr lang="it-IT" dirty="0" err="1">
                <a:highlight>
                  <a:srgbClr val="00FF00"/>
                </a:highlight>
              </a:rPr>
              <a:t>F</a:t>
            </a:r>
            <a:r>
              <a:rPr lang="it-IT" dirty="0">
                <a:highlight>
                  <a:srgbClr val="00FF00"/>
                </a:highlight>
              </a:rPr>
              <a:t> ≡ ∃</a:t>
            </a:r>
            <a:r>
              <a:rPr lang="it-IT" dirty="0" err="1">
                <a:highlight>
                  <a:srgbClr val="00FF00"/>
                </a:highlight>
              </a:rPr>
              <a:t>R</a:t>
            </a:r>
            <a:r>
              <a:rPr lang="it-IT" dirty="0">
                <a:highlight>
                  <a:srgbClr val="00FF00"/>
                </a:highlight>
              </a:rPr>
              <a:t>. ¬D</a:t>
            </a:r>
          </a:p>
        </p:txBody>
      </p:sp>
      <p:sp>
        <p:nvSpPr>
          <p:cNvPr id="13" name="Segnaposto contenuto 8">
            <a:extLst>
              <a:ext uri="{FF2B5EF4-FFF2-40B4-BE49-F238E27FC236}">
                <a16:creationId xmlns:a16="http://schemas.microsoft.com/office/drawing/2014/main" id="{686C4810-E8AF-1A4C-9479-D1F1CEC881B9}"/>
              </a:ext>
            </a:extLst>
          </p:cNvPr>
          <p:cNvSpPr txBox="1">
            <a:spLocks/>
          </p:cNvSpPr>
          <p:nvPr/>
        </p:nvSpPr>
        <p:spPr bwMode="auto">
          <a:xfrm>
            <a:off x="4648200" y="1196141"/>
            <a:ext cx="4038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EXPANSION 4</a:t>
            </a:r>
          </a:p>
          <a:p>
            <a:pPr lvl="1"/>
            <a:r>
              <a:rPr lang="it-IT" dirty="0">
                <a:highlight>
                  <a:srgbClr val="00FF00"/>
                </a:highlight>
              </a:rPr>
              <a:t>A ≡ ∀R.¬D ⊓ ∃R.¬C</a:t>
            </a:r>
          </a:p>
          <a:p>
            <a:pPr lvl="1"/>
            <a:r>
              <a:rPr lang="it-IT" dirty="0">
                <a:highlight>
                  <a:srgbClr val="00FF00"/>
                </a:highlight>
              </a:rPr>
              <a:t>B ≡ ∀R.¬D </a:t>
            </a:r>
          </a:p>
          <a:p>
            <a:pPr lvl="1"/>
            <a:r>
              <a:rPr lang="it-IT" dirty="0">
                <a:highlight>
                  <a:srgbClr val="FFFF00"/>
                </a:highlight>
              </a:rPr>
              <a:t>E ≡¬D</a:t>
            </a:r>
          </a:p>
          <a:p>
            <a:pPr lvl="1"/>
            <a:r>
              <a:rPr lang="it-IT" dirty="0" err="1">
                <a:highlight>
                  <a:srgbClr val="00FF00"/>
                </a:highlight>
              </a:rPr>
              <a:t>F</a:t>
            </a:r>
            <a:r>
              <a:rPr lang="it-IT" dirty="0">
                <a:highlight>
                  <a:srgbClr val="00FF00"/>
                </a:highlight>
              </a:rPr>
              <a:t> ≡ ∃</a:t>
            </a:r>
            <a:r>
              <a:rPr lang="it-IT" dirty="0" err="1">
                <a:highlight>
                  <a:srgbClr val="00FF00"/>
                </a:highlight>
              </a:rPr>
              <a:t>R</a:t>
            </a:r>
            <a:r>
              <a:rPr lang="it-IT" dirty="0">
                <a:highlight>
                  <a:srgbClr val="00FF00"/>
                </a:highlight>
              </a:rPr>
              <a:t>. ¬D</a:t>
            </a:r>
          </a:p>
        </p:txBody>
      </p:sp>
    </p:spTree>
    <p:extLst>
      <p:ext uri="{BB962C8B-B14F-4D97-AF65-F5344CB8AC3E}">
        <p14:creationId xmlns:p14="http://schemas.microsoft.com/office/powerpoint/2010/main" val="76076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9" grpId="1" build="p"/>
      <p:bldP spid="10" grpId="0"/>
      <p:bldP spid="10" grpId="1"/>
      <p:bldP spid="11" grpId="0"/>
      <p:bldP spid="11" grpId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6D17EE5A-CE9A-970C-1978-A1DE378A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endParaRPr lang="it-IT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4FECEDF5-8324-3737-B557-AA1862D57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69153E-F1C6-97B5-31D1-E16414B6A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A5DED78-D62D-7D48-4AEA-B22EE12D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F477E73-1222-FB85-7848-F41D1FC8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19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36517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FE756870-F224-BA4A-B6C1-D8044187B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FIXPOINT SEMANTICS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E0BD674A-6100-4B45-A97B-65BF8CF5D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Consider</a:t>
            </a:r>
            <a:r>
              <a:rPr lang="it-IT" dirty="0"/>
              <a:t> the following </a:t>
            </a:r>
            <a:r>
              <a:rPr lang="it-IT" dirty="0" err="1"/>
              <a:t>example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Mos ≡ Man ⊓ ∀</a:t>
            </a:r>
            <a:r>
              <a:rPr lang="it-IT" dirty="0" err="1"/>
              <a:t>hasChild.Man</a:t>
            </a:r>
            <a:r>
              <a:rPr lang="it-IT" dirty="0"/>
              <a:t> 
The </a:t>
            </a:r>
            <a:r>
              <a:rPr lang="it-IT" dirty="0" err="1"/>
              <a:t>semantics</a:t>
            </a:r>
            <a:r>
              <a:rPr lang="it-IT" dirty="0"/>
              <a:t> for the </a:t>
            </a:r>
            <a:r>
              <a:rPr lang="it-IT" dirty="0" err="1"/>
              <a:t>above</a:t>
            </a:r>
            <a:r>
              <a:rPr lang="it-IT" dirty="0"/>
              <a:t> </a:t>
            </a:r>
            <a:r>
              <a:rPr lang="it-IT" dirty="0" err="1"/>
              <a:t>definition</a:t>
            </a:r>
            <a:r>
              <a:rPr lang="it-IT" dirty="0"/>
              <a:t> </a:t>
            </a:r>
            <a:r>
              <a:rPr lang="it-IT" dirty="0" err="1"/>
              <a:t>given</a:t>
            </a:r>
            <a:r>
              <a:rPr lang="it-IT" dirty="0"/>
              <a:t> easy: </a:t>
            </a:r>
            <a:r>
              <a:rPr lang="it-IT" dirty="0" err="1"/>
              <a:t>given</a:t>
            </a:r>
            <a:r>
              <a:rPr lang="it-IT" dirty="0"/>
              <a:t> the subset of the domain ∆ </a:t>
            </a:r>
            <a:r>
              <a:rPr lang="it-IT" dirty="0" err="1"/>
              <a:t>formed</a:t>
            </a:r>
            <a:r>
              <a:rPr lang="it-IT" dirty="0"/>
              <a:t> by </a:t>
            </a:r>
            <a:r>
              <a:rPr lang="it-IT" dirty="0" err="1"/>
              <a:t>ManJ</a:t>
            </a:r>
            <a:r>
              <a:rPr lang="it-IT" dirty="0"/>
              <a:t> and </a:t>
            </a:r>
            <a:r>
              <a:rPr lang="it-IT" dirty="0" err="1"/>
              <a:t>interpreted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relation on ∆ </a:t>
            </a:r>
            <a:r>
              <a:rPr lang="it-IT" dirty="0" err="1"/>
              <a:t>hasChildJ</a:t>
            </a:r>
            <a:r>
              <a:rPr lang="it-IT" dirty="0"/>
              <a:t> the </a:t>
            </a:r>
            <a:r>
              <a:rPr lang="it-IT" dirty="0" err="1"/>
              <a:t>meaning</a:t>
            </a:r>
            <a:r>
              <a:rPr lang="it-IT" dirty="0"/>
              <a:t> of Mos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determined</a:t>
            </a:r>
            <a:endParaRPr lang="it-IT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880DC02-DFA6-BB4F-9C13-A0F0ACFEB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KR</a:t>
            </a:r>
          </a:p>
        </p:txBody>
      </p:sp>
    </p:spTree>
    <p:extLst>
      <p:ext uri="{BB962C8B-B14F-4D97-AF65-F5344CB8AC3E}">
        <p14:creationId xmlns:p14="http://schemas.microsoft.com/office/powerpoint/2010/main" val="2239600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A13F05-0021-9841-B4C6-F23C9AA1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MOMO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FEA4E5-C8B9-B14F-BBE2-5A272F8AF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Momo ≡ Man ⊓ ∀</a:t>
            </a:r>
            <a:r>
              <a:rPr lang="it-IT" dirty="0" err="1"/>
              <a:t>hasChild.Momo</a:t>
            </a:r>
            <a:r>
              <a:rPr lang="it-IT" dirty="0"/>
              <a:t> </a:t>
            </a:r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definition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recursive and </a:t>
            </a:r>
            <a:r>
              <a:rPr lang="it-IT" dirty="0" err="1"/>
              <a:t>cannot</a:t>
            </a:r>
            <a:r>
              <a:rPr lang="it-IT" dirty="0"/>
              <a:t> be </a:t>
            </a:r>
            <a:r>
              <a:rPr lang="it-IT" dirty="0" err="1"/>
              <a:t>obtained</a:t>
            </a:r>
            <a:r>
              <a:rPr lang="it-IT" dirty="0"/>
              <a:t> like the </a:t>
            </a:r>
            <a:r>
              <a:rPr lang="it-IT" dirty="0" err="1"/>
              <a:t>semantics</a:t>
            </a:r>
            <a:r>
              <a:rPr lang="it-IT" dirty="0"/>
              <a:t> of Mos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275725-8A42-7145-8CB1-2EA19A5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662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1CFB92-5AA0-6E40-B7A9-A3CE9E63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OF INTERPRETATION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64A200-375F-D844-B449-348BBD4AF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Charles 		= 	{Charles</a:t>
            </a:r>
            <a:r>
              <a:rPr lang="it-IT" sz="2400" baseline="-25000" dirty="0"/>
              <a:t>1</a:t>
            </a:r>
            <a:r>
              <a:rPr lang="it-IT" sz="2400" dirty="0"/>
              <a:t>, Charles</a:t>
            </a:r>
            <a:r>
              <a:rPr lang="it-IT" sz="2400" baseline="-25000" dirty="0"/>
              <a:t>2</a:t>
            </a:r>
            <a:r>
              <a:rPr lang="it-IT" sz="2400" dirty="0"/>
              <a:t>, . . .} </a:t>
            </a:r>
          </a:p>
          <a:p>
            <a:r>
              <a:rPr lang="it-IT" sz="2400" dirty="0"/>
              <a:t>James		=	{James</a:t>
            </a:r>
            <a:r>
              <a:rPr lang="it-IT" sz="2400" baseline="-25000" dirty="0"/>
              <a:t>1</a:t>
            </a:r>
            <a:r>
              <a:rPr lang="it-IT" sz="2400" dirty="0"/>
              <a:t>, . . . , </a:t>
            </a:r>
            <a:r>
              <a:rPr lang="it-IT" sz="2400" dirty="0" err="1"/>
              <a:t>James</a:t>
            </a:r>
            <a:r>
              <a:rPr lang="it-IT" sz="2400" baseline="-25000" dirty="0" err="1"/>
              <a:t>Last</a:t>
            </a:r>
            <a:r>
              <a:rPr lang="it-IT" sz="2400" dirty="0"/>
              <a:t>}</a:t>
            </a:r>
          </a:p>
          <a:p>
            <a:pPr marL="0" indent="0">
              <a:buNone/>
            </a:pPr>
            <a:endParaRPr lang="it-IT" sz="2400" dirty="0"/>
          </a:p>
          <a:p>
            <a:r>
              <a:rPr lang="it-IT" sz="2400" dirty="0"/>
              <a:t>∆</a:t>
            </a:r>
            <a:r>
              <a:rPr lang="it-IT" sz="2400" baseline="30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sz="2400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		</a:t>
            </a:r>
            <a:r>
              <a:rPr lang="it-IT" sz="2400" dirty="0"/>
              <a:t> 	=	Charles ∪ James</a:t>
            </a:r>
          </a:p>
          <a:p>
            <a:r>
              <a:rPr lang="it-IT" sz="2400" dirty="0" err="1"/>
              <a:t>Man</a:t>
            </a:r>
            <a:r>
              <a:rPr lang="it-IT" sz="2400" baseline="30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sz="2400" dirty="0"/>
              <a:t> 		= 	∆</a:t>
            </a:r>
            <a:r>
              <a:rPr lang="it-IT" sz="2400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 </a:t>
            </a:r>
            <a:r>
              <a:rPr lang="it-IT" sz="2400" baseline="30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sz="2400" dirty="0"/>
              <a:t> </a:t>
            </a:r>
          </a:p>
          <a:p>
            <a:r>
              <a:rPr lang="it-IT" sz="2400" dirty="0" err="1"/>
              <a:t>hasChild</a:t>
            </a:r>
            <a:r>
              <a:rPr lang="it-IT" sz="2400" baseline="30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sz="2400" dirty="0"/>
              <a:t> 	= 	{(</a:t>
            </a:r>
            <a:r>
              <a:rPr lang="it-IT" sz="2400" dirty="0" err="1"/>
              <a:t>Charles</a:t>
            </a:r>
            <a:r>
              <a:rPr lang="it-IT" sz="2400" baseline="-25000" dirty="0" err="1"/>
              <a:t>i</a:t>
            </a:r>
            <a:r>
              <a:rPr lang="it-IT" sz="2400" dirty="0"/>
              <a:t>, Charles</a:t>
            </a:r>
            <a:r>
              <a:rPr lang="it-IT" sz="2400" baseline="-25000" dirty="0"/>
              <a:t>(i+1)</a:t>
            </a:r>
            <a:r>
              <a:rPr lang="it-IT" sz="2400" dirty="0"/>
              <a:t>) | i ≥ 1} ∪ </a:t>
            </a:r>
            <a:br>
              <a:rPr lang="it-IT" sz="2400" dirty="0"/>
            </a:br>
            <a:r>
              <a:rPr lang="it-IT" sz="2400" dirty="0"/>
              <a:t>					{(</a:t>
            </a:r>
            <a:r>
              <a:rPr lang="it-IT" sz="2400" dirty="0" err="1"/>
              <a:t>James</a:t>
            </a:r>
            <a:r>
              <a:rPr lang="it-IT" sz="2400" baseline="-25000" dirty="0" err="1"/>
              <a:t>i</a:t>
            </a:r>
            <a:r>
              <a:rPr lang="it-IT" sz="2400" dirty="0"/>
              <a:t>, James</a:t>
            </a:r>
            <a:r>
              <a:rPr lang="it-IT" sz="2400" baseline="-25000" dirty="0"/>
              <a:t>(i+1)</a:t>
            </a:r>
            <a:r>
              <a:rPr lang="it-IT" sz="2400" dirty="0"/>
              <a:t>) | 1 ≤ i &lt; Last}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DB830F-06A0-BA40-A7F1-7B13F731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912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003E60-54DC-7643-B92F-0A94E605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OF INTERPRETATION (</a:t>
            </a:r>
            <a:r>
              <a:rPr lang="it-IT" dirty="0" err="1"/>
              <a:t>ctd</a:t>
            </a:r>
            <a:r>
              <a:rPr lang="it-IT" dirty="0"/>
              <a:t>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910E30-FD90-274B-BD38-BAE668B7B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Mos</a:t>
            </a:r>
            <a:r>
              <a:rPr lang="it-IT" baseline="30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dirty="0"/>
              <a:t> = ∆</a:t>
            </a:r>
            <a:r>
              <a:rPr lang="it-IT" baseline="30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endParaRPr lang="it-IT" baseline="30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it-IT" baseline="30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pPr lvl="1"/>
            <a:r>
              <a:rPr lang="it-IT" dirty="0"/>
              <a:t>Momo</a:t>
            </a:r>
            <a:r>
              <a:rPr lang="it-IT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baseline="-7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1</a:t>
            </a:r>
            <a:r>
              <a:rPr lang="it-IT" dirty="0"/>
              <a:t> = James </a:t>
            </a:r>
          </a:p>
          <a:p>
            <a:pPr lvl="1"/>
            <a:r>
              <a:rPr lang="it-IT" dirty="0"/>
              <a:t>Momo</a:t>
            </a:r>
            <a:r>
              <a:rPr lang="it-IT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baseline="-7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2</a:t>
            </a:r>
            <a:r>
              <a:rPr lang="it-IT" dirty="0"/>
              <a:t> = ∆</a:t>
            </a:r>
            <a:r>
              <a:rPr lang="it-IT" baseline="30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endParaRPr lang="it-IT" dirty="0"/>
          </a:p>
          <a:p>
            <a:endParaRPr lang="it-IT" baseline="30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it-IT" dirty="0"/>
              <a:t>In </a:t>
            </a:r>
            <a:r>
              <a:rPr lang="it-IT" dirty="0" err="1"/>
              <a:t>fact</a:t>
            </a:r>
            <a:r>
              <a:rPr lang="it-IT" dirty="0"/>
              <a:t>,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one Charles </a:t>
            </a:r>
            <a:r>
              <a:rPr lang="it-IT" dirty="0" err="1"/>
              <a:t>belongs</a:t>
            </a:r>
            <a:r>
              <a:rPr lang="it-IT" dirty="0"/>
              <a:t> to Momo,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everyone</a:t>
            </a:r>
            <a:r>
              <a:rPr lang="it-IT" dirty="0"/>
              <a:t> </a:t>
            </a:r>
            <a:r>
              <a:rPr lang="it-IT" dirty="0" err="1"/>
              <a:t>belongs</a:t>
            </a:r>
            <a:r>
              <a:rPr lang="it-IT" dirty="0"/>
              <a:t> to </a:t>
            </a:r>
            <a:r>
              <a:rPr lang="it-IT" dirty="0" err="1"/>
              <a:t>it</a:t>
            </a:r>
            <a:r>
              <a:rPr lang="it-IT" dirty="0"/>
              <a:t>.</a:t>
            </a:r>
            <a:endParaRPr lang="it-IT" baseline="30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it-IT" baseline="30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D3488E-1043-2E41-81B6-FDAA75E44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763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10AE5B-DFD1-1348-BAE6-03AD164B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MINIMAL FIXED POINT SEMANTICS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6EA93F-F929-2742-A52D-7136D7EA5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i="1" dirty="0" err="1"/>
              <a:t>least</a:t>
            </a:r>
            <a:r>
              <a:rPr lang="it-IT" i="1" dirty="0"/>
              <a:t> </a:t>
            </a:r>
            <a:r>
              <a:rPr lang="it-IT" i="1" dirty="0" err="1"/>
              <a:t>fixpoint</a:t>
            </a:r>
            <a:r>
              <a:rPr lang="it-IT" i="1" dirty="0"/>
              <a:t> </a:t>
            </a:r>
            <a:r>
              <a:rPr lang="it-IT" i="1" dirty="0" err="1"/>
              <a:t>semantics</a:t>
            </a:r>
            <a:r>
              <a:rPr lang="it-IT" i="1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smallest</a:t>
            </a:r>
            <a:r>
              <a:rPr lang="it-IT" dirty="0"/>
              <a:t> </a:t>
            </a:r>
            <a:r>
              <a:rPr lang="it-IT" dirty="0" err="1"/>
              <a:t>fixed</a:t>
            </a:r>
            <a:r>
              <a:rPr lang="it-IT" dirty="0"/>
              <a:t>-point </a:t>
            </a:r>
            <a:r>
              <a:rPr lang="it-IT" dirty="0" err="1"/>
              <a:t>interpretation</a:t>
            </a:r>
            <a:r>
              <a:rPr lang="it-IT" dirty="0"/>
              <a:t> of a </a:t>
            </a:r>
            <a:r>
              <a:rPr lang="it-IT" dirty="0" err="1"/>
              <a:t>terminology</a:t>
            </a:r>
            <a:r>
              <a:rPr lang="it-IT" dirty="0"/>
              <a:t>
For </a:t>
            </a:r>
            <a:r>
              <a:rPr lang="it-IT" dirty="0" err="1"/>
              <a:t>example</a:t>
            </a:r>
            <a:r>
              <a:rPr lang="it-IT" dirty="0"/>
              <a:t>, </a:t>
            </a:r>
            <a:r>
              <a:rPr lang="it-IT" dirty="0" err="1"/>
              <a:t>Momo's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r>
              <a:rPr lang="it-IT" dirty="0"/>
              <a:t> of </a:t>
            </a:r>
            <a:r>
              <a:rPr lang="it-IT" dirty="0" err="1"/>
              <a:t>only</a:t>
            </a:r>
            <a:r>
              <a:rPr lang="it-IT" dirty="0"/>
              <a:t> James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lfp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CA328A-9889-8142-B277-7CAC0A63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52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24771F-0181-0745-A4BA-CD293BC4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3B2BA1-784B-5847-A529-C7B25F796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Determine the </a:t>
            </a:r>
            <a:r>
              <a:rPr lang="it-IT" dirty="0" err="1"/>
              <a:t>semantics</a:t>
            </a:r>
            <a:r>
              <a:rPr lang="it-IT" dirty="0"/>
              <a:t> for a </a:t>
            </a:r>
            <a:r>
              <a:rPr lang="it-IT" dirty="0" err="1"/>
              <a:t>fixed</a:t>
            </a:r>
            <a:r>
              <a:rPr lang="it-IT" dirty="0"/>
              <a:t>-domain non-</a:t>
            </a:r>
            <a:r>
              <a:rPr lang="it-IT" dirty="0" err="1"/>
              <a:t>monotonic</a:t>
            </a:r>
            <a:r>
              <a:rPr lang="it-IT" dirty="0"/>
              <a:t> T </a:t>
            </a:r>
            <a:r>
              <a:rPr lang="it-IT" dirty="0" err="1"/>
              <a:t>terminology</a:t>
            </a:r>
            <a:r>
              <a:rPr lang="it-IT" dirty="0"/>
              <a:t>.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A8457D-B825-3647-A6C1-62DECEED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150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E9DD98-467A-7A47-B998-9B3F3E8E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EXERCISE (</a:t>
            </a:r>
            <a:r>
              <a:rPr lang="it-IT" dirty="0" err="1"/>
              <a:t>ctd</a:t>
            </a:r>
            <a:r>
              <a:rPr lang="it-IT" dirty="0"/>
              <a:t>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3957B2-61FD-6C48-8A9F-9838FDCECA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sz="2800" dirty="0"/>
              <a:t>A ≡ B ⊓ ∃R.¬C</a:t>
            </a:r>
          </a:p>
          <a:p>
            <a:r>
              <a:rPr lang="it-IT" sz="2800" dirty="0"/>
              <a:t>B ≡ ∀R.E ⊔∃S.(D⊓E)</a:t>
            </a:r>
          </a:p>
          <a:p>
            <a:r>
              <a:rPr lang="it-IT" sz="2800" dirty="0"/>
              <a:t>C ≡ ∃R.C</a:t>
            </a:r>
          </a:p>
          <a:p>
            <a:r>
              <a:rPr lang="it-IT" sz="2800" dirty="0"/>
              <a:t>E ≡¬D</a:t>
            </a:r>
          </a:p>
          <a:p>
            <a:r>
              <a:rPr lang="it-IT" sz="2800" dirty="0" err="1"/>
              <a:t>F</a:t>
            </a:r>
            <a:r>
              <a:rPr lang="it-IT" sz="2800" dirty="0"/>
              <a:t> ≡ ∃R.E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D7313FC4-C2F4-0346-A185-918456E644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2400" b="1" dirty="0"/>
              <a:t>BASIC INTERPRETATION</a:t>
            </a:r>
          </a:p>
          <a:p>
            <a:pPr marL="0" indent="0">
              <a:buNone/>
            </a:pPr>
            <a:r>
              <a:rPr lang="it-IT" dirty="0"/>
              <a:t>∆ 	= 	{</a:t>
            </a:r>
            <a:r>
              <a:rPr lang="it-IT" dirty="0" err="1"/>
              <a:t>a,b</a:t>
            </a:r>
            <a:r>
              <a:rPr lang="it-IT" dirty="0"/>
              <a:t>}</a:t>
            </a:r>
          </a:p>
          <a:p>
            <a:r>
              <a:rPr lang="it-IT" dirty="0" err="1"/>
              <a:t>R</a:t>
            </a:r>
            <a:r>
              <a:rPr lang="it-IT" dirty="0"/>
              <a:t> 	= 	{(</a:t>
            </a:r>
            <a:r>
              <a:rPr lang="it-IT" dirty="0" err="1"/>
              <a:t>a,a</a:t>
            </a:r>
            <a:r>
              <a:rPr lang="it-IT" dirty="0"/>
              <a:t>),(</a:t>
            </a:r>
            <a:r>
              <a:rPr lang="it-IT" dirty="0" err="1"/>
              <a:t>b,b</a:t>
            </a:r>
            <a:r>
              <a:rPr lang="it-IT" dirty="0"/>
              <a:t>)}</a:t>
            </a:r>
          </a:p>
          <a:p>
            <a:r>
              <a:rPr lang="it-IT" dirty="0" err="1"/>
              <a:t>S</a:t>
            </a:r>
            <a:r>
              <a:rPr lang="it-IT" dirty="0"/>
              <a:t> 	= 	{(</a:t>
            </a:r>
            <a:r>
              <a:rPr lang="it-IT" dirty="0" err="1"/>
              <a:t>a,b</a:t>
            </a:r>
            <a:r>
              <a:rPr lang="it-IT" dirty="0"/>
              <a:t>),(</a:t>
            </a:r>
            <a:r>
              <a:rPr lang="it-IT" dirty="0" err="1"/>
              <a:t>b,a</a:t>
            </a:r>
            <a:r>
              <a:rPr lang="it-IT" dirty="0"/>
              <a:t>)}</a:t>
            </a:r>
          </a:p>
          <a:p>
            <a:r>
              <a:rPr lang="it-IT" dirty="0"/>
              <a:t>D	=	{a}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667100-3403-6246-B0D4-F60FDE44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67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A3F80C81-178A-0047-9DA2-3D6A790F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TABLE OF POSSIBLE SEMANTICS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882D391-7CDC-2E4A-8107-586D892CF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KR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F265E41E-00BB-7B49-954E-F8B8E653ECA3}"/>
              </a:ext>
            </a:extLst>
          </p:cNvPr>
          <p:cNvGraphicFramePr>
            <a:graphicFrameLocks noGrp="1"/>
          </p:cNvGraphicFramePr>
          <p:nvPr/>
        </p:nvGraphicFramePr>
        <p:xfrm>
          <a:off x="1013651" y="1451454"/>
          <a:ext cx="3876900" cy="2658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150">
                  <a:extLst>
                    <a:ext uri="{9D8B030D-6E8A-4147-A177-3AD203B41FA5}">
                      <a16:colId xmlns:a16="http://schemas.microsoft.com/office/drawing/2014/main" val="2712635271"/>
                    </a:ext>
                  </a:extLst>
                </a:gridCol>
                <a:gridCol w="646150">
                  <a:extLst>
                    <a:ext uri="{9D8B030D-6E8A-4147-A177-3AD203B41FA5}">
                      <a16:colId xmlns:a16="http://schemas.microsoft.com/office/drawing/2014/main" val="1790122188"/>
                    </a:ext>
                  </a:extLst>
                </a:gridCol>
                <a:gridCol w="646150">
                  <a:extLst>
                    <a:ext uri="{9D8B030D-6E8A-4147-A177-3AD203B41FA5}">
                      <a16:colId xmlns:a16="http://schemas.microsoft.com/office/drawing/2014/main" val="3302729800"/>
                    </a:ext>
                  </a:extLst>
                </a:gridCol>
                <a:gridCol w="646150">
                  <a:extLst>
                    <a:ext uri="{9D8B030D-6E8A-4147-A177-3AD203B41FA5}">
                      <a16:colId xmlns:a16="http://schemas.microsoft.com/office/drawing/2014/main" val="310816234"/>
                    </a:ext>
                  </a:extLst>
                </a:gridCol>
                <a:gridCol w="646150">
                  <a:extLst>
                    <a:ext uri="{9D8B030D-6E8A-4147-A177-3AD203B41FA5}">
                      <a16:colId xmlns:a16="http://schemas.microsoft.com/office/drawing/2014/main" val="2955895424"/>
                    </a:ext>
                  </a:extLst>
                </a:gridCol>
                <a:gridCol w="646150">
                  <a:extLst>
                    <a:ext uri="{9D8B030D-6E8A-4147-A177-3AD203B41FA5}">
                      <a16:colId xmlns:a16="http://schemas.microsoft.com/office/drawing/2014/main" val="1588469784"/>
                    </a:ext>
                  </a:extLst>
                </a:gridCol>
              </a:tblGrid>
              <a:tr h="531794">
                <a:tc>
                  <a:txBody>
                    <a:bodyPr/>
                    <a:lstStyle/>
                    <a:p>
                      <a:pPr algn="ctr"/>
                      <a:endParaRPr lang="it-IT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 err="1"/>
                        <a:t>F</a:t>
                      </a:r>
                      <a:endParaRPr lang="it-IT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419947"/>
                  </a:ext>
                </a:extLst>
              </a:tr>
              <a:tr h="531794"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822726"/>
                  </a:ext>
                </a:extLst>
              </a:tr>
              <a:tr h="531794"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{a}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118422"/>
                  </a:ext>
                </a:extLst>
              </a:tr>
              <a:tr h="531794"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250904"/>
                  </a:ext>
                </a:extLst>
              </a:tr>
              <a:tr h="531794"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</a:t>
                      </a:r>
                      <a:r>
                        <a:rPr lang="it-IT" sz="1800" dirty="0" err="1"/>
                        <a:t>a,b</a:t>
                      </a:r>
                      <a:r>
                        <a:rPr lang="it-IT" sz="1800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513240"/>
                  </a:ext>
                </a:extLst>
              </a:tr>
            </a:tbl>
          </a:graphicData>
        </a:graphic>
      </p:graphicFrame>
      <p:pic>
        <p:nvPicPr>
          <p:cNvPr id="12" name="Immagine 11">
            <a:extLst>
              <a:ext uri="{FF2B5EF4-FFF2-40B4-BE49-F238E27FC236}">
                <a16:creationId xmlns:a16="http://schemas.microsoft.com/office/drawing/2014/main" id="{2B29149E-A0C7-8D43-93A5-80E444A90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524000"/>
            <a:ext cx="14986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06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827661-B0B0-0F4C-8F44-7D1DDBC03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/>
              <a:t>ANALOGOUS WITH MONOTONIC TERMINOLOGY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E916C2FD-AA77-494E-AABD-2B87BA8E4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59546"/>
            <a:ext cx="3200400" cy="1736029"/>
          </a:xfrm>
        </p:spPr>
        <p:txBody>
          <a:bodyPr/>
          <a:lstStyle/>
          <a:p>
            <a:r>
              <a:rPr lang="it-IT" dirty="0"/>
              <a:t>A ≡ B ⊓ ∃R.C</a:t>
            </a:r>
          </a:p>
          <a:p>
            <a:r>
              <a:rPr lang="it-IT" dirty="0"/>
              <a:t>B ≡ ∀R.D ⊔∃S.D</a:t>
            </a:r>
          </a:p>
          <a:p>
            <a:r>
              <a:rPr lang="it-IT" dirty="0"/>
              <a:t>C ≡ ∃S.C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D677A6-16CB-7E42-9410-DFCB3EF7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D6FDC9E8-2AFB-804D-BCF1-DF88D9E7EC4B}"/>
              </a:ext>
            </a:extLst>
          </p:cNvPr>
          <p:cNvGraphicFramePr>
            <a:graphicFrameLocks noGrp="1"/>
          </p:cNvGraphicFramePr>
          <p:nvPr/>
        </p:nvGraphicFramePr>
        <p:xfrm>
          <a:off x="4927180" y="866775"/>
          <a:ext cx="30283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088">
                  <a:extLst>
                    <a:ext uri="{9D8B030D-6E8A-4147-A177-3AD203B41FA5}">
                      <a16:colId xmlns:a16="http://schemas.microsoft.com/office/drawing/2014/main" val="2712635271"/>
                    </a:ext>
                  </a:extLst>
                </a:gridCol>
                <a:gridCol w="757088">
                  <a:extLst>
                    <a:ext uri="{9D8B030D-6E8A-4147-A177-3AD203B41FA5}">
                      <a16:colId xmlns:a16="http://schemas.microsoft.com/office/drawing/2014/main" val="1790122188"/>
                    </a:ext>
                  </a:extLst>
                </a:gridCol>
                <a:gridCol w="757088">
                  <a:extLst>
                    <a:ext uri="{9D8B030D-6E8A-4147-A177-3AD203B41FA5}">
                      <a16:colId xmlns:a16="http://schemas.microsoft.com/office/drawing/2014/main" val="3302729800"/>
                    </a:ext>
                  </a:extLst>
                </a:gridCol>
                <a:gridCol w="757088">
                  <a:extLst>
                    <a:ext uri="{9D8B030D-6E8A-4147-A177-3AD203B41FA5}">
                      <a16:colId xmlns:a16="http://schemas.microsoft.com/office/drawing/2014/main" val="310816234"/>
                    </a:ext>
                  </a:extLst>
                </a:gridCol>
              </a:tblGrid>
              <a:tr h="346259">
                <a:tc>
                  <a:txBody>
                    <a:bodyPr/>
                    <a:lstStyle/>
                    <a:p>
                      <a:pPr algn="ctr"/>
                      <a:endParaRPr lang="it-IT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419947"/>
                  </a:ext>
                </a:extLst>
              </a:tr>
              <a:tr h="346259"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</a:t>
                      </a:r>
                      <a:r>
                        <a:rPr lang="it-IT" sz="1800" dirty="0" err="1"/>
                        <a:t>a,b</a:t>
                      </a:r>
                      <a:r>
                        <a:rPr lang="it-IT" sz="1800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822726"/>
                  </a:ext>
                </a:extLst>
              </a:tr>
              <a:tr h="346259"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{</a:t>
                      </a:r>
                      <a:r>
                        <a:rPr lang="it-IT" sz="1800" dirty="0" err="1"/>
                        <a:t>a,b</a:t>
                      </a:r>
                      <a:r>
                        <a:rPr lang="it-IT" sz="1800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{a}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118422"/>
                  </a:ext>
                </a:extLst>
              </a:tr>
              <a:tr h="346259"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{a}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{</a:t>
                      </a:r>
                      <a:r>
                        <a:rPr lang="it-IT" sz="1800" dirty="0" err="1"/>
                        <a:t>a,b</a:t>
                      </a:r>
                      <a:r>
                        <a:rPr lang="it-IT" sz="1800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{b}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250904"/>
                  </a:ext>
                </a:extLst>
              </a:tr>
              <a:tr h="346259"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</a:t>
                      </a:r>
                      <a:r>
                        <a:rPr lang="it-IT" sz="1800" dirty="0" err="1"/>
                        <a:t>a,b</a:t>
                      </a:r>
                      <a:r>
                        <a:rPr lang="it-IT" sz="1800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{</a:t>
                      </a:r>
                      <a:r>
                        <a:rPr lang="it-IT" sz="1800" dirty="0" err="1"/>
                        <a:t>a,b</a:t>
                      </a:r>
                      <a:r>
                        <a:rPr lang="it-IT" sz="1800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{</a:t>
                      </a:r>
                      <a:r>
                        <a:rPr lang="it-IT" sz="1800" dirty="0" err="1"/>
                        <a:t>a,b</a:t>
                      </a:r>
                      <a:r>
                        <a:rPr lang="it-IT" sz="1800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513240"/>
                  </a:ext>
                </a:extLst>
              </a:tr>
            </a:tbl>
          </a:graphicData>
        </a:graphic>
      </p:graphicFrame>
      <p:pic>
        <p:nvPicPr>
          <p:cNvPr id="13" name="Immagine 12">
            <a:extLst>
              <a:ext uri="{FF2B5EF4-FFF2-40B4-BE49-F238E27FC236}">
                <a16:creationId xmlns:a16="http://schemas.microsoft.com/office/drawing/2014/main" id="{085AEEA7-1ECE-4845-ACB4-721C8C21E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116" y="2982258"/>
            <a:ext cx="1104480" cy="15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506358"/>
      </p:ext>
    </p:extLst>
  </p:cSld>
  <p:clrMapOvr>
    <a:masterClrMapping/>
  </p:clrMapOvr>
</p:sld>
</file>

<file path=ppt/theme/theme1.xml><?xml version="1.0" encoding="utf-8"?>
<a:theme xmlns:a="http://schemas.openxmlformats.org/drawingml/2006/main" name="ESD_new_GP">
  <a:themeElements>
    <a:clrScheme name="Impostazioni personalizzate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635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zione standard1" id="{8235C985-55F2-4F87-A977-D8A70953F925}" vid="{F161873E-82B3-403B-879B-B3C589C61F8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ESD_new_GP</Template>
  <TotalTime>55923</TotalTime>
  <Words>1416</Words>
  <Application>Microsoft Macintosh PowerPoint</Application>
  <PresentationFormat>Presentazione su schermo (16:9)</PresentationFormat>
  <Paragraphs>221</Paragraphs>
  <Slides>28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4" baseType="lpstr">
      <vt:lpstr>Apple Chancery</vt:lpstr>
      <vt:lpstr>Arial</vt:lpstr>
      <vt:lpstr>Calibri</vt:lpstr>
      <vt:lpstr>Cambria Math</vt:lpstr>
      <vt:lpstr>Tahoma</vt:lpstr>
      <vt:lpstr>ESD_new_GP</vt:lpstr>
      <vt:lpstr>Unit 2: Introduction to KR</vt:lpstr>
      <vt:lpstr>Attributive Logic with Complement</vt:lpstr>
      <vt:lpstr>ALC LOGIC</vt:lpstr>
      <vt:lpstr>SEMANTICS OF ALC TERMINOLOGY</vt:lpstr>
      <vt:lpstr>WHAT DOES A DEFINITION MEAN?</vt:lpstr>
      <vt:lpstr>EXPANSION OF TERMINOLOGIES</vt:lpstr>
      <vt:lpstr>TERMINAL EXPANSION</vt:lpstr>
      <vt:lpstr>BASIC INTERPRETATIONS</vt:lpstr>
      <vt:lpstr>FIXPOINT SEMANTICS (1)</vt:lpstr>
      <vt:lpstr>FIXPOINT SEMANTICS (2)</vt:lpstr>
      <vt:lpstr>FIXPOINT SEMANTICS (3)</vt:lpstr>
      <vt:lpstr>FIXPOINT SEMANTICS (4)</vt:lpstr>
      <vt:lpstr>GREATEST AND LEAST FIXPOINTS</vt:lpstr>
      <vt:lpstr>FIXPOINT SEMANTICS (CTD)</vt:lpstr>
      <vt:lpstr>CONCEPTUAL DEPENDENCY GRAPH</vt:lpstr>
      <vt:lpstr>EXAMPLE OF CDG DETERMINATION</vt:lpstr>
      <vt:lpstr>SYNTACTICALLY MONOTONIC TERMINOLOGIES (2)</vt:lpstr>
      <vt:lpstr>EXAMPLE OF ACYCLIC TERMINOLOGIES</vt:lpstr>
      <vt:lpstr>Examples</vt:lpstr>
      <vt:lpstr>FIXPOINT SEMANTICS</vt:lpstr>
      <vt:lpstr>MOMO</vt:lpstr>
      <vt:lpstr>EXAMPLE OF INTERPRETATION</vt:lpstr>
      <vt:lpstr>EXAMPLE OF INTERPRETATION (ctd)</vt:lpstr>
      <vt:lpstr>MINIMAL FIXED POINT SEMANTICS</vt:lpstr>
      <vt:lpstr>EXERCISE</vt:lpstr>
      <vt:lpstr>EXERCISE (ctd)</vt:lpstr>
      <vt:lpstr>TABLE OF POSSIBLE SEMANTICS</vt:lpstr>
      <vt:lpstr>ANALOGOUS WITH MONOTONIC TERMINOLOGY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Stefano Spellini</dc:creator>
  <cp:lastModifiedBy>Matteo Cristani</cp:lastModifiedBy>
  <cp:revision>222</cp:revision>
  <dcterms:created xsi:type="dcterms:W3CDTF">2019-02-11T14:27:15Z</dcterms:created>
  <dcterms:modified xsi:type="dcterms:W3CDTF">2025-08-19T05:53:02Z</dcterms:modified>
</cp:coreProperties>
</file>