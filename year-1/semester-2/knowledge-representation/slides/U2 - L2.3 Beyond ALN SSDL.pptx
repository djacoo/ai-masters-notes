
<file path=[Content_Types].xml><?xml version="1.0" encoding="utf-8"?>
<Types xmlns="http://schemas.openxmlformats.org/package/2006/content-types">
  <Default Extension="bin" ContentType="audio/unknown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9" r:id="rId1"/>
  </p:sldMasterIdLst>
  <p:notesMasterIdLst>
    <p:notesMasterId r:id="rId29"/>
  </p:notesMasterIdLst>
  <p:handoutMasterIdLst>
    <p:handoutMasterId r:id="rId30"/>
  </p:handoutMasterIdLst>
  <p:sldIdLst>
    <p:sldId id="257" r:id="rId2"/>
    <p:sldId id="287" r:id="rId3"/>
    <p:sldId id="288" r:id="rId4"/>
    <p:sldId id="289" r:id="rId5"/>
    <p:sldId id="263" r:id="rId6"/>
    <p:sldId id="267" r:id="rId7"/>
    <p:sldId id="266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65" r:id="rId16"/>
    <p:sldId id="298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9" r:id="rId26"/>
    <p:sldId id="310" r:id="rId27"/>
    <p:sldId id="311" r:id="rId28"/>
  </p:sldIdLst>
  <p:sldSz cx="9144000" cy="5143500" type="screen16x9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BC78E2-DF3B-4DCE-83BB-1269F2F94E16}">
          <p14:sldIdLst>
            <p14:sldId id="257"/>
            <p14:sldId id="287"/>
            <p14:sldId id="288"/>
            <p14:sldId id="289"/>
            <p14:sldId id="263"/>
            <p14:sldId id="267"/>
            <p14:sldId id="266"/>
            <p14:sldId id="290"/>
            <p14:sldId id="291"/>
            <p14:sldId id="292"/>
            <p14:sldId id="293"/>
            <p14:sldId id="294"/>
            <p14:sldId id="295"/>
            <p14:sldId id="296"/>
            <p14:sldId id="265"/>
            <p14:sldId id="298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tefano" initials="s" lastIdx="2" clrIdx="0"/>
  <p:cmAuthor id="1" name="Matteo Cristani" initials="M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640000"/>
    <a:srgbClr val="8C3836"/>
    <a:srgbClr val="FFFF99"/>
    <a:srgbClr val="AA00AA"/>
    <a:srgbClr val="98BDD6"/>
    <a:srgbClr val="287ECB"/>
    <a:srgbClr val="F0BC51"/>
    <a:srgbClr val="D163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97" autoAdjust="0"/>
    <p:restoredTop sz="86803"/>
  </p:normalViewPr>
  <p:slideViewPr>
    <p:cSldViewPr snapToGrid="0">
      <p:cViewPr varScale="1">
        <p:scale>
          <a:sx n="141" d="100"/>
          <a:sy n="141" d="100"/>
        </p:scale>
        <p:origin x="528" y="184"/>
      </p:cViewPr>
      <p:guideLst>
        <p:guide orient="horz" pos="1620"/>
        <p:guide pos="2880"/>
        <p:guide orient="horz" pos="16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92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84E245-B5A0-47D5-87CC-147578DADA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E7327-C872-472C-88D2-681BC8B0B8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790A485-6416-43AD-8EA8-9AB4021210E8}" type="datetimeFigureOut">
              <a:rPr lang="en-US" altLang="it-IT"/>
              <a:pPr>
                <a:defRPr/>
              </a:pPr>
              <a:t>8/17/25</a:t>
            </a:fld>
            <a:endParaRPr lang="en-US" alt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62B19-2075-46D4-90D4-88B66BAEC4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0A42C-D4BA-4B57-8810-2714EF7E80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04743EB-F053-4EB0-B667-D66F0FE415E3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244690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1CFC63-76EE-4C9F-A897-82314CDCE8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9A7D3CE-DD5A-4884-90F5-F968DA0A72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4804E0D8-8B5E-4615-B9C4-D99DA5FC31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926CD4B-EA52-4A35-ACD1-53E31ED8E8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C34C6D3B-D2DB-4D5F-B47B-BAC5A6830E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A0687926-11A6-4219-AC1F-0E059A65D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15E51E3-9A27-4F9D-92A0-CC2B6D7DC9D8}" type="slidenum">
              <a:rPr lang="nl-NL" altLang="it-IT"/>
              <a:pPr>
                <a:defRPr/>
              </a:pPr>
              <a:t>‹N›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3938765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57EF8F-8361-448B-B33D-B27F754A8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D545CD-AACE-464A-8873-AFDA579DE3B8}" type="slidenum">
              <a:rPr lang="nl-NL" altLang="it-IT">
                <a:latin typeface="Arial" panose="020B0604020202020204" pitchFamily="34" charset="0"/>
              </a:rPr>
              <a:pPr/>
              <a:t>1</a:t>
            </a:fld>
            <a:endParaRPr lang="nl-NL" altLang="it-IT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61A36A-26A4-442B-A193-C48F58FB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046788" cy="3402012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93DB840-CA14-4E5B-BB44-138D926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0225"/>
            <a:ext cx="5026025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047" tIns="38524" rIns="77047" bIns="38524"/>
          <a:lstStyle/>
          <a:p>
            <a:pPr eaLnBrk="1" hangingPunct="1"/>
            <a:endParaRPr lang="en-US" altLang="it-IT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8F5CD9-6EAF-4B8B-9A4D-446D9D82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5EC06-D9EF-421D-B636-55F4AACA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ED50A0-78C5-42A3-8B38-E1A9DBE8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E87F2A-AB2C-4D87-BCA6-9B3A24192F3A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7103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EF3F9C-540B-468D-B525-7A1FFFBD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AC2101-7C3D-43D9-B409-B7ABFD75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01E8D0-7250-4243-89B8-07E48DFA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8585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small" baseline="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FC1CC5-72B4-4175-96AC-0AAB76C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D2EC85-D444-4CAE-8A7C-2318EECB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7C0FDD-1C9E-4F9B-802B-D0D0B25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A0980B-2DE9-40AD-8A4E-40673DB95E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6898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BDFE60E-FCA5-4468-A238-A20DBCFC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C1C83E-6933-48CB-81DB-2D6C24A0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580F37-86A5-4A66-88A3-29B44267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54FAF7-AB3B-4F7E-9E4D-EFD1BDE13684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4396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C22FEF5-9EB2-453F-A5FE-EAB3C53E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A33CE7-8F18-4DB0-B6A3-7B697BF4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F4923DE-6083-4153-995D-8F0374F8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D30E12C-3274-4FAB-BA9C-E68E77B0C14D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1857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01FED8-2700-48C7-87EB-F70A6817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9426F0B-8BC6-4ADE-A8A8-5385F517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582239-C1BB-485A-9FEE-F41A21A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DF7909B-0F24-4DCB-B54E-6ED0CFB1C01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182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1FE9452-6A85-432A-9499-56CE62AA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0F88F0-4AAD-4067-8504-06A96A4C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0A01D4-5A85-4F93-84CF-2B84CC80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D64222-F0E5-4BFA-B141-DC6F71D6256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666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507EE9-0CDC-4148-8A28-DB77BBCD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22D2B5-089D-434E-80AE-5C832BCC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2FBC73-D206-45C1-96E4-53614CD9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476B2D-B94D-4307-9644-89F667858B3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1996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  <a:endParaRPr lang="en-US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0E7B81-0415-45FD-AB81-D333AF2D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E77243-2F71-42BE-B622-2FC4DE67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16188A-68ED-4AC6-B692-6ABAE89F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6B338B3-9BD9-4219-AABA-FCF7A675F8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081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36C99A-F6EA-44E5-B86D-8086FD21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3AB2F-0E00-4C92-A508-186E6FD6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268B54-0662-4EE2-B3E9-264D1DF0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91C6E6-09D2-40BD-91F2-E474F31023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572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144EC7-064D-4629-A13E-BC17C0C7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BA2179-2FC3-4FAD-8BB0-1E9D316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A0186A-B7F0-4F3A-A07F-0F1394DB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7B9D4D-E2B4-4C02-A143-BFB5949180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91095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495300"/>
            <a:ext cx="8637588" cy="617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328613" y="1456135"/>
            <a:ext cx="8208962" cy="30861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E44C37-FFE7-844F-95C7-6D1575D05F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Introduction to KR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7AEF9C-0663-D249-BEFB-11BA36C5E7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KNOWLEDGE REPRESENTATION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C979E5-53E4-1242-99E1-80BFE7EB00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/>
            </a:lvl1pPr>
          </a:lstStyle>
          <a:p>
            <a:fld id="{D88B0945-733E-0A44-92BE-DC0150C935E3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560343976"/>
      </p:ext>
    </p:extLst>
  </p:cSld>
  <p:clrMapOvr>
    <a:masterClrMapping/>
  </p:clrMapOvr>
  <p:transition spd="med">
    <p:randomBar dir="vert"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4D53D9-0413-4E98-B30A-0911779B1C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136525"/>
            <a:ext cx="7924800" cy="0"/>
          </a:xfrm>
          <a:prstGeom prst="line">
            <a:avLst/>
          </a:prstGeom>
          <a:noFill/>
          <a:ln w="25400">
            <a:solidFill>
              <a:srgbClr val="953735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" name="Segnaposto titolo 1">
            <a:extLst>
              <a:ext uri="{FF2B5EF4-FFF2-40B4-BE49-F238E27FC236}">
                <a16:creationId xmlns:a16="http://schemas.microsoft.com/office/drawing/2014/main" id="{AA9ADE31-466F-4A6E-B2C5-67CEBCE01D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952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  <a:endParaRPr lang="en-US" altLang="it-IT"/>
          </a:p>
        </p:txBody>
      </p:sp>
      <p:sp>
        <p:nvSpPr>
          <p:cNvPr id="2052" name="Segnaposto testo 2">
            <a:extLst>
              <a:ext uri="{FF2B5EF4-FFF2-40B4-BE49-F238E27FC236}">
                <a16:creationId xmlns:a16="http://schemas.microsoft.com/office/drawing/2014/main" id="{11430D93-9A39-4E38-B62A-1CFA666B5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866775"/>
            <a:ext cx="8229600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  <a:endParaRPr lang="en-US" alt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9039C1-3D31-4618-812B-62486E9A9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  <a:endParaRPr lang="en-US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C481AF-DC48-4A15-B780-A6FE13CE1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15BA29-28F1-45BD-95D4-7D70F8E1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7703C53-5324-49A8-8F9E-1D23D9472D20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43039F-1152-7640-A8B6-3592FA14B47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035975" y="18703"/>
            <a:ext cx="1108025" cy="3920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  <p:sldLayoutId id="2147484047" r:id="rId12"/>
  </p:sldLayoutIdLst>
  <p:hf hd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80000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5ECE64-F2A7-4B42-9294-67E7C031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128" y="4092351"/>
            <a:ext cx="334803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Computer Science Department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University of Verona - Italy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4E587E-09E1-4E74-AE2B-B98A490615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93216" y="843558"/>
            <a:ext cx="7772400" cy="2088232"/>
          </a:xfrm>
          <a:effectLst>
            <a:outerShdw blurRad="63500" dist="81320" dir="2319588" algn="ctr" rotWithShape="0">
              <a:schemeClr val="bg2">
                <a:alpha val="74997"/>
              </a:scheme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  <a:cs typeface="+mj-cs"/>
              </a:rPr>
              <a:t>Unit 2: Introduction to KR</a:t>
            </a:r>
            <a:endParaRPr lang="en-US" sz="3600" dirty="0">
              <a:ea typeface="+mj-ea"/>
              <a:cs typeface="+mj-cs"/>
            </a:endParaRPr>
          </a:p>
        </p:txBody>
      </p:sp>
      <p:pic>
        <p:nvPicPr>
          <p:cNvPr id="28677" name="Immagine 25" descr="univr-color.gif">
            <a:extLst>
              <a:ext uri="{FF2B5EF4-FFF2-40B4-BE49-F238E27FC236}">
                <a16:creationId xmlns:a16="http://schemas.microsoft.com/office/drawing/2014/main" id="{0F2A3EAB-47C4-4463-9952-A31D235A5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141" y="3805014"/>
            <a:ext cx="10985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CasellaDiTesto 1">
            <a:extLst>
              <a:ext uri="{FF2B5EF4-FFF2-40B4-BE49-F238E27FC236}">
                <a16:creationId xmlns:a16="http://schemas.microsoft.com/office/drawing/2014/main" id="{7FE76117-C115-45E9-82F7-562E82BF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200818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it-IT" sz="1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ACDFC462-06ED-DF60-5190-18A435C8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limits</a:t>
            </a:r>
            <a:r>
              <a:rPr lang="it-IT" dirty="0"/>
              <a:t> of SSDL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C081B81A-C255-BFB7-FD6F-465D23722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Unit 2 – </a:t>
            </a:r>
            <a:r>
              <a:rPr lang="it-IT" dirty="0" err="1"/>
              <a:t>Lecture</a:t>
            </a:r>
            <a:r>
              <a:rPr lang="it-IT" dirty="0"/>
              <a:t> 2.3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E0AE89-6CC4-C2D7-3FE0-F95B9537A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3A16DA-CF2B-B592-926E-E8772A0D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DA911-FAC2-47CD-479F-AEA42CCD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81174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3E732744-B45D-145A-575C-C7E9ED29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Extending</a:t>
            </a:r>
            <a:r>
              <a:rPr lang="it-IT" dirty="0"/>
              <a:t> ALN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600C2893-CB58-0C94-7A09-BF16553A6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ALN can be </a:t>
            </a:r>
            <a:r>
              <a:rPr lang="it-IT" dirty="0" err="1"/>
              <a:t>extended</a:t>
            </a:r>
            <a:r>
              <a:rPr lang="it-IT" dirty="0"/>
              <a:t> in </a:t>
            </a:r>
            <a:r>
              <a:rPr lang="it-IT" dirty="0" err="1"/>
              <a:t>numerous</a:t>
            </a:r>
            <a:r>
              <a:rPr lang="it-IT" dirty="0"/>
              <a:t> ways</a:t>
            </a:r>
          </a:p>
          <a:p>
            <a:pPr lvl="1"/>
            <a:r>
              <a:rPr lang="it-IT" dirty="0"/>
              <a:t>By </a:t>
            </a:r>
            <a:r>
              <a:rPr lang="it-IT" dirty="0" err="1"/>
              <a:t>adding</a:t>
            </a:r>
            <a:r>
              <a:rPr lang="it-IT" dirty="0"/>
              <a:t> the </a:t>
            </a:r>
            <a:r>
              <a:rPr lang="it-IT" dirty="0" err="1"/>
              <a:t>expressive</a:t>
            </a:r>
            <a:r>
              <a:rPr lang="it-IT" dirty="0"/>
              <a:t> power of the full </a:t>
            </a:r>
            <a:r>
              <a:rPr lang="it-IT" dirty="0" err="1"/>
              <a:t>existential</a:t>
            </a:r>
            <a:r>
              <a:rPr lang="it-IT" dirty="0"/>
              <a:t> </a:t>
            </a:r>
            <a:r>
              <a:rPr lang="it-IT" dirty="0" err="1"/>
              <a:t>quantifier</a:t>
            </a:r>
            <a:endParaRPr lang="it-IT" dirty="0"/>
          </a:p>
          <a:p>
            <a:pPr lvl="1"/>
            <a:r>
              <a:rPr lang="it-IT" dirty="0"/>
              <a:t>By </a:t>
            </a:r>
            <a:r>
              <a:rPr lang="it-IT" dirty="0" err="1"/>
              <a:t>adding</a:t>
            </a:r>
            <a:r>
              <a:rPr lang="it-IT" dirty="0"/>
              <a:t> the </a:t>
            </a:r>
            <a:r>
              <a:rPr lang="it-IT" dirty="0" err="1"/>
              <a:t>expressive</a:t>
            </a:r>
            <a:r>
              <a:rPr lang="it-IT" dirty="0"/>
              <a:t> power of the union</a:t>
            </a:r>
          </a:p>
          <a:p>
            <a:pPr lvl="1"/>
            <a:r>
              <a:rPr lang="it-IT" dirty="0"/>
              <a:t>By </a:t>
            </a:r>
            <a:r>
              <a:rPr lang="it-IT" dirty="0" err="1"/>
              <a:t>adding</a:t>
            </a:r>
            <a:r>
              <a:rPr lang="it-IT" dirty="0"/>
              <a:t> the non-</a:t>
            </a:r>
            <a:r>
              <a:rPr lang="it-IT" dirty="0" err="1"/>
              <a:t>atomic</a:t>
            </a:r>
            <a:r>
              <a:rPr lang="it-IT" dirty="0"/>
              <a:t> </a:t>
            </a:r>
            <a:r>
              <a:rPr lang="it-IT" dirty="0" err="1"/>
              <a:t>complement</a:t>
            </a:r>
            <a:endParaRPr lang="it-IT" dirty="0"/>
          </a:p>
          <a:p>
            <a:pPr lvl="1"/>
            <a:r>
              <a:rPr lang="it-IT" dirty="0"/>
              <a:t>By </a:t>
            </a:r>
            <a:r>
              <a:rPr lang="it-IT" dirty="0" err="1"/>
              <a:t>extending</a:t>
            </a:r>
            <a:r>
              <a:rPr lang="it-IT" dirty="0"/>
              <a:t> the </a:t>
            </a:r>
            <a:r>
              <a:rPr lang="it-IT" dirty="0" err="1"/>
              <a:t>numerals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qualified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</a:t>
            </a:r>
            <a:r>
              <a:rPr lang="it-IT" dirty="0" err="1"/>
              <a:t>restrictions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D86F3CC-5245-F7C1-F0C8-156527C31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8C3AC88-525E-8DE0-F511-E73EB3039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4A1B02-944F-B395-BFE1-A0C942BF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A0980B-2DE9-40AD-8A4E-40673DB95E95}" type="slidenum">
              <a:rPr lang="it-IT" altLang="it-IT" smtClean="0"/>
              <a:pPr>
                <a:defRPr/>
              </a:pPr>
              <a:t>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03391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6C52C7-1E84-9599-661D-8C734B868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Interpretations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592D68-6A68-3C88-5853-2D8E7A3D3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ability</a:t>
            </a:r>
            <a:r>
              <a:rPr lang="it-IT" dirty="0"/>
              <a:t> of </a:t>
            </a:r>
            <a:r>
              <a:rPr lang="it-IT" dirty="0" err="1"/>
              <a:t>interpreting</a:t>
            </a:r>
            <a:r>
              <a:rPr lang="it-IT" dirty="0"/>
              <a:t> AL extensions </a:t>
            </a:r>
            <a:r>
              <a:rPr lang="it-IT" dirty="0" err="1"/>
              <a:t>is</a:t>
            </a:r>
            <a:r>
              <a:rPr lang="it-IT" dirty="0"/>
              <a:t> to be </a:t>
            </a:r>
            <a:r>
              <a:rPr lang="it-IT" dirty="0" err="1"/>
              <a:t>explained</a:t>
            </a:r>
            <a:r>
              <a:rPr lang="it-IT" dirty="0"/>
              <a:t> in the </a:t>
            </a:r>
            <a:r>
              <a:rPr lang="it-IT" dirty="0" err="1"/>
              <a:t>next</a:t>
            </a:r>
            <a:r>
              <a:rPr lang="it-IT" dirty="0"/>
              <a:t> </a:t>
            </a:r>
            <a:r>
              <a:rPr lang="it-IT" dirty="0" err="1"/>
              <a:t>lecture</a:t>
            </a:r>
            <a:endParaRPr lang="it-IT" dirty="0"/>
          </a:p>
          <a:p>
            <a:r>
              <a:rPr lang="it-IT" dirty="0"/>
              <a:t>First of </a:t>
            </a:r>
            <a:r>
              <a:rPr lang="it-IT" dirty="0" err="1"/>
              <a:t>all</a:t>
            </a:r>
            <a:r>
              <a:rPr lang="it-IT" dirty="0"/>
              <a:t>, </a:t>
            </a:r>
            <a:r>
              <a:rPr lang="it-IT" dirty="0" err="1"/>
              <a:t>let</a:t>
            </a:r>
            <a:r>
              <a:rPr lang="it-IT" dirty="0"/>
              <a:t> </a:t>
            </a:r>
            <a:r>
              <a:rPr lang="it-IT" dirty="0" err="1"/>
              <a:t>us</a:t>
            </a:r>
            <a:r>
              <a:rPr lang="it-IT" dirty="0"/>
              <a:t> show the </a:t>
            </a:r>
            <a:r>
              <a:rPr lang="it-IT" i="1" dirty="0" err="1"/>
              <a:t>expressive</a:t>
            </a:r>
            <a:r>
              <a:rPr lang="it-IT" i="1" dirty="0"/>
              <a:t> power</a:t>
            </a:r>
            <a:r>
              <a:rPr lang="it-IT" dirty="0"/>
              <a:t> of </a:t>
            </a:r>
            <a:r>
              <a:rPr lang="it-IT" dirty="0" err="1"/>
              <a:t>these</a:t>
            </a:r>
            <a:r>
              <a:rPr lang="it-IT" dirty="0"/>
              <a:t> extensions</a:t>
            </a:r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2CCF7D-9E72-50FE-4FAC-32331D5C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EA49C93-CC19-11BB-5C9A-69FACE12D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769D6C-9B40-CCA1-8A05-5C481E1F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36642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290FF4-A478-2E43-AF53-95C9894DC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EXPRESSIVITY OF 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E</a:t>
            </a:r>
            <a:r>
              <a:rPr lang="it-IT" dirty="0"/>
              <a:t> AND 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U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73B7C6-C5E0-EC46-9AC0-2260DB95C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 err="1"/>
              <a:t>Extend</a:t>
            </a:r>
            <a:r>
              <a:rPr lang="it-IT" sz="2800" dirty="0"/>
              <a:t> </a:t>
            </a:r>
            <a:r>
              <a:rPr lang="it-IT" sz="28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</a:t>
            </a:r>
            <a:r>
              <a:rPr lang="it-IT" sz="2800" dirty="0"/>
              <a:t> </a:t>
            </a:r>
            <a:r>
              <a:rPr lang="it-IT" sz="2800" dirty="0" err="1"/>
              <a:t>using</a:t>
            </a:r>
            <a:r>
              <a:rPr lang="it-IT" sz="2800" dirty="0"/>
              <a:t> </a:t>
            </a:r>
            <a:r>
              <a:rPr lang="it-IT" sz="28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E</a:t>
            </a:r>
            <a:r>
              <a:rPr lang="it-IT" sz="2800" dirty="0"/>
              <a:t>:</a:t>
            </a:r>
          </a:p>
          <a:p>
            <a:pPr lvl="1"/>
            <a:r>
              <a:rPr lang="it-IT" sz="2400" dirty="0" err="1"/>
              <a:t>Subsumption</a:t>
            </a:r>
            <a:r>
              <a:rPr lang="it-IT" sz="2400" dirty="0"/>
              <a:t> rules for </a:t>
            </a:r>
            <a:r>
              <a:rPr lang="it-IT" sz="2400" dirty="0" err="1"/>
              <a:t>structural</a:t>
            </a:r>
            <a:r>
              <a:rPr lang="it-IT" sz="2400" dirty="0"/>
              <a:t> </a:t>
            </a:r>
            <a:r>
              <a:rPr lang="it-IT" sz="2400" dirty="0" err="1"/>
              <a:t>subsumption</a:t>
            </a:r>
            <a:r>
              <a:rPr lang="it-IT" sz="2400" dirty="0"/>
              <a:t> </a:t>
            </a:r>
            <a:r>
              <a:rPr lang="it-IT" sz="2400" dirty="0" err="1"/>
              <a:t>don't</a:t>
            </a:r>
            <a:r>
              <a:rPr lang="it-IT" sz="2400" dirty="0"/>
              <a:t> work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they</a:t>
            </a:r>
            <a:r>
              <a:rPr lang="it-IT" sz="2400" dirty="0"/>
              <a:t> do with </a:t>
            </a:r>
            <a:r>
              <a:rPr lang="it-IT" sz="2400" dirty="0" err="1"/>
              <a:t>value</a:t>
            </a:r>
            <a:r>
              <a:rPr lang="it-IT" sz="2400" dirty="0"/>
              <a:t> </a:t>
            </a:r>
            <a:r>
              <a:rPr lang="it-IT" sz="2400" dirty="0" err="1"/>
              <a:t>restriction</a:t>
            </a:r>
            <a:endParaRPr lang="it-IT" sz="2400" dirty="0"/>
          </a:p>
          <a:p>
            <a:r>
              <a:rPr lang="it-IT" dirty="0" err="1"/>
              <a:t>Extend</a:t>
            </a:r>
            <a:r>
              <a:rPr lang="it-IT" dirty="0"/>
              <a:t> 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</a:t>
            </a:r>
            <a:r>
              <a:rPr lang="it-IT" dirty="0"/>
              <a:t> by 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U</a:t>
            </a:r>
            <a:r>
              <a:rPr lang="it-IT" dirty="0"/>
              <a:t>:</a:t>
            </a:r>
          </a:p>
          <a:p>
            <a:pPr lvl="1"/>
            <a:r>
              <a:rPr lang="it-IT" sz="2400" dirty="0" err="1"/>
              <a:t>Analogously</a:t>
            </a:r>
            <a:endParaRPr lang="it-IT" sz="2400" dirty="0"/>
          </a:p>
          <a:p>
            <a:r>
              <a:rPr lang="it-IT" sz="2800" dirty="0" err="1"/>
              <a:t>Extend</a:t>
            </a:r>
            <a:r>
              <a:rPr lang="it-IT" sz="2800" dirty="0"/>
              <a:t> </a:t>
            </a:r>
            <a:r>
              <a:rPr lang="it-IT" sz="28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</a:t>
            </a:r>
            <a:r>
              <a:rPr lang="it-IT" sz="2800" dirty="0"/>
              <a:t> </a:t>
            </a:r>
            <a:r>
              <a:rPr lang="it-IT" sz="2800" dirty="0" err="1"/>
              <a:t>using</a:t>
            </a:r>
            <a:r>
              <a:rPr lang="it-IT" sz="2800" dirty="0"/>
              <a:t> </a:t>
            </a:r>
            <a:r>
              <a:rPr lang="it-IT" sz="28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C</a:t>
            </a:r>
            <a:r>
              <a:rPr lang="it-IT" sz="2800" dirty="0"/>
              <a:t>:</a:t>
            </a:r>
          </a:p>
          <a:p>
            <a:pPr lvl="1"/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also</a:t>
            </a:r>
            <a:r>
              <a:rPr lang="it-IT" sz="2400" dirty="0"/>
              <a:t> </a:t>
            </a:r>
            <a:r>
              <a:rPr lang="it-IT" sz="2400" dirty="0" err="1"/>
              <a:t>automatically</a:t>
            </a:r>
            <a:r>
              <a:rPr lang="it-IT" sz="2400" dirty="0"/>
              <a:t> </a:t>
            </a:r>
            <a:r>
              <a:rPr lang="it-IT" sz="2400" dirty="0" err="1"/>
              <a:t>adds</a:t>
            </a:r>
            <a:r>
              <a:rPr lang="it-IT" sz="2400" dirty="0"/>
              <a:t> </a:t>
            </a:r>
            <a:r>
              <a:rPr lang="it-IT" sz="24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E</a:t>
            </a:r>
            <a:r>
              <a:rPr lang="it-IT" sz="2400" dirty="0"/>
              <a:t> and</a:t>
            </a:r>
            <a:r>
              <a:rPr lang="it-IT" sz="24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 U</a:t>
            </a:r>
            <a:r>
              <a:rPr lang="it-IT" sz="2400" dirty="0"/>
              <a:t>.</a:t>
            </a:r>
            <a:endParaRPr lang="it-IT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D554AE-8E05-A148-82E9-A989656E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73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BA7E42-E465-C74B-8BD5-2737CBDF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COMPLEMENT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209185-9C7F-0849-A313-19877F9A1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complement</a:t>
            </a:r>
            <a:r>
              <a:rPr lang="it-IT" dirty="0"/>
              <a:t> operator </a:t>
            </a:r>
            <a:r>
              <a:rPr lang="it-IT" dirty="0" err="1"/>
              <a:t>ensures</a:t>
            </a:r>
            <a:r>
              <a:rPr lang="it-IT" dirty="0"/>
              <a:t> the </a:t>
            </a:r>
            <a:r>
              <a:rPr lang="it-IT" dirty="0" err="1"/>
              <a:t>completeness</a:t>
            </a:r>
            <a:r>
              <a:rPr lang="it-IT" dirty="0"/>
              <a:t> of the system.
The </a:t>
            </a:r>
            <a:r>
              <a:rPr lang="it-IT" dirty="0" err="1"/>
              <a:t>negation</a:t>
            </a:r>
            <a:r>
              <a:rPr lang="it-IT" dirty="0"/>
              <a:t> of the </a:t>
            </a:r>
            <a:r>
              <a:rPr lang="it-IT" dirty="0" err="1"/>
              <a:t>universal</a:t>
            </a:r>
            <a:r>
              <a:rPr lang="it-IT" dirty="0"/>
              <a:t> </a:t>
            </a:r>
            <a:r>
              <a:rPr lang="it-IT" dirty="0" err="1"/>
              <a:t>containing</a:t>
            </a:r>
            <a:r>
              <a:rPr lang="it-IT" dirty="0"/>
              <a:t> </a:t>
            </a:r>
            <a:r>
              <a:rPr lang="it-IT" dirty="0" err="1"/>
              <a:t>intersections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existential</a:t>
            </a:r>
            <a:r>
              <a:rPr lang="it-IT" dirty="0"/>
              <a:t> with </a:t>
            </a:r>
            <a:r>
              <a:rPr lang="it-IT" dirty="0" err="1"/>
              <a:t>unions</a:t>
            </a:r>
            <a:r>
              <a:rPr lang="it-IT" dirty="0"/>
              <a:t>;
The </a:t>
            </a:r>
            <a:r>
              <a:rPr lang="it-IT" dirty="0" err="1"/>
              <a:t>negation</a:t>
            </a:r>
            <a:r>
              <a:rPr lang="it-IT" dirty="0"/>
              <a:t> of </a:t>
            </a:r>
            <a:r>
              <a:rPr lang="it-IT" dirty="0" err="1"/>
              <a:t>intersection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union.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60E148-0381-694A-93FE-4F58E096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81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F856F1-7F1F-EB4F-97F5-FB69707D1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STRUCTURAL SUBSUMPTION WITH E AND U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4F9420-C5AA-D947-9A1C-CBD04F0DE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can't</a:t>
            </a:r>
            <a:r>
              <a:rPr lang="it-IT" dirty="0"/>
              <a:t> use </a:t>
            </a:r>
            <a:r>
              <a:rPr lang="it-IT" dirty="0" err="1"/>
              <a:t>subsumption</a:t>
            </a:r>
            <a:r>
              <a:rPr lang="it-IT" dirty="0"/>
              <a:t> with E </a:t>
            </a:r>
            <a:r>
              <a:rPr lang="it-IT" dirty="0" err="1"/>
              <a:t>because</a:t>
            </a:r>
            <a:r>
              <a:rPr lang="it-IT" dirty="0"/>
              <a:t> the </a:t>
            </a:r>
            <a:r>
              <a:rPr lang="it-IT" dirty="0" err="1"/>
              <a:t>intersection</a:t>
            </a:r>
            <a:r>
              <a:rPr lang="it-IT" dirty="0"/>
              <a:t> of </a:t>
            </a:r>
            <a:r>
              <a:rPr lang="it-IT" dirty="0" err="1"/>
              <a:t>existentials</a:t>
            </a:r>
            <a:r>
              <a:rPr lang="it-IT" dirty="0"/>
              <a:t> </a:t>
            </a:r>
            <a:r>
              <a:rPr lang="it-IT" dirty="0" err="1"/>
              <a:t>can't</a:t>
            </a:r>
            <a:r>
              <a:rPr lang="it-IT" dirty="0"/>
              <a:t> be </a:t>
            </a:r>
            <a:r>
              <a:rPr lang="it-IT" dirty="0" err="1"/>
              <a:t>eliminated</a:t>
            </a:r>
            <a:r>
              <a:rPr lang="it-IT" dirty="0"/>
              <a:t>;
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can't</a:t>
            </a:r>
            <a:r>
              <a:rPr lang="it-IT" dirty="0"/>
              <a:t> use </a:t>
            </a:r>
            <a:r>
              <a:rPr lang="it-IT" dirty="0" err="1"/>
              <a:t>subsumption</a:t>
            </a:r>
            <a:r>
              <a:rPr lang="it-IT" dirty="0"/>
              <a:t> with U </a:t>
            </a:r>
            <a:r>
              <a:rPr lang="it-IT" dirty="0" err="1"/>
              <a:t>because</a:t>
            </a:r>
            <a:r>
              <a:rPr lang="it-IT" dirty="0"/>
              <a:t> the union of </a:t>
            </a:r>
            <a:r>
              <a:rPr lang="it-IT" dirty="0" err="1"/>
              <a:t>universals</a:t>
            </a:r>
            <a:r>
              <a:rPr lang="it-IT" dirty="0"/>
              <a:t> </a:t>
            </a:r>
            <a:r>
              <a:rPr lang="it-IT" dirty="0" err="1"/>
              <a:t>can't</a:t>
            </a:r>
            <a:r>
              <a:rPr lang="it-IT" dirty="0"/>
              <a:t> be </a:t>
            </a:r>
            <a:r>
              <a:rPr lang="it-IT" dirty="0" err="1"/>
              <a:t>eliminated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9110B6-B853-2447-92FE-45CCD720D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228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7E935F-6FF2-193A-F4AC-6A9A514D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PROVING SSDL NOT WORKING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A03F69-44E4-D78D-ECA0-600B99239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Specifically</a:t>
            </a:r>
            <a:r>
              <a:rPr lang="it-IT" dirty="0"/>
              <a:t>, the semantic </a:t>
            </a:r>
            <a:r>
              <a:rPr lang="it-IT" dirty="0" err="1"/>
              <a:t>expression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stated</a:t>
            </a:r>
            <a:r>
              <a:rPr lang="it-IT" dirty="0"/>
              <a:t> shows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 to fix a rule for full </a:t>
            </a:r>
            <a:r>
              <a:rPr lang="it-IT" dirty="0" err="1"/>
              <a:t>existential</a:t>
            </a:r>
            <a:r>
              <a:rPr lang="it-IT" dirty="0"/>
              <a:t> </a:t>
            </a:r>
            <a:r>
              <a:rPr lang="it-IT" dirty="0" err="1"/>
              <a:t>quantifier</a:t>
            </a:r>
            <a:r>
              <a:rPr lang="it-IT" dirty="0"/>
              <a:t>, for union or for </a:t>
            </a:r>
            <a:r>
              <a:rPr lang="it-IT" dirty="0" err="1"/>
              <a:t>complement</a:t>
            </a:r>
            <a:endParaRPr lang="it-IT" dirty="0"/>
          </a:p>
          <a:p>
            <a:r>
              <a:rPr lang="it-IT" dirty="0"/>
              <a:t>How </a:t>
            </a:r>
            <a:r>
              <a:rPr lang="it-IT" dirty="0" err="1"/>
              <a:t>could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provide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rules, in theory?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C64DA6-CACE-5D44-71F2-B8B8F3539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7C3E83-6AA3-2BA4-D53C-8E93163D9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AD73273-DF3A-E9F3-BC4F-3AD525E2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02675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027CBD-1E34-99A2-E37E-6C61EAD1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SSDL WITH EXISTENTIAL (1)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580E5D-122A-1735-76AE-8FFFC539A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From a pure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representational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viewpoint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basic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rule</a:t>
            </a:r>
          </a:p>
          <a:p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∀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. (C ⊓ D) = ∀R.C ⊓ ∀R.D</a:t>
            </a:r>
          </a:p>
          <a:p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semantically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obvious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, in SDL, for the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interpretation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coherent</a:t>
            </a:r>
            <a:endParaRPr lang="it-IT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, the set of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blond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sons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intersection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sons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blond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children</a:t>
            </a:r>
            <a:endParaRPr lang="it-IT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A032CF5-84BA-D286-B1DF-CD1A9079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FCDB78-D203-5FA0-1EDB-425A5F9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C44C73-425A-4EB8-4F42-61CCE08A6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09343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D6BA24-BE73-1765-0975-4879FDE9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SSDL WITH EXISTENTIAL (2)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7A0643-13A9-949B-79DC-CE23968EC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Consider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∃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. (C ⊓ D)</a:t>
            </a:r>
          </a:p>
          <a:p>
            <a:pPr lvl="1"/>
            <a:r>
              <a:rPr lang="it-IT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∃</a:t>
            </a:r>
            <a:r>
              <a:rPr lang="it-IT" sz="1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HasChild</a:t>
            </a:r>
            <a:r>
              <a:rPr lang="it-IT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(Blond ⊓ Male) = ∃ </a:t>
            </a:r>
            <a:r>
              <a:rPr lang="it-IT" sz="1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HasChild.Blond</a:t>
            </a:r>
            <a:r>
              <a:rPr lang="it-IT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⊓ ∃</a:t>
            </a:r>
            <a:r>
              <a:rPr lang="it-IT" sz="1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HasChild.Male</a:t>
            </a:r>
            <a:r>
              <a:rPr lang="it-IT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?</a:t>
            </a:r>
          </a:p>
          <a:p>
            <a:pPr lvl="1"/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DATUM: a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person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with a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blond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son. </a:t>
            </a:r>
            <a:b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INFERENCE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person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blond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child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? Yes. </a:t>
            </a:r>
            <a:b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person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with a male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child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? Yes</a:t>
            </a:r>
          </a:p>
          <a:p>
            <a:pPr lvl="1"/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DATUM: a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person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blond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child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and a son</a:t>
            </a:r>
            <a:b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INFERENCE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person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with a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blond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son? No. </a:t>
            </a:r>
            <a:b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person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can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blond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daughter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and a dark son</a:t>
            </a:r>
          </a:p>
          <a:p>
            <a:pPr lvl="1"/>
            <a:endParaRPr lang="it-I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GENERALIZATION:</a:t>
            </a:r>
            <a:b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it-IT" sz="2000" b="1" dirty="0">
                <a:latin typeface="Calibri" panose="020F0502020204030204" pitchFamily="34" charset="0"/>
                <a:cs typeface="Calibri" panose="020F0502020204030204" pitchFamily="34" charset="0"/>
              </a:rPr>
              <a:t>∃</a:t>
            </a:r>
            <a:r>
              <a:rPr lang="it-IT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000" b="1" dirty="0">
                <a:latin typeface="Calibri" panose="020F0502020204030204" pitchFamily="34" charset="0"/>
                <a:cs typeface="Calibri" panose="020F0502020204030204" pitchFamily="34" charset="0"/>
              </a:rPr>
              <a:t>. (C ⊓ D) </a:t>
            </a:r>
            <a:r>
              <a:rPr lang="it-IT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subsumed</a:t>
            </a:r>
            <a:r>
              <a:rPr lang="it-IT" sz="2000" b="1" dirty="0">
                <a:latin typeface="Calibri" panose="020F0502020204030204" pitchFamily="34" charset="0"/>
                <a:cs typeface="Calibri" panose="020F0502020204030204" pitchFamily="34" charset="0"/>
              </a:rPr>
              <a:t> by ∃R.C ⊓ ∃R.D</a:t>
            </a:r>
            <a:endParaRPr lang="it-IT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sz="4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254B86-2BB7-A952-1E0C-7AD6B549B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1BD74D-E544-4A10-CB8C-E608FEA1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9CA0AF-D871-7A39-E8D5-A1C433C0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62084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2E9A3A-B9FC-F31B-D82B-C1143EDFE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SSDL WITH UNION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A02EAE-A5AE-0BE6-8D95-ADA25B8B2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Consider</a:t>
            </a:r>
            <a:r>
              <a:rPr lang="it-IT" dirty="0"/>
              <a:t>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C ⊔ D</a:t>
            </a:r>
          </a:p>
          <a:p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Obviously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C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subsumed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by C ⊔ D and D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subsumed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by C ⊔ D</a:t>
            </a:r>
          </a:p>
          <a:p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may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imagine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a rule to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manage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subsumption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in the opposite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direction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of the rule for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intersection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However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another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issue</a:t>
            </a:r>
            <a:r>
              <a:rPr lang="it-IT" dirty="0"/>
              <a:t>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E6E422E-82BC-2EDB-74E4-C0B240FDC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B1535F-5937-9E96-2F9B-19E00AC6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CA67DF-71C2-AFD2-A961-05D328C4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51804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849106-978A-FD65-5C1F-F9DB015DA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INAPPLICABILITY (1)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55814C-6E4D-D9FB-616B-8A97E9666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 err="1"/>
              <a:t>We</a:t>
            </a:r>
            <a:r>
              <a:rPr lang="it-IT" sz="2800" dirty="0"/>
              <a:t> </a:t>
            </a:r>
            <a:r>
              <a:rPr lang="it-IT" sz="2800" dirty="0" err="1"/>
              <a:t>cannot</a:t>
            </a:r>
            <a:r>
              <a:rPr lang="it-IT" sz="2800" dirty="0"/>
              <a:t> </a:t>
            </a:r>
            <a:r>
              <a:rPr lang="it-IT" sz="2800" dirty="0" err="1"/>
              <a:t>extend</a:t>
            </a:r>
            <a:r>
              <a:rPr lang="it-IT" sz="2800" dirty="0"/>
              <a:t> the SSDL </a:t>
            </a:r>
            <a:r>
              <a:rPr lang="it-IT" sz="2800" dirty="0" err="1"/>
              <a:t>method</a:t>
            </a:r>
            <a:r>
              <a:rPr lang="it-IT" sz="2800" dirty="0"/>
              <a:t> to include full </a:t>
            </a:r>
            <a:r>
              <a:rPr lang="it-IT" sz="2800" dirty="0" err="1"/>
              <a:t>existential</a:t>
            </a:r>
            <a:r>
              <a:rPr lang="it-IT" sz="2800" dirty="0"/>
              <a:t> </a:t>
            </a:r>
            <a:r>
              <a:rPr lang="it-IT" sz="2800" dirty="0" err="1"/>
              <a:t>quantifier</a:t>
            </a:r>
            <a:r>
              <a:rPr lang="it-IT" sz="2800" dirty="0"/>
              <a:t>, </a:t>
            </a:r>
            <a:r>
              <a:rPr lang="it-IT" sz="2800" dirty="0" err="1"/>
              <a:t>because</a:t>
            </a:r>
            <a:r>
              <a:rPr lang="it-IT" sz="2800" dirty="0"/>
              <a:t> </a:t>
            </a:r>
            <a:r>
              <a:rPr lang="it-IT" sz="2800" dirty="0" err="1"/>
              <a:t>we</a:t>
            </a:r>
            <a:r>
              <a:rPr lang="it-IT" sz="2800" dirty="0"/>
              <a:t> </a:t>
            </a:r>
            <a:r>
              <a:rPr lang="it-IT" sz="2800" dirty="0" err="1"/>
              <a:t>cannot</a:t>
            </a:r>
            <a:r>
              <a:rPr lang="it-IT" sz="2800" dirty="0"/>
              <a:t> </a:t>
            </a:r>
            <a:r>
              <a:rPr lang="it-IT" sz="2800" dirty="0" err="1"/>
              <a:t>provide</a:t>
            </a:r>
            <a:r>
              <a:rPr lang="it-IT" sz="2800" dirty="0"/>
              <a:t> a </a:t>
            </a:r>
            <a:r>
              <a:rPr lang="it-IT" sz="2800" dirty="0" err="1"/>
              <a:t>right</a:t>
            </a:r>
            <a:r>
              <a:rPr lang="it-IT" sz="2800" dirty="0"/>
              <a:t> </a:t>
            </a:r>
            <a:r>
              <a:rPr lang="it-IT" sz="2800" dirty="0" err="1"/>
              <a:t>elimination</a:t>
            </a:r>
            <a:r>
              <a:rPr lang="it-IT" sz="2800" dirty="0"/>
              <a:t> </a:t>
            </a:r>
            <a:r>
              <a:rPr lang="it-IT" sz="2800" dirty="0" err="1"/>
              <a:t>that</a:t>
            </a:r>
            <a:r>
              <a:rPr lang="it-IT" sz="2800" dirty="0"/>
              <a:t> </a:t>
            </a:r>
            <a:r>
              <a:rPr lang="it-IT" sz="2800" dirty="0" err="1"/>
              <a:t>guarantees</a:t>
            </a:r>
            <a:r>
              <a:rPr lang="it-IT" sz="2800" dirty="0"/>
              <a:t> the </a:t>
            </a:r>
            <a:r>
              <a:rPr lang="it-IT" sz="2800" dirty="0" err="1"/>
              <a:t>equivalence</a:t>
            </a:r>
            <a:r>
              <a:rPr lang="it-IT" sz="2800" dirty="0"/>
              <a:t>, and </a:t>
            </a:r>
            <a:r>
              <a:rPr lang="it-IT" sz="2800" dirty="0" err="1"/>
              <a:t>thus</a:t>
            </a:r>
            <a:r>
              <a:rPr lang="it-IT" sz="2800" dirty="0"/>
              <a:t> </a:t>
            </a:r>
            <a:r>
              <a:rPr lang="it-IT" sz="2800" dirty="0" err="1"/>
              <a:t>we</a:t>
            </a:r>
            <a:r>
              <a:rPr lang="it-IT" sz="2800" dirty="0"/>
              <a:t> </a:t>
            </a:r>
            <a:r>
              <a:rPr lang="it-IT" sz="2800" dirty="0" err="1"/>
              <a:t>cannot</a:t>
            </a:r>
            <a:r>
              <a:rPr lang="it-IT" sz="2800" dirty="0"/>
              <a:t> conclude the </a:t>
            </a:r>
            <a:r>
              <a:rPr lang="it-IT" sz="2800" dirty="0" err="1"/>
              <a:t>subsumption</a:t>
            </a:r>
            <a:r>
              <a:rPr lang="it-IT" sz="2800" dirty="0"/>
              <a:t> </a:t>
            </a:r>
            <a:r>
              <a:rPr lang="it-IT" sz="2800" dirty="0" err="1"/>
              <a:t>not</a:t>
            </a:r>
            <a:r>
              <a:rPr lang="it-IT" sz="2800" dirty="0"/>
              <a:t> </a:t>
            </a:r>
            <a:r>
              <a:rPr lang="it-IT" sz="2800" dirty="0" err="1"/>
              <a:t>existing</a:t>
            </a:r>
            <a:r>
              <a:rPr lang="it-IT" sz="2800" dirty="0"/>
              <a:t> with the </a:t>
            </a:r>
            <a:r>
              <a:rPr lang="it-IT" sz="2800" dirty="0" err="1"/>
              <a:t>same</a:t>
            </a:r>
            <a:r>
              <a:rPr lang="it-IT" sz="2800" dirty="0"/>
              <a:t> </a:t>
            </a:r>
            <a:r>
              <a:rPr lang="it-IT" sz="2800" dirty="0" err="1"/>
              <a:t>correctness</a:t>
            </a:r>
            <a:r>
              <a:rPr lang="it-IT" sz="2800" dirty="0"/>
              <a:t> of the case in </a:t>
            </a:r>
            <a:r>
              <a:rPr lang="it-IT" sz="2800" dirty="0" err="1"/>
              <a:t>which</a:t>
            </a:r>
            <a:r>
              <a:rPr lang="it-IT" sz="2800" dirty="0"/>
              <a:t> the </a:t>
            </a:r>
            <a:r>
              <a:rPr lang="it-IT" sz="2800" dirty="0" err="1"/>
              <a:t>existential</a:t>
            </a:r>
            <a:r>
              <a:rPr lang="it-IT" sz="2800" dirty="0"/>
              <a:t> </a:t>
            </a:r>
            <a:r>
              <a:rPr lang="it-IT" sz="2800" dirty="0" err="1"/>
              <a:t>quantifier</a:t>
            </a:r>
            <a:r>
              <a:rPr lang="it-IT" sz="2800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dirty="0" err="1"/>
              <a:t>not</a:t>
            </a:r>
            <a:r>
              <a:rPr lang="it-IT" sz="2800" dirty="0"/>
              <a:t> full</a:t>
            </a:r>
          </a:p>
          <a:p>
            <a:r>
              <a:rPr lang="it-IT" sz="2800" dirty="0"/>
              <a:t>But...</a:t>
            </a:r>
            <a:r>
              <a:rPr lang="it-IT" sz="2800" dirty="0" err="1"/>
              <a:t>what</a:t>
            </a:r>
            <a:r>
              <a:rPr lang="it-IT" sz="2800" dirty="0"/>
              <a:t> </a:t>
            </a:r>
            <a:r>
              <a:rPr lang="it-IT" sz="2800" dirty="0" err="1"/>
              <a:t>about</a:t>
            </a:r>
            <a:r>
              <a:rPr lang="it-IT" sz="2800" dirty="0"/>
              <a:t> a </a:t>
            </a:r>
            <a:r>
              <a:rPr lang="it-IT" sz="2800" b="1" dirty="0" err="1"/>
              <a:t>left</a:t>
            </a:r>
            <a:r>
              <a:rPr lang="it-IT" sz="2800" dirty="0"/>
              <a:t> </a:t>
            </a:r>
            <a:r>
              <a:rPr lang="it-IT" sz="2800" dirty="0" err="1"/>
              <a:t>elimination</a:t>
            </a:r>
            <a:r>
              <a:rPr lang="it-IT" sz="2800" dirty="0"/>
              <a:t> rule?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F0A7A2-6076-1BCC-AF74-4E3BC9BD7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D6F355-CBB7-3744-31ED-A5D8D0B64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04485CA-22C2-D179-C8D3-37DD249B8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20066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53CA7F-4306-0580-153A-ACFFFCC1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INAPPLICABILITY (2)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5820C5-4DD8-EFBF-9C9A-D553B2845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/>
              <a:t>Consider</a:t>
            </a:r>
            <a:r>
              <a:rPr lang="it-IT" sz="2400" dirty="0"/>
              <a:t> the following concepts</a:t>
            </a:r>
          </a:p>
          <a:p>
            <a:pPr lvl="1"/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∃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HasChild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. ( Blond ⊓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Female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) ⊓ ∃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HasSibling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. Male </a:t>
            </a:r>
          </a:p>
          <a:p>
            <a:pPr lvl="1"/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∃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HasChild.Blond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⊓ ∃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HasSibling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. ( Male ⊓ Blond )</a:t>
            </a:r>
          </a:p>
          <a:p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establish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the relation? </a:t>
            </a:r>
          </a:p>
          <a:p>
            <a:pPr lvl="1"/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right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deletion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correct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on the second case, for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subsumption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miss the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correct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valuation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of the first case</a:t>
            </a:r>
          </a:p>
          <a:p>
            <a:pPr lvl="1"/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Opposite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left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deletion</a:t>
            </a:r>
            <a:endParaRPr lang="it-IT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terms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 no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schematic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rewriting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can be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performed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actually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confirms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concepts do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subsume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direction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make an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in one of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these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cases</a:t>
            </a:r>
            <a:endParaRPr lang="it-IT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5668AA-1128-82CF-02FF-513646DFB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A7DFB1-9887-18DF-0533-BE2F520A7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6CCE0E-2A0A-7373-8851-D1DFADD5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32344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7D9985-308C-9119-96FC-A60C5E50B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INAPPLICABILITY (3)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3E3595-7DFD-77A2-0995-EC95F6CE6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Analogous</a:t>
            </a:r>
            <a:r>
              <a:rPr lang="it-IT" dirty="0"/>
              <a:t> </a:t>
            </a:r>
            <a:r>
              <a:rPr lang="it-IT" dirty="0" err="1"/>
              <a:t>issue</a:t>
            </a:r>
            <a:r>
              <a:rPr lang="it-IT" dirty="0"/>
              <a:t> for the union,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cannot</a:t>
            </a:r>
            <a:r>
              <a:rPr lang="it-IT" dirty="0"/>
              <a:t> be </a:t>
            </a:r>
            <a:r>
              <a:rPr lang="it-IT" dirty="0" err="1"/>
              <a:t>rewritten</a:t>
            </a:r>
            <a:r>
              <a:rPr lang="it-IT" dirty="0"/>
              <a:t> in a </a:t>
            </a:r>
            <a:r>
              <a:rPr lang="it-IT" dirty="0" err="1"/>
              <a:t>coherent</a:t>
            </a:r>
            <a:r>
              <a:rPr lang="it-IT" dirty="0"/>
              <a:t> way</a:t>
            </a:r>
          </a:p>
          <a:p>
            <a:r>
              <a:rPr lang="it-IT" dirty="0" err="1"/>
              <a:t>Moreover</a:t>
            </a:r>
            <a:r>
              <a:rPr lang="it-IT" dirty="0"/>
              <a:t>, the union </a:t>
            </a:r>
            <a:r>
              <a:rPr lang="it-IT" dirty="0" err="1"/>
              <a:t>interferes</a:t>
            </a:r>
            <a:r>
              <a:rPr lang="it-IT" dirty="0"/>
              <a:t> with the 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restriction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42564A-BC93-E180-DF5E-52B492EEE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B85C28-D13D-E7FA-ED8E-7FED3F95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A5BF09-DB71-4B4D-59F8-F5D0DE62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24473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0745A3-13D0-524C-8C46-D385BD80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EXTENSION BY 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U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3077AE-507C-F24C-823B-3EB306CB6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Consider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∀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. (Male ⊔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Female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∀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HasChild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.(Male ⊔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Female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) ⊒ ∀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HasCHild.Male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⊔ ∀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HasChild.Female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
For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, the set of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sons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daughters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the union of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sons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daughters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clearly</a:t>
            </a:r>
            <a:r>
              <a:rPr lang="it-I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smaller</a:t>
            </a:r>
            <a:endParaRPr lang="it-I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Therefore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again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 no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fixed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 rule to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 in the case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mentioned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above</a:t>
            </a:r>
            <a:endParaRPr lang="it-IT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instance</a:t>
            </a:r>
            <a:endParaRPr lang="it-IT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∀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HasChild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. ( Blond ⊔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Female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) ⊓ ∀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HasSibling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. Male </a:t>
            </a:r>
          </a:p>
          <a:p>
            <a:pPr lvl="1"/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∀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HasChild.Blond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⊔ ∀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HasSibling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. ( Male ⊔ Blond )</a:t>
            </a:r>
          </a:p>
          <a:p>
            <a:endParaRPr lang="it-IT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053901-492E-F647-BE51-BCE06315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89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D66C-47D0-9158-FFF7-38662D6F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94AEE618-F330-8A16-2910-642E18E2C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Treating</a:t>
            </a:r>
            <a:r>
              <a:rPr lang="it-IT" dirty="0"/>
              <a:t> special </a:t>
            </a:r>
            <a:r>
              <a:rPr lang="it-IT" dirty="0" err="1"/>
              <a:t>cases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DAD27577-AA73-7C4D-4E17-811D65AC9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Unit 2 – </a:t>
            </a:r>
            <a:r>
              <a:rPr lang="it-IT" dirty="0" err="1"/>
              <a:t>Lecture</a:t>
            </a:r>
            <a:r>
              <a:rPr lang="it-IT" dirty="0"/>
              <a:t> 2.3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C44D56-F8F0-AC62-0330-50D78DEE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7DA564-E4FB-8580-E6A8-6440EEF3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3589F3-C0B7-C7ED-AE00-A94C433B9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73420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75F8-B175-8A45-1CB5-EB9CD2AB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036B3E-A73A-102E-1AA2-BFEA1BBE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TREATING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∃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it-IT" dirty="0"/>
              <a:t>⊥ AND ATOMIC EXISTENTIALS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258EEB-6EFA-193F-0A3F-6363FC939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Intersectively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the concept ∀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it-IT" sz="2400" dirty="0"/>
              <a:t>⊥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subsumed</a:t>
            </a:r>
            <a:r>
              <a:rPr lang="it-IT" sz="2400" dirty="0"/>
              <a:t> by </a:t>
            </a:r>
            <a:r>
              <a:rPr lang="it-IT" sz="2400" dirty="0" err="1"/>
              <a:t>any</a:t>
            </a:r>
            <a:r>
              <a:rPr lang="it-IT" sz="2400" dirty="0"/>
              <a:t> </a:t>
            </a:r>
            <a:r>
              <a:rPr lang="it-IT" sz="2400" dirty="0" err="1"/>
              <a:t>element</a:t>
            </a:r>
            <a:r>
              <a:rPr lang="it-IT" sz="2400" dirty="0"/>
              <a:t> 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∀R.A</a:t>
            </a:r>
          </a:p>
          <a:p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On the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hand, ∃R.A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subsumed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by ∃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it-IT" sz="2400" dirty="0"/>
              <a:t>⊥</a:t>
            </a:r>
          </a:p>
          <a:p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Therefore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can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treat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subsmuptions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of limited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quantifiers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atomic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literals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well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by SSDL,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but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it-IT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direction</a:t>
            </a:r>
            <a:r>
              <a:rPr lang="it-IT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of the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cancellation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requires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inversion</a:t>
            </a:r>
            <a:endParaRPr lang="it-IT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consequence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procedure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equivalent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to a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process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polynomially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performable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deterministic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machines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5E550E-5BF1-3DB1-CD74-078CB3E9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647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39FB30-75C5-9DE7-3288-2DEE61B0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TREATING NON-RECURSIVE UNION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3D5802-3719-7533-B778-8E4591FF2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Same concept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applies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to union: the union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should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be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shaped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the scope of an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intersection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, an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existential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quantifier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or a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restriction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and in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case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can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treat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by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considering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concept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subsumed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by the union of concepts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containing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endParaRPr lang="it-IT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The SSDL treatment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again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requires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inversion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direction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thus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polynomially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solvable</a:t>
            </a:r>
            <a:endParaRPr lang="it-IT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sz="28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798311-5764-A029-95FA-4589491B0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6BE38-3F61-1258-6035-BE78F04EC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9746F84-4228-CCA1-0D46-27479AB7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35577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4368CE-3A69-339E-F6D0-7EA5B69F8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INTERACTIONS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E01EE2-CB45-6C97-CED3-7444B5AFA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Union and </a:t>
            </a:r>
            <a:r>
              <a:rPr lang="it-IT" dirty="0" err="1"/>
              <a:t>existentials</a:t>
            </a:r>
            <a:r>
              <a:rPr lang="it-IT" dirty="0"/>
              <a:t> </a:t>
            </a:r>
            <a:r>
              <a:rPr lang="it-IT" dirty="0" err="1"/>
              <a:t>interfere</a:t>
            </a:r>
            <a:r>
              <a:rPr lang="it-IT" dirty="0"/>
              <a:t> </a:t>
            </a:r>
            <a:r>
              <a:rPr lang="it-IT" i="1" dirty="0"/>
              <a:t>non-</a:t>
            </a:r>
            <a:r>
              <a:rPr lang="it-IT" i="1" dirty="0" err="1"/>
              <a:t>constructively</a:t>
            </a:r>
            <a:endParaRPr lang="it-IT" dirty="0"/>
          </a:p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devise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interactions:</a:t>
            </a:r>
          </a:p>
          <a:p>
            <a:pPr lvl="1"/>
            <a:r>
              <a:rPr lang="it-IT" dirty="0"/>
              <a:t>Full union and </a:t>
            </a:r>
            <a:r>
              <a:rPr lang="it-IT" dirty="0" err="1"/>
              <a:t>existentials</a:t>
            </a:r>
            <a:endParaRPr lang="it-IT" dirty="0"/>
          </a:p>
          <a:p>
            <a:pPr lvl="1"/>
            <a:r>
              <a:rPr lang="it-IT" dirty="0"/>
              <a:t>Non-recursive union and limited </a:t>
            </a:r>
            <a:r>
              <a:rPr lang="it-IT" dirty="0" err="1"/>
              <a:t>existentials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0798B8-E544-6483-058B-F65004F06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566667-1EF4-3143-3009-8D1EEA6E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5F6EFC-36F1-2692-F2D9-85D3C09CE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2454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7DF35D-0E9C-0F54-B179-260294E1C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FULL UNION AND EXISTENTIALS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4AE76C-66DA-5799-FE52-1095D7274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question</a:t>
            </a:r>
            <a:r>
              <a:rPr lang="it-IT" dirty="0"/>
              <a:t> to </a:t>
            </a:r>
            <a:r>
              <a:rPr lang="it-IT" dirty="0" err="1"/>
              <a:t>ask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expressive</a:t>
            </a:r>
            <a:r>
              <a:rPr lang="it-IT" dirty="0"/>
              <a:t> power:</a:t>
            </a:r>
          </a:p>
          <a:p>
            <a:pPr lvl="1"/>
            <a:r>
              <a:rPr lang="it-IT" dirty="0"/>
              <a:t>Can </a:t>
            </a:r>
            <a:r>
              <a:rPr lang="it-IT" dirty="0" err="1"/>
              <a:t>we</a:t>
            </a:r>
            <a:r>
              <a:rPr lang="it-IT" dirty="0"/>
              <a:t> express full </a:t>
            </a:r>
            <a:r>
              <a:rPr lang="it-IT" dirty="0" err="1"/>
              <a:t>negation</a:t>
            </a:r>
            <a:r>
              <a:rPr lang="it-IT" dirty="0"/>
              <a:t>?</a:t>
            </a:r>
          </a:p>
          <a:p>
            <a:r>
              <a:rPr lang="it-IT" dirty="0"/>
              <a:t>To be </a:t>
            </a:r>
            <a:r>
              <a:rPr lang="it-IT" dirty="0" err="1"/>
              <a:t>able</a:t>
            </a:r>
            <a:r>
              <a:rPr lang="it-IT" dirty="0"/>
              <a:t> to express full </a:t>
            </a:r>
            <a:r>
              <a:rPr lang="it-IT" dirty="0" err="1"/>
              <a:t>negation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to </a:t>
            </a:r>
            <a:r>
              <a:rPr lang="it-IT" dirty="0" err="1"/>
              <a:t>have</a:t>
            </a:r>
            <a:r>
              <a:rPr lang="it-IT" dirty="0"/>
              <a:t> limited power of the </a:t>
            </a:r>
            <a:r>
              <a:rPr lang="it-IT" dirty="0" err="1"/>
              <a:t>negation</a:t>
            </a:r>
            <a:r>
              <a:rPr lang="it-IT" dirty="0"/>
              <a:t> </a:t>
            </a:r>
            <a:r>
              <a:rPr lang="it-IT" dirty="0" err="1"/>
              <a:t>along</a:t>
            </a:r>
            <a:r>
              <a:rPr lang="it-IT" dirty="0"/>
              <a:t> with full union, full union and </a:t>
            </a:r>
            <a:r>
              <a:rPr lang="it-IT" dirty="0" err="1"/>
              <a:t>existentials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AF4474-BA5E-B93A-6B87-10706B0DE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DBB715-0D77-1E86-D4D5-5147B0EB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0922BF8-D912-07FE-1296-07AB0E69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98406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4844D2-14B6-16D4-98B8-247528B22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BASIC ISSUE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9DFF70-6201-BBCC-1FA6-2F3184CA3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Imagine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aim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making a </a:t>
            </a:r>
            <a:r>
              <a:rPr lang="it-IT" dirty="0" err="1"/>
              <a:t>representation</a:t>
            </a:r>
            <a:r>
              <a:rPr lang="it-IT" dirty="0"/>
              <a:t> of </a:t>
            </a:r>
          </a:p>
          <a:p>
            <a:r>
              <a:rPr lang="it-IT" dirty="0"/>
              <a:t> </a:t>
            </a:r>
            <a:r>
              <a:rPr lang="it-IT" dirty="0">
                <a:solidFill>
                  <a:srgbClr val="FF0000"/>
                </a:solidFill>
              </a:rPr>
              <a:t>¬(A </a:t>
            </a:r>
            <a:r>
              <a:rPr lang="it-IT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⊓ B)</a:t>
            </a:r>
          </a:p>
          <a:p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clearly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require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full union power,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since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can </a:t>
            </a:r>
            <a:r>
              <a:rPr lang="it-IT" i="1" dirty="0" err="1">
                <a:latin typeface="Calibri" panose="020F0502020204030204" pitchFamily="34" charset="0"/>
                <a:cs typeface="Calibri" panose="020F0502020204030204" pitchFamily="34" charset="0"/>
              </a:rPr>
              <a:t>skolemize</a:t>
            </a:r>
            <a:r>
              <a:rPr lang="it-IT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expression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the full union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in the interaction with BOTH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negation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existentials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A42B93-0402-8CA6-CC86-B4F3B5BB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3A6818-0D08-E4B8-5487-A51FFEE21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126B31-0CFD-F974-4E3B-671C3B4CB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41264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7B16C5-40CC-6560-5483-8FE2622F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NEGATION, EXISTENTIALS, UNION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882AF71-CFF8-EAD3-F1DB-EC366A662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 err="1"/>
              <a:t>If</a:t>
            </a:r>
            <a:r>
              <a:rPr lang="it-IT" sz="2800" dirty="0"/>
              <a:t> </a:t>
            </a:r>
            <a:r>
              <a:rPr lang="it-IT" sz="2800" dirty="0" err="1"/>
              <a:t>we</a:t>
            </a:r>
            <a:r>
              <a:rPr lang="it-IT" sz="2800" dirty="0"/>
              <a:t> </a:t>
            </a:r>
            <a:r>
              <a:rPr lang="it-IT" sz="2800" dirty="0" err="1"/>
              <a:t>allow</a:t>
            </a:r>
            <a:r>
              <a:rPr lang="it-IT" sz="2800" dirty="0"/>
              <a:t> for full </a:t>
            </a:r>
            <a:r>
              <a:rPr lang="it-IT" sz="2800" dirty="0" err="1"/>
              <a:t>existentials</a:t>
            </a:r>
            <a:r>
              <a:rPr lang="it-IT" sz="2800" dirty="0"/>
              <a:t> and union, </a:t>
            </a:r>
            <a:r>
              <a:rPr lang="it-IT" sz="2800" dirty="0" err="1"/>
              <a:t>then</a:t>
            </a:r>
            <a:r>
              <a:rPr lang="it-IT" sz="2800" dirty="0"/>
              <a:t> </a:t>
            </a:r>
            <a:r>
              <a:rPr lang="it-IT" sz="2800" dirty="0" err="1"/>
              <a:t>we</a:t>
            </a:r>
            <a:r>
              <a:rPr lang="it-IT" sz="2800" dirty="0"/>
              <a:t> do </a:t>
            </a:r>
            <a:r>
              <a:rPr lang="it-IT" sz="2800" dirty="0" err="1"/>
              <a:t>not</a:t>
            </a:r>
            <a:r>
              <a:rPr lang="it-IT" sz="2800" dirty="0"/>
              <a:t> </a:t>
            </a:r>
            <a:r>
              <a:rPr lang="it-IT" sz="2800" dirty="0" err="1"/>
              <a:t>have</a:t>
            </a:r>
            <a:r>
              <a:rPr lang="it-IT" sz="2800" dirty="0"/>
              <a:t> the full power of </a:t>
            </a:r>
            <a:r>
              <a:rPr lang="it-IT" sz="2800" dirty="0" err="1"/>
              <a:t>negation</a:t>
            </a:r>
            <a:endParaRPr lang="it-IT" sz="2800" dirty="0"/>
          </a:p>
          <a:p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∀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it-IT" sz="2800" dirty="0"/>
              <a:t>¬(A 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⊓ B)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equivalent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it-IT" sz="2800" dirty="0"/>
              <a:t>¬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∃(</a:t>
            </a:r>
            <a:r>
              <a:rPr lang="it-IT" sz="2800" dirty="0"/>
              <a:t>A⨆B) </a:t>
            </a:r>
            <a:r>
              <a:rPr lang="it-IT" sz="2800" dirty="0" err="1"/>
              <a:t>that</a:t>
            </a:r>
            <a:r>
              <a:rPr lang="it-IT" sz="2800" dirty="0"/>
              <a:t> </a:t>
            </a:r>
            <a:r>
              <a:rPr lang="it-IT" sz="2800" dirty="0" err="1"/>
              <a:t>requires</a:t>
            </a:r>
            <a:r>
              <a:rPr lang="it-IT" sz="2800" dirty="0"/>
              <a:t> full </a:t>
            </a:r>
            <a:r>
              <a:rPr lang="it-IT" sz="2800" dirty="0" err="1"/>
              <a:t>negation</a:t>
            </a:r>
            <a:r>
              <a:rPr lang="it-IT" sz="2800" dirty="0"/>
              <a:t>, union and </a:t>
            </a:r>
            <a:r>
              <a:rPr lang="it-IT" sz="2800" dirty="0" err="1"/>
              <a:t>existential</a:t>
            </a:r>
            <a:endParaRPr lang="it-IT" sz="2800" dirty="0"/>
          </a:p>
          <a:p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In practice, full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negation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enough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shall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see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afterwards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, for union and full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quantifier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but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the opposite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false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F0B814-C35D-05BC-C183-F996AF2E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9B8BAD-CC99-0E28-560F-386FC3DA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47823F-31F9-26B4-F9E1-E101E5CFC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51680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1FACB1-A1DA-7164-7D9B-C1621EA3B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CONSEQUENCES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D8073A-A016-D371-773F-A49ABFA59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expressive</a:t>
            </a:r>
            <a:r>
              <a:rPr lang="it-IT" dirty="0"/>
              <a:t> power of </a:t>
            </a:r>
            <a:r>
              <a:rPr lang="it-IT" dirty="0" err="1"/>
              <a:t>existential</a:t>
            </a:r>
            <a:r>
              <a:rPr lang="it-IT" dirty="0"/>
              <a:t> and union </a:t>
            </a:r>
            <a:r>
              <a:rPr lang="it-IT" dirty="0" err="1"/>
              <a:t>together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low</a:t>
            </a:r>
          </a:p>
          <a:p>
            <a:r>
              <a:rPr lang="it-IT" dirty="0"/>
              <a:t>The </a:t>
            </a:r>
            <a:r>
              <a:rPr lang="it-IT" dirty="0" err="1"/>
              <a:t>presence</a:t>
            </a:r>
            <a:r>
              <a:rPr lang="it-IT" dirty="0"/>
              <a:t> of one of the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 to </a:t>
            </a:r>
            <a:r>
              <a:rPr lang="it-IT" dirty="0" err="1"/>
              <a:t>disallow</a:t>
            </a:r>
            <a:r>
              <a:rPr lang="it-IT" dirty="0"/>
              <a:t> for SSDL</a:t>
            </a:r>
          </a:p>
          <a:p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treat</a:t>
            </a:r>
            <a:r>
              <a:rPr lang="it-IT" dirty="0"/>
              <a:t> </a:t>
            </a:r>
            <a:r>
              <a:rPr lang="it-IT" dirty="0" err="1"/>
              <a:t>separately</a:t>
            </a:r>
            <a:r>
              <a:rPr lang="it-IT" dirty="0"/>
              <a:t> limited </a:t>
            </a:r>
            <a:r>
              <a:rPr lang="it-IT" dirty="0" err="1"/>
              <a:t>existentials</a:t>
            </a:r>
            <a:r>
              <a:rPr lang="it-IT" dirty="0"/>
              <a:t> and non-recursive union</a:t>
            </a:r>
          </a:p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the interaction of </a:t>
            </a:r>
            <a:r>
              <a:rPr lang="it-IT" dirty="0" err="1"/>
              <a:t>these</a:t>
            </a:r>
            <a:r>
              <a:rPr lang="it-IT" dirty="0"/>
              <a:t>?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FB0DF5-C442-CE6B-8A41-F6F78F52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343618-212B-C8E0-6A7E-E8CC41EE9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ABCE004-5770-BCD0-0807-5AF2033E0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85933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905874-2CAE-ECB0-1713-C65E3D83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INTERACTION OF NRU AND 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4A5F82-802E-B2BF-48C1-B66CC84B0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Limited </a:t>
            </a:r>
            <a:r>
              <a:rPr lang="it-IT" dirty="0" err="1"/>
              <a:t>existentials</a:t>
            </a:r>
            <a:r>
              <a:rPr lang="it-IT" dirty="0"/>
              <a:t> and non-recursive union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add</a:t>
            </a:r>
            <a:r>
              <a:rPr lang="it-IT" dirty="0"/>
              <a:t> power to </a:t>
            </a:r>
            <a:r>
              <a:rPr lang="it-IT" dirty="0" err="1"/>
              <a:t>each</a:t>
            </a:r>
            <a:r>
              <a:rPr lang="it-IT" dirty="0"/>
              <a:t> component</a:t>
            </a:r>
          </a:p>
          <a:p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cannot</a:t>
            </a:r>
            <a:r>
              <a:rPr lang="it-IT" dirty="0"/>
              <a:t> derive full </a:t>
            </a:r>
            <a:r>
              <a:rPr lang="it-IT" dirty="0" err="1"/>
              <a:t>existential</a:t>
            </a:r>
            <a:r>
              <a:rPr lang="it-IT" dirty="0"/>
              <a:t> or full union from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these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E1EF406-76F3-0307-0BAD-9568C131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5668BF-06D5-21B6-1F4A-DBF2B875F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D90301-3429-D477-F09A-0990B910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39037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1DCE-6CAD-5C43-B782-4810B6F4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FEFA9FF7-4089-EC1A-CE56-2FD33003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Other</a:t>
            </a:r>
            <a:r>
              <a:rPr lang="it-IT" dirty="0"/>
              <a:t> limited </a:t>
            </a:r>
            <a:r>
              <a:rPr lang="it-IT" dirty="0" err="1"/>
              <a:t>cases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247517F-6C0D-47A0-71AC-0A5434495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Unit 2 – </a:t>
            </a:r>
            <a:r>
              <a:rPr lang="it-IT" dirty="0" err="1"/>
              <a:t>Lecture</a:t>
            </a:r>
            <a:r>
              <a:rPr lang="it-IT" dirty="0"/>
              <a:t> 2.3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8CA481-B13D-9F76-AAD4-81389C50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7A525C-FC37-62C0-806B-1A1C590D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272573-C35D-7FB4-E910-53DED7AF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63530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92C1296D-66E3-E5FF-66CA-8A0FBE0C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FULL BOOLEAN ALGEBRA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EB1F67FF-2D63-FB72-F583-1CACA7981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do </a:t>
            </a:r>
            <a:r>
              <a:rPr lang="it-IT" dirty="0" err="1"/>
              <a:t>not</a:t>
            </a:r>
            <a:r>
              <a:rPr lang="it-IT" dirty="0"/>
              <a:t> include </a:t>
            </a:r>
            <a:r>
              <a:rPr lang="it-IT" dirty="0" err="1"/>
              <a:t>existentials</a:t>
            </a:r>
            <a:r>
              <a:rPr lang="it-IT" dirty="0"/>
              <a:t>, union and </a:t>
            </a:r>
            <a:r>
              <a:rPr lang="it-IT" dirty="0" err="1"/>
              <a:t>restrictions</a:t>
            </a:r>
            <a:r>
              <a:rPr lang="it-IT" dirty="0"/>
              <a:t>, </a:t>
            </a:r>
            <a:r>
              <a:rPr lang="it-IT" dirty="0" err="1"/>
              <a:t>again</a:t>
            </a:r>
            <a:r>
              <a:rPr lang="it-IT" dirty="0"/>
              <a:t>, the </a:t>
            </a:r>
            <a:r>
              <a:rPr lang="it-IT" dirty="0" err="1"/>
              <a:t>expressive</a:t>
            </a:r>
            <a:r>
              <a:rPr lang="it-IT" dirty="0"/>
              <a:t> power </a:t>
            </a:r>
            <a:r>
              <a:rPr lang="it-IT" dirty="0" err="1"/>
              <a:t>is</a:t>
            </a:r>
            <a:r>
              <a:rPr lang="it-IT" dirty="0"/>
              <a:t> limited </a:t>
            </a:r>
            <a:r>
              <a:rPr lang="it-IT" dirty="0" err="1"/>
              <a:t>but</a:t>
            </a:r>
            <a:r>
              <a:rPr lang="it-IT" dirty="0"/>
              <a:t> SSDL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work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18CB10-2F79-2375-E870-E790037AF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044A0F-93A7-C825-7E6C-FE13B309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DAD291-B9C8-689B-C7ED-0E8F40C7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A0980B-2DE9-40AD-8A4E-40673DB95E95}" type="slidenum">
              <a:rPr lang="it-IT" altLang="it-IT" smtClean="0"/>
              <a:pPr>
                <a:defRPr/>
              </a:pPr>
              <a:t>26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0576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FDF2CF-F523-F43B-9D18-EA1B5901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NEGATION FREE LOGIC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2F6841-FB85-4A71-A3FF-3874A3D8F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Full union and </a:t>
            </a:r>
            <a:r>
              <a:rPr lang="it-IT" dirty="0" err="1"/>
              <a:t>existentials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atomic</a:t>
            </a:r>
            <a:r>
              <a:rPr lang="it-IT" dirty="0"/>
              <a:t> </a:t>
            </a:r>
            <a:r>
              <a:rPr lang="it-IT" dirty="0" err="1"/>
              <a:t>negation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again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reducible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SSDL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work for the </a:t>
            </a:r>
            <a:r>
              <a:rPr lang="it-IT" dirty="0" err="1"/>
              <a:t>problem</a:t>
            </a:r>
            <a:r>
              <a:rPr lang="it-IT" dirty="0"/>
              <a:t> of </a:t>
            </a:r>
            <a:r>
              <a:rPr lang="it-IT" dirty="0" err="1"/>
              <a:t>inversion</a:t>
            </a:r>
            <a:r>
              <a:rPr lang="it-IT" dirty="0"/>
              <a:t> of </a:t>
            </a:r>
            <a:r>
              <a:rPr lang="it-IT" dirty="0" err="1"/>
              <a:t>direction</a:t>
            </a:r>
            <a:r>
              <a:rPr lang="it-IT" dirty="0"/>
              <a:t> in the </a:t>
            </a:r>
            <a:r>
              <a:rPr lang="it-IT" dirty="0" err="1"/>
              <a:t>reasoning</a:t>
            </a:r>
            <a:r>
              <a:rPr lang="it-IT" dirty="0"/>
              <a:t> </a:t>
            </a:r>
            <a:r>
              <a:rPr lang="it-IT" dirty="0" err="1"/>
              <a:t>process</a:t>
            </a:r>
            <a:r>
              <a:rPr lang="it-IT"/>
              <a:t>.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E4F282C-F04C-56D4-8C87-4ADF44BA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1FCA54-04D4-80D5-752C-CD26E3456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9D03CA-64D8-48E0-284C-41D2A28E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52815711"/>
      </p:ext>
    </p:extLst>
  </p:cSld>
  <p:clrMapOvr>
    <a:masterClrMapping/>
  </p:clrMapOvr>
</p:sld>
</file>

<file path=ppt/theme/theme1.xml><?xml version="1.0" encoding="utf-8"?>
<a:theme xmlns:a="http://schemas.openxmlformats.org/drawingml/2006/main" name="ESD_new_GP">
  <a:themeElements>
    <a:clrScheme name="Impostazioni personalizzate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635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zione standard1" id="{8235C985-55F2-4F87-A977-D8A70953F925}" vid="{F161873E-82B3-403B-879B-B3C589C61F8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ESD_new_GP</Template>
  <TotalTime>57430</TotalTime>
  <Words>1419</Words>
  <Application>Microsoft Macintosh PowerPoint</Application>
  <PresentationFormat>Presentazione su schermo (16:9)</PresentationFormat>
  <Paragraphs>177</Paragraphs>
  <Slides>27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2" baseType="lpstr">
      <vt:lpstr>Apple Chancery</vt:lpstr>
      <vt:lpstr>Arial</vt:lpstr>
      <vt:lpstr>Calibri</vt:lpstr>
      <vt:lpstr>Tahoma</vt:lpstr>
      <vt:lpstr>ESD_new_GP</vt:lpstr>
      <vt:lpstr>Unit 2: Introduction to KR</vt:lpstr>
      <vt:lpstr>The limits of SSDL</vt:lpstr>
      <vt:lpstr>Extending ALN</vt:lpstr>
      <vt:lpstr>Interpretations</vt:lpstr>
      <vt:lpstr>EXPRESSIVITY OF E AND U</vt:lpstr>
      <vt:lpstr>COMPLEMENT</vt:lpstr>
      <vt:lpstr>STRUCTURAL SUBSUMPTION WITH E AND U</vt:lpstr>
      <vt:lpstr>PROVING SSDL NOT WORKING</vt:lpstr>
      <vt:lpstr>SSDL WITH EXISTENTIAL (1)</vt:lpstr>
      <vt:lpstr>SSDL WITH EXISTENTIAL (2)</vt:lpstr>
      <vt:lpstr>SSDL WITH UNION</vt:lpstr>
      <vt:lpstr>INAPPLICABILITY (1)</vt:lpstr>
      <vt:lpstr>INAPPLICABILITY (2)</vt:lpstr>
      <vt:lpstr>INAPPLICABILITY (3)</vt:lpstr>
      <vt:lpstr>EXTENSION BY U</vt:lpstr>
      <vt:lpstr>Treating special cases</vt:lpstr>
      <vt:lpstr>TREATING ∃R.⊥ AND ATOMIC EXISTENTIALS </vt:lpstr>
      <vt:lpstr>TREATING NON-RECURSIVE UNION</vt:lpstr>
      <vt:lpstr>INTERACTIONS</vt:lpstr>
      <vt:lpstr>FULL UNION AND EXISTENTIALS</vt:lpstr>
      <vt:lpstr>BASIC ISSUE</vt:lpstr>
      <vt:lpstr>NEGATION, EXISTENTIALS, UNION</vt:lpstr>
      <vt:lpstr>CONSEQUENCES</vt:lpstr>
      <vt:lpstr>INTERACTION OF NRU AND LE</vt:lpstr>
      <vt:lpstr>Other limited cases</vt:lpstr>
      <vt:lpstr>THE FULL BOOLEAN ALGEBRA</vt:lpstr>
      <vt:lpstr>NEGATION FREE LOGIC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Stefano Spellini</dc:creator>
  <cp:lastModifiedBy>Matteo Cristani</cp:lastModifiedBy>
  <cp:revision>220</cp:revision>
  <dcterms:created xsi:type="dcterms:W3CDTF">2019-02-11T14:27:15Z</dcterms:created>
  <dcterms:modified xsi:type="dcterms:W3CDTF">2025-08-18T07:32:05Z</dcterms:modified>
</cp:coreProperties>
</file>